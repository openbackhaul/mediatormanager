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3"/>
  </p:notesMasterIdLst>
  <p:sldIdLst>
    <p:sldId id="258" r:id="rId2"/>
    <p:sldId id="291" r:id="rId3"/>
    <p:sldId id="292" r:id="rId4"/>
    <p:sldId id="293" r:id="rId5"/>
    <p:sldId id="295" r:id="rId6"/>
    <p:sldId id="296" r:id="rId7"/>
    <p:sldId id="294" r:id="rId8"/>
    <p:sldId id="299" r:id="rId9"/>
    <p:sldId id="280" r:id="rId10"/>
    <p:sldId id="286" r:id="rId11"/>
    <p:sldId id="282" r:id="rId12"/>
  </p:sldIdLst>
  <p:sldSz cx="23399750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71"/>
    <a:srgbClr val="FFC000"/>
    <a:srgbClr val="042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87" autoAdjust="0"/>
    <p:restoredTop sz="96370" autoAdjust="0"/>
  </p:normalViewPr>
  <p:slideViewPr>
    <p:cSldViewPr snapToGrid="0">
      <p:cViewPr varScale="1">
        <p:scale>
          <a:sx n="68" d="100"/>
          <a:sy n="68" d="100"/>
        </p:scale>
        <p:origin x="1188" y="78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CF725-7468-4D3D-9E24-A16745BBBA77}" type="datetimeFigureOut">
              <a:rPr lang="de-DE" smtClean="0"/>
              <a:t>27.05.2025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423988" y="1143000"/>
            <a:ext cx="4010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594DA-F4C5-4E81-884D-2CC9FB11C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0396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23988" y="1143000"/>
            <a:ext cx="4010025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F0BDF-D3AA-4378-A5EA-B01B2486D808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2194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4981" y="2945943"/>
            <a:ext cx="19889788" cy="6266897"/>
          </a:xfrm>
        </p:spPr>
        <p:txBody>
          <a:bodyPr anchor="b"/>
          <a:lstStyle>
            <a:lvl1pPr algn="ctr">
              <a:defRPr sz="1535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969" y="9454516"/>
            <a:ext cx="17549813" cy="4345992"/>
          </a:xfrm>
        </p:spPr>
        <p:txBody>
          <a:bodyPr/>
          <a:lstStyle>
            <a:lvl1pPr marL="0" indent="0" algn="ctr">
              <a:buNone/>
              <a:defRPr sz="6142"/>
            </a:lvl1pPr>
            <a:lvl2pPr marL="1169975" indent="0" algn="ctr">
              <a:buNone/>
              <a:defRPr sz="5118"/>
            </a:lvl2pPr>
            <a:lvl3pPr marL="2339950" indent="0" algn="ctr">
              <a:buNone/>
              <a:defRPr sz="4606"/>
            </a:lvl3pPr>
            <a:lvl4pPr marL="3509924" indent="0" algn="ctr">
              <a:buNone/>
              <a:defRPr sz="4094"/>
            </a:lvl4pPr>
            <a:lvl5pPr marL="4679899" indent="0" algn="ctr">
              <a:buNone/>
              <a:defRPr sz="4094"/>
            </a:lvl5pPr>
            <a:lvl6pPr marL="5849874" indent="0" algn="ctr">
              <a:buNone/>
              <a:defRPr sz="4094"/>
            </a:lvl6pPr>
            <a:lvl7pPr marL="7019849" indent="0" algn="ctr">
              <a:buNone/>
              <a:defRPr sz="4094"/>
            </a:lvl7pPr>
            <a:lvl8pPr marL="8189824" indent="0" algn="ctr">
              <a:buNone/>
              <a:defRPr sz="4094"/>
            </a:lvl8pPr>
            <a:lvl9pPr marL="9359798" indent="0" algn="ctr">
              <a:buNone/>
              <a:defRPr sz="409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27.05.2025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5338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27.05.2025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526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6547" y="4487671"/>
            <a:ext cx="20182284" cy="7487774"/>
          </a:xfrm>
        </p:spPr>
        <p:txBody>
          <a:bodyPr anchor="b"/>
          <a:lstStyle>
            <a:lvl1pPr>
              <a:defRPr sz="1535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6547" y="12046282"/>
            <a:ext cx="20182284" cy="3937644"/>
          </a:xfrm>
        </p:spPr>
        <p:txBody>
          <a:bodyPr/>
          <a:lstStyle>
            <a:lvl1pPr marL="0" indent="0">
              <a:buNone/>
              <a:defRPr sz="6142">
                <a:solidFill>
                  <a:schemeClr val="tx1">
                    <a:tint val="82000"/>
                  </a:schemeClr>
                </a:solidFill>
              </a:defRPr>
            </a:lvl1pPr>
            <a:lvl2pPr marL="1169975" indent="0">
              <a:buNone/>
              <a:defRPr sz="5118">
                <a:solidFill>
                  <a:schemeClr val="tx1">
                    <a:tint val="82000"/>
                  </a:schemeClr>
                </a:solidFill>
              </a:defRPr>
            </a:lvl2pPr>
            <a:lvl3pPr marL="2339950" indent="0">
              <a:buNone/>
              <a:defRPr sz="4606">
                <a:solidFill>
                  <a:schemeClr val="tx1">
                    <a:tint val="82000"/>
                  </a:schemeClr>
                </a:solidFill>
              </a:defRPr>
            </a:lvl3pPr>
            <a:lvl4pPr marL="3509924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4pPr>
            <a:lvl5pPr marL="4679899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5pPr>
            <a:lvl6pPr marL="5849874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6pPr>
            <a:lvl7pPr marL="7019849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7pPr>
            <a:lvl8pPr marL="8189824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8pPr>
            <a:lvl9pPr marL="9359798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27.05.2025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3429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8733" y="4791843"/>
            <a:ext cx="9944894" cy="114212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46123" y="4791843"/>
            <a:ext cx="9944894" cy="114212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27.05.2025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09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958373"/>
            <a:ext cx="20182284" cy="347929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1783" y="4412664"/>
            <a:ext cx="9899190" cy="2162578"/>
          </a:xfrm>
        </p:spPr>
        <p:txBody>
          <a:bodyPr anchor="b"/>
          <a:lstStyle>
            <a:lvl1pPr marL="0" indent="0">
              <a:buNone/>
              <a:defRPr sz="6142" b="1"/>
            </a:lvl1pPr>
            <a:lvl2pPr marL="1169975" indent="0">
              <a:buNone/>
              <a:defRPr sz="5118" b="1"/>
            </a:lvl2pPr>
            <a:lvl3pPr marL="2339950" indent="0">
              <a:buNone/>
              <a:defRPr sz="4606" b="1"/>
            </a:lvl3pPr>
            <a:lvl4pPr marL="3509924" indent="0">
              <a:buNone/>
              <a:defRPr sz="4094" b="1"/>
            </a:lvl4pPr>
            <a:lvl5pPr marL="4679899" indent="0">
              <a:buNone/>
              <a:defRPr sz="4094" b="1"/>
            </a:lvl5pPr>
            <a:lvl6pPr marL="5849874" indent="0">
              <a:buNone/>
              <a:defRPr sz="4094" b="1"/>
            </a:lvl6pPr>
            <a:lvl7pPr marL="7019849" indent="0">
              <a:buNone/>
              <a:defRPr sz="4094" b="1"/>
            </a:lvl7pPr>
            <a:lvl8pPr marL="8189824" indent="0">
              <a:buNone/>
              <a:defRPr sz="4094" b="1"/>
            </a:lvl8pPr>
            <a:lvl9pPr marL="9359798" indent="0">
              <a:buNone/>
              <a:defRPr sz="40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1783" y="6575242"/>
            <a:ext cx="9899190" cy="9671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846124" y="4412664"/>
            <a:ext cx="9947942" cy="2162578"/>
          </a:xfrm>
        </p:spPr>
        <p:txBody>
          <a:bodyPr anchor="b"/>
          <a:lstStyle>
            <a:lvl1pPr marL="0" indent="0">
              <a:buNone/>
              <a:defRPr sz="6142" b="1"/>
            </a:lvl1pPr>
            <a:lvl2pPr marL="1169975" indent="0">
              <a:buNone/>
              <a:defRPr sz="5118" b="1"/>
            </a:lvl2pPr>
            <a:lvl3pPr marL="2339950" indent="0">
              <a:buNone/>
              <a:defRPr sz="4606" b="1"/>
            </a:lvl3pPr>
            <a:lvl4pPr marL="3509924" indent="0">
              <a:buNone/>
              <a:defRPr sz="4094" b="1"/>
            </a:lvl4pPr>
            <a:lvl5pPr marL="4679899" indent="0">
              <a:buNone/>
              <a:defRPr sz="4094" b="1"/>
            </a:lvl5pPr>
            <a:lvl6pPr marL="5849874" indent="0">
              <a:buNone/>
              <a:defRPr sz="4094" b="1"/>
            </a:lvl6pPr>
            <a:lvl7pPr marL="7019849" indent="0">
              <a:buNone/>
              <a:defRPr sz="4094" b="1"/>
            </a:lvl7pPr>
            <a:lvl8pPr marL="8189824" indent="0">
              <a:buNone/>
              <a:defRPr sz="4094" b="1"/>
            </a:lvl8pPr>
            <a:lvl9pPr marL="9359798" indent="0">
              <a:buNone/>
              <a:defRPr sz="40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846124" y="6575242"/>
            <a:ext cx="9947942" cy="9671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27.05.2025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0923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27.05.2025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792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27.05.2025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342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1200044"/>
            <a:ext cx="7547028" cy="4200155"/>
          </a:xfrm>
        </p:spPr>
        <p:txBody>
          <a:bodyPr anchor="b"/>
          <a:lstStyle>
            <a:lvl1pPr>
              <a:defRPr sz="818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47942" y="2591766"/>
            <a:ext cx="11846123" cy="12792138"/>
          </a:xfrm>
        </p:spPr>
        <p:txBody>
          <a:bodyPr/>
          <a:lstStyle>
            <a:lvl1pPr>
              <a:defRPr sz="8189"/>
            </a:lvl1pPr>
            <a:lvl2pPr>
              <a:defRPr sz="7165"/>
            </a:lvl2pPr>
            <a:lvl3pPr>
              <a:defRPr sz="6142"/>
            </a:lvl3pPr>
            <a:lvl4pPr>
              <a:defRPr sz="5118"/>
            </a:lvl4pPr>
            <a:lvl5pPr>
              <a:defRPr sz="5118"/>
            </a:lvl5pPr>
            <a:lvl6pPr>
              <a:defRPr sz="5118"/>
            </a:lvl6pPr>
            <a:lvl7pPr>
              <a:defRPr sz="5118"/>
            </a:lvl7pPr>
            <a:lvl8pPr>
              <a:defRPr sz="5118"/>
            </a:lvl8pPr>
            <a:lvl9pPr>
              <a:defRPr sz="511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1" y="5400199"/>
            <a:ext cx="7547028" cy="10004536"/>
          </a:xfrm>
        </p:spPr>
        <p:txBody>
          <a:bodyPr/>
          <a:lstStyle>
            <a:lvl1pPr marL="0" indent="0">
              <a:buNone/>
              <a:defRPr sz="4094"/>
            </a:lvl1pPr>
            <a:lvl2pPr marL="1169975" indent="0">
              <a:buNone/>
              <a:defRPr sz="3583"/>
            </a:lvl2pPr>
            <a:lvl3pPr marL="2339950" indent="0">
              <a:buNone/>
              <a:defRPr sz="3071"/>
            </a:lvl3pPr>
            <a:lvl4pPr marL="3509924" indent="0">
              <a:buNone/>
              <a:defRPr sz="2559"/>
            </a:lvl4pPr>
            <a:lvl5pPr marL="4679899" indent="0">
              <a:buNone/>
              <a:defRPr sz="2559"/>
            </a:lvl5pPr>
            <a:lvl6pPr marL="5849874" indent="0">
              <a:buNone/>
              <a:defRPr sz="2559"/>
            </a:lvl6pPr>
            <a:lvl7pPr marL="7019849" indent="0">
              <a:buNone/>
              <a:defRPr sz="2559"/>
            </a:lvl7pPr>
            <a:lvl8pPr marL="8189824" indent="0">
              <a:buNone/>
              <a:defRPr sz="2559"/>
            </a:lvl8pPr>
            <a:lvl9pPr marL="9359798" indent="0">
              <a:buNone/>
              <a:defRPr sz="2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27.05.2025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641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1200044"/>
            <a:ext cx="7547028" cy="4200155"/>
          </a:xfrm>
        </p:spPr>
        <p:txBody>
          <a:bodyPr anchor="b"/>
          <a:lstStyle>
            <a:lvl1pPr>
              <a:defRPr sz="818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947942" y="2591766"/>
            <a:ext cx="11846123" cy="12792138"/>
          </a:xfrm>
        </p:spPr>
        <p:txBody>
          <a:bodyPr anchor="t"/>
          <a:lstStyle>
            <a:lvl1pPr marL="0" indent="0">
              <a:buNone/>
              <a:defRPr sz="8189"/>
            </a:lvl1pPr>
            <a:lvl2pPr marL="1169975" indent="0">
              <a:buNone/>
              <a:defRPr sz="7165"/>
            </a:lvl2pPr>
            <a:lvl3pPr marL="2339950" indent="0">
              <a:buNone/>
              <a:defRPr sz="6142"/>
            </a:lvl3pPr>
            <a:lvl4pPr marL="3509924" indent="0">
              <a:buNone/>
              <a:defRPr sz="5118"/>
            </a:lvl4pPr>
            <a:lvl5pPr marL="4679899" indent="0">
              <a:buNone/>
              <a:defRPr sz="5118"/>
            </a:lvl5pPr>
            <a:lvl6pPr marL="5849874" indent="0">
              <a:buNone/>
              <a:defRPr sz="5118"/>
            </a:lvl6pPr>
            <a:lvl7pPr marL="7019849" indent="0">
              <a:buNone/>
              <a:defRPr sz="5118"/>
            </a:lvl7pPr>
            <a:lvl8pPr marL="8189824" indent="0">
              <a:buNone/>
              <a:defRPr sz="5118"/>
            </a:lvl8pPr>
            <a:lvl9pPr marL="9359798" indent="0">
              <a:buNone/>
              <a:defRPr sz="511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1" y="5400199"/>
            <a:ext cx="7547028" cy="10004536"/>
          </a:xfrm>
        </p:spPr>
        <p:txBody>
          <a:bodyPr/>
          <a:lstStyle>
            <a:lvl1pPr marL="0" indent="0">
              <a:buNone/>
              <a:defRPr sz="4094"/>
            </a:lvl1pPr>
            <a:lvl2pPr marL="1169975" indent="0">
              <a:buNone/>
              <a:defRPr sz="3583"/>
            </a:lvl2pPr>
            <a:lvl3pPr marL="2339950" indent="0">
              <a:buNone/>
              <a:defRPr sz="3071"/>
            </a:lvl3pPr>
            <a:lvl4pPr marL="3509924" indent="0">
              <a:buNone/>
              <a:defRPr sz="2559"/>
            </a:lvl4pPr>
            <a:lvl5pPr marL="4679899" indent="0">
              <a:buNone/>
              <a:defRPr sz="2559"/>
            </a:lvl5pPr>
            <a:lvl6pPr marL="5849874" indent="0">
              <a:buNone/>
              <a:defRPr sz="2559"/>
            </a:lvl6pPr>
            <a:lvl7pPr marL="7019849" indent="0">
              <a:buNone/>
              <a:defRPr sz="2559"/>
            </a:lvl7pPr>
            <a:lvl8pPr marL="8189824" indent="0">
              <a:buNone/>
              <a:defRPr sz="2559"/>
            </a:lvl8pPr>
            <a:lvl9pPr marL="9359798" indent="0">
              <a:buNone/>
              <a:defRPr sz="2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27.05.2025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696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27.05.2025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620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745447" y="958369"/>
            <a:ext cx="5045571" cy="1525473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8734" y="958369"/>
            <a:ext cx="14844216" cy="1525473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27.05.2025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1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8733" y="958373"/>
            <a:ext cx="20182284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8733" y="4791843"/>
            <a:ext cx="20182284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08733" y="16683952"/>
            <a:ext cx="526494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764DB-E7DF-4EA7-A1AF-05A77C280FCA}" type="datetimeFigureOut">
              <a:rPr lang="de-DE" smtClean="0"/>
              <a:t>27.05.2025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51167" y="16683952"/>
            <a:ext cx="7897416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526073" y="16683952"/>
            <a:ext cx="526494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81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2339950" rtl="0" eaLnBrk="1" latinLnBrk="0" hangingPunct="1">
        <a:lnSpc>
          <a:spcPct val="90000"/>
        </a:lnSpc>
        <a:spcBef>
          <a:spcPct val="0"/>
        </a:spcBef>
        <a:buNone/>
        <a:defRPr sz="112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4987" indent="-584987" algn="l" defTabSz="2339950" rtl="0" eaLnBrk="1" latinLnBrk="0" hangingPunct="1">
        <a:lnSpc>
          <a:spcPct val="90000"/>
        </a:lnSpc>
        <a:spcBef>
          <a:spcPts val="2559"/>
        </a:spcBef>
        <a:buFont typeface="Arial" panose="020B0604020202020204" pitchFamily="34" charset="0"/>
        <a:buChar char="•"/>
        <a:defRPr sz="7165" kern="1200">
          <a:solidFill>
            <a:schemeClr val="tx1"/>
          </a:solidFill>
          <a:latin typeface="+mn-lt"/>
          <a:ea typeface="+mn-ea"/>
          <a:cs typeface="+mn-cs"/>
        </a:defRPr>
      </a:lvl1pPr>
      <a:lvl2pPr marL="1754962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6142" kern="1200">
          <a:solidFill>
            <a:schemeClr val="tx1"/>
          </a:solidFill>
          <a:latin typeface="+mn-lt"/>
          <a:ea typeface="+mn-ea"/>
          <a:cs typeface="+mn-cs"/>
        </a:defRPr>
      </a:lvl2pPr>
      <a:lvl3pPr marL="2924937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5118" kern="1200">
          <a:solidFill>
            <a:schemeClr val="tx1"/>
          </a:solidFill>
          <a:latin typeface="+mn-lt"/>
          <a:ea typeface="+mn-ea"/>
          <a:cs typeface="+mn-cs"/>
        </a:defRPr>
      </a:lvl3pPr>
      <a:lvl4pPr marL="4094912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4pPr>
      <a:lvl5pPr marL="5264887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5pPr>
      <a:lvl6pPr marL="6434861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6pPr>
      <a:lvl7pPr marL="7604836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7pPr>
      <a:lvl8pPr marL="8774811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8pPr>
      <a:lvl9pPr marL="9944786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1pPr>
      <a:lvl2pPr marL="1169975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2pPr>
      <a:lvl3pPr marL="2339950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3pPr>
      <a:lvl4pPr marL="3509924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4pPr>
      <a:lvl5pPr marL="4679899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5pPr>
      <a:lvl6pPr marL="5849874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6pPr>
      <a:lvl7pPr marL="7019849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7pPr>
      <a:lvl8pPr marL="8189824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8pPr>
      <a:lvl9pPr marL="9359798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94075D25-CDA8-F234-39C9-86E1C2A49D1B}"/>
              </a:ext>
            </a:extLst>
          </p:cNvPr>
          <p:cNvSpPr/>
          <p:nvPr/>
        </p:nvSpPr>
        <p:spPr>
          <a:xfrm>
            <a:off x="6310177" y="7349419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r>
              <a:rPr lang="de-DE" sz="1320">
                <a:solidFill>
                  <a:schemeClr val="tx1">
                    <a:lumMod val="75000"/>
                    <a:lumOff val="25000"/>
                  </a:schemeClr>
                </a:solidFill>
              </a:rPr>
              <a:t>mediatorProcess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7C349C4-9D91-1431-A139-33AEE673A522}"/>
              </a:ext>
            </a:extLst>
          </p:cNvPr>
          <p:cNvSpPr/>
          <p:nvPr/>
        </p:nvSpPr>
        <p:spPr>
          <a:xfrm>
            <a:off x="2419123" y="7349420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r>
              <a:rPr lang="de-DE" sz="1320">
                <a:solidFill>
                  <a:schemeClr val="tx1">
                    <a:lumMod val="75000"/>
                    <a:lumOff val="25000"/>
                  </a:schemeClr>
                </a:solidFill>
              </a:rPr>
              <a:t>mediatorProcess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F6D26E3-0A36-6BB9-CF33-F53D492067FF}"/>
              </a:ext>
            </a:extLst>
          </p:cNvPr>
          <p:cNvSpPr/>
          <p:nvPr/>
        </p:nvSpPr>
        <p:spPr>
          <a:xfrm>
            <a:off x="3837389" y="8032640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93278D7-67C4-F0B3-F6BF-FFCCB4978F19}"/>
              </a:ext>
            </a:extLst>
          </p:cNvPr>
          <p:cNvSpPr/>
          <p:nvPr/>
        </p:nvSpPr>
        <p:spPr>
          <a:xfrm>
            <a:off x="2419123" y="5858526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de-DE" sz="1260">
                <a:solidFill>
                  <a:schemeClr val="tx1">
                    <a:lumMod val="75000"/>
                    <a:lumOff val="25000"/>
                  </a:schemeClr>
                </a:solidFill>
              </a:rPr>
              <a:t>mountPoint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B2D5C2F-E116-89BE-29E4-4B519C2CF449}"/>
              </a:ext>
            </a:extLst>
          </p:cNvPr>
          <p:cNvSpPr/>
          <p:nvPr/>
        </p:nvSpPr>
        <p:spPr>
          <a:xfrm>
            <a:off x="3739843" y="6490948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Zylinder 7">
            <a:extLst>
              <a:ext uri="{FF2B5EF4-FFF2-40B4-BE49-F238E27FC236}">
                <a16:creationId xmlns:a16="http://schemas.microsoft.com/office/drawing/2014/main" id="{D161311A-2E17-E871-FE81-80AA99818B20}"/>
              </a:ext>
            </a:extLst>
          </p:cNvPr>
          <p:cNvSpPr/>
          <p:nvPr/>
        </p:nvSpPr>
        <p:spPr>
          <a:xfrm>
            <a:off x="2510554" y="8995244"/>
            <a:ext cx="1493432" cy="497810"/>
          </a:xfrm>
          <a:prstGeom prst="can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Device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CAE96537-E936-312C-60B5-FE43AD1A2FC6}"/>
              </a:ext>
            </a:extLst>
          </p:cNvPr>
          <p:cNvCxnSpPr>
            <a:stCxn id="7" idx="4"/>
            <a:endCxn id="5" idx="0"/>
          </p:cNvCxnSpPr>
          <p:nvPr/>
        </p:nvCxnSpPr>
        <p:spPr>
          <a:xfrm>
            <a:off x="3882075" y="6755090"/>
            <a:ext cx="97546" cy="1277548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1800BDA-43AD-0104-65C4-D6CFC3B1562D}"/>
              </a:ext>
            </a:extLst>
          </p:cNvPr>
          <p:cNvCxnSpPr>
            <a:cxnSpLocks/>
            <a:endCxn id="8" idx="1"/>
          </p:cNvCxnSpPr>
          <p:nvPr/>
        </p:nvCxnSpPr>
        <p:spPr>
          <a:xfrm flipH="1">
            <a:off x="3257273" y="8302540"/>
            <a:ext cx="761787" cy="692704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3A05DC17-DAE3-78F9-5748-64AE45B31731}"/>
              </a:ext>
            </a:extLst>
          </p:cNvPr>
          <p:cNvSpPr/>
          <p:nvPr/>
        </p:nvSpPr>
        <p:spPr>
          <a:xfrm>
            <a:off x="4334173" y="7349420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r>
              <a:rPr lang="de-DE" sz="1320">
                <a:solidFill>
                  <a:schemeClr val="tx1">
                    <a:lumMod val="75000"/>
                    <a:lumOff val="25000"/>
                  </a:schemeClr>
                </a:solidFill>
              </a:rPr>
              <a:t>mediatorProcess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EF28868-5936-866F-7C3F-0E410A50F686}"/>
              </a:ext>
            </a:extLst>
          </p:cNvPr>
          <p:cNvSpPr/>
          <p:nvPr/>
        </p:nvSpPr>
        <p:spPr>
          <a:xfrm>
            <a:off x="5764555" y="7991462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224F990-E855-9514-65F0-543CB1D3B36A}"/>
              </a:ext>
            </a:extLst>
          </p:cNvPr>
          <p:cNvSpPr/>
          <p:nvPr/>
        </p:nvSpPr>
        <p:spPr>
          <a:xfrm>
            <a:off x="4334173" y="5858526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de-DE" sz="1260">
                <a:solidFill>
                  <a:schemeClr val="tx1">
                    <a:lumMod val="75000"/>
                    <a:lumOff val="25000"/>
                  </a:schemeClr>
                </a:solidFill>
              </a:rPr>
              <a:t>mountPoint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52F294C-EC06-861E-F435-8E1EEF0B5924}"/>
              </a:ext>
            </a:extLst>
          </p:cNvPr>
          <p:cNvSpPr/>
          <p:nvPr/>
        </p:nvSpPr>
        <p:spPr>
          <a:xfrm>
            <a:off x="5675213" y="6559819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Zylinder 19">
            <a:extLst>
              <a:ext uri="{FF2B5EF4-FFF2-40B4-BE49-F238E27FC236}">
                <a16:creationId xmlns:a16="http://schemas.microsoft.com/office/drawing/2014/main" id="{19AA76ED-7D66-4FA0-0A22-04EE5B4EB5E7}"/>
              </a:ext>
            </a:extLst>
          </p:cNvPr>
          <p:cNvSpPr/>
          <p:nvPr/>
        </p:nvSpPr>
        <p:spPr>
          <a:xfrm>
            <a:off x="4975239" y="9040960"/>
            <a:ext cx="1493432" cy="497810"/>
          </a:xfrm>
          <a:prstGeom prst="can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Device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E28C82D3-6157-62FF-5BC4-2C8D8C11AD9F}"/>
              </a:ext>
            </a:extLst>
          </p:cNvPr>
          <p:cNvCxnSpPr>
            <a:cxnSpLocks/>
            <a:stCxn id="19" idx="4"/>
            <a:endCxn id="17" idx="0"/>
          </p:cNvCxnSpPr>
          <p:nvPr/>
        </p:nvCxnSpPr>
        <p:spPr>
          <a:xfrm>
            <a:off x="5817445" y="6823966"/>
            <a:ext cx="89342" cy="1167499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B5706053-3CA9-33BC-F1AF-03A1A31229D2}"/>
              </a:ext>
            </a:extLst>
          </p:cNvPr>
          <p:cNvCxnSpPr>
            <a:cxnSpLocks/>
            <a:stCxn id="17" idx="4"/>
            <a:endCxn id="20" idx="1"/>
          </p:cNvCxnSpPr>
          <p:nvPr/>
        </p:nvCxnSpPr>
        <p:spPr>
          <a:xfrm flipH="1">
            <a:off x="5721955" y="8255604"/>
            <a:ext cx="184830" cy="785356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Ellipse 25">
            <a:extLst>
              <a:ext uri="{FF2B5EF4-FFF2-40B4-BE49-F238E27FC236}">
                <a16:creationId xmlns:a16="http://schemas.microsoft.com/office/drawing/2014/main" id="{B87B4BB5-AC70-B25B-DDF9-EF790103BC1F}"/>
              </a:ext>
            </a:extLst>
          </p:cNvPr>
          <p:cNvSpPr/>
          <p:nvPr/>
        </p:nvSpPr>
        <p:spPr>
          <a:xfrm>
            <a:off x="7716773" y="7991462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2042BB0D-49EF-61D5-8DCF-4632CF1E0EC2}"/>
              </a:ext>
            </a:extLst>
          </p:cNvPr>
          <p:cNvCxnSpPr>
            <a:cxnSpLocks/>
            <a:stCxn id="26" idx="4"/>
            <a:endCxn id="20" idx="1"/>
          </p:cNvCxnSpPr>
          <p:nvPr/>
        </p:nvCxnSpPr>
        <p:spPr>
          <a:xfrm flipH="1">
            <a:off x="5721955" y="8255606"/>
            <a:ext cx="2137050" cy="785354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Rechteck 37">
            <a:extLst>
              <a:ext uri="{FF2B5EF4-FFF2-40B4-BE49-F238E27FC236}">
                <a16:creationId xmlns:a16="http://schemas.microsoft.com/office/drawing/2014/main" id="{E93C0B71-E0BF-D97B-B0EE-B313C364AC2E}"/>
              </a:ext>
            </a:extLst>
          </p:cNvPr>
          <p:cNvSpPr/>
          <p:nvPr/>
        </p:nvSpPr>
        <p:spPr>
          <a:xfrm>
            <a:off x="8230308" y="7349420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r>
              <a:rPr lang="de-DE" sz="1320">
                <a:solidFill>
                  <a:schemeClr val="tx1">
                    <a:lumMod val="75000"/>
                    <a:lumOff val="25000"/>
                  </a:schemeClr>
                </a:solidFill>
              </a:rPr>
              <a:t>mediatorProcess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A18DF9C9-1030-8F4C-1A21-64AC0FFBDCD5}"/>
              </a:ext>
            </a:extLst>
          </p:cNvPr>
          <p:cNvSpPr/>
          <p:nvPr/>
        </p:nvSpPr>
        <p:spPr>
          <a:xfrm>
            <a:off x="9624170" y="7952712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AEE19B6F-403D-1598-718B-9BBA177643B9}"/>
              </a:ext>
            </a:extLst>
          </p:cNvPr>
          <p:cNvSpPr/>
          <p:nvPr/>
        </p:nvSpPr>
        <p:spPr>
          <a:xfrm>
            <a:off x="8230308" y="5858526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de-DE" sz="1260">
                <a:solidFill>
                  <a:schemeClr val="tx1">
                    <a:lumMod val="75000"/>
                    <a:lumOff val="25000"/>
                  </a:schemeClr>
                </a:solidFill>
              </a:rPr>
              <a:t>mountPoint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E7C64477-9CE2-C926-A0C1-67AB78210D07}"/>
              </a:ext>
            </a:extLst>
          </p:cNvPr>
          <p:cNvSpPr/>
          <p:nvPr/>
        </p:nvSpPr>
        <p:spPr>
          <a:xfrm>
            <a:off x="9571547" y="6579424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Zylinder 41">
            <a:extLst>
              <a:ext uri="{FF2B5EF4-FFF2-40B4-BE49-F238E27FC236}">
                <a16:creationId xmlns:a16="http://schemas.microsoft.com/office/drawing/2014/main" id="{7CFD1A68-A4B8-1784-05D5-10C1CB2E49DD}"/>
              </a:ext>
            </a:extLst>
          </p:cNvPr>
          <p:cNvSpPr/>
          <p:nvPr/>
        </p:nvSpPr>
        <p:spPr>
          <a:xfrm>
            <a:off x="8938476" y="9071437"/>
            <a:ext cx="1493432" cy="497810"/>
          </a:xfrm>
          <a:prstGeom prst="can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Device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413A8BC9-CE02-780A-C1DA-91D909D2FA52}"/>
              </a:ext>
            </a:extLst>
          </p:cNvPr>
          <p:cNvCxnSpPr>
            <a:cxnSpLocks/>
            <a:stCxn id="39" idx="4"/>
            <a:endCxn id="42" idx="1"/>
          </p:cNvCxnSpPr>
          <p:nvPr/>
        </p:nvCxnSpPr>
        <p:spPr>
          <a:xfrm flipH="1">
            <a:off x="9685194" y="8216857"/>
            <a:ext cx="81209" cy="854583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5" name="Rechteck 44">
            <a:extLst>
              <a:ext uri="{FF2B5EF4-FFF2-40B4-BE49-F238E27FC236}">
                <a16:creationId xmlns:a16="http://schemas.microsoft.com/office/drawing/2014/main" id="{DC9D3973-C0FB-B4D9-78CA-126B6555F912}"/>
              </a:ext>
            </a:extLst>
          </p:cNvPr>
          <p:cNvSpPr/>
          <p:nvPr/>
        </p:nvSpPr>
        <p:spPr>
          <a:xfrm>
            <a:off x="10206312" y="7349419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r>
              <a:rPr lang="de-DE" sz="1320">
                <a:solidFill>
                  <a:schemeClr val="tx1">
                    <a:lumMod val="75000"/>
                    <a:lumOff val="25000"/>
                  </a:schemeClr>
                </a:solidFill>
              </a:rPr>
              <a:t>mediatorProcess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46DFFB4E-977E-9DC9-A3B7-B6EC25621D5A}"/>
              </a:ext>
            </a:extLst>
          </p:cNvPr>
          <p:cNvSpPr/>
          <p:nvPr/>
        </p:nvSpPr>
        <p:spPr>
          <a:xfrm>
            <a:off x="11619003" y="8091055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F062F8D0-B3DD-E184-09B4-16CC109D8EB0}"/>
              </a:ext>
            </a:extLst>
          </p:cNvPr>
          <p:cNvCxnSpPr>
            <a:cxnSpLocks/>
            <a:stCxn id="46" idx="2"/>
            <a:endCxn id="42" idx="1"/>
          </p:cNvCxnSpPr>
          <p:nvPr/>
        </p:nvCxnSpPr>
        <p:spPr>
          <a:xfrm flipH="1">
            <a:off x="9685195" y="8223127"/>
            <a:ext cx="1933811" cy="84831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3F506CE4-9050-3E1A-7709-FA037DC2D9BA}"/>
              </a:ext>
            </a:extLst>
          </p:cNvPr>
          <p:cNvCxnSpPr>
            <a:cxnSpLocks/>
            <a:stCxn id="41" idx="4"/>
          </p:cNvCxnSpPr>
          <p:nvPr/>
        </p:nvCxnSpPr>
        <p:spPr>
          <a:xfrm>
            <a:off x="9713782" y="6843568"/>
            <a:ext cx="1055917" cy="1147894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18189E7C-C9B6-7EC8-C814-44E1E84D7C4E}"/>
              </a:ext>
            </a:extLst>
          </p:cNvPr>
          <p:cNvCxnSpPr/>
          <p:nvPr/>
        </p:nvCxnSpPr>
        <p:spPr>
          <a:xfrm>
            <a:off x="4222414" y="5097844"/>
            <a:ext cx="0" cy="48981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76985AFB-6F05-C92E-F1A7-C2E049F6C3D0}"/>
              </a:ext>
            </a:extLst>
          </p:cNvPr>
          <p:cNvCxnSpPr/>
          <p:nvPr/>
        </p:nvCxnSpPr>
        <p:spPr>
          <a:xfrm>
            <a:off x="8113472" y="5102927"/>
            <a:ext cx="0" cy="48981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feld 75">
            <a:extLst>
              <a:ext uri="{FF2B5EF4-FFF2-40B4-BE49-F238E27FC236}">
                <a16:creationId xmlns:a16="http://schemas.microsoft.com/office/drawing/2014/main" id="{189D6A6E-DA6D-0D05-8121-CD49CA608112}"/>
              </a:ext>
            </a:extLst>
          </p:cNvPr>
          <p:cNvSpPr txBox="1"/>
          <p:nvPr/>
        </p:nvSpPr>
        <p:spPr>
          <a:xfrm>
            <a:off x="2419124" y="5080092"/>
            <a:ext cx="86857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60"/>
              <a:t>Sate1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7B2C5807-4978-BFC4-0C9B-52EB3A1BD31F}"/>
              </a:ext>
            </a:extLst>
          </p:cNvPr>
          <p:cNvSpPr txBox="1"/>
          <p:nvPr/>
        </p:nvSpPr>
        <p:spPr>
          <a:xfrm>
            <a:off x="4522121" y="5072470"/>
            <a:ext cx="1013354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60"/>
              <a:t>State 2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9BC017A0-BBF2-3218-075F-C49555D27F7C}"/>
              </a:ext>
            </a:extLst>
          </p:cNvPr>
          <p:cNvSpPr txBox="1"/>
          <p:nvPr/>
        </p:nvSpPr>
        <p:spPr>
          <a:xfrm>
            <a:off x="8362384" y="5082631"/>
            <a:ext cx="42030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60"/>
              <a:t>…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CFA04D4-8464-CFF4-EF11-00806DD1F0E6}"/>
              </a:ext>
            </a:extLst>
          </p:cNvPr>
          <p:cNvSpPr/>
          <p:nvPr/>
        </p:nvSpPr>
        <p:spPr>
          <a:xfrm>
            <a:off x="12141908" y="7349420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r>
              <a:rPr lang="de-DE" sz="1320">
                <a:solidFill>
                  <a:schemeClr val="tx1">
                    <a:lumMod val="75000"/>
                    <a:lumOff val="25000"/>
                  </a:schemeClr>
                </a:solidFill>
              </a:rPr>
              <a:t>mediatorProcess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FA8063DB-0350-14BA-00A7-1A33D8DD68D1}"/>
              </a:ext>
            </a:extLst>
          </p:cNvPr>
          <p:cNvSpPr/>
          <p:nvPr/>
        </p:nvSpPr>
        <p:spPr>
          <a:xfrm>
            <a:off x="13535770" y="7952712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86B998D-D668-245F-D642-BF661032B272}"/>
              </a:ext>
            </a:extLst>
          </p:cNvPr>
          <p:cNvSpPr/>
          <p:nvPr/>
        </p:nvSpPr>
        <p:spPr>
          <a:xfrm>
            <a:off x="12141908" y="5858526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de-DE" sz="1260">
                <a:solidFill>
                  <a:schemeClr val="tx1">
                    <a:lumMod val="75000"/>
                    <a:lumOff val="25000"/>
                  </a:schemeClr>
                </a:solidFill>
              </a:rPr>
              <a:t>mountPoint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98E40CAA-E109-688B-D101-83643A48623F}"/>
              </a:ext>
            </a:extLst>
          </p:cNvPr>
          <p:cNvSpPr/>
          <p:nvPr/>
        </p:nvSpPr>
        <p:spPr>
          <a:xfrm>
            <a:off x="13483147" y="6579424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Zylinder 31">
            <a:extLst>
              <a:ext uri="{FF2B5EF4-FFF2-40B4-BE49-F238E27FC236}">
                <a16:creationId xmlns:a16="http://schemas.microsoft.com/office/drawing/2014/main" id="{08C5657F-733F-CF27-87B6-B4CD926E6DBA}"/>
              </a:ext>
            </a:extLst>
          </p:cNvPr>
          <p:cNvSpPr/>
          <p:nvPr/>
        </p:nvSpPr>
        <p:spPr>
          <a:xfrm>
            <a:off x="12850076" y="9071437"/>
            <a:ext cx="1493432" cy="497810"/>
          </a:xfrm>
          <a:prstGeom prst="can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Device</a:t>
            </a: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E18F2D3E-B85D-85A7-6F69-4DEE2599B3F0}"/>
              </a:ext>
            </a:extLst>
          </p:cNvPr>
          <p:cNvCxnSpPr>
            <a:cxnSpLocks/>
            <a:stCxn id="29" idx="4"/>
            <a:endCxn id="32" idx="1"/>
          </p:cNvCxnSpPr>
          <p:nvPr/>
        </p:nvCxnSpPr>
        <p:spPr>
          <a:xfrm flipH="1">
            <a:off x="13596794" y="8216857"/>
            <a:ext cx="81209" cy="854583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hteck 33">
            <a:extLst>
              <a:ext uri="{FF2B5EF4-FFF2-40B4-BE49-F238E27FC236}">
                <a16:creationId xmlns:a16="http://schemas.microsoft.com/office/drawing/2014/main" id="{65927F4D-6693-3B1A-72AA-47667F1B3C6D}"/>
              </a:ext>
            </a:extLst>
          </p:cNvPr>
          <p:cNvSpPr/>
          <p:nvPr/>
        </p:nvSpPr>
        <p:spPr>
          <a:xfrm>
            <a:off x="14117912" y="7349419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r>
              <a:rPr lang="de-DE" sz="1320">
                <a:solidFill>
                  <a:schemeClr val="tx1">
                    <a:lumMod val="75000"/>
                    <a:lumOff val="25000"/>
                  </a:schemeClr>
                </a:solidFill>
              </a:rPr>
              <a:t>mediatorProcess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CD45C68A-5907-B2C9-7E47-D80D1AF79BA0}"/>
              </a:ext>
            </a:extLst>
          </p:cNvPr>
          <p:cNvSpPr/>
          <p:nvPr/>
        </p:nvSpPr>
        <p:spPr>
          <a:xfrm>
            <a:off x="15530603" y="8091055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5AC32AE9-C35E-662B-CE04-AF25FE7E44AF}"/>
              </a:ext>
            </a:extLst>
          </p:cNvPr>
          <p:cNvCxnSpPr>
            <a:cxnSpLocks/>
            <a:stCxn id="35" idx="2"/>
            <a:endCxn id="32" idx="1"/>
          </p:cNvCxnSpPr>
          <p:nvPr/>
        </p:nvCxnSpPr>
        <p:spPr>
          <a:xfrm flipH="1">
            <a:off x="13596795" y="8223127"/>
            <a:ext cx="1933811" cy="84831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7F51B4D-B23E-98A7-A78C-E7FE1E615931}"/>
              </a:ext>
            </a:extLst>
          </p:cNvPr>
          <p:cNvCxnSpPr>
            <a:cxnSpLocks/>
            <a:stCxn id="31" idx="4"/>
            <a:endCxn id="35" idx="1"/>
          </p:cNvCxnSpPr>
          <p:nvPr/>
        </p:nvCxnSpPr>
        <p:spPr>
          <a:xfrm>
            <a:off x="13625382" y="6843568"/>
            <a:ext cx="1946883" cy="128617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8" name="Rechteck 47">
            <a:extLst>
              <a:ext uri="{FF2B5EF4-FFF2-40B4-BE49-F238E27FC236}">
                <a16:creationId xmlns:a16="http://schemas.microsoft.com/office/drawing/2014/main" id="{3FB701FB-6985-6C08-2EF4-B83C5A03B45F}"/>
              </a:ext>
            </a:extLst>
          </p:cNvPr>
          <p:cNvSpPr/>
          <p:nvPr/>
        </p:nvSpPr>
        <p:spPr>
          <a:xfrm>
            <a:off x="15987247" y="7349420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endParaRPr lang="de-DE" sz="132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0F1571F3-7F52-8FC2-83B8-7F3582351EFE}"/>
              </a:ext>
            </a:extLst>
          </p:cNvPr>
          <p:cNvSpPr/>
          <p:nvPr/>
        </p:nvSpPr>
        <p:spPr>
          <a:xfrm>
            <a:off x="15987247" y="5858526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de-DE" sz="1260">
                <a:solidFill>
                  <a:schemeClr val="tx1">
                    <a:lumMod val="75000"/>
                    <a:lumOff val="25000"/>
                  </a:schemeClr>
                </a:solidFill>
              </a:rPr>
              <a:t>mountPoint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B4F67C50-22D3-3DD0-1B70-E21AA58E383E}"/>
              </a:ext>
            </a:extLst>
          </p:cNvPr>
          <p:cNvSpPr/>
          <p:nvPr/>
        </p:nvSpPr>
        <p:spPr>
          <a:xfrm>
            <a:off x="17297809" y="6531584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9" name="Zylinder 58">
            <a:extLst>
              <a:ext uri="{FF2B5EF4-FFF2-40B4-BE49-F238E27FC236}">
                <a16:creationId xmlns:a16="http://schemas.microsoft.com/office/drawing/2014/main" id="{296D4B84-45FB-F326-0011-A9722BE5F162}"/>
              </a:ext>
            </a:extLst>
          </p:cNvPr>
          <p:cNvSpPr/>
          <p:nvPr/>
        </p:nvSpPr>
        <p:spPr>
          <a:xfrm>
            <a:off x="16662847" y="9040960"/>
            <a:ext cx="1493432" cy="497810"/>
          </a:xfrm>
          <a:prstGeom prst="can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Device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6B8D4334-24BE-63F6-0351-BBC1E4026722}"/>
              </a:ext>
            </a:extLst>
          </p:cNvPr>
          <p:cNvSpPr/>
          <p:nvPr/>
        </p:nvSpPr>
        <p:spPr>
          <a:xfrm>
            <a:off x="17963252" y="7349419"/>
            <a:ext cx="1676301" cy="1005781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>
                <a:solidFill>
                  <a:schemeClr val="tx1">
                    <a:lumMod val="75000"/>
                    <a:lumOff val="25000"/>
                  </a:schemeClr>
                </a:solidFill>
              </a:rPr>
              <a:t>mediatorVM</a:t>
            </a:r>
          </a:p>
          <a:p>
            <a:r>
              <a:rPr lang="de-DE" sz="1320">
                <a:solidFill>
                  <a:schemeClr val="tx1">
                    <a:lumMod val="75000"/>
                    <a:lumOff val="25000"/>
                  </a:schemeClr>
                </a:solidFill>
              </a:rPr>
              <a:t>mediatorProcess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9575412C-609D-E06C-40F6-04AAE4BABA67}"/>
              </a:ext>
            </a:extLst>
          </p:cNvPr>
          <p:cNvSpPr/>
          <p:nvPr/>
        </p:nvSpPr>
        <p:spPr>
          <a:xfrm>
            <a:off x="19327608" y="8061948"/>
            <a:ext cx="284464" cy="264144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0FA22D83-E249-D68C-C407-44DE9F9DEDB5}"/>
              </a:ext>
            </a:extLst>
          </p:cNvPr>
          <p:cNvCxnSpPr>
            <a:cxnSpLocks/>
            <a:stCxn id="61" idx="2"/>
            <a:endCxn id="59" idx="1"/>
          </p:cNvCxnSpPr>
          <p:nvPr/>
        </p:nvCxnSpPr>
        <p:spPr>
          <a:xfrm flipH="1">
            <a:off x="17409566" y="8194020"/>
            <a:ext cx="1918045" cy="84694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49B3D795-1BD8-E0FC-B7B9-0E6BAC54303F}"/>
              </a:ext>
            </a:extLst>
          </p:cNvPr>
          <p:cNvCxnSpPr>
            <a:cxnSpLocks/>
            <a:stCxn id="54" idx="4"/>
            <a:endCxn id="61" idx="1"/>
          </p:cNvCxnSpPr>
          <p:nvPr/>
        </p:nvCxnSpPr>
        <p:spPr>
          <a:xfrm>
            <a:off x="17440041" y="6795731"/>
            <a:ext cx="1929226" cy="1304903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DBBE4409-667C-9E2E-3880-75471AAEDFE4}"/>
              </a:ext>
            </a:extLst>
          </p:cNvPr>
          <p:cNvCxnSpPr/>
          <p:nvPr/>
        </p:nvCxnSpPr>
        <p:spPr>
          <a:xfrm>
            <a:off x="12025072" y="5102927"/>
            <a:ext cx="0" cy="48981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7870ED2E-2366-F9BF-70EC-96AA5E0DCEF9}"/>
              </a:ext>
            </a:extLst>
          </p:cNvPr>
          <p:cNvCxnSpPr/>
          <p:nvPr/>
        </p:nvCxnSpPr>
        <p:spPr>
          <a:xfrm>
            <a:off x="15885645" y="5108002"/>
            <a:ext cx="0" cy="48981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feld 65">
            <a:extLst>
              <a:ext uri="{FF2B5EF4-FFF2-40B4-BE49-F238E27FC236}">
                <a16:creationId xmlns:a16="http://schemas.microsoft.com/office/drawing/2014/main" id="{B760A0B0-C77F-4115-9648-6048E0863E44}"/>
              </a:ext>
            </a:extLst>
          </p:cNvPr>
          <p:cNvSpPr txBox="1"/>
          <p:nvPr/>
        </p:nvSpPr>
        <p:spPr>
          <a:xfrm>
            <a:off x="12273984" y="5082631"/>
            <a:ext cx="1013354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60"/>
              <a:t>State 3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B0048E22-0A2D-74E6-3D21-0181016AD3B6}"/>
              </a:ext>
            </a:extLst>
          </p:cNvPr>
          <p:cNvSpPr txBox="1"/>
          <p:nvPr/>
        </p:nvSpPr>
        <p:spPr>
          <a:xfrm>
            <a:off x="16161461" y="5072470"/>
            <a:ext cx="1013354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60"/>
              <a:t>State 4</a:t>
            </a:r>
          </a:p>
        </p:txBody>
      </p:sp>
      <p:sp>
        <p:nvSpPr>
          <p:cNvPr id="69" name="Pfeil: nach oben 68">
            <a:extLst>
              <a:ext uri="{FF2B5EF4-FFF2-40B4-BE49-F238E27FC236}">
                <a16:creationId xmlns:a16="http://schemas.microsoft.com/office/drawing/2014/main" id="{8E659198-4832-FABD-6FC4-4C5B4FCBADCD}"/>
              </a:ext>
            </a:extLst>
          </p:cNvPr>
          <p:cNvSpPr/>
          <p:nvPr/>
        </p:nvSpPr>
        <p:spPr>
          <a:xfrm>
            <a:off x="9380343" y="5142287"/>
            <a:ext cx="326297" cy="695503"/>
          </a:xfrm>
          <a:prstGeom prst="upArrow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CB18D3D7-84D4-4E6E-CA57-BA4CC28D4132}"/>
              </a:ext>
            </a:extLst>
          </p:cNvPr>
          <p:cNvSpPr txBox="1"/>
          <p:nvPr/>
        </p:nvSpPr>
        <p:spPr>
          <a:xfrm>
            <a:off x="9642211" y="5277669"/>
            <a:ext cx="1586460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60"/>
              <a:t>Notification</a:t>
            </a:r>
          </a:p>
        </p:txBody>
      </p:sp>
      <p:sp>
        <p:nvSpPr>
          <p:cNvPr id="71" name="Gewitterblitz 70">
            <a:extLst>
              <a:ext uri="{FF2B5EF4-FFF2-40B4-BE49-F238E27FC236}">
                <a16:creationId xmlns:a16="http://schemas.microsoft.com/office/drawing/2014/main" id="{A357F203-11EC-F0F7-7992-A76C6B4D1C1F}"/>
              </a:ext>
            </a:extLst>
          </p:cNvPr>
          <p:cNvSpPr/>
          <p:nvPr/>
        </p:nvSpPr>
        <p:spPr>
          <a:xfrm>
            <a:off x="8867937" y="5417478"/>
            <a:ext cx="585738" cy="778431"/>
          </a:xfrm>
          <a:prstGeom prst="lightningBol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083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llipse 26">
            <a:extLst>
              <a:ext uri="{FF2B5EF4-FFF2-40B4-BE49-F238E27FC236}">
                <a16:creationId xmlns:a16="http://schemas.microsoft.com/office/drawing/2014/main" id="{15DF8775-8456-3A39-C387-9A6912D056E9}"/>
              </a:ext>
            </a:extLst>
          </p:cNvPr>
          <p:cNvSpPr/>
          <p:nvPr/>
        </p:nvSpPr>
        <p:spPr>
          <a:xfrm>
            <a:off x="6217383" y="6913065"/>
            <a:ext cx="3902904" cy="138000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ControllerDomainManager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AD05EB0-1C43-D322-A732-261066A2DF0F}"/>
              </a:ext>
            </a:extLst>
          </p:cNvPr>
          <p:cNvSpPr/>
          <p:nvPr/>
        </p:nvSpPr>
        <p:spPr>
          <a:xfrm>
            <a:off x="17641998" y="8778630"/>
            <a:ext cx="1255576" cy="452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Device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93D79AF-9840-B4AF-DF86-97495DC7E728}"/>
              </a:ext>
            </a:extLst>
          </p:cNvPr>
          <p:cNvSpPr/>
          <p:nvPr/>
        </p:nvSpPr>
        <p:spPr>
          <a:xfrm>
            <a:off x="13253356" y="8778630"/>
            <a:ext cx="1255576" cy="45246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Mediator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EA288BE-768B-B7C7-C6FD-32DC2F9FB279}"/>
              </a:ext>
            </a:extLst>
          </p:cNvPr>
          <p:cNvSpPr/>
          <p:nvPr/>
        </p:nvSpPr>
        <p:spPr>
          <a:xfrm>
            <a:off x="8864713" y="8778630"/>
            <a:ext cx="1255576" cy="45246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Controller</a:t>
            </a: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F9CD254C-5DC3-5E2F-29F4-F6DDF5F2842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10120289" y="9004860"/>
            <a:ext cx="3133066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B9345A38-7290-FBD7-F3A7-C9F883A43FFC}"/>
              </a:ext>
            </a:extLst>
          </p:cNvPr>
          <p:cNvCxnSpPr>
            <a:stCxn id="11" idx="3"/>
            <a:endCxn id="7" idx="1"/>
          </p:cNvCxnSpPr>
          <p:nvPr/>
        </p:nvCxnSpPr>
        <p:spPr>
          <a:xfrm>
            <a:off x="14508931" y="9004860"/>
            <a:ext cx="31330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583442E4-EFB5-9008-7E1D-1468FAE5EA69}"/>
              </a:ext>
            </a:extLst>
          </p:cNvPr>
          <p:cNvSpPr/>
          <p:nvPr/>
        </p:nvSpPr>
        <p:spPr>
          <a:xfrm>
            <a:off x="4961808" y="8778630"/>
            <a:ext cx="1255576" cy="45246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C3641E5C-EF3C-B0EE-624D-188F5F10047A}"/>
              </a:ext>
            </a:extLst>
          </p:cNvPr>
          <p:cNvCxnSpPr>
            <a:cxnSpLocks/>
            <a:stCxn id="29" idx="3"/>
            <a:endCxn id="12" idx="1"/>
          </p:cNvCxnSpPr>
          <p:nvPr/>
        </p:nvCxnSpPr>
        <p:spPr>
          <a:xfrm>
            <a:off x="6217387" y="9004860"/>
            <a:ext cx="264732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294E5044-37A3-930B-5093-B91957397826}"/>
              </a:ext>
            </a:extLst>
          </p:cNvPr>
          <p:cNvSpPr/>
          <p:nvPr/>
        </p:nvSpPr>
        <p:spPr>
          <a:xfrm>
            <a:off x="10672353" y="4868689"/>
            <a:ext cx="1255576" cy="45246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LiveDomainManager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7FDBE0D-9BAE-71BB-0399-953CABAEAA46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6217386" y="3920575"/>
            <a:ext cx="1142461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109D0C59-D120-76CC-3E13-2E8B044E2645}"/>
              </a:ext>
            </a:extLst>
          </p:cNvPr>
          <p:cNvSpPr/>
          <p:nvPr/>
        </p:nvSpPr>
        <p:spPr>
          <a:xfrm>
            <a:off x="4961807" y="3694345"/>
            <a:ext cx="1255576" cy="45246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4216C26-482B-3A23-53D0-0AC91F2E3317}"/>
              </a:ext>
            </a:extLst>
          </p:cNvPr>
          <p:cNvSpPr/>
          <p:nvPr/>
        </p:nvSpPr>
        <p:spPr>
          <a:xfrm>
            <a:off x="17641998" y="3694345"/>
            <a:ext cx="1255576" cy="452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Device</a:t>
            </a:r>
          </a:p>
        </p:txBody>
      </p:sp>
      <p:sp>
        <p:nvSpPr>
          <p:cNvPr id="47" name="Pfeil: nach unten 46">
            <a:extLst>
              <a:ext uri="{FF2B5EF4-FFF2-40B4-BE49-F238E27FC236}">
                <a16:creationId xmlns:a16="http://schemas.microsoft.com/office/drawing/2014/main" id="{9D742086-4DBE-B082-B3CE-0288C173FD75}"/>
              </a:ext>
            </a:extLst>
          </p:cNvPr>
          <p:cNvSpPr/>
          <p:nvPr/>
        </p:nvSpPr>
        <p:spPr>
          <a:xfrm rot="11161196">
            <a:off x="11164402" y="4200136"/>
            <a:ext cx="271476" cy="408147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sp>
        <p:nvSpPr>
          <p:cNvPr id="48" name="Pfeil: nach unten 47">
            <a:extLst>
              <a:ext uri="{FF2B5EF4-FFF2-40B4-BE49-F238E27FC236}">
                <a16:creationId xmlns:a16="http://schemas.microsoft.com/office/drawing/2014/main" id="{4EBDD885-493F-898D-D26C-99811B575D4C}"/>
              </a:ext>
            </a:extLst>
          </p:cNvPr>
          <p:cNvSpPr/>
          <p:nvPr/>
        </p:nvSpPr>
        <p:spPr>
          <a:xfrm rot="13604950">
            <a:off x="8297882" y="5695575"/>
            <a:ext cx="271476" cy="41460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49" name="Pfeil: nach unten 48">
            <a:extLst>
              <a:ext uri="{FF2B5EF4-FFF2-40B4-BE49-F238E27FC236}">
                <a16:creationId xmlns:a16="http://schemas.microsoft.com/office/drawing/2014/main" id="{FFDC376D-DA84-9C09-0ACA-F3EE0533B57A}"/>
              </a:ext>
            </a:extLst>
          </p:cNvPr>
          <p:cNvSpPr/>
          <p:nvPr/>
        </p:nvSpPr>
        <p:spPr>
          <a:xfrm rot="6592321">
            <a:off x="13720689" y="5176375"/>
            <a:ext cx="271476" cy="1289509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9ED5A9BD-057D-5BD6-D147-09920CB2582A}"/>
              </a:ext>
            </a:extLst>
          </p:cNvPr>
          <p:cNvSpPr/>
          <p:nvPr/>
        </p:nvSpPr>
        <p:spPr>
          <a:xfrm>
            <a:off x="10120290" y="6691462"/>
            <a:ext cx="8777285" cy="184377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DeviceDomainManager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54E655E-2B34-B04D-3363-A302E7369520}"/>
              </a:ext>
            </a:extLst>
          </p:cNvPr>
          <p:cNvSpPr/>
          <p:nvPr/>
        </p:nvSpPr>
        <p:spPr>
          <a:xfrm>
            <a:off x="14508929" y="6917690"/>
            <a:ext cx="4388642" cy="13800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MIM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630BD30-CC38-FB1F-F6DE-5513D494C452}"/>
              </a:ext>
            </a:extLst>
          </p:cNvPr>
          <p:cNvCxnSpPr>
            <a:cxnSpLocks/>
          </p:cNvCxnSpPr>
          <p:nvPr/>
        </p:nvCxnSpPr>
        <p:spPr>
          <a:xfrm>
            <a:off x="6217387" y="6395331"/>
            <a:ext cx="264732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4843FC30-AB65-AA48-C611-856241EA0340}"/>
              </a:ext>
            </a:extLst>
          </p:cNvPr>
          <p:cNvCxnSpPr>
            <a:cxnSpLocks/>
          </p:cNvCxnSpPr>
          <p:nvPr/>
        </p:nvCxnSpPr>
        <p:spPr>
          <a:xfrm>
            <a:off x="8864713" y="6484231"/>
            <a:ext cx="125557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6DB98520-FB80-D721-EFDC-E78AEAA20F2D}"/>
              </a:ext>
            </a:extLst>
          </p:cNvPr>
          <p:cNvCxnSpPr>
            <a:cxnSpLocks/>
          </p:cNvCxnSpPr>
          <p:nvPr/>
        </p:nvCxnSpPr>
        <p:spPr>
          <a:xfrm>
            <a:off x="10128987" y="6357231"/>
            <a:ext cx="3124371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61E99FEE-C895-7B80-6777-65CF92E93E2D}"/>
              </a:ext>
            </a:extLst>
          </p:cNvPr>
          <p:cNvCxnSpPr>
            <a:cxnSpLocks/>
          </p:cNvCxnSpPr>
          <p:nvPr/>
        </p:nvCxnSpPr>
        <p:spPr>
          <a:xfrm>
            <a:off x="13253355" y="6427126"/>
            <a:ext cx="1255574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55F5A1B8-2C7E-E1CC-CB12-952679A680F9}"/>
              </a:ext>
            </a:extLst>
          </p:cNvPr>
          <p:cNvCxnSpPr>
            <a:cxnSpLocks/>
          </p:cNvCxnSpPr>
          <p:nvPr/>
        </p:nvCxnSpPr>
        <p:spPr>
          <a:xfrm>
            <a:off x="14517629" y="6350926"/>
            <a:ext cx="31243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Geschweifte Klammer rechts 22">
            <a:extLst>
              <a:ext uri="{FF2B5EF4-FFF2-40B4-BE49-F238E27FC236}">
                <a16:creationId xmlns:a16="http://schemas.microsoft.com/office/drawing/2014/main" id="{466EF11B-29FD-7A77-EA0E-BEDFB2BD0DC6}"/>
              </a:ext>
            </a:extLst>
          </p:cNvPr>
          <p:cNvSpPr/>
          <p:nvPr/>
        </p:nvSpPr>
        <p:spPr>
          <a:xfrm rot="16200000">
            <a:off x="14451733" y="1781193"/>
            <a:ext cx="159086" cy="8732590"/>
          </a:xfrm>
          <a:prstGeom prst="righ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CA5F0B8-F8DB-F7F2-6934-CC36BE107716}"/>
              </a:ext>
            </a:extLst>
          </p:cNvPr>
          <p:cNvSpPr txBox="1"/>
          <p:nvPr/>
        </p:nvSpPr>
        <p:spPr>
          <a:xfrm>
            <a:off x="7136191" y="6375009"/>
            <a:ext cx="1053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RestconfLink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D74D6ED-A6F6-5A0A-6F12-F48F51B20136}"/>
              </a:ext>
            </a:extLst>
          </p:cNvPr>
          <p:cNvSpPr txBox="1"/>
          <p:nvPr/>
        </p:nvSpPr>
        <p:spPr>
          <a:xfrm>
            <a:off x="8932944" y="6256834"/>
            <a:ext cx="1111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MountPointFc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64BABF6-7539-6951-AFB3-FC1CA3AF26E0}"/>
              </a:ext>
            </a:extLst>
          </p:cNvPr>
          <p:cNvSpPr txBox="1"/>
          <p:nvPr/>
        </p:nvSpPr>
        <p:spPr>
          <a:xfrm>
            <a:off x="13154202" y="6202575"/>
            <a:ext cx="14709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MediatorProcessFc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5FBDA780-C7A0-2D26-705D-90AF4FB2D538}"/>
              </a:ext>
            </a:extLst>
          </p:cNvPr>
          <p:cNvSpPr txBox="1"/>
          <p:nvPr/>
        </p:nvSpPr>
        <p:spPr>
          <a:xfrm>
            <a:off x="11300141" y="6341074"/>
            <a:ext cx="995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NetconfLink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D67830D5-9585-F8F1-C047-028467F57783}"/>
              </a:ext>
            </a:extLst>
          </p:cNvPr>
          <p:cNvSpPr txBox="1"/>
          <p:nvPr/>
        </p:nvSpPr>
        <p:spPr>
          <a:xfrm>
            <a:off x="15623758" y="6338763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SnmpLink</a:t>
            </a:r>
          </a:p>
        </p:txBody>
      </p:sp>
      <p:sp>
        <p:nvSpPr>
          <p:cNvPr id="33" name="Geschweifte Klammer rechts 32">
            <a:extLst>
              <a:ext uri="{FF2B5EF4-FFF2-40B4-BE49-F238E27FC236}">
                <a16:creationId xmlns:a16="http://schemas.microsoft.com/office/drawing/2014/main" id="{5A82855C-6FF6-0C22-BC7A-A3E94E9CD8FA}"/>
              </a:ext>
            </a:extLst>
          </p:cNvPr>
          <p:cNvSpPr/>
          <p:nvPr/>
        </p:nvSpPr>
        <p:spPr>
          <a:xfrm rot="16200000">
            <a:off x="8093640" y="4192989"/>
            <a:ext cx="159086" cy="3911602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2DC5D979-CBD6-E279-D7FA-93569BEB60DF}"/>
              </a:ext>
            </a:extLst>
          </p:cNvPr>
          <p:cNvSpPr txBox="1"/>
          <p:nvPr/>
        </p:nvSpPr>
        <p:spPr>
          <a:xfrm>
            <a:off x="10845946" y="3918325"/>
            <a:ext cx="28984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Transport of Read from Live – Operation ?</a:t>
            </a: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93F67427-C9F9-534A-8E80-5DEB5C266EC6}"/>
              </a:ext>
            </a:extLst>
          </p:cNvPr>
          <p:cNvCxnSpPr>
            <a:cxnSpLocks/>
          </p:cNvCxnSpPr>
          <p:nvPr/>
        </p:nvCxnSpPr>
        <p:spPr>
          <a:xfrm>
            <a:off x="4932743" y="3421911"/>
            <a:ext cx="1268019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F1C87441-A171-4006-4456-3437467DD47E}"/>
              </a:ext>
            </a:extLst>
          </p:cNvPr>
          <p:cNvSpPr txBox="1"/>
          <p:nvPr/>
        </p:nvSpPr>
        <p:spPr>
          <a:xfrm>
            <a:off x="10390103" y="3426631"/>
            <a:ext cx="20747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Read from Live – Operation ?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816922BC-64F9-D223-69A6-7109BF41F9BA}"/>
              </a:ext>
            </a:extLst>
          </p:cNvPr>
          <p:cNvSpPr txBox="1"/>
          <p:nvPr/>
        </p:nvSpPr>
        <p:spPr>
          <a:xfrm>
            <a:off x="10080784" y="6124162"/>
            <a:ext cx="1014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&lt;get-config&gt;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F03B1639-50D8-D533-33CA-648284718463}"/>
              </a:ext>
            </a:extLst>
          </p:cNvPr>
          <p:cNvSpPr txBox="1"/>
          <p:nvPr/>
        </p:nvSpPr>
        <p:spPr>
          <a:xfrm>
            <a:off x="6149156" y="6177568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GET</a:t>
            </a:r>
          </a:p>
        </p:txBody>
      </p: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615F57D7-5599-DFC3-B6E9-DA8E26F58329}"/>
              </a:ext>
            </a:extLst>
          </p:cNvPr>
          <p:cNvCxnSpPr>
            <a:cxnSpLocks/>
          </p:cNvCxnSpPr>
          <p:nvPr/>
        </p:nvCxnSpPr>
        <p:spPr>
          <a:xfrm>
            <a:off x="10099923" y="10141002"/>
            <a:ext cx="7513013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5EE58D74-87E6-4A14-9122-102D98610CDC}"/>
              </a:ext>
            </a:extLst>
          </p:cNvPr>
          <p:cNvCxnSpPr>
            <a:cxnSpLocks/>
          </p:cNvCxnSpPr>
          <p:nvPr/>
        </p:nvCxnSpPr>
        <p:spPr>
          <a:xfrm>
            <a:off x="13174863" y="10522798"/>
            <a:ext cx="4438073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AA52B7F9-F012-88DE-87BF-2C8D2910D710}"/>
              </a:ext>
            </a:extLst>
          </p:cNvPr>
          <p:cNvSpPr txBox="1"/>
          <p:nvPr/>
        </p:nvSpPr>
        <p:spPr>
          <a:xfrm>
            <a:off x="13025330" y="9916405"/>
            <a:ext cx="20288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Connected state at the ODL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C1B0018D-7D20-0014-257D-BAF1E45FF92C}"/>
              </a:ext>
            </a:extLst>
          </p:cNvPr>
          <p:cNvSpPr txBox="1"/>
          <p:nvPr/>
        </p:nvSpPr>
        <p:spPr>
          <a:xfrm>
            <a:off x="13368030" y="10304019"/>
            <a:ext cx="41431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Addressing an attribute with an NCM-internal NetconfClient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2CEB087D-6A36-0216-6770-BEDF1124CA9F}"/>
              </a:ext>
            </a:extLst>
          </p:cNvPr>
          <p:cNvSpPr txBox="1"/>
          <p:nvPr/>
        </p:nvSpPr>
        <p:spPr>
          <a:xfrm>
            <a:off x="1828744" y="8866363"/>
            <a:ext cx="8140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Elements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668C06B6-6A0F-B5CA-F0D2-EEEC1DB4791F}"/>
              </a:ext>
            </a:extLst>
          </p:cNvPr>
          <p:cNvSpPr txBox="1"/>
          <p:nvPr/>
        </p:nvSpPr>
        <p:spPr>
          <a:xfrm>
            <a:off x="1828744" y="7336353"/>
            <a:ext cx="785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Domains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0C262B0E-D458-CB62-691D-F98F7C5FD237}"/>
              </a:ext>
            </a:extLst>
          </p:cNvPr>
          <p:cNvSpPr txBox="1"/>
          <p:nvPr/>
        </p:nvSpPr>
        <p:spPr>
          <a:xfrm>
            <a:off x="1828743" y="6337981"/>
            <a:ext cx="1039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Connections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80E54012-F6A5-2CBA-AF56-9ED147C2C8EB}"/>
              </a:ext>
            </a:extLst>
          </p:cNvPr>
          <p:cNvSpPr txBox="1"/>
          <p:nvPr/>
        </p:nvSpPr>
        <p:spPr>
          <a:xfrm>
            <a:off x="1828743" y="4956422"/>
            <a:ext cx="2714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Element holding higher layer Domain ?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CBEB432B-CDB6-9FB5-306F-E45DCFE0523F}"/>
              </a:ext>
            </a:extLst>
          </p:cNvPr>
          <p:cNvSpPr txBox="1"/>
          <p:nvPr/>
        </p:nvSpPr>
        <p:spPr>
          <a:xfrm>
            <a:off x="1828743" y="3553731"/>
            <a:ext cx="1973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Higher layer Connections ?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1F4F316C-ACA9-5A1A-70BB-DE6AB61CB4BC}"/>
              </a:ext>
            </a:extLst>
          </p:cNvPr>
          <p:cNvSpPr txBox="1"/>
          <p:nvPr/>
        </p:nvSpPr>
        <p:spPr>
          <a:xfrm>
            <a:off x="1828744" y="10165519"/>
            <a:ext cx="2266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Potential status measurements</a:t>
            </a:r>
          </a:p>
        </p:txBody>
      </p:sp>
    </p:spTree>
    <p:extLst>
      <p:ext uri="{BB962C8B-B14F-4D97-AF65-F5344CB8AC3E}">
        <p14:creationId xmlns:p14="http://schemas.microsoft.com/office/powerpoint/2010/main" val="3819450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llipse 12">
            <a:extLst>
              <a:ext uri="{FF2B5EF4-FFF2-40B4-BE49-F238E27FC236}">
                <a16:creationId xmlns:a16="http://schemas.microsoft.com/office/drawing/2014/main" id="{D3BE0895-1A2E-A661-6721-DB582614D7D0}"/>
              </a:ext>
            </a:extLst>
          </p:cNvPr>
          <p:cNvSpPr/>
          <p:nvPr/>
        </p:nvSpPr>
        <p:spPr>
          <a:xfrm>
            <a:off x="6358597" y="1741932"/>
            <a:ext cx="5341278" cy="29430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8433F276-58B1-8611-F513-917A26BDA823}"/>
              </a:ext>
            </a:extLst>
          </p:cNvPr>
          <p:cNvSpPr/>
          <p:nvPr/>
        </p:nvSpPr>
        <p:spPr>
          <a:xfrm>
            <a:off x="2283626" y="9153433"/>
            <a:ext cx="17889875" cy="357976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MW SDN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D1E65784-8FD9-B02F-A1D5-5343CD6554A3}"/>
              </a:ext>
            </a:extLst>
          </p:cNvPr>
          <p:cNvSpPr/>
          <p:nvPr/>
        </p:nvSpPr>
        <p:spPr>
          <a:xfrm>
            <a:off x="7420554" y="9986242"/>
            <a:ext cx="12706164" cy="184377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de-DE" sz="2160"/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5B1A2157-6724-A43D-0B35-9160EA316445}"/>
              </a:ext>
            </a:extLst>
          </p:cNvPr>
          <p:cNvSpPr/>
          <p:nvPr/>
        </p:nvSpPr>
        <p:spPr>
          <a:xfrm>
            <a:off x="2283626" y="5420567"/>
            <a:ext cx="17889875" cy="357976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MW SDN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0B17F57F-53EB-18D9-E3D6-4AFE0C884ADC}"/>
              </a:ext>
            </a:extLst>
          </p:cNvPr>
          <p:cNvSpPr/>
          <p:nvPr/>
        </p:nvSpPr>
        <p:spPr>
          <a:xfrm>
            <a:off x="7420554" y="6253376"/>
            <a:ext cx="12706164" cy="184377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160"/>
              <a:t>ManagementPlane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AAB3C92-1309-21F9-5A2A-D5B19E58CC97}"/>
              </a:ext>
            </a:extLst>
          </p:cNvPr>
          <p:cNvCxnSpPr>
            <a:cxnSpLocks/>
            <a:stCxn id="23" idx="6"/>
            <a:endCxn id="33" idx="2"/>
          </p:cNvCxnSpPr>
          <p:nvPr/>
        </p:nvCxnSpPr>
        <p:spPr>
          <a:xfrm>
            <a:off x="7516167" y="3830711"/>
            <a:ext cx="259468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FC42089-4FAE-409E-7490-894A8A151E87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3611370" y="3830711"/>
            <a:ext cx="259657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AE8FF5DD-0F69-94CD-E5C6-BF4111366C68}"/>
              </a:ext>
            </a:extLst>
          </p:cNvPr>
          <p:cNvGrpSpPr/>
          <p:nvPr/>
        </p:nvGrpSpPr>
        <p:grpSpPr>
          <a:xfrm>
            <a:off x="2330406" y="2874281"/>
            <a:ext cx="1280967" cy="1260000"/>
            <a:chOff x="1398758" y="3673888"/>
            <a:chExt cx="1280967" cy="1260000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8F729F81-6911-53C6-716D-0E24554FC6A4}"/>
                </a:ext>
              </a:extLst>
            </p:cNvPr>
            <p:cNvSpPr/>
            <p:nvPr/>
          </p:nvSpPr>
          <p:spPr>
            <a:xfrm>
              <a:off x="1398758" y="3673888"/>
              <a:ext cx="1260000" cy="1260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App</a:t>
              </a:r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29968352-5BC7-5AD3-37C3-C7EC1A2DCA48}"/>
                </a:ext>
              </a:extLst>
            </p:cNvPr>
            <p:cNvSpPr/>
            <p:nvPr/>
          </p:nvSpPr>
          <p:spPr>
            <a:xfrm>
              <a:off x="2633396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032BD62B-69A4-8E99-1CBB-A0B36211BB4E}"/>
                </a:ext>
              </a:extLst>
            </p:cNvPr>
            <p:cNvSpPr/>
            <p:nvPr/>
          </p:nvSpPr>
          <p:spPr>
            <a:xfrm>
              <a:off x="2634006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A8C6AA90-00CD-9995-68BF-D14927F49C25}"/>
                </a:ext>
              </a:extLst>
            </p:cNvPr>
            <p:cNvSpPr/>
            <p:nvPr/>
          </p:nvSpPr>
          <p:spPr>
            <a:xfrm>
              <a:off x="2634006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64A51F24-01B7-0D2F-EE94-0784C47DB1FD}"/>
              </a:ext>
            </a:extLst>
          </p:cNvPr>
          <p:cNvGrpSpPr/>
          <p:nvPr/>
        </p:nvGrpSpPr>
        <p:grpSpPr>
          <a:xfrm>
            <a:off x="6207339" y="2874281"/>
            <a:ext cx="1308831" cy="1260000"/>
            <a:chOff x="5275691" y="3673888"/>
            <a:chExt cx="1308831" cy="12600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D9ACD396-053F-098F-6E39-579A071B2680}"/>
                </a:ext>
              </a:extLst>
            </p:cNvPr>
            <p:cNvSpPr/>
            <p:nvPr/>
          </p:nvSpPr>
          <p:spPr>
            <a:xfrm>
              <a:off x="5301663" y="3673888"/>
              <a:ext cx="1260000" cy="1260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MWDI</a:t>
              </a: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76C8B7B3-4DB8-7758-7D3B-4733C3103382}"/>
                </a:ext>
              </a:extLst>
            </p:cNvPr>
            <p:cNvSpPr/>
            <p:nvPr/>
          </p:nvSpPr>
          <p:spPr>
            <a:xfrm>
              <a:off x="5275691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B55D626B-9E23-1A5B-2E00-E5EDDDF2DC31}"/>
                </a:ext>
              </a:extLst>
            </p:cNvPr>
            <p:cNvSpPr/>
            <p:nvPr/>
          </p:nvSpPr>
          <p:spPr>
            <a:xfrm>
              <a:off x="5276301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35B14177-28C3-5A1E-CD0F-588C785F14DB}"/>
                </a:ext>
              </a:extLst>
            </p:cNvPr>
            <p:cNvSpPr/>
            <p:nvPr/>
          </p:nvSpPr>
          <p:spPr>
            <a:xfrm>
              <a:off x="5276301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ADE4D244-E117-810E-FE87-3CCDF7FC1B8C}"/>
                </a:ext>
              </a:extLst>
            </p:cNvPr>
            <p:cNvSpPr/>
            <p:nvPr/>
          </p:nvSpPr>
          <p:spPr>
            <a:xfrm>
              <a:off x="6538193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D0D0DCA3-8707-D186-05E8-6917AAF9187B}"/>
                </a:ext>
              </a:extLst>
            </p:cNvPr>
            <p:cNvSpPr/>
            <p:nvPr/>
          </p:nvSpPr>
          <p:spPr>
            <a:xfrm>
              <a:off x="6538803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012ABAB0-185A-7992-9793-D8DD22CF49D2}"/>
                </a:ext>
              </a:extLst>
            </p:cNvPr>
            <p:cNvSpPr/>
            <p:nvPr/>
          </p:nvSpPr>
          <p:spPr>
            <a:xfrm>
              <a:off x="6538803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44E9702C-51E2-AFC6-3951-EF8A032F76C9}"/>
              </a:ext>
            </a:extLst>
          </p:cNvPr>
          <p:cNvGrpSpPr/>
          <p:nvPr/>
        </p:nvGrpSpPr>
        <p:grpSpPr>
          <a:xfrm>
            <a:off x="10110244" y="2874281"/>
            <a:ext cx="1308831" cy="1260000"/>
            <a:chOff x="9178596" y="3673888"/>
            <a:chExt cx="1308831" cy="1260000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A1B07028-9DDA-7F66-B27B-353CE67D042F}"/>
                </a:ext>
              </a:extLst>
            </p:cNvPr>
            <p:cNvSpPr/>
            <p:nvPr/>
          </p:nvSpPr>
          <p:spPr>
            <a:xfrm>
              <a:off x="9204568" y="3673888"/>
              <a:ext cx="1260000" cy="126000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Controller</a:t>
              </a:r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6CDAE638-E460-9348-B48C-6379641A7504}"/>
                </a:ext>
              </a:extLst>
            </p:cNvPr>
            <p:cNvSpPr/>
            <p:nvPr/>
          </p:nvSpPr>
          <p:spPr>
            <a:xfrm>
              <a:off x="9178596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BE6D7D4B-E6A1-7A5C-1919-1066E23704E4}"/>
                </a:ext>
              </a:extLst>
            </p:cNvPr>
            <p:cNvSpPr/>
            <p:nvPr/>
          </p:nvSpPr>
          <p:spPr>
            <a:xfrm>
              <a:off x="9179206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2A7E4F72-7D1F-0E44-030B-E6F687D122D1}"/>
                </a:ext>
              </a:extLst>
            </p:cNvPr>
            <p:cNvSpPr/>
            <p:nvPr/>
          </p:nvSpPr>
          <p:spPr>
            <a:xfrm>
              <a:off x="9179206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206407B4-8ECE-021E-1A03-AF47F7B9E83E}"/>
                </a:ext>
              </a:extLst>
            </p:cNvPr>
            <p:cNvSpPr/>
            <p:nvPr/>
          </p:nvSpPr>
          <p:spPr>
            <a:xfrm>
              <a:off x="10441098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33187CE9-B892-2AFD-AB38-BB8958DD03BA}"/>
                </a:ext>
              </a:extLst>
            </p:cNvPr>
            <p:cNvSpPr/>
            <p:nvPr/>
          </p:nvSpPr>
          <p:spPr>
            <a:xfrm>
              <a:off x="10441708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20CD0AB2-DE58-BA48-54DE-8FCE795DC626}"/>
                </a:ext>
              </a:extLst>
            </p:cNvPr>
            <p:cNvSpPr/>
            <p:nvPr/>
          </p:nvSpPr>
          <p:spPr>
            <a:xfrm>
              <a:off x="10441708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ACDB93A0-2E20-EAB5-5E77-E14468EEC040}"/>
              </a:ext>
            </a:extLst>
          </p:cNvPr>
          <p:cNvGrpSpPr/>
          <p:nvPr/>
        </p:nvGrpSpPr>
        <p:grpSpPr>
          <a:xfrm>
            <a:off x="14496776" y="2874281"/>
            <a:ext cx="1308831" cy="1260000"/>
            <a:chOff x="13565128" y="3673888"/>
            <a:chExt cx="1308831" cy="1260000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A0D90752-E600-F455-0214-43CAB7E7F87E}"/>
                </a:ext>
              </a:extLst>
            </p:cNvPr>
            <p:cNvSpPr/>
            <p:nvPr/>
          </p:nvSpPr>
          <p:spPr>
            <a:xfrm>
              <a:off x="13593211" y="3673888"/>
              <a:ext cx="1260000" cy="1260000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Mediator</a:t>
              </a: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B99D0CC0-05DA-53A5-C8E1-9D45E66A83C5}"/>
                </a:ext>
              </a:extLst>
            </p:cNvPr>
            <p:cNvSpPr/>
            <p:nvPr/>
          </p:nvSpPr>
          <p:spPr>
            <a:xfrm>
              <a:off x="13565128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30BC7643-AB67-AD60-6073-601A5A85AB72}"/>
                </a:ext>
              </a:extLst>
            </p:cNvPr>
            <p:cNvSpPr/>
            <p:nvPr/>
          </p:nvSpPr>
          <p:spPr>
            <a:xfrm>
              <a:off x="13565738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9C3D91A7-CF9E-7F00-0067-0C4FF862A152}"/>
                </a:ext>
              </a:extLst>
            </p:cNvPr>
            <p:cNvSpPr/>
            <p:nvPr/>
          </p:nvSpPr>
          <p:spPr>
            <a:xfrm>
              <a:off x="13565738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6B6F7CCB-1D34-AEC2-A285-88D28C4C759E}"/>
                </a:ext>
              </a:extLst>
            </p:cNvPr>
            <p:cNvSpPr/>
            <p:nvPr/>
          </p:nvSpPr>
          <p:spPr>
            <a:xfrm>
              <a:off x="14827630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F8EE7A2A-2AAA-62D3-EFD0-12A741008F83}"/>
                </a:ext>
              </a:extLst>
            </p:cNvPr>
            <p:cNvSpPr/>
            <p:nvPr/>
          </p:nvSpPr>
          <p:spPr>
            <a:xfrm>
              <a:off x="14828240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8BC01D64-4360-C779-329D-53F4E34B73C8}"/>
                </a:ext>
              </a:extLst>
            </p:cNvPr>
            <p:cNvSpPr/>
            <p:nvPr/>
          </p:nvSpPr>
          <p:spPr>
            <a:xfrm>
              <a:off x="14828240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083FE96D-5BFD-BE19-9D31-9BCA0E038D76}"/>
              </a:ext>
            </a:extLst>
          </p:cNvPr>
          <p:cNvGrpSpPr/>
          <p:nvPr/>
        </p:nvGrpSpPr>
        <p:grpSpPr>
          <a:xfrm>
            <a:off x="18884512" y="2874281"/>
            <a:ext cx="1288986" cy="1260000"/>
            <a:chOff x="17952867" y="3673888"/>
            <a:chExt cx="1288986" cy="1260000"/>
          </a:xfrm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0BB5D594-F1DB-B50A-6F3D-508ABF55786F}"/>
                </a:ext>
              </a:extLst>
            </p:cNvPr>
            <p:cNvSpPr/>
            <p:nvPr/>
          </p:nvSpPr>
          <p:spPr>
            <a:xfrm>
              <a:off x="17981853" y="3673888"/>
              <a:ext cx="12600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Device</a:t>
              </a:r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5787C7D1-BC29-2037-C7E6-1111E88F43A2}"/>
                </a:ext>
              </a:extLst>
            </p:cNvPr>
            <p:cNvSpPr/>
            <p:nvPr/>
          </p:nvSpPr>
          <p:spPr>
            <a:xfrm>
              <a:off x="17952867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7FF33434-68A4-4083-BCDB-F616C66FA7FF}"/>
                </a:ext>
              </a:extLst>
            </p:cNvPr>
            <p:cNvSpPr/>
            <p:nvPr/>
          </p:nvSpPr>
          <p:spPr>
            <a:xfrm>
              <a:off x="17953477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D4D61CF3-37D7-0039-79B0-B9C56150DD73}"/>
                </a:ext>
              </a:extLst>
            </p:cNvPr>
            <p:cNvSpPr/>
            <p:nvPr/>
          </p:nvSpPr>
          <p:spPr>
            <a:xfrm>
              <a:off x="17953477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ED99F935-BC1C-7FB5-AA10-C25DB56C26BA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>
            <a:off x="11419075" y="3830711"/>
            <a:ext cx="307831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FF8B944E-61B3-5541-4813-24A7010A3273}"/>
              </a:ext>
            </a:extLst>
          </p:cNvPr>
          <p:cNvCxnSpPr>
            <a:cxnSpLocks/>
            <a:stCxn id="42" idx="6"/>
            <a:endCxn id="45" idx="2"/>
          </p:cNvCxnSpPr>
          <p:nvPr/>
        </p:nvCxnSpPr>
        <p:spPr>
          <a:xfrm>
            <a:off x="15805604" y="3830711"/>
            <a:ext cx="307951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BCDF4640-A923-C50A-D33F-C95DCE08E5DF}"/>
              </a:ext>
            </a:extLst>
          </p:cNvPr>
          <p:cNvSpPr txBox="1"/>
          <p:nvPr/>
        </p:nvSpPr>
        <p:spPr>
          <a:xfrm>
            <a:off x="17037859" y="3606873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42ooo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10976B8C-D8E4-9C83-78A0-E39C05AC7017}"/>
              </a:ext>
            </a:extLst>
          </p:cNvPr>
          <p:cNvSpPr txBox="1"/>
          <p:nvPr/>
        </p:nvSpPr>
        <p:spPr>
          <a:xfrm>
            <a:off x="12551714" y="3606873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42ooo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8B2B3BEB-4ABD-3B35-BFD8-E9EC20B947F6}"/>
              </a:ext>
            </a:extLst>
          </p:cNvPr>
          <p:cNvSpPr txBox="1"/>
          <p:nvPr/>
        </p:nvSpPr>
        <p:spPr>
          <a:xfrm>
            <a:off x="8700310" y="3606873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E88919C4-04D4-F788-2D5F-5F9BD515EBC1}"/>
              </a:ext>
            </a:extLst>
          </p:cNvPr>
          <p:cNvSpPr txBox="1"/>
          <p:nvPr/>
        </p:nvSpPr>
        <p:spPr>
          <a:xfrm>
            <a:off x="4778442" y="3606873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8885771B-7D60-4D67-1DC8-58927B546288}"/>
              </a:ext>
            </a:extLst>
          </p:cNvPr>
          <p:cNvCxnSpPr>
            <a:cxnSpLocks/>
            <a:stCxn id="22" idx="6"/>
            <a:endCxn id="32" idx="2"/>
          </p:cNvCxnSpPr>
          <p:nvPr/>
        </p:nvCxnSpPr>
        <p:spPr>
          <a:xfrm>
            <a:off x="7516167" y="3504281"/>
            <a:ext cx="2594684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52E4B6B1-5F47-45D4-F97F-5497D49E3D10}"/>
              </a:ext>
            </a:extLst>
          </p:cNvPr>
          <p:cNvCxnSpPr>
            <a:cxnSpLocks/>
            <a:stCxn id="16" idx="6"/>
            <a:endCxn id="19" idx="2"/>
          </p:cNvCxnSpPr>
          <p:nvPr/>
        </p:nvCxnSpPr>
        <p:spPr>
          <a:xfrm>
            <a:off x="3611370" y="3504281"/>
            <a:ext cx="259657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BC29E72E-8D36-95B1-1907-CDE61FE7D64F}"/>
              </a:ext>
            </a:extLst>
          </p:cNvPr>
          <p:cNvCxnSpPr>
            <a:cxnSpLocks/>
            <a:stCxn id="35" idx="6"/>
            <a:endCxn id="38" idx="2"/>
          </p:cNvCxnSpPr>
          <p:nvPr/>
        </p:nvCxnSpPr>
        <p:spPr>
          <a:xfrm>
            <a:off x="11419075" y="3504281"/>
            <a:ext cx="3078311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E601EBED-2241-F91D-096B-94B6BFABEB7D}"/>
              </a:ext>
            </a:extLst>
          </p:cNvPr>
          <p:cNvCxnSpPr>
            <a:cxnSpLocks/>
            <a:stCxn id="41" idx="6"/>
            <a:endCxn id="44" idx="2"/>
          </p:cNvCxnSpPr>
          <p:nvPr/>
        </p:nvCxnSpPr>
        <p:spPr>
          <a:xfrm>
            <a:off x="15805604" y="3504281"/>
            <a:ext cx="307951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3" name="Textfeld 82">
            <a:extLst>
              <a:ext uri="{FF2B5EF4-FFF2-40B4-BE49-F238E27FC236}">
                <a16:creationId xmlns:a16="http://schemas.microsoft.com/office/drawing/2014/main" id="{D7F48A95-951D-7F41-BAAF-E8A53492969E}"/>
              </a:ext>
            </a:extLst>
          </p:cNvPr>
          <p:cNvSpPr txBox="1"/>
          <p:nvPr/>
        </p:nvSpPr>
        <p:spPr>
          <a:xfrm>
            <a:off x="17037859" y="3277962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42ooo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43B7A890-9072-1201-E3D8-951559C79B92}"/>
              </a:ext>
            </a:extLst>
          </p:cNvPr>
          <p:cNvSpPr txBox="1"/>
          <p:nvPr/>
        </p:nvSpPr>
        <p:spPr>
          <a:xfrm>
            <a:off x="12551714" y="3277962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42ooo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EF7C5B4D-87FD-393D-33BE-08FC530AD93F}"/>
              </a:ext>
            </a:extLst>
          </p:cNvPr>
          <p:cNvSpPr txBox="1"/>
          <p:nvPr/>
        </p:nvSpPr>
        <p:spPr>
          <a:xfrm>
            <a:off x="8700310" y="327796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759EB66E-2779-F3D3-CFB5-59B0954FB901}"/>
              </a:ext>
            </a:extLst>
          </p:cNvPr>
          <p:cNvSpPr txBox="1"/>
          <p:nvPr/>
        </p:nvSpPr>
        <p:spPr>
          <a:xfrm>
            <a:off x="4778442" y="327796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CA3EBB93-7CD2-AACC-5EBB-7D31CDA4CFA0}"/>
              </a:ext>
            </a:extLst>
          </p:cNvPr>
          <p:cNvCxnSpPr>
            <a:cxnSpLocks/>
            <a:stCxn id="21" idx="6"/>
            <a:endCxn id="31" idx="2"/>
          </p:cNvCxnSpPr>
          <p:nvPr/>
        </p:nvCxnSpPr>
        <p:spPr>
          <a:xfrm>
            <a:off x="7515557" y="3177852"/>
            <a:ext cx="259468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B144BA72-D2A1-464F-BC3B-A2F67BF9DA23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>
          <a:xfrm>
            <a:off x="3610760" y="3177852"/>
            <a:ext cx="259657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7CE98A98-9BDB-7C66-5508-98080A443ADD}"/>
              </a:ext>
            </a:extLst>
          </p:cNvPr>
          <p:cNvCxnSpPr>
            <a:cxnSpLocks/>
            <a:stCxn id="34" idx="6"/>
            <a:endCxn id="37" idx="2"/>
          </p:cNvCxnSpPr>
          <p:nvPr/>
        </p:nvCxnSpPr>
        <p:spPr>
          <a:xfrm>
            <a:off x="11418465" y="3177852"/>
            <a:ext cx="307831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6282EA90-F799-C253-8E43-89E00032E84F}"/>
              </a:ext>
            </a:extLst>
          </p:cNvPr>
          <p:cNvCxnSpPr>
            <a:cxnSpLocks/>
            <a:stCxn id="40" idx="6"/>
            <a:endCxn id="43" idx="2"/>
          </p:cNvCxnSpPr>
          <p:nvPr/>
        </p:nvCxnSpPr>
        <p:spPr>
          <a:xfrm>
            <a:off x="15804994" y="3177852"/>
            <a:ext cx="307951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9" name="Textfeld 98">
            <a:extLst>
              <a:ext uri="{FF2B5EF4-FFF2-40B4-BE49-F238E27FC236}">
                <a16:creationId xmlns:a16="http://schemas.microsoft.com/office/drawing/2014/main" id="{1CE85E13-D3E1-CDE4-FA8A-7B4CB9781801}"/>
              </a:ext>
            </a:extLst>
          </p:cNvPr>
          <p:cNvSpPr txBox="1"/>
          <p:nvPr/>
        </p:nvSpPr>
        <p:spPr>
          <a:xfrm>
            <a:off x="17164691" y="2957862"/>
            <a:ext cx="3481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64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BBF2B485-0227-7BD9-6033-C4315B506AE6}"/>
              </a:ext>
            </a:extLst>
          </p:cNvPr>
          <p:cNvSpPr txBox="1"/>
          <p:nvPr/>
        </p:nvSpPr>
        <p:spPr>
          <a:xfrm>
            <a:off x="12678546" y="2957862"/>
            <a:ext cx="3481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64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C815FC97-AD4D-0C80-F066-35BB0B840AC8}"/>
              </a:ext>
            </a:extLst>
          </p:cNvPr>
          <p:cNvSpPr txBox="1"/>
          <p:nvPr/>
        </p:nvSpPr>
        <p:spPr>
          <a:xfrm>
            <a:off x="8383909" y="2957862"/>
            <a:ext cx="898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64 x 42ooo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308F75B1-D1B4-38E1-CF26-C30BA04F2A8A}"/>
              </a:ext>
            </a:extLst>
          </p:cNvPr>
          <p:cNvSpPr txBox="1"/>
          <p:nvPr/>
        </p:nvSpPr>
        <p:spPr>
          <a:xfrm>
            <a:off x="4355444" y="2957862"/>
            <a:ext cx="1111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2 x 64 x 42ooo</a:t>
            </a:r>
          </a:p>
        </p:txBody>
      </p:sp>
      <p:sp>
        <p:nvSpPr>
          <p:cNvPr id="111" name="Zylinder 110">
            <a:extLst>
              <a:ext uri="{FF2B5EF4-FFF2-40B4-BE49-F238E27FC236}">
                <a16:creationId xmlns:a16="http://schemas.microsoft.com/office/drawing/2014/main" id="{EEAF48E4-E9A4-2D4B-7617-7D8C20BAC087}"/>
              </a:ext>
            </a:extLst>
          </p:cNvPr>
          <p:cNvSpPr/>
          <p:nvPr/>
        </p:nvSpPr>
        <p:spPr>
          <a:xfrm>
            <a:off x="6233308" y="4630800"/>
            <a:ext cx="1260000" cy="646383"/>
          </a:xfrm>
          <a:prstGeom prst="can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ES</a:t>
            </a:r>
          </a:p>
        </p:txBody>
      </p:sp>
      <p:cxnSp>
        <p:nvCxnSpPr>
          <p:cNvPr id="112" name="Gerader Verbinder 111">
            <a:extLst>
              <a:ext uri="{FF2B5EF4-FFF2-40B4-BE49-F238E27FC236}">
                <a16:creationId xmlns:a16="http://schemas.microsoft.com/office/drawing/2014/main" id="{4FD7D465-6D31-BFEF-B46D-1454ADFAA9B3}"/>
              </a:ext>
            </a:extLst>
          </p:cNvPr>
          <p:cNvCxnSpPr>
            <a:cxnSpLocks/>
            <a:stCxn id="7" idx="2"/>
            <a:endCxn id="111" idx="1"/>
          </p:cNvCxnSpPr>
          <p:nvPr/>
        </p:nvCxnSpPr>
        <p:spPr>
          <a:xfrm>
            <a:off x="6863308" y="4134281"/>
            <a:ext cx="0" cy="49651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6" name="Textfeld 115">
            <a:extLst>
              <a:ext uri="{FF2B5EF4-FFF2-40B4-BE49-F238E27FC236}">
                <a16:creationId xmlns:a16="http://schemas.microsoft.com/office/drawing/2014/main" id="{3DF136E3-FD31-8918-9947-5F2C1C7D86FD}"/>
              </a:ext>
            </a:extLst>
          </p:cNvPr>
          <p:cNvSpPr txBox="1"/>
          <p:nvPr/>
        </p:nvSpPr>
        <p:spPr>
          <a:xfrm>
            <a:off x="6863308" y="4254856"/>
            <a:ext cx="898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64 x 42ooo</a:t>
            </a:r>
          </a:p>
        </p:txBody>
      </p:sp>
      <p:sp>
        <p:nvSpPr>
          <p:cNvPr id="117" name="Ellipse 116">
            <a:extLst>
              <a:ext uri="{FF2B5EF4-FFF2-40B4-BE49-F238E27FC236}">
                <a16:creationId xmlns:a16="http://schemas.microsoft.com/office/drawing/2014/main" id="{A6214C1A-00CB-38C4-E48D-E4041FFB9D28}"/>
              </a:ext>
            </a:extLst>
          </p:cNvPr>
          <p:cNvSpPr/>
          <p:nvPr/>
        </p:nvSpPr>
        <p:spPr>
          <a:xfrm>
            <a:off x="11349436" y="7175263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18" name="Ellipse 117">
            <a:extLst>
              <a:ext uri="{FF2B5EF4-FFF2-40B4-BE49-F238E27FC236}">
                <a16:creationId xmlns:a16="http://schemas.microsoft.com/office/drawing/2014/main" id="{C085F62A-119E-7200-7A6A-22973EC1DAC0}"/>
              </a:ext>
            </a:extLst>
          </p:cNvPr>
          <p:cNvSpPr/>
          <p:nvPr/>
        </p:nvSpPr>
        <p:spPr>
          <a:xfrm>
            <a:off x="11349436" y="7064982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19" name="Ellipse 118">
            <a:extLst>
              <a:ext uri="{FF2B5EF4-FFF2-40B4-BE49-F238E27FC236}">
                <a16:creationId xmlns:a16="http://schemas.microsoft.com/office/drawing/2014/main" id="{501C3D70-C860-9451-D948-575F8C49F169}"/>
              </a:ext>
            </a:extLst>
          </p:cNvPr>
          <p:cNvSpPr/>
          <p:nvPr/>
        </p:nvSpPr>
        <p:spPr>
          <a:xfrm>
            <a:off x="11349436" y="6931317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20" name="Ellipse 119">
            <a:extLst>
              <a:ext uri="{FF2B5EF4-FFF2-40B4-BE49-F238E27FC236}">
                <a16:creationId xmlns:a16="http://schemas.microsoft.com/office/drawing/2014/main" id="{36E1CA6E-4E8C-B872-7092-F763D320DFBC}"/>
              </a:ext>
            </a:extLst>
          </p:cNvPr>
          <p:cNvSpPr/>
          <p:nvPr/>
        </p:nvSpPr>
        <p:spPr>
          <a:xfrm>
            <a:off x="11349436" y="6788978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24" name="Rechteck 123">
            <a:extLst>
              <a:ext uri="{FF2B5EF4-FFF2-40B4-BE49-F238E27FC236}">
                <a16:creationId xmlns:a16="http://schemas.microsoft.com/office/drawing/2014/main" id="{972E8878-090E-BD88-49B5-278906ACB9F8}"/>
              </a:ext>
            </a:extLst>
          </p:cNvPr>
          <p:cNvSpPr/>
          <p:nvPr/>
        </p:nvSpPr>
        <p:spPr>
          <a:xfrm>
            <a:off x="6160554" y="6949033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13A933C6-6F51-820D-1884-D22E261B735C}"/>
              </a:ext>
            </a:extLst>
          </p:cNvPr>
          <p:cNvSpPr>
            <a:spLocks noChangeAspect="1"/>
          </p:cNvSpPr>
          <p:nvPr/>
        </p:nvSpPr>
        <p:spPr>
          <a:xfrm rot="5400000">
            <a:off x="6128286" y="7739068"/>
            <a:ext cx="1324539" cy="64939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160"/>
              <a:t>Cache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759780D8-753C-B87D-4B60-A1C63064CC00}"/>
              </a:ext>
            </a:extLst>
          </p:cNvPr>
          <p:cNvSpPr/>
          <p:nvPr/>
        </p:nvSpPr>
        <p:spPr>
          <a:xfrm>
            <a:off x="11349436" y="10908129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29" name="Ellipse 128">
            <a:extLst>
              <a:ext uri="{FF2B5EF4-FFF2-40B4-BE49-F238E27FC236}">
                <a16:creationId xmlns:a16="http://schemas.microsoft.com/office/drawing/2014/main" id="{408DD293-C6B5-A4EB-D7A1-EC8BA573C54A}"/>
              </a:ext>
            </a:extLst>
          </p:cNvPr>
          <p:cNvSpPr/>
          <p:nvPr/>
        </p:nvSpPr>
        <p:spPr>
          <a:xfrm>
            <a:off x="11349436" y="10797848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30" name="Ellipse 129">
            <a:extLst>
              <a:ext uri="{FF2B5EF4-FFF2-40B4-BE49-F238E27FC236}">
                <a16:creationId xmlns:a16="http://schemas.microsoft.com/office/drawing/2014/main" id="{CADEDB5F-2929-CB20-07BC-6A95CEBA98E0}"/>
              </a:ext>
            </a:extLst>
          </p:cNvPr>
          <p:cNvSpPr/>
          <p:nvPr/>
        </p:nvSpPr>
        <p:spPr>
          <a:xfrm>
            <a:off x="11349436" y="10664183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31" name="Ellipse 130">
            <a:extLst>
              <a:ext uri="{FF2B5EF4-FFF2-40B4-BE49-F238E27FC236}">
                <a16:creationId xmlns:a16="http://schemas.microsoft.com/office/drawing/2014/main" id="{9CC590DC-D93B-10DA-730C-23217E4A1688}"/>
              </a:ext>
            </a:extLst>
          </p:cNvPr>
          <p:cNvSpPr/>
          <p:nvPr/>
        </p:nvSpPr>
        <p:spPr>
          <a:xfrm>
            <a:off x="11349436" y="10521844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32" name="Rechteck 131">
            <a:extLst>
              <a:ext uri="{FF2B5EF4-FFF2-40B4-BE49-F238E27FC236}">
                <a16:creationId xmlns:a16="http://schemas.microsoft.com/office/drawing/2014/main" id="{781149D7-2160-45B2-8188-F8ACB853B399}"/>
              </a:ext>
            </a:extLst>
          </p:cNvPr>
          <p:cNvSpPr/>
          <p:nvPr/>
        </p:nvSpPr>
        <p:spPr>
          <a:xfrm>
            <a:off x="6160554" y="10681899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33" name="Ellipse 132">
            <a:extLst>
              <a:ext uri="{FF2B5EF4-FFF2-40B4-BE49-F238E27FC236}">
                <a16:creationId xmlns:a16="http://schemas.microsoft.com/office/drawing/2014/main" id="{C1C48BAA-5BA7-2C9B-F00F-27C0F59C6004}"/>
              </a:ext>
            </a:extLst>
          </p:cNvPr>
          <p:cNvSpPr>
            <a:spLocks noChangeAspect="1"/>
          </p:cNvSpPr>
          <p:nvPr/>
        </p:nvSpPr>
        <p:spPr>
          <a:xfrm rot="5400000">
            <a:off x="6128286" y="11471934"/>
            <a:ext cx="1324539" cy="64939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160"/>
              <a:t>Cache</a:t>
            </a:r>
          </a:p>
        </p:txBody>
      </p:sp>
      <p:sp>
        <p:nvSpPr>
          <p:cNvPr id="136" name="Ellipse 135">
            <a:extLst>
              <a:ext uri="{FF2B5EF4-FFF2-40B4-BE49-F238E27FC236}">
                <a16:creationId xmlns:a16="http://schemas.microsoft.com/office/drawing/2014/main" id="{3F153420-288D-2E18-E137-2B9D78F13334}"/>
              </a:ext>
            </a:extLst>
          </p:cNvPr>
          <p:cNvSpPr/>
          <p:nvPr/>
        </p:nvSpPr>
        <p:spPr>
          <a:xfrm>
            <a:off x="7469839" y="10528797"/>
            <a:ext cx="3662612" cy="72519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Controller</a:t>
            </a:r>
          </a:p>
        </p:txBody>
      </p:sp>
      <p:sp>
        <p:nvSpPr>
          <p:cNvPr id="138" name="Rechteck 137">
            <a:extLst>
              <a:ext uri="{FF2B5EF4-FFF2-40B4-BE49-F238E27FC236}">
                <a16:creationId xmlns:a16="http://schemas.microsoft.com/office/drawing/2014/main" id="{F173FF4D-59E6-382E-1D1F-90DC01878C36}"/>
              </a:ext>
            </a:extLst>
          </p:cNvPr>
          <p:cNvSpPr/>
          <p:nvPr/>
        </p:nvSpPr>
        <p:spPr>
          <a:xfrm>
            <a:off x="10117168" y="6952165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Controller</a:t>
            </a:r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CBF71B95-F797-6985-D861-450C3FCE119B}"/>
              </a:ext>
            </a:extLst>
          </p:cNvPr>
          <p:cNvSpPr/>
          <p:nvPr/>
        </p:nvSpPr>
        <p:spPr>
          <a:xfrm>
            <a:off x="2283625" y="13032929"/>
            <a:ext cx="17889875" cy="357976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MW SDN</a:t>
            </a: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8B15E994-ABDA-E4DD-63D0-99D6838DFF13}"/>
              </a:ext>
            </a:extLst>
          </p:cNvPr>
          <p:cNvSpPr/>
          <p:nvPr/>
        </p:nvSpPr>
        <p:spPr>
          <a:xfrm>
            <a:off x="7420553" y="13865738"/>
            <a:ext cx="12706164" cy="184377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160"/>
              <a:t>        ManagementPlane</a:t>
            </a:r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5A7E11B2-3E42-130D-1D88-E325860CD6F4}"/>
              </a:ext>
            </a:extLst>
          </p:cNvPr>
          <p:cNvSpPr/>
          <p:nvPr/>
        </p:nvSpPr>
        <p:spPr>
          <a:xfrm>
            <a:off x="11349435" y="14787625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94CD7E54-8AC0-1221-73EB-CB8FBC9B51C4}"/>
              </a:ext>
            </a:extLst>
          </p:cNvPr>
          <p:cNvSpPr/>
          <p:nvPr/>
        </p:nvSpPr>
        <p:spPr>
          <a:xfrm>
            <a:off x="11349435" y="14677344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A8160536-70B1-B254-504C-5879F86B2FEF}"/>
              </a:ext>
            </a:extLst>
          </p:cNvPr>
          <p:cNvSpPr/>
          <p:nvPr/>
        </p:nvSpPr>
        <p:spPr>
          <a:xfrm>
            <a:off x="11349435" y="14543679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7" name="Ellipse 146">
            <a:extLst>
              <a:ext uri="{FF2B5EF4-FFF2-40B4-BE49-F238E27FC236}">
                <a16:creationId xmlns:a16="http://schemas.microsoft.com/office/drawing/2014/main" id="{06A94292-D571-661B-EAA7-4B51BED0A0F5}"/>
              </a:ext>
            </a:extLst>
          </p:cNvPr>
          <p:cNvSpPr/>
          <p:nvPr/>
        </p:nvSpPr>
        <p:spPr>
          <a:xfrm>
            <a:off x="11349435" y="14401340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0D4D40BA-5BA6-7300-5D00-1BB2B9B6D511}"/>
              </a:ext>
            </a:extLst>
          </p:cNvPr>
          <p:cNvSpPr/>
          <p:nvPr/>
        </p:nvSpPr>
        <p:spPr>
          <a:xfrm>
            <a:off x="6160553" y="14561395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49" name="Ellipse 148">
            <a:extLst>
              <a:ext uri="{FF2B5EF4-FFF2-40B4-BE49-F238E27FC236}">
                <a16:creationId xmlns:a16="http://schemas.microsoft.com/office/drawing/2014/main" id="{80127BE7-834A-4BEE-D713-DE407A278C9B}"/>
              </a:ext>
            </a:extLst>
          </p:cNvPr>
          <p:cNvSpPr>
            <a:spLocks noChangeAspect="1"/>
          </p:cNvSpPr>
          <p:nvPr/>
        </p:nvSpPr>
        <p:spPr>
          <a:xfrm rot="5400000">
            <a:off x="6128285" y="15351430"/>
            <a:ext cx="1324539" cy="64939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160"/>
              <a:t>Cache</a:t>
            </a:r>
          </a:p>
        </p:txBody>
      </p:sp>
      <p:sp>
        <p:nvSpPr>
          <p:cNvPr id="150" name="Ellipse 149">
            <a:extLst>
              <a:ext uri="{FF2B5EF4-FFF2-40B4-BE49-F238E27FC236}">
                <a16:creationId xmlns:a16="http://schemas.microsoft.com/office/drawing/2014/main" id="{02D36E97-D75E-541C-E4D6-00FF1E5C7833}"/>
              </a:ext>
            </a:extLst>
          </p:cNvPr>
          <p:cNvSpPr/>
          <p:nvPr/>
        </p:nvSpPr>
        <p:spPr>
          <a:xfrm>
            <a:off x="7469838" y="14408293"/>
            <a:ext cx="3662612" cy="72519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Controller</a:t>
            </a:r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8A5667DE-8B86-E2A0-67DA-E46B5ECA3718}"/>
              </a:ext>
            </a:extLst>
          </p:cNvPr>
          <p:cNvSpPr/>
          <p:nvPr/>
        </p:nvSpPr>
        <p:spPr>
          <a:xfrm>
            <a:off x="11179232" y="14134584"/>
            <a:ext cx="8947487" cy="1337003"/>
          </a:xfrm>
          <a:prstGeom prst="ellipse">
            <a:avLst/>
          </a:prstGeom>
          <a:solidFill>
            <a:schemeClr val="accent5">
              <a:alpha val="74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de-DE" sz="2160"/>
              <a:t>Device</a:t>
            </a:r>
          </a:p>
        </p:txBody>
      </p:sp>
      <p:cxnSp>
        <p:nvCxnSpPr>
          <p:cNvPr id="153" name="Gerader Verbinder 152">
            <a:extLst>
              <a:ext uri="{FF2B5EF4-FFF2-40B4-BE49-F238E27FC236}">
                <a16:creationId xmlns:a16="http://schemas.microsoft.com/office/drawing/2014/main" id="{C6CD39DF-AFCF-4284-6807-DCEF77710727}"/>
              </a:ext>
            </a:extLst>
          </p:cNvPr>
          <p:cNvCxnSpPr/>
          <p:nvPr/>
        </p:nvCxnSpPr>
        <p:spPr>
          <a:xfrm>
            <a:off x="2080423" y="5277181"/>
            <a:ext cx="0" cy="10797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E9390CF-9B19-E0A6-CBE7-8F903C0117AA}"/>
              </a:ext>
            </a:extLst>
          </p:cNvPr>
          <p:cNvCxnSpPr>
            <a:cxnSpLocks/>
          </p:cNvCxnSpPr>
          <p:nvPr/>
        </p:nvCxnSpPr>
        <p:spPr>
          <a:xfrm rot="5400000">
            <a:off x="7515557" y="7407480"/>
            <a:ext cx="0" cy="10797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00A75787-DA57-D4B6-274F-0F6C0D30F8BE}"/>
              </a:ext>
            </a:extLst>
          </p:cNvPr>
          <p:cNvSpPr/>
          <p:nvPr/>
        </p:nvSpPr>
        <p:spPr>
          <a:xfrm>
            <a:off x="10404306" y="1605792"/>
            <a:ext cx="180383" cy="574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2A2FE93-C3FA-0A05-6A3B-E04644D0C616}"/>
              </a:ext>
            </a:extLst>
          </p:cNvPr>
          <p:cNvSpPr/>
          <p:nvPr/>
        </p:nvSpPr>
        <p:spPr>
          <a:xfrm>
            <a:off x="10835147" y="1521001"/>
            <a:ext cx="180383" cy="2209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F6A8B11-5AA2-96FC-06AB-6CA0E4067524}"/>
              </a:ext>
            </a:extLst>
          </p:cNvPr>
          <p:cNvSpPr/>
          <p:nvPr/>
        </p:nvSpPr>
        <p:spPr>
          <a:xfrm>
            <a:off x="10835147" y="2070220"/>
            <a:ext cx="180383" cy="2209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3783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hteck 29">
            <a:extLst>
              <a:ext uri="{FF2B5EF4-FFF2-40B4-BE49-F238E27FC236}">
                <a16:creationId xmlns:a16="http://schemas.microsoft.com/office/drawing/2014/main" id="{A759E68E-FC52-CDA9-26E1-2A750D430DDD}"/>
              </a:ext>
            </a:extLst>
          </p:cNvPr>
          <p:cNvSpPr/>
          <p:nvPr/>
        </p:nvSpPr>
        <p:spPr>
          <a:xfrm>
            <a:off x="7190228" y="4957339"/>
            <a:ext cx="12710588" cy="1597494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LiveDomain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4464D08-EF53-AD08-F9BE-58657BE6EDF6}"/>
              </a:ext>
            </a:extLst>
          </p:cNvPr>
          <p:cNvSpPr/>
          <p:nvPr/>
        </p:nvSpPr>
        <p:spPr>
          <a:xfrm>
            <a:off x="11146234" y="8424346"/>
            <a:ext cx="8754583" cy="2236396"/>
          </a:xfrm>
          <a:prstGeom prst="rect">
            <a:avLst/>
          </a:prstGeom>
          <a:solidFill>
            <a:schemeClr val="accent5">
              <a:alpha val="2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DeviceDomain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919688F-DE37-08C1-118D-7D350AFE0CD0}"/>
              </a:ext>
            </a:extLst>
          </p:cNvPr>
          <p:cNvSpPr/>
          <p:nvPr/>
        </p:nvSpPr>
        <p:spPr>
          <a:xfrm>
            <a:off x="7190228" y="8424346"/>
            <a:ext cx="3948624" cy="2236396"/>
          </a:xfrm>
          <a:prstGeom prst="rect">
            <a:avLst/>
          </a:prstGeom>
          <a:solidFill>
            <a:schemeClr val="accent6">
              <a:alpha val="2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ControllerDomain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AAB3C92-1309-21F9-5A2A-D5B19E58CC97}"/>
              </a:ext>
            </a:extLst>
          </p:cNvPr>
          <p:cNvCxnSpPr>
            <a:cxnSpLocks/>
            <a:stCxn id="23" idx="6"/>
            <a:endCxn id="33" idx="2"/>
          </p:cNvCxnSpPr>
          <p:nvPr/>
        </p:nvCxnSpPr>
        <p:spPr>
          <a:xfrm>
            <a:off x="7243937" y="10134860"/>
            <a:ext cx="259468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FC42089-4FAE-409E-7490-894A8A151E87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3339140" y="10134860"/>
            <a:ext cx="259657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AE8FF5DD-0F69-94CD-E5C6-BF4111366C68}"/>
              </a:ext>
            </a:extLst>
          </p:cNvPr>
          <p:cNvGrpSpPr/>
          <p:nvPr/>
        </p:nvGrpSpPr>
        <p:grpSpPr>
          <a:xfrm>
            <a:off x="2058176" y="9178430"/>
            <a:ext cx="1280967" cy="1260000"/>
            <a:chOff x="1398758" y="3673888"/>
            <a:chExt cx="1280967" cy="1260000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8F729F81-6911-53C6-716D-0E24554FC6A4}"/>
                </a:ext>
              </a:extLst>
            </p:cNvPr>
            <p:cNvSpPr/>
            <p:nvPr/>
          </p:nvSpPr>
          <p:spPr>
            <a:xfrm>
              <a:off x="1398758" y="3673888"/>
              <a:ext cx="1260000" cy="1260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App</a:t>
              </a:r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29968352-5BC7-5AD3-37C3-C7EC1A2DCA48}"/>
                </a:ext>
              </a:extLst>
            </p:cNvPr>
            <p:cNvSpPr/>
            <p:nvPr/>
          </p:nvSpPr>
          <p:spPr>
            <a:xfrm>
              <a:off x="2633396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032BD62B-69A4-8E99-1CBB-A0B36211BB4E}"/>
                </a:ext>
              </a:extLst>
            </p:cNvPr>
            <p:cNvSpPr/>
            <p:nvPr/>
          </p:nvSpPr>
          <p:spPr>
            <a:xfrm>
              <a:off x="2634006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A8C6AA90-00CD-9995-68BF-D14927F49C25}"/>
                </a:ext>
              </a:extLst>
            </p:cNvPr>
            <p:cNvSpPr/>
            <p:nvPr/>
          </p:nvSpPr>
          <p:spPr>
            <a:xfrm>
              <a:off x="2634006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64A51F24-01B7-0D2F-EE94-0784C47DB1FD}"/>
              </a:ext>
            </a:extLst>
          </p:cNvPr>
          <p:cNvGrpSpPr/>
          <p:nvPr/>
        </p:nvGrpSpPr>
        <p:grpSpPr>
          <a:xfrm>
            <a:off x="5935109" y="9178430"/>
            <a:ext cx="1308831" cy="1260000"/>
            <a:chOff x="5275691" y="3673888"/>
            <a:chExt cx="1308831" cy="12600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D9ACD396-053F-098F-6E39-579A071B2680}"/>
                </a:ext>
              </a:extLst>
            </p:cNvPr>
            <p:cNvSpPr/>
            <p:nvPr/>
          </p:nvSpPr>
          <p:spPr>
            <a:xfrm>
              <a:off x="5301663" y="3673888"/>
              <a:ext cx="1260000" cy="1260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MWDI</a:t>
              </a: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76C8B7B3-4DB8-7758-7D3B-4733C3103382}"/>
                </a:ext>
              </a:extLst>
            </p:cNvPr>
            <p:cNvSpPr/>
            <p:nvPr/>
          </p:nvSpPr>
          <p:spPr>
            <a:xfrm>
              <a:off x="5275691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B55D626B-9E23-1A5B-2E00-E5EDDDF2DC31}"/>
                </a:ext>
              </a:extLst>
            </p:cNvPr>
            <p:cNvSpPr/>
            <p:nvPr/>
          </p:nvSpPr>
          <p:spPr>
            <a:xfrm>
              <a:off x="5276301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35B14177-28C3-5A1E-CD0F-588C785F14DB}"/>
                </a:ext>
              </a:extLst>
            </p:cNvPr>
            <p:cNvSpPr/>
            <p:nvPr/>
          </p:nvSpPr>
          <p:spPr>
            <a:xfrm>
              <a:off x="5276301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ADE4D244-E117-810E-FE87-3CCDF7FC1B8C}"/>
                </a:ext>
              </a:extLst>
            </p:cNvPr>
            <p:cNvSpPr/>
            <p:nvPr/>
          </p:nvSpPr>
          <p:spPr>
            <a:xfrm>
              <a:off x="6538193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D0D0DCA3-8707-D186-05E8-6917AAF9187B}"/>
                </a:ext>
              </a:extLst>
            </p:cNvPr>
            <p:cNvSpPr/>
            <p:nvPr/>
          </p:nvSpPr>
          <p:spPr>
            <a:xfrm>
              <a:off x="6538803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012ABAB0-185A-7992-9793-D8DD22CF49D2}"/>
                </a:ext>
              </a:extLst>
            </p:cNvPr>
            <p:cNvSpPr/>
            <p:nvPr/>
          </p:nvSpPr>
          <p:spPr>
            <a:xfrm>
              <a:off x="6538803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44E9702C-51E2-AFC6-3951-EF8A032F76C9}"/>
              </a:ext>
            </a:extLst>
          </p:cNvPr>
          <p:cNvGrpSpPr/>
          <p:nvPr/>
        </p:nvGrpSpPr>
        <p:grpSpPr>
          <a:xfrm>
            <a:off x="9838014" y="9178430"/>
            <a:ext cx="1308831" cy="1260000"/>
            <a:chOff x="9178596" y="3673888"/>
            <a:chExt cx="1308831" cy="1260000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A1B07028-9DDA-7F66-B27B-353CE67D042F}"/>
                </a:ext>
              </a:extLst>
            </p:cNvPr>
            <p:cNvSpPr/>
            <p:nvPr/>
          </p:nvSpPr>
          <p:spPr>
            <a:xfrm>
              <a:off x="9204568" y="3673888"/>
              <a:ext cx="1260000" cy="126000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Controller</a:t>
              </a:r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6CDAE638-E460-9348-B48C-6379641A7504}"/>
                </a:ext>
              </a:extLst>
            </p:cNvPr>
            <p:cNvSpPr/>
            <p:nvPr/>
          </p:nvSpPr>
          <p:spPr>
            <a:xfrm>
              <a:off x="9178596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BE6D7D4B-E6A1-7A5C-1919-1066E23704E4}"/>
                </a:ext>
              </a:extLst>
            </p:cNvPr>
            <p:cNvSpPr/>
            <p:nvPr/>
          </p:nvSpPr>
          <p:spPr>
            <a:xfrm>
              <a:off x="9179206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2A7E4F72-7D1F-0E44-030B-E6F687D122D1}"/>
                </a:ext>
              </a:extLst>
            </p:cNvPr>
            <p:cNvSpPr/>
            <p:nvPr/>
          </p:nvSpPr>
          <p:spPr>
            <a:xfrm>
              <a:off x="9179206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206407B4-8ECE-021E-1A03-AF47F7B9E83E}"/>
                </a:ext>
              </a:extLst>
            </p:cNvPr>
            <p:cNvSpPr/>
            <p:nvPr/>
          </p:nvSpPr>
          <p:spPr>
            <a:xfrm>
              <a:off x="10441098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33187CE9-B892-2AFD-AB38-BB8958DD03BA}"/>
                </a:ext>
              </a:extLst>
            </p:cNvPr>
            <p:cNvSpPr/>
            <p:nvPr/>
          </p:nvSpPr>
          <p:spPr>
            <a:xfrm>
              <a:off x="10441708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20CD0AB2-DE58-BA48-54DE-8FCE795DC626}"/>
                </a:ext>
              </a:extLst>
            </p:cNvPr>
            <p:cNvSpPr/>
            <p:nvPr/>
          </p:nvSpPr>
          <p:spPr>
            <a:xfrm>
              <a:off x="10441708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ACDB93A0-2E20-EAB5-5E77-E14468EEC040}"/>
              </a:ext>
            </a:extLst>
          </p:cNvPr>
          <p:cNvGrpSpPr/>
          <p:nvPr/>
        </p:nvGrpSpPr>
        <p:grpSpPr>
          <a:xfrm>
            <a:off x="14224546" y="9178430"/>
            <a:ext cx="1308831" cy="1260000"/>
            <a:chOff x="13565128" y="3673888"/>
            <a:chExt cx="1308831" cy="1260000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A0D90752-E600-F455-0214-43CAB7E7F87E}"/>
                </a:ext>
              </a:extLst>
            </p:cNvPr>
            <p:cNvSpPr/>
            <p:nvPr/>
          </p:nvSpPr>
          <p:spPr>
            <a:xfrm>
              <a:off x="13593211" y="3673888"/>
              <a:ext cx="1260000" cy="1260000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Mediator</a:t>
              </a: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B99D0CC0-05DA-53A5-C8E1-9D45E66A83C5}"/>
                </a:ext>
              </a:extLst>
            </p:cNvPr>
            <p:cNvSpPr/>
            <p:nvPr/>
          </p:nvSpPr>
          <p:spPr>
            <a:xfrm>
              <a:off x="13565128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30BC7643-AB67-AD60-6073-601A5A85AB72}"/>
                </a:ext>
              </a:extLst>
            </p:cNvPr>
            <p:cNvSpPr/>
            <p:nvPr/>
          </p:nvSpPr>
          <p:spPr>
            <a:xfrm>
              <a:off x="13565738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9C3D91A7-CF9E-7F00-0067-0C4FF862A152}"/>
                </a:ext>
              </a:extLst>
            </p:cNvPr>
            <p:cNvSpPr/>
            <p:nvPr/>
          </p:nvSpPr>
          <p:spPr>
            <a:xfrm>
              <a:off x="13565738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6B6F7CCB-1D34-AEC2-A285-88D28C4C759E}"/>
                </a:ext>
              </a:extLst>
            </p:cNvPr>
            <p:cNvSpPr/>
            <p:nvPr/>
          </p:nvSpPr>
          <p:spPr>
            <a:xfrm>
              <a:off x="14827630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F8EE7A2A-2AAA-62D3-EFD0-12A741008F83}"/>
                </a:ext>
              </a:extLst>
            </p:cNvPr>
            <p:cNvSpPr/>
            <p:nvPr/>
          </p:nvSpPr>
          <p:spPr>
            <a:xfrm>
              <a:off x="14828240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8BC01D64-4360-C779-329D-53F4E34B73C8}"/>
                </a:ext>
              </a:extLst>
            </p:cNvPr>
            <p:cNvSpPr/>
            <p:nvPr/>
          </p:nvSpPr>
          <p:spPr>
            <a:xfrm>
              <a:off x="14828240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083FE96D-5BFD-BE19-9D31-9BCA0E038D76}"/>
              </a:ext>
            </a:extLst>
          </p:cNvPr>
          <p:cNvGrpSpPr/>
          <p:nvPr/>
        </p:nvGrpSpPr>
        <p:grpSpPr>
          <a:xfrm>
            <a:off x="18612282" y="9178430"/>
            <a:ext cx="1288986" cy="1260000"/>
            <a:chOff x="17952867" y="3673888"/>
            <a:chExt cx="1288986" cy="1260000"/>
          </a:xfrm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0BB5D594-F1DB-B50A-6F3D-508ABF55786F}"/>
                </a:ext>
              </a:extLst>
            </p:cNvPr>
            <p:cNvSpPr/>
            <p:nvPr/>
          </p:nvSpPr>
          <p:spPr>
            <a:xfrm>
              <a:off x="17981853" y="3673888"/>
              <a:ext cx="1260000" cy="12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40"/>
                <a:t>Device</a:t>
              </a:r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5787C7D1-BC29-2037-C7E6-1111E88F43A2}"/>
                </a:ext>
              </a:extLst>
            </p:cNvPr>
            <p:cNvSpPr/>
            <p:nvPr/>
          </p:nvSpPr>
          <p:spPr>
            <a:xfrm>
              <a:off x="17952867" y="3954599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7FF33434-68A4-4083-BCDB-F616C66FA7FF}"/>
                </a:ext>
              </a:extLst>
            </p:cNvPr>
            <p:cNvSpPr/>
            <p:nvPr/>
          </p:nvSpPr>
          <p:spPr>
            <a:xfrm>
              <a:off x="17953477" y="428102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D4D61CF3-37D7-0039-79B0-B9C56150DD73}"/>
                </a:ext>
              </a:extLst>
            </p:cNvPr>
            <p:cNvSpPr/>
            <p:nvPr/>
          </p:nvSpPr>
          <p:spPr>
            <a:xfrm>
              <a:off x="17953477" y="4607458"/>
              <a:ext cx="45719" cy="45719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800">
                <a:solidFill>
                  <a:schemeClr val="tx1"/>
                </a:solidFill>
              </a:endParaRPr>
            </a:p>
          </p:txBody>
        </p:sp>
      </p:grp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ED99F935-BC1C-7FB5-AA10-C25DB56C26BA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>
            <a:off x="11146845" y="10134860"/>
            <a:ext cx="307831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FF8B944E-61B3-5541-4813-24A7010A3273}"/>
              </a:ext>
            </a:extLst>
          </p:cNvPr>
          <p:cNvCxnSpPr>
            <a:cxnSpLocks/>
            <a:stCxn id="42" idx="6"/>
            <a:endCxn id="45" idx="2"/>
          </p:cNvCxnSpPr>
          <p:nvPr/>
        </p:nvCxnSpPr>
        <p:spPr>
          <a:xfrm>
            <a:off x="15533374" y="10134860"/>
            <a:ext cx="307951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BCDF4640-A923-C50A-D33F-C95DCE08E5DF}"/>
              </a:ext>
            </a:extLst>
          </p:cNvPr>
          <p:cNvSpPr txBox="1"/>
          <p:nvPr/>
        </p:nvSpPr>
        <p:spPr>
          <a:xfrm>
            <a:off x="16933944" y="991102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10976B8C-D8E4-9C83-78A0-E39C05AC7017}"/>
              </a:ext>
            </a:extLst>
          </p:cNvPr>
          <p:cNvSpPr txBox="1"/>
          <p:nvPr/>
        </p:nvSpPr>
        <p:spPr>
          <a:xfrm>
            <a:off x="12447799" y="991102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8B2B3BEB-4ABD-3B35-BFD8-E9EC20B947F6}"/>
              </a:ext>
            </a:extLst>
          </p:cNvPr>
          <p:cNvSpPr txBox="1"/>
          <p:nvPr/>
        </p:nvSpPr>
        <p:spPr>
          <a:xfrm>
            <a:off x="8428080" y="991102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E88919C4-04D4-F788-2D5F-5F9BD515EBC1}"/>
              </a:ext>
            </a:extLst>
          </p:cNvPr>
          <p:cNvSpPr txBox="1"/>
          <p:nvPr/>
        </p:nvSpPr>
        <p:spPr>
          <a:xfrm>
            <a:off x="4506212" y="991102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8885771B-7D60-4D67-1DC8-58927B546288}"/>
              </a:ext>
            </a:extLst>
          </p:cNvPr>
          <p:cNvCxnSpPr>
            <a:cxnSpLocks/>
            <a:stCxn id="22" idx="6"/>
            <a:endCxn id="32" idx="2"/>
          </p:cNvCxnSpPr>
          <p:nvPr/>
        </p:nvCxnSpPr>
        <p:spPr>
          <a:xfrm>
            <a:off x="7243937" y="9808430"/>
            <a:ext cx="2594684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52E4B6B1-5F47-45D4-F97F-5497D49E3D10}"/>
              </a:ext>
            </a:extLst>
          </p:cNvPr>
          <p:cNvCxnSpPr>
            <a:cxnSpLocks/>
            <a:stCxn id="16" idx="6"/>
            <a:endCxn id="19" idx="2"/>
          </p:cNvCxnSpPr>
          <p:nvPr/>
        </p:nvCxnSpPr>
        <p:spPr>
          <a:xfrm>
            <a:off x="3339140" y="9808430"/>
            <a:ext cx="259657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BC29E72E-8D36-95B1-1907-CDE61FE7D64F}"/>
              </a:ext>
            </a:extLst>
          </p:cNvPr>
          <p:cNvCxnSpPr>
            <a:cxnSpLocks/>
            <a:stCxn id="35" idx="6"/>
            <a:endCxn id="38" idx="2"/>
          </p:cNvCxnSpPr>
          <p:nvPr/>
        </p:nvCxnSpPr>
        <p:spPr>
          <a:xfrm>
            <a:off x="11146845" y="9808430"/>
            <a:ext cx="3078311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E601EBED-2241-F91D-096B-94B6BFABEB7D}"/>
              </a:ext>
            </a:extLst>
          </p:cNvPr>
          <p:cNvCxnSpPr>
            <a:cxnSpLocks/>
            <a:stCxn id="41" idx="6"/>
            <a:endCxn id="44" idx="2"/>
          </p:cNvCxnSpPr>
          <p:nvPr/>
        </p:nvCxnSpPr>
        <p:spPr>
          <a:xfrm>
            <a:off x="15533374" y="9808430"/>
            <a:ext cx="307951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3" name="Textfeld 82">
            <a:extLst>
              <a:ext uri="{FF2B5EF4-FFF2-40B4-BE49-F238E27FC236}">
                <a16:creationId xmlns:a16="http://schemas.microsoft.com/office/drawing/2014/main" id="{D7F48A95-951D-7F41-BAAF-E8A53492969E}"/>
              </a:ext>
            </a:extLst>
          </p:cNvPr>
          <p:cNvSpPr txBox="1"/>
          <p:nvPr/>
        </p:nvSpPr>
        <p:spPr>
          <a:xfrm>
            <a:off x="16933944" y="9582111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43B7A890-9072-1201-E3D8-951559C79B92}"/>
              </a:ext>
            </a:extLst>
          </p:cNvPr>
          <p:cNvSpPr txBox="1"/>
          <p:nvPr/>
        </p:nvSpPr>
        <p:spPr>
          <a:xfrm>
            <a:off x="12447799" y="9582111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EF7C5B4D-87FD-393D-33BE-08FC530AD93F}"/>
              </a:ext>
            </a:extLst>
          </p:cNvPr>
          <p:cNvSpPr txBox="1"/>
          <p:nvPr/>
        </p:nvSpPr>
        <p:spPr>
          <a:xfrm>
            <a:off x="8428080" y="9582111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759EB66E-2779-F3D3-CFB5-59B0954FB901}"/>
              </a:ext>
            </a:extLst>
          </p:cNvPr>
          <p:cNvSpPr txBox="1"/>
          <p:nvPr/>
        </p:nvSpPr>
        <p:spPr>
          <a:xfrm>
            <a:off x="4506212" y="9582111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B144BA72-D2A1-464F-BC3B-A2F67BF9DA23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>
          <a:xfrm>
            <a:off x="3338530" y="9482001"/>
            <a:ext cx="259657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2" name="Textfeld 101">
            <a:extLst>
              <a:ext uri="{FF2B5EF4-FFF2-40B4-BE49-F238E27FC236}">
                <a16:creationId xmlns:a16="http://schemas.microsoft.com/office/drawing/2014/main" id="{308F75B1-D1B4-38E1-CF26-C30BA04F2A8A}"/>
              </a:ext>
            </a:extLst>
          </p:cNvPr>
          <p:cNvSpPr txBox="1"/>
          <p:nvPr/>
        </p:nvSpPr>
        <p:spPr>
          <a:xfrm>
            <a:off x="4083214" y="9262011"/>
            <a:ext cx="1111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2 x 64 x 42ooo</a:t>
            </a:r>
          </a:p>
        </p:txBody>
      </p:sp>
      <p:sp>
        <p:nvSpPr>
          <p:cNvPr id="111" name="Zylinder 110">
            <a:extLst>
              <a:ext uri="{FF2B5EF4-FFF2-40B4-BE49-F238E27FC236}">
                <a16:creationId xmlns:a16="http://schemas.microsoft.com/office/drawing/2014/main" id="{EEAF48E4-E9A4-2D4B-7617-7D8C20BAC087}"/>
              </a:ext>
            </a:extLst>
          </p:cNvPr>
          <p:cNvSpPr/>
          <p:nvPr/>
        </p:nvSpPr>
        <p:spPr>
          <a:xfrm>
            <a:off x="5961078" y="10934949"/>
            <a:ext cx="1260000" cy="646383"/>
          </a:xfrm>
          <a:prstGeom prst="can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ES</a:t>
            </a:r>
          </a:p>
        </p:txBody>
      </p:sp>
      <p:cxnSp>
        <p:nvCxnSpPr>
          <p:cNvPr id="112" name="Gerader Verbinder 111">
            <a:extLst>
              <a:ext uri="{FF2B5EF4-FFF2-40B4-BE49-F238E27FC236}">
                <a16:creationId xmlns:a16="http://schemas.microsoft.com/office/drawing/2014/main" id="{4FD7D465-6D31-BFEF-B46D-1454ADFAA9B3}"/>
              </a:ext>
            </a:extLst>
          </p:cNvPr>
          <p:cNvCxnSpPr>
            <a:cxnSpLocks/>
            <a:stCxn id="7" idx="2"/>
            <a:endCxn id="111" idx="1"/>
          </p:cNvCxnSpPr>
          <p:nvPr/>
        </p:nvCxnSpPr>
        <p:spPr>
          <a:xfrm>
            <a:off x="6591078" y="10438430"/>
            <a:ext cx="0" cy="49651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6" name="Textfeld 115">
            <a:extLst>
              <a:ext uri="{FF2B5EF4-FFF2-40B4-BE49-F238E27FC236}">
                <a16:creationId xmlns:a16="http://schemas.microsoft.com/office/drawing/2014/main" id="{3DF136E3-FD31-8918-9947-5F2C1C7D86FD}"/>
              </a:ext>
            </a:extLst>
          </p:cNvPr>
          <p:cNvSpPr txBox="1"/>
          <p:nvPr/>
        </p:nvSpPr>
        <p:spPr>
          <a:xfrm>
            <a:off x="6591078" y="10559005"/>
            <a:ext cx="898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64 x 42ooo</a:t>
            </a:r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CBF71B95-F797-6985-D861-450C3FCE119B}"/>
              </a:ext>
            </a:extLst>
          </p:cNvPr>
          <p:cNvSpPr/>
          <p:nvPr/>
        </p:nvSpPr>
        <p:spPr>
          <a:xfrm>
            <a:off x="2080424" y="135756"/>
            <a:ext cx="17889875" cy="357976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MW SDN</a:t>
            </a: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8B15E994-ABDA-E4DD-63D0-99D6838DFF13}"/>
              </a:ext>
            </a:extLst>
          </p:cNvPr>
          <p:cNvSpPr/>
          <p:nvPr/>
        </p:nvSpPr>
        <p:spPr>
          <a:xfrm>
            <a:off x="7217352" y="968565"/>
            <a:ext cx="12706164" cy="184377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160"/>
              <a:t>        ManagementPlane</a:t>
            </a:r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5A7E11B2-3E42-130D-1D88-E325860CD6F4}"/>
              </a:ext>
            </a:extLst>
          </p:cNvPr>
          <p:cNvSpPr/>
          <p:nvPr/>
        </p:nvSpPr>
        <p:spPr>
          <a:xfrm>
            <a:off x="11146234" y="1890452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94CD7E54-8AC0-1221-73EB-CB8FBC9B51C4}"/>
              </a:ext>
            </a:extLst>
          </p:cNvPr>
          <p:cNvSpPr/>
          <p:nvPr/>
        </p:nvSpPr>
        <p:spPr>
          <a:xfrm>
            <a:off x="11146234" y="1780171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A8160536-70B1-B254-504C-5879F86B2FEF}"/>
              </a:ext>
            </a:extLst>
          </p:cNvPr>
          <p:cNvSpPr/>
          <p:nvPr/>
        </p:nvSpPr>
        <p:spPr>
          <a:xfrm>
            <a:off x="11146234" y="1646506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7" name="Ellipse 146">
            <a:extLst>
              <a:ext uri="{FF2B5EF4-FFF2-40B4-BE49-F238E27FC236}">
                <a16:creationId xmlns:a16="http://schemas.microsoft.com/office/drawing/2014/main" id="{06A94292-D571-661B-EAA7-4B51BED0A0F5}"/>
              </a:ext>
            </a:extLst>
          </p:cNvPr>
          <p:cNvSpPr/>
          <p:nvPr/>
        </p:nvSpPr>
        <p:spPr>
          <a:xfrm>
            <a:off x="11146234" y="1504167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0D4D40BA-5BA6-7300-5D00-1BB2B9B6D511}"/>
              </a:ext>
            </a:extLst>
          </p:cNvPr>
          <p:cNvSpPr/>
          <p:nvPr/>
        </p:nvSpPr>
        <p:spPr>
          <a:xfrm>
            <a:off x="5957352" y="1664222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49" name="Ellipse 148">
            <a:extLst>
              <a:ext uri="{FF2B5EF4-FFF2-40B4-BE49-F238E27FC236}">
                <a16:creationId xmlns:a16="http://schemas.microsoft.com/office/drawing/2014/main" id="{80127BE7-834A-4BEE-D713-DE407A278C9B}"/>
              </a:ext>
            </a:extLst>
          </p:cNvPr>
          <p:cNvSpPr>
            <a:spLocks noChangeAspect="1"/>
          </p:cNvSpPr>
          <p:nvPr/>
        </p:nvSpPr>
        <p:spPr>
          <a:xfrm rot="5400000">
            <a:off x="5925084" y="2454257"/>
            <a:ext cx="1324539" cy="64939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160"/>
              <a:t>Cache</a:t>
            </a:r>
          </a:p>
        </p:txBody>
      </p:sp>
      <p:sp>
        <p:nvSpPr>
          <p:cNvPr id="150" name="Ellipse 149">
            <a:extLst>
              <a:ext uri="{FF2B5EF4-FFF2-40B4-BE49-F238E27FC236}">
                <a16:creationId xmlns:a16="http://schemas.microsoft.com/office/drawing/2014/main" id="{02D36E97-D75E-541C-E4D6-00FF1E5C7833}"/>
              </a:ext>
            </a:extLst>
          </p:cNvPr>
          <p:cNvSpPr/>
          <p:nvPr/>
        </p:nvSpPr>
        <p:spPr>
          <a:xfrm>
            <a:off x="7266637" y="1511120"/>
            <a:ext cx="3662612" cy="72519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Controller</a:t>
            </a:r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8A5667DE-8B86-E2A0-67DA-E46B5ECA3718}"/>
              </a:ext>
            </a:extLst>
          </p:cNvPr>
          <p:cNvSpPr/>
          <p:nvPr/>
        </p:nvSpPr>
        <p:spPr>
          <a:xfrm>
            <a:off x="10976031" y="1237411"/>
            <a:ext cx="8947487" cy="1337003"/>
          </a:xfrm>
          <a:prstGeom prst="ellipse">
            <a:avLst/>
          </a:prstGeom>
          <a:solidFill>
            <a:schemeClr val="accent5">
              <a:alpha val="74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de-DE" sz="2160"/>
              <a:t>Device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784CA366-28F1-C25B-757A-C46EC1D4400F}"/>
              </a:ext>
            </a:extLst>
          </p:cNvPr>
          <p:cNvCxnSpPr>
            <a:cxnSpLocks/>
          </p:cNvCxnSpPr>
          <p:nvPr/>
        </p:nvCxnSpPr>
        <p:spPr>
          <a:xfrm flipV="1">
            <a:off x="7190228" y="8806542"/>
            <a:ext cx="3956006" cy="1500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B4BCD004-1121-6524-C7D5-F21DDF747ABA}"/>
              </a:ext>
            </a:extLst>
          </p:cNvPr>
          <p:cNvSpPr txBox="1"/>
          <p:nvPr/>
        </p:nvSpPr>
        <p:spPr>
          <a:xfrm>
            <a:off x="8841976" y="8590847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42ooo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4283A065-EFDC-D4DE-E66D-64FF372380E4}"/>
              </a:ext>
            </a:extLst>
          </p:cNvPr>
          <p:cNvCxnSpPr>
            <a:cxnSpLocks/>
          </p:cNvCxnSpPr>
          <p:nvPr/>
        </p:nvCxnSpPr>
        <p:spPr>
          <a:xfrm>
            <a:off x="11153614" y="8878705"/>
            <a:ext cx="7487044" cy="1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BC323A48-6CC7-3B53-AB86-D381F5467C22}"/>
              </a:ext>
            </a:extLst>
          </p:cNvPr>
          <p:cNvSpPr txBox="1"/>
          <p:nvPr/>
        </p:nvSpPr>
        <p:spPr>
          <a:xfrm>
            <a:off x="13547734" y="8643856"/>
            <a:ext cx="898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/>
              <a:t>1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8EE26BEE-DA65-743C-4E18-9DBADEDD465A}"/>
              </a:ext>
            </a:extLst>
          </p:cNvPr>
          <p:cNvSpPr txBox="1"/>
          <p:nvPr/>
        </p:nvSpPr>
        <p:spPr>
          <a:xfrm>
            <a:off x="19093740" y="8187657"/>
            <a:ext cx="898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/>
              <a:t>42ooo</a:t>
            </a:r>
          </a:p>
        </p:txBody>
      </p: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0DE3C1C8-C579-D0F0-92CB-5CCB5318330E}"/>
              </a:ext>
            </a:extLst>
          </p:cNvPr>
          <p:cNvCxnSpPr>
            <a:cxnSpLocks/>
          </p:cNvCxnSpPr>
          <p:nvPr/>
        </p:nvCxnSpPr>
        <p:spPr>
          <a:xfrm>
            <a:off x="7177678" y="5566804"/>
            <a:ext cx="114629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6E63747B-722D-B5B3-C62D-05734C6E8D7E}"/>
              </a:ext>
            </a:extLst>
          </p:cNvPr>
          <p:cNvSpPr txBox="1"/>
          <p:nvPr/>
        </p:nvSpPr>
        <p:spPr>
          <a:xfrm>
            <a:off x="12869984" y="5341134"/>
            <a:ext cx="898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/>
              <a:t>42ooo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E087717E-97C2-CC8A-86D0-A0AD28F8E8F3}"/>
              </a:ext>
            </a:extLst>
          </p:cNvPr>
          <p:cNvSpPr/>
          <p:nvPr/>
        </p:nvSpPr>
        <p:spPr>
          <a:xfrm>
            <a:off x="5960470" y="5341134"/>
            <a:ext cx="1260000" cy="1065692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1BB23D9F-6730-9632-59F9-D87C79136B20}"/>
              </a:ext>
            </a:extLst>
          </p:cNvPr>
          <p:cNvSpPr/>
          <p:nvPr/>
        </p:nvSpPr>
        <p:spPr>
          <a:xfrm>
            <a:off x="9863375" y="5942832"/>
            <a:ext cx="1260000" cy="463994"/>
          </a:xfrm>
          <a:prstGeom prst="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Controller</a:t>
            </a: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7A35A77E-C566-F7DD-8261-C4264E949765}"/>
              </a:ext>
            </a:extLst>
          </p:cNvPr>
          <p:cNvSpPr/>
          <p:nvPr/>
        </p:nvSpPr>
        <p:spPr>
          <a:xfrm>
            <a:off x="18640658" y="5341134"/>
            <a:ext cx="1260000" cy="1065693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Device</a:t>
            </a:r>
          </a:p>
        </p:txBody>
      </p:sp>
      <p:cxnSp>
        <p:nvCxnSpPr>
          <p:cNvPr id="155" name="Gerader Verbinder 154">
            <a:extLst>
              <a:ext uri="{FF2B5EF4-FFF2-40B4-BE49-F238E27FC236}">
                <a16:creationId xmlns:a16="http://schemas.microsoft.com/office/drawing/2014/main" id="{1E568CB8-CFC1-2854-CA1F-DF16C3ED20D4}"/>
              </a:ext>
            </a:extLst>
          </p:cNvPr>
          <p:cNvCxnSpPr>
            <a:cxnSpLocks/>
            <a:stCxn id="57" idx="2"/>
          </p:cNvCxnSpPr>
          <p:nvPr/>
        </p:nvCxnSpPr>
        <p:spPr>
          <a:xfrm flipH="1">
            <a:off x="6590468" y="6406826"/>
            <a:ext cx="2" cy="49651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6" name="Textfeld 155">
            <a:extLst>
              <a:ext uri="{FF2B5EF4-FFF2-40B4-BE49-F238E27FC236}">
                <a16:creationId xmlns:a16="http://schemas.microsoft.com/office/drawing/2014/main" id="{636D5ACB-A697-732D-CBB5-9E2584C98C70}"/>
              </a:ext>
            </a:extLst>
          </p:cNvPr>
          <p:cNvSpPr txBox="1"/>
          <p:nvPr/>
        </p:nvSpPr>
        <p:spPr>
          <a:xfrm>
            <a:off x="6590468" y="6527401"/>
            <a:ext cx="898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64 x 42ooo</a:t>
            </a:r>
          </a:p>
        </p:txBody>
      </p:sp>
      <p:cxnSp>
        <p:nvCxnSpPr>
          <p:cNvPr id="159" name="Gerader Verbinder 158">
            <a:extLst>
              <a:ext uri="{FF2B5EF4-FFF2-40B4-BE49-F238E27FC236}">
                <a16:creationId xmlns:a16="http://schemas.microsoft.com/office/drawing/2014/main" id="{28938B6D-DD42-C367-3909-01E59FF18F3C}"/>
              </a:ext>
            </a:extLst>
          </p:cNvPr>
          <p:cNvCxnSpPr>
            <a:cxnSpLocks/>
          </p:cNvCxnSpPr>
          <p:nvPr/>
        </p:nvCxnSpPr>
        <p:spPr>
          <a:xfrm>
            <a:off x="11138852" y="6177682"/>
            <a:ext cx="7473430" cy="42149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0" name="Textfeld 159">
            <a:extLst>
              <a:ext uri="{FF2B5EF4-FFF2-40B4-BE49-F238E27FC236}">
                <a16:creationId xmlns:a16="http://schemas.microsoft.com/office/drawing/2014/main" id="{9F687025-CC2A-C9C1-16D8-E004D6B73C48}"/>
              </a:ext>
            </a:extLst>
          </p:cNvPr>
          <p:cNvSpPr txBox="1"/>
          <p:nvPr/>
        </p:nvSpPr>
        <p:spPr>
          <a:xfrm>
            <a:off x="13532972" y="5942833"/>
            <a:ext cx="898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/>
              <a:t>4200 x 64</a:t>
            </a:r>
          </a:p>
        </p:txBody>
      </p:sp>
      <p:cxnSp>
        <p:nvCxnSpPr>
          <p:cNvPr id="161" name="Gerader Verbinder 160">
            <a:extLst>
              <a:ext uri="{FF2B5EF4-FFF2-40B4-BE49-F238E27FC236}">
                <a16:creationId xmlns:a16="http://schemas.microsoft.com/office/drawing/2014/main" id="{594E8F19-5099-DCB8-648B-0182E8D4BE18}"/>
              </a:ext>
            </a:extLst>
          </p:cNvPr>
          <p:cNvCxnSpPr>
            <a:cxnSpLocks/>
          </p:cNvCxnSpPr>
          <p:nvPr/>
        </p:nvCxnSpPr>
        <p:spPr>
          <a:xfrm flipV="1">
            <a:off x="7152114" y="6250475"/>
            <a:ext cx="3956006" cy="1500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2" name="Textfeld 161">
            <a:extLst>
              <a:ext uri="{FF2B5EF4-FFF2-40B4-BE49-F238E27FC236}">
                <a16:creationId xmlns:a16="http://schemas.microsoft.com/office/drawing/2014/main" id="{B33D63A8-39C3-9AA3-4E80-C654A975A080}"/>
              </a:ext>
            </a:extLst>
          </p:cNvPr>
          <p:cNvSpPr txBox="1"/>
          <p:nvPr/>
        </p:nvSpPr>
        <p:spPr>
          <a:xfrm>
            <a:off x="8656386" y="6034780"/>
            <a:ext cx="898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64 x 42ooo</a:t>
            </a:r>
          </a:p>
        </p:txBody>
      </p:sp>
      <p:sp>
        <p:nvSpPr>
          <p:cNvPr id="217" name="Pfeil: nach unten 216">
            <a:extLst>
              <a:ext uri="{FF2B5EF4-FFF2-40B4-BE49-F238E27FC236}">
                <a16:creationId xmlns:a16="http://schemas.microsoft.com/office/drawing/2014/main" id="{CBDAC551-9C5A-8A6E-FA59-650A19DD3550}"/>
              </a:ext>
            </a:extLst>
          </p:cNvPr>
          <p:cNvSpPr/>
          <p:nvPr/>
        </p:nvSpPr>
        <p:spPr>
          <a:xfrm rot="13604950">
            <a:off x="9392053" y="6682254"/>
            <a:ext cx="271476" cy="41460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218" name="Pfeil: nach unten 217">
            <a:extLst>
              <a:ext uri="{FF2B5EF4-FFF2-40B4-BE49-F238E27FC236}">
                <a16:creationId xmlns:a16="http://schemas.microsoft.com/office/drawing/2014/main" id="{745AACB9-9982-444E-18BB-78CFBD39AB11}"/>
              </a:ext>
            </a:extLst>
          </p:cNvPr>
          <p:cNvSpPr/>
          <p:nvPr/>
        </p:nvSpPr>
        <p:spPr>
          <a:xfrm rot="6592321">
            <a:off x="14814860" y="6163054"/>
            <a:ext cx="271476" cy="1289509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cxnSp>
        <p:nvCxnSpPr>
          <p:cNvPr id="219" name="Gerader Verbinder 218">
            <a:extLst>
              <a:ext uri="{FF2B5EF4-FFF2-40B4-BE49-F238E27FC236}">
                <a16:creationId xmlns:a16="http://schemas.microsoft.com/office/drawing/2014/main" id="{16535D00-DA20-9C37-AE31-C34F09051861}"/>
              </a:ext>
            </a:extLst>
          </p:cNvPr>
          <p:cNvCxnSpPr>
            <a:cxnSpLocks/>
          </p:cNvCxnSpPr>
          <p:nvPr/>
        </p:nvCxnSpPr>
        <p:spPr>
          <a:xfrm>
            <a:off x="7311558" y="7861031"/>
            <a:ext cx="264732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0" name="Gerader Verbinder 219">
            <a:extLst>
              <a:ext uri="{FF2B5EF4-FFF2-40B4-BE49-F238E27FC236}">
                <a16:creationId xmlns:a16="http://schemas.microsoft.com/office/drawing/2014/main" id="{FA6B79BC-434F-33F7-42CE-14A0AB371B7A}"/>
              </a:ext>
            </a:extLst>
          </p:cNvPr>
          <p:cNvCxnSpPr>
            <a:cxnSpLocks/>
          </p:cNvCxnSpPr>
          <p:nvPr/>
        </p:nvCxnSpPr>
        <p:spPr>
          <a:xfrm>
            <a:off x="9958884" y="7949931"/>
            <a:ext cx="125557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1" name="Gerader Verbinder 220">
            <a:extLst>
              <a:ext uri="{FF2B5EF4-FFF2-40B4-BE49-F238E27FC236}">
                <a16:creationId xmlns:a16="http://schemas.microsoft.com/office/drawing/2014/main" id="{4A7BE190-93DC-71F2-3BC6-B1E594A78580}"/>
              </a:ext>
            </a:extLst>
          </p:cNvPr>
          <p:cNvCxnSpPr>
            <a:cxnSpLocks/>
          </p:cNvCxnSpPr>
          <p:nvPr/>
        </p:nvCxnSpPr>
        <p:spPr>
          <a:xfrm>
            <a:off x="11223158" y="7822931"/>
            <a:ext cx="3124371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2" name="Gerader Verbinder 221">
            <a:extLst>
              <a:ext uri="{FF2B5EF4-FFF2-40B4-BE49-F238E27FC236}">
                <a16:creationId xmlns:a16="http://schemas.microsoft.com/office/drawing/2014/main" id="{89B708AA-D914-44E1-9045-0E0CEC378C96}"/>
              </a:ext>
            </a:extLst>
          </p:cNvPr>
          <p:cNvCxnSpPr>
            <a:cxnSpLocks/>
          </p:cNvCxnSpPr>
          <p:nvPr/>
        </p:nvCxnSpPr>
        <p:spPr>
          <a:xfrm>
            <a:off x="14347526" y="7892826"/>
            <a:ext cx="1255574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3" name="Gerader Verbinder 222">
            <a:extLst>
              <a:ext uri="{FF2B5EF4-FFF2-40B4-BE49-F238E27FC236}">
                <a16:creationId xmlns:a16="http://schemas.microsoft.com/office/drawing/2014/main" id="{F4D25091-2A9E-7E2C-D029-E4A09E2F23DF}"/>
              </a:ext>
            </a:extLst>
          </p:cNvPr>
          <p:cNvCxnSpPr>
            <a:cxnSpLocks/>
          </p:cNvCxnSpPr>
          <p:nvPr/>
        </p:nvCxnSpPr>
        <p:spPr>
          <a:xfrm>
            <a:off x="15611800" y="7816626"/>
            <a:ext cx="31243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Geschweifte Klammer rechts 223">
            <a:extLst>
              <a:ext uri="{FF2B5EF4-FFF2-40B4-BE49-F238E27FC236}">
                <a16:creationId xmlns:a16="http://schemas.microsoft.com/office/drawing/2014/main" id="{8951DA17-AE83-6C5B-221D-C72C44D93739}"/>
              </a:ext>
            </a:extLst>
          </p:cNvPr>
          <p:cNvSpPr/>
          <p:nvPr/>
        </p:nvSpPr>
        <p:spPr>
          <a:xfrm rot="16200000">
            <a:off x="15545904" y="2767872"/>
            <a:ext cx="159086" cy="8732590"/>
          </a:xfrm>
          <a:prstGeom prst="righ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5" name="Textfeld 224">
            <a:extLst>
              <a:ext uri="{FF2B5EF4-FFF2-40B4-BE49-F238E27FC236}">
                <a16:creationId xmlns:a16="http://schemas.microsoft.com/office/drawing/2014/main" id="{8BBF860C-986E-4D78-9F87-5F04364EF030}"/>
              </a:ext>
            </a:extLst>
          </p:cNvPr>
          <p:cNvSpPr txBox="1"/>
          <p:nvPr/>
        </p:nvSpPr>
        <p:spPr>
          <a:xfrm>
            <a:off x="8230362" y="7840709"/>
            <a:ext cx="1053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RestconfLink</a:t>
            </a:r>
          </a:p>
        </p:txBody>
      </p:sp>
      <p:sp>
        <p:nvSpPr>
          <p:cNvPr id="226" name="Textfeld 225">
            <a:extLst>
              <a:ext uri="{FF2B5EF4-FFF2-40B4-BE49-F238E27FC236}">
                <a16:creationId xmlns:a16="http://schemas.microsoft.com/office/drawing/2014/main" id="{8D387E64-4BCA-66B6-70E1-7D45503060B6}"/>
              </a:ext>
            </a:extLst>
          </p:cNvPr>
          <p:cNvSpPr txBox="1"/>
          <p:nvPr/>
        </p:nvSpPr>
        <p:spPr>
          <a:xfrm>
            <a:off x="10027115" y="7722534"/>
            <a:ext cx="1111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MountPointFc</a:t>
            </a:r>
          </a:p>
        </p:txBody>
      </p:sp>
      <p:sp>
        <p:nvSpPr>
          <p:cNvPr id="227" name="Textfeld 226">
            <a:extLst>
              <a:ext uri="{FF2B5EF4-FFF2-40B4-BE49-F238E27FC236}">
                <a16:creationId xmlns:a16="http://schemas.microsoft.com/office/drawing/2014/main" id="{8E4CF222-5866-09E4-CEF1-F77A2E582179}"/>
              </a:ext>
            </a:extLst>
          </p:cNvPr>
          <p:cNvSpPr txBox="1"/>
          <p:nvPr/>
        </p:nvSpPr>
        <p:spPr>
          <a:xfrm>
            <a:off x="14248373" y="7668275"/>
            <a:ext cx="14709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MediatorProcessFc</a:t>
            </a:r>
          </a:p>
        </p:txBody>
      </p:sp>
      <p:sp>
        <p:nvSpPr>
          <p:cNvPr id="228" name="Textfeld 227">
            <a:extLst>
              <a:ext uri="{FF2B5EF4-FFF2-40B4-BE49-F238E27FC236}">
                <a16:creationId xmlns:a16="http://schemas.microsoft.com/office/drawing/2014/main" id="{41F604F7-3B97-16A0-7639-BAE0AC5FCB99}"/>
              </a:ext>
            </a:extLst>
          </p:cNvPr>
          <p:cNvSpPr txBox="1"/>
          <p:nvPr/>
        </p:nvSpPr>
        <p:spPr>
          <a:xfrm>
            <a:off x="12394312" y="7806774"/>
            <a:ext cx="995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NetconfLink</a:t>
            </a:r>
          </a:p>
        </p:txBody>
      </p:sp>
      <p:sp>
        <p:nvSpPr>
          <p:cNvPr id="229" name="Textfeld 228">
            <a:extLst>
              <a:ext uri="{FF2B5EF4-FFF2-40B4-BE49-F238E27FC236}">
                <a16:creationId xmlns:a16="http://schemas.microsoft.com/office/drawing/2014/main" id="{872B2AA5-9684-873A-DAA2-C5063F168B48}"/>
              </a:ext>
            </a:extLst>
          </p:cNvPr>
          <p:cNvSpPr txBox="1"/>
          <p:nvPr/>
        </p:nvSpPr>
        <p:spPr>
          <a:xfrm>
            <a:off x="16717929" y="7804463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SnmpLink</a:t>
            </a:r>
          </a:p>
        </p:txBody>
      </p:sp>
      <p:sp>
        <p:nvSpPr>
          <p:cNvPr id="230" name="Geschweifte Klammer rechts 229">
            <a:extLst>
              <a:ext uri="{FF2B5EF4-FFF2-40B4-BE49-F238E27FC236}">
                <a16:creationId xmlns:a16="http://schemas.microsoft.com/office/drawing/2014/main" id="{1B2B2BE4-7CF1-023D-7FF4-FF94CA235C90}"/>
              </a:ext>
            </a:extLst>
          </p:cNvPr>
          <p:cNvSpPr/>
          <p:nvPr/>
        </p:nvSpPr>
        <p:spPr>
          <a:xfrm rot="16200000">
            <a:off x="9187811" y="5179668"/>
            <a:ext cx="159086" cy="3911602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1" name="Textfeld 230">
            <a:extLst>
              <a:ext uri="{FF2B5EF4-FFF2-40B4-BE49-F238E27FC236}">
                <a16:creationId xmlns:a16="http://schemas.microsoft.com/office/drawing/2014/main" id="{6637CC3F-39A7-3055-AC71-8B42005C3657}"/>
              </a:ext>
            </a:extLst>
          </p:cNvPr>
          <p:cNvSpPr txBox="1"/>
          <p:nvPr/>
        </p:nvSpPr>
        <p:spPr>
          <a:xfrm>
            <a:off x="11174955" y="7589862"/>
            <a:ext cx="1014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&lt;get-config&gt;</a:t>
            </a:r>
          </a:p>
        </p:txBody>
      </p:sp>
      <p:sp>
        <p:nvSpPr>
          <p:cNvPr id="232" name="Textfeld 231">
            <a:extLst>
              <a:ext uri="{FF2B5EF4-FFF2-40B4-BE49-F238E27FC236}">
                <a16:creationId xmlns:a16="http://schemas.microsoft.com/office/drawing/2014/main" id="{67DAE4BA-5DD0-3D10-73F5-7811C838F76D}"/>
              </a:ext>
            </a:extLst>
          </p:cNvPr>
          <p:cNvSpPr txBox="1"/>
          <p:nvPr/>
        </p:nvSpPr>
        <p:spPr>
          <a:xfrm>
            <a:off x="7243327" y="7643268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GET</a:t>
            </a:r>
          </a:p>
        </p:txBody>
      </p:sp>
      <p:cxnSp>
        <p:nvCxnSpPr>
          <p:cNvPr id="233" name="Gerader Verbinder 232">
            <a:extLst>
              <a:ext uri="{FF2B5EF4-FFF2-40B4-BE49-F238E27FC236}">
                <a16:creationId xmlns:a16="http://schemas.microsoft.com/office/drawing/2014/main" id="{0BD0BBE8-B1D8-0794-495D-B0AA36DE01CC}"/>
              </a:ext>
            </a:extLst>
          </p:cNvPr>
          <p:cNvCxnSpPr>
            <a:cxnSpLocks/>
          </p:cNvCxnSpPr>
          <p:nvPr/>
        </p:nvCxnSpPr>
        <p:spPr>
          <a:xfrm flipV="1">
            <a:off x="7288078" y="7485776"/>
            <a:ext cx="3956006" cy="1500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4" name="Textfeld 233">
            <a:extLst>
              <a:ext uri="{FF2B5EF4-FFF2-40B4-BE49-F238E27FC236}">
                <a16:creationId xmlns:a16="http://schemas.microsoft.com/office/drawing/2014/main" id="{E192759D-A425-2BC5-ACF9-3D217D790BAF}"/>
              </a:ext>
            </a:extLst>
          </p:cNvPr>
          <p:cNvSpPr txBox="1"/>
          <p:nvPr/>
        </p:nvSpPr>
        <p:spPr>
          <a:xfrm>
            <a:off x="8792350" y="7270081"/>
            <a:ext cx="898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64 x 42ooo</a:t>
            </a:r>
          </a:p>
        </p:txBody>
      </p:sp>
      <p:cxnSp>
        <p:nvCxnSpPr>
          <p:cNvPr id="235" name="Gerader Verbinder 234">
            <a:extLst>
              <a:ext uri="{FF2B5EF4-FFF2-40B4-BE49-F238E27FC236}">
                <a16:creationId xmlns:a16="http://schemas.microsoft.com/office/drawing/2014/main" id="{97BB8CA5-5A7C-ED54-E5E0-9F16DFE5073E}"/>
              </a:ext>
            </a:extLst>
          </p:cNvPr>
          <p:cNvCxnSpPr>
            <a:cxnSpLocks/>
          </p:cNvCxnSpPr>
          <p:nvPr/>
        </p:nvCxnSpPr>
        <p:spPr>
          <a:xfrm>
            <a:off x="11259152" y="7483417"/>
            <a:ext cx="7487044" cy="1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6" name="Textfeld 235">
            <a:extLst>
              <a:ext uri="{FF2B5EF4-FFF2-40B4-BE49-F238E27FC236}">
                <a16:creationId xmlns:a16="http://schemas.microsoft.com/office/drawing/2014/main" id="{98C8E64A-278A-5F82-E33E-6CBCFCCE6705}"/>
              </a:ext>
            </a:extLst>
          </p:cNvPr>
          <p:cNvSpPr txBox="1"/>
          <p:nvPr/>
        </p:nvSpPr>
        <p:spPr>
          <a:xfrm>
            <a:off x="13653272" y="7248568"/>
            <a:ext cx="898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/>
              <a:t>64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749DA09-6288-202C-3744-45770460D429}"/>
              </a:ext>
            </a:extLst>
          </p:cNvPr>
          <p:cNvCxnSpPr/>
          <p:nvPr/>
        </p:nvCxnSpPr>
        <p:spPr>
          <a:xfrm flipH="1">
            <a:off x="3541714" y="4013201"/>
            <a:ext cx="15552027" cy="75681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04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1B07028-9DDA-7F66-B27B-353CE67D042F}"/>
              </a:ext>
            </a:extLst>
          </p:cNvPr>
          <p:cNvSpPr/>
          <p:nvPr/>
        </p:nvSpPr>
        <p:spPr>
          <a:xfrm>
            <a:off x="9863985" y="4149228"/>
            <a:ext cx="1260000" cy="1260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Controller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AAB3C92-1309-21F9-5A2A-D5B19E58CC97}"/>
              </a:ext>
            </a:extLst>
          </p:cNvPr>
          <p:cNvCxnSpPr>
            <a:cxnSpLocks/>
            <a:stCxn id="23" idx="6"/>
            <a:endCxn id="11" idx="2"/>
          </p:cNvCxnSpPr>
          <p:nvPr/>
        </p:nvCxnSpPr>
        <p:spPr>
          <a:xfrm flipV="1">
            <a:off x="7243940" y="5105658"/>
            <a:ext cx="323250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D9ACD396-053F-098F-6E39-579A071B2680}"/>
              </a:ext>
            </a:extLst>
          </p:cNvPr>
          <p:cNvSpPr/>
          <p:nvPr/>
        </p:nvSpPr>
        <p:spPr>
          <a:xfrm>
            <a:off x="5961080" y="4149228"/>
            <a:ext cx="1260000" cy="1260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DE4D244-E117-810E-FE87-3CCDF7FC1B8C}"/>
              </a:ext>
            </a:extLst>
          </p:cNvPr>
          <p:cNvSpPr/>
          <p:nvPr/>
        </p:nvSpPr>
        <p:spPr>
          <a:xfrm>
            <a:off x="7197611" y="4429940"/>
            <a:ext cx="45719" cy="45719"/>
          </a:xfrm>
          <a:prstGeom prst="ellips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012ABAB0-185A-7992-9793-D8DD22CF49D2}"/>
              </a:ext>
            </a:extLst>
          </p:cNvPr>
          <p:cNvSpPr/>
          <p:nvPr/>
        </p:nvSpPr>
        <p:spPr>
          <a:xfrm>
            <a:off x="7198221" y="5082799"/>
            <a:ext cx="45719" cy="45719"/>
          </a:xfrm>
          <a:prstGeom prst="ellipse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0D90752-E600-F455-0214-43CAB7E7F87E}"/>
              </a:ext>
            </a:extLst>
          </p:cNvPr>
          <p:cNvSpPr/>
          <p:nvPr/>
        </p:nvSpPr>
        <p:spPr>
          <a:xfrm>
            <a:off x="14252628" y="4149228"/>
            <a:ext cx="1260000" cy="1260000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>
                <a:shade val="15000"/>
                <a:alpha val="2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Mediator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BB5D594-F1DB-B50A-6F3D-508ABF55786F}"/>
              </a:ext>
            </a:extLst>
          </p:cNvPr>
          <p:cNvSpPr/>
          <p:nvPr/>
        </p:nvSpPr>
        <p:spPr>
          <a:xfrm>
            <a:off x="18641268" y="4149228"/>
            <a:ext cx="1260000" cy="12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Device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5787C7D1-BC29-2037-C7E6-1111E88F43A2}"/>
              </a:ext>
            </a:extLst>
          </p:cNvPr>
          <p:cNvSpPr/>
          <p:nvPr/>
        </p:nvSpPr>
        <p:spPr>
          <a:xfrm>
            <a:off x="18612283" y="4429940"/>
            <a:ext cx="45719" cy="45719"/>
          </a:xfrm>
          <a:prstGeom prst="ellips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D4D61CF3-37D7-0039-79B0-B9C56150DD73}"/>
              </a:ext>
            </a:extLst>
          </p:cNvPr>
          <p:cNvSpPr/>
          <p:nvPr/>
        </p:nvSpPr>
        <p:spPr>
          <a:xfrm>
            <a:off x="18612893" y="5082799"/>
            <a:ext cx="45719" cy="45719"/>
          </a:xfrm>
          <a:prstGeom prst="ellips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ED99F935-BC1C-7FB5-AA10-C25DB56C26BA}"/>
              </a:ext>
            </a:extLst>
          </p:cNvPr>
          <p:cNvCxnSpPr>
            <a:cxnSpLocks/>
            <a:stCxn id="11" idx="6"/>
            <a:endCxn id="45" idx="2"/>
          </p:cNvCxnSpPr>
          <p:nvPr/>
        </p:nvCxnSpPr>
        <p:spPr>
          <a:xfrm>
            <a:off x="10522163" y="5105658"/>
            <a:ext cx="8090730" cy="1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10976B8C-D8E4-9C83-78A0-E39C05AC7017}"/>
              </a:ext>
            </a:extLst>
          </p:cNvPr>
          <p:cNvSpPr txBox="1"/>
          <p:nvPr/>
        </p:nvSpPr>
        <p:spPr>
          <a:xfrm>
            <a:off x="11517462" y="4866608"/>
            <a:ext cx="2393605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25"/>
              </a:lnSpc>
            </a:pPr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</a:rPr>
              <a:t>ManagementPlaneTransportFc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8B2B3BEB-4ABD-3B35-BFD8-E9EC20B947F6}"/>
              </a:ext>
            </a:extLst>
          </p:cNvPr>
          <p:cNvSpPr txBox="1"/>
          <p:nvPr/>
        </p:nvSpPr>
        <p:spPr>
          <a:xfrm>
            <a:off x="7358960" y="4869226"/>
            <a:ext cx="2393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</a:rPr>
              <a:t>ManagementPlaneTransportFc</a:t>
            </a:r>
            <a:endParaRPr lang="de-DE" sz="1200"/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CBF71B95-F797-6985-D861-450C3FCE119B}"/>
              </a:ext>
            </a:extLst>
          </p:cNvPr>
          <p:cNvSpPr/>
          <p:nvPr/>
        </p:nvSpPr>
        <p:spPr>
          <a:xfrm>
            <a:off x="2080424" y="135756"/>
            <a:ext cx="17889875" cy="357976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MW SDN</a:t>
            </a: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8B15E994-ABDA-E4DD-63D0-99D6838DFF13}"/>
              </a:ext>
            </a:extLst>
          </p:cNvPr>
          <p:cNvSpPr/>
          <p:nvPr/>
        </p:nvSpPr>
        <p:spPr>
          <a:xfrm>
            <a:off x="7217352" y="968565"/>
            <a:ext cx="12706164" cy="184377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160"/>
              <a:t>        ManagementPlane</a:t>
            </a:r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5A7E11B2-3E42-130D-1D88-E325860CD6F4}"/>
              </a:ext>
            </a:extLst>
          </p:cNvPr>
          <p:cNvSpPr/>
          <p:nvPr/>
        </p:nvSpPr>
        <p:spPr>
          <a:xfrm>
            <a:off x="11146234" y="1890452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94CD7E54-8AC0-1221-73EB-CB8FBC9B51C4}"/>
              </a:ext>
            </a:extLst>
          </p:cNvPr>
          <p:cNvSpPr/>
          <p:nvPr/>
        </p:nvSpPr>
        <p:spPr>
          <a:xfrm>
            <a:off x="11146234" y="1780171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A8160536-70B1-B254-504C-5879F86B2FEF}"/>
              </a:ext>
            </a:extLst>
          </p:cNvPr>
          <p:cNvSpPr/>
          <p:nvPr/>
        </p:nvSpPr>
        <p:spPr>
          <a:xfrm>
            <a:off x="11146234" y="1646506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7" name="Ellipse 146">
            <a:extLst>
              <a:ext uri="{FF2B5EF4-FFF2-40B4-BE49-F238E27FC236}">
                <a16:creationId xmlns:a16="http://schemas.microsoft.com/office/drawing/2014/main" id="{06A94292-D571-661B-EAA7-4B51BED0A0F5}"/>
              </a:ext>
            </a:extLst>
          </p:cNvPr>
          <p:cNvSpPr/>
          <p:nvPr/>
        </p:nvSpPr>
        <p:spPr>
          <a:xfrm>
            <a:off x="11146234" y="1504167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0D4D40BA-5BA6-7300-5D00-1BB2B9B6D511}"/>
              </a:ext>
            </a:extLst>
          </p:cNvPr>
          <p:cNvSpPr/>
          <p:nvPr/>
        </p:nvSpPr>
        <p:spPr>
          <a:xfrm>
            <a:off x="5957352" y="1664222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49" name="Ellipse 148">
            <a:extLst>
              <a:ext uri="{FF2B5EF4-FFF2-40B4-BE49-F238E27FC236}">
                <a16:creationId xmlns:a16="http://schemas.microsoft.com/office/drawing/2014/main" id="{80127BE7-834A-4BEE-D713-DE407A278C9B}"/>
              </a:ext>
            </a:extLst>
          </p:cNvPr>
          <p:cNvSpPr>
            <a:spLocks noChangeAspect="1"/>
          </p:cNvSpPr>
          <p:nvPr/>
        </p:nvSpPr>
        <p:spPr>
          <a:xfrm rot="5400000">
            <a:off x="5925084" y="2454257"/>
            <a:ext cx="1324539" cy="64939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160"/>
              <a:t>Cache</a:t>
            </a:r>
          </a:p>
        </p:txBody>
      </p:sp>
      <p:sp>
        <p:nvSpPr>
          <p:cNvPr id="150" name="Ellipse 149">
            <a:extLst>
              <a:ext uri="{FF2B5EF4-FFF2-40B4-BE49-F238E27FC236}">
                <a16:creationId xmlns:a16="http://schemas.microsoft.com/office/drawing/2014/main" id="{02D36E97-D75E-541C-E4D6-00FF1E5C7833}"/>
              </a:ext>
            </a:extLst>
          </p:cNvPr>
          <p:cNvSpPr/>
          <p:nvPr/>
        </p:nvSpPr>
        <p:spPr>
          <a:xfrm>
            <a:off x="7266637" y="1511120"/>
            <a:ext cx="3662612" cy="72519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Controller</a:t>
            </a:r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8A5667DE-8B86-E2A0-67DA-E46B5ECA3718}"/>
              </a:ext>
            </a:extLst>
          </p:cNvPr>
          <p:cNvSpPr/>
          <p:nvPr/>
        </p:nvSpPr>
        <p:spPr>
          <a:xfrm>
            <a:off x="10976031" y="1237411"/>
            <a:ext cx="8947487" cy="1337003"/>
          </a:xfrm>
          <a:prstGeom prst="ellipse">
            <a:avLst/>
          </a:prstGeom>
          <a:solidFill>
            <a:schemeClr val="accent5">
              <a:alpha val="74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de-DE" sz="2160"/>
              <a:t>Device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4467E6A2-317A-7399-239A-7143D344A89A}"/>
              </a:ext>
            </a:extLst>
          </p:cNvPr>
          <p:cNvCxnSpPr>
            <a:cxnSpLocks/>
            <a:stCxn id="21" idx="6"/>
            <a:endCxn id="43" idx="2"/>
          </p:cNvCxnSpPr>
          <p:nvPr/>
        </p:nvCxnSpPr>
        <p:spPr>
          <a:xfrm>
            <a:off x="7243330" y="4452800"/>
            <a:ext cx="11368953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6912587-3ADE-4684-D959-D1BFE18A4095}"/>
              </a:ext>
            </a:extLst>
          </p:cNvPr>
          <p:cNvSpPr txBox="1"/>
          <p:nvPr/>
        </p:nvSpPr>
        <p:spPr>
          <a:xfrm>
            <a:off x="11899777" y="4238067"/>
            <a:ext cx="16289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</a:rPr>
              <a:t>ManagementPlaneFc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2C1DBE5-A1E7-FA00-FB16-E03A40A0628A}"/>
              </a:ext>
            </a:extLst>
          </p:cNvPr>
          <p:cNvSpPr/>
          <p:nvPr/>
        </p:nvSpPr>
        <p:spPr>
          <a:xfrm>
            <a:off x="10476444" y="5082798"/>
            <a:ext cx="45719" cy="45719"/>
          </a:xfrm>
          <a:prstGeom prst="ellips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07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hteck 124">
            <a:extLst>
              <a:ext uri="{FF2B5EF4-FFF2-40B4-BE49-F238E27FC236}">
                <a16:creationId xmlns:a16="http://schemas.microsoft.com/office/drawing/2014/main" id="{A59DC202-6741-C7BF-D94C-506A3CC9AA0D}"/>
              </a:ext>
            </a:extLst>
          </p:cNvPr>
          <p:cNvSpPr/>
          <p:nvPr/>
        </p:nvSpPr>
        <p:spPr>
          <a:xfrm>
            <a:off x="9863374" y="4151619"/>
            <a:ext cx="1260000" cy="1260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Controller</a:t>
            </a:r>
          </a:p>
          <a:p>
            <a:pPr algn="ctr"/>
            <a:endParaRPr lang="de-DE" sz="2000"/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CBF71B95-F797-6985-D861-450C3FCE119B}"/>
              </a:ext>
            </a:extLst>
          </p:cNvPr>
          <p:cNvSpPr/>
          <p:nvPr/>
        </p:nvSpPr>
        <p:spPr>
          <a:xfrm>
            <a:off x="2080424" y="135756"/>
            <a:ext cx="17889875" cy="357976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MW SDN</a:t>
            </a: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8B15E994-ABDA-E4DD-63D0-99D6838DFF13}"/>
              </a:ext>
            </a:extLst>
          </p:cNvPr>
          <p:cNvSpPr/>
          <p:nvPr/>
        </p:nvSpPr>
        <p:spPr>
          <a:xfrm>
            <a:off x="7217352" y="968565"/>
            <a:ext cx="12706164" cy="184377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160"/>
              <a:t>        ManagementPlane</a:t>
            </a:r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5A7E11B2-3E42-130D-1D88-E325860CD6F4}"/>
              </a:ext>
            </a:extLst>
          </p:cNvPr>
          <p:cNvSpPr/>
          <p:nvPr/>
        </p:nvSpPr>
        <p:spPr>
          <a:xfrm>
            <a:off x="11146234" y="1890452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94CD7E54-8AC0-1221-73EB-CB8FBC9B51C4}"/>
              </a:ext>
            </a:extLst>
          </p:cNvPr>
          <p:cNvSpPr/>
          <p:nvPr/>
        </p:nvSpPr>
        <p:spPr>
          <a:xfrm>
            <a:off x="11146234" y="1780171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A8160536-70B1-B254-504C-5879F86B2FEF}"/>
              </a:ext>
            </a:extLst>
          </p:cNvPr>
          <p:cNvSpPr/>
          <p:nvPr/>
        </p:nvSpPr>
        <p:spPr>
          <a:xfrm>
            <a:off x="11146234" y="1646506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7" name="Ellipse 146">
            <a:extLst>
              <a:ext uri="{FF2B5EF4-FFF2-40B4-BE49-F238E27FC236}">
                <a16:creationId xmlns:a16="http://schemas.microsoft.com/office/drawing/2014/main" id="{06A94292-D571-661B-EAA7-4B51BED0A0F5}"/>
              </a:ext>
            </a:extLst>
          </p:cNvPr>
          <p:cNvSpPr/>
          <p:nvPr/>
        </p:nvSpPr>
        <p:spPr>
          <a:xfrm>
            <a:off x="11146234" y="1504167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0D4D40BA-5BA6-7300-5D00-1BB2B9B6D511}"/>
              </a:ext>
            </a:extLst>
          </p:cNvPr>
          <p:cNvSpPr/>
          <p:nvPr/>
        </p:nvSpPr>
        <p:spPr>
          <a:xfrm>
            <a:off x="5957352" y="1664222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49" name="Ellipse 148">
            <a:extLst>
              <a:ext uri="{FF2B5EF4-FFF2-40B4-BE49-F238E27FC236}">
                <a16:creationId xmlns:a16="http://schemas.microsoft.com/office/drawing/2014/main" id="{80127BE7-834A-4BEE-D713-DE407A278C9B}"/>
              </a:ext>
            </a:extLst>
          </p:cNvPr>
          <p:cNvSpPr>
            <a:spLocks noChangeAspect="1"/>
          </p:cNvSpPr>
          <p:nvPr/>
        </p:nvSpPr>
        <p:spPr>
          <a:xfrm rot="5400000">
            <a:off x="5925084" y="2454257"/>
            <a:ext cx="1324539" cy="64939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160"/>
              <a:t>Cache</a:t>
            </a:r>
          </a:p>
        </p:txBody>
      </p:sp>
      <p:sp>
        <p:nvSpPr>
          <p:cNvPr id="150" name="Ellipse 149">
            <a:extLst>
              <a:ext uri="{FF2B5EF4-FFF2-40B4-BE49-F238E27FC236}">
                <a16:creationId xmlns:a16="http://schemas.microsoft.com/office/drawing/2014/main" id="{02D36E97-D75E-541C-E4D6-00FF1E5C7833}"/>
              </a:ext>
            </a:extLst>
          </p:cNvPr>
          <p:cNvSpPr/>
          <p:nvPr/>
        </p:nvSpPr>
        <p:spPr>
          <a:xfrm>
            <a:off x="7266637" y="1511120"/>
            <a:ext cx="3662612" cy="72519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Controller</a:t>
            </a:r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8A5667DE-8B86-E2A0-67DA-E46B5ECA3718}"/>
              </a:ext>
            </a:extLst>
          </p:cNvPr>
          <p:cNvSpPr/>
          <p:nvPr/>
        </p:nvSpPr>
        <p:spPr>
          <a:xfrm>
            <a:off x="10976031" y="1237411"/>
            <a:ext cx="8947487" cy="1337003"/>
          </a:xfrm>
          <a:prstGeom prst="ellipse">
            <a:avLst/>
          </a:prstGeom>
          <a:solidFill>
            <a:schemeClr val="accent5">
              <a:alpha val="74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de-DE" sz="2160"/>
              <a:t>Device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81F2B893-A78C-DB45-E609-0702CBF01171}"/>
              </a:ext>
            </a:extLst>
          </p:cNvPr>
          <p:cNvSpPr/>
          <p:nvPr/>
        </p:nvSpPr>
        <p:spPr>
          <a:xfrm>
            <a:off x="14252628" y="4157155"/>
            <a:ext cx="1260000" cy="1260000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>
                <a:shade val="15000"/>
                <a:alpha val="2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Mediator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9BE7CFCC-A952-3E88-0CBA-D5EF119C83C1}"/>
              </a:ext>
            </a:extLst>
          </p:cNvPr>
          <p:cNvSpPr/>
          <p:nvPr/>
        </p:nvSpPr>
        <p:spPr>
          <a:xfrm>
            <a:off x="18641268" y="4157155"/>
            <a:ext cx="1260000" cy="1260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Device</a:t>
            </a:r>
          </a:p>
        </p:txBody>
      </p:sp>
      <p:sp>
        <p:nvSpPr>
          <p:cNvPr id="107" name="Ellipse 106">
            <a:extLst>
              <a:ext uri="{FF2B5EF4-FFF2-40B4-BE49-F238E27FC236}">
                <a16:creationId xmlns:a16="http://schemas.microsoft.com/office/drawing/2014/main" id="{942D1C69-C807-1B99-EFB7-540D9D2FEECC}"/>
              </a:ext>
            </a:extLst>
          </p:cNvPr>
          <p:cNvSpPr/>
          <p:nvPr/>
        </p:nvSpPr>
        <p:spPr>
          <a:xfrm>
            <a:off x="7198221" y="4429850"/>
            <a:ext cx="45719" cy="45719"/>
          </a:xfrm>
          <a:prstGeom prst="ellipse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64635193-B0A3-EA22-1448-07B969191FCE}"/>
              </a:ext>
            </a:extLst>
          </p:cNvPr>
          <p:cNvSpPr txBox="1"/>
          <p:nvPr/>
        </p:nvSpPr>
        <p:spPr>
          <a:xfrm>
            <a:off x="7358960" y="4216277"/>
            <a:ext cx="2393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</a:rPr>
              <a:t>ManagementPlaneTransportFc</a:t>
            </a:r>
            <a:endParaRPr lang="de-DE" sz="1200"/>
          </a:p>
        </p:txBody>
      </p:sp>
      <p:sp>
        <p:nvSpPr>
          <p:cNvPr id="117" name="Rechteck 116">
            <a:extLst>
              <a:ext uri="{FF2B5EF4-FFF2-40B4-BE49-F238E27FC236}">
                <a16:creationId xmlns:a16="http://schemas.microsoft.com/office/drawing/2014/main" id="{92C882CD-80C9-C8C6-9B5B-8CE7CD3FBC3B}"/>
              </a:ext>
            </a:extLst>
          </p:cNvPr>
          <p:cNvSpPr/>
          <p:nvPr/>
        </p:nvSpPr>
        <p:spPr>
          <a:xfrm>
            <a:off x="5960469" y="4151619"/>
            <a:ext cx="1260000" cy="1260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01B9A9A2-1F58-3FDE-2BB4-DEE0581A5CB4}"/>
              </a:ext>
            </a:extLst>
          </p:cNvPr>
          <p:cNvSpPr/>
          <p:nvPr/>
        </p:nvSpPr>
        <p:spPr>
          <a:xfrm>
            <a:off x="7197000" y="4432331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1B7E2370-CA0E-FDD6-8B4C-2E5EF24CF67B}"/>
              </a:ext>
            </a:extLst>
          </p:cNvPr>
          <p:cNvSpPr/>
          <p:nvPr/>
        </p:nvSpPr>
        <p:spPr>
          <a:xfrm>
            <a:off x="7197610" y="4758760"/>
            <a:ext cx="45719" cy="45719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3694F2F5-1F61-A876-9E60-0B4397A3D25F}"/>
              </a:ext>
            </a:extLst>
          </p:cNvPr>
          <p:cNvSpPr/>
          <p:nvPr/>
        </p:nvSpPr>
        <p:spPr>
          <a:xfrm>
            <a:off x="7197610" y="5085190"/>
            <a:ext cx="45719" cy="4571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4E6EEC50-A828-9D2E-8817-70AA2B9DBF47}"/>
              </a:ext>
            </a:extLst>
          </p:cNvPr>
          <p:cNvSpPr/>
          <p:nvPr/>
        </p:nvSpPr>
        <p:spPr>
          <a:xfrm>
            <a:off x="10470514" y="5108049"/>
            <a:ext cx="45719" cy="4571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cxnSp>
        <p:nvCxnSpPr>
          <p:cNvPr id="133" name="Gerader Verbinder 132">
            <a:extLst>
              <a:ext uri="{FF2B5EF4-FFF2-40B4-BE49-F238E27FC236}">
                <a16:creationId xmlns:a16="http://schemas.microsoft.com/office/drawing/2014/main" id="{5AAA43F5-9A60-A04F-CF26-95AF9931685F}"/>
              </a:ext>
            </a:extLst>
          </p:cNvPr>
          <p:cNvCxnSpPr>
            <a:cxnSpLocks/>
            <a:stCxn id="122" idx="6"/>
            <a:endCxn id="5" idx="2"/>
          </p:cNvCxnSpPr>
          <p:nvPr/>
        </p:nvCxnSpPr>
        <p:spPr>
          <a:xfrm>
            <a:off x="7243329" y="4781620"/>
            <a:ext cx="3227185" cy="5536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4" name="Textfeld 133">
            <a:extLst>
              <a:ext uri="{FF2B5EF4-FFF2-40B4-BE49-F238E27FC236}">
                <a16:creationId xmlns:a16="http://schemas.microsoft.com/office/drawing/2014/main" id="{10249A19-10F8-4F42-1E5C-9AEA67855AFA}"/>
              </a:ext>
            </a:extLst>
          </p:cNvPr>
          <p:cNvSpPr txBox="1"/>
          <p:nvPr/>
        </p:nvSpPr>
        <p:spPr>
          <a:xfrm>
            <a:off x="7953673" y="4555301"/>
            <a:ext cx="12041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</a:rPr>
              <a:t>RestconfLink</a:t>
            </a:r>
          </a:p>
        </p:txBody>
      </p: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288AB854-6938-CE0E-0D93-28C3C3E890F6}"/>
              </a:ext>
            </a:extLst>
          </p:cNvPr>
          <p:cNvCxnSpPr>
            <a:cxnSpLocks/>
            <a:stCxn id="107" idx="6"/>
            <a:endCxn id="8" idx="2"/>
          </p:cNvCxnSpPr>
          <p:nvPr/>
        </p:nvCxnSpPr>
        <p:spPr>
          <a:xfrm>
            <a:off x="7243940" y="4452710"/>
            <a:ext cx="3229743" cy="138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Ellipse 4">
            <a:extLst>
              <a:ext uri="{FF2B5EF4-FFF2-40B4-BE49-F238E27FC236}">
                <a16:creationId xmlns:a16="http://schemas.microsoft.com/office/drawing/2014/main" id="{F9CB11C8-0EBC-F424-F019-52B1CE750A86}"/>
              </a:ext>
            </a:extLst>
          </p:cNvPr>
          <p:cNvSpPr/>
          <p:nvPr/>
        </p:nvSpPr>
        <p:spPr>
          <a:xfrm>
            <a:off x="10470514" y="4764296"/>
            <a:ext cx="45719" cy="45719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B047050-6A4A-5A78-7D7A-0B02BD5DAA19}"/>
              </a:ext>
            </a:extLst>
          </p:cNvPr>
          <p:cNvSpPr/>
          <p:nvPr/>
        </p:nvSpPr>
        <p:spPr>
          <a:xfrm>
            <a:off x="10473683" y="443123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3103104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Ellipse 141">
            <a:extLst>
              <a:ext uri="{FF2B5EF4-FFF2-40B4-BE49-F238E27FC236}">
                <a16:creationId xmlns:a16="http://schemas.microsoft.com/office/drawing/2014/main" id="{CBF71B95-F797-6985-D861-450C3FCE119B}"/>
              </a:ext>
            </a:extLst>
          </p:cNvPr>
          <p:cNvSpPr/>
          <p:nvPr/>
        </p:nvSpPr>
        <p:spPr>
          <a:xfrm>
            <a:off x="2080424" y="135756"/>
            <a:ext cx="17889875" cy="357976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MW SDN</a:t>
            </a: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8B15E994-ABDA-E4DD-63D0-99D6838DFF13}"/>
              </a:ext>
            </a:extLst>
          </p:cNvPr>
          <p:cNvSpPr/>
          <p:nvPr/>
        </p:nvSpPr>
        <p:spPr>
          <a:xfrm>
            <a:off x="7217352" y="968565"/>
            <a:ext cx="12706164" cy="184377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160"/>
              <a:t>        ManagementPlane</a:t>
            </a:r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5A7E11B2-3E42-130D-1D88-E325860CD6F4}"/>
              </a:ext>
            </a:extLst>
          </p:cNvPr>
          <p:cNvSpPr/>
          <p:nvPr/>
        </p:nvSpPr>
        <p:spPr>
          <a:xfrm>
            <a:off x="11146234" y="1890452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94CD7E54-8AC0-1221-73EB-CB8FBC9B51C4}"/>
              </a:ext>
            </a:extLst>
          </p:cNvPr>
          <p:cNvSpPr/>
          <p:nvPr/>
        </p:nvSpPr>
        <p:spPr>
          <a:xfrm>
            <a:off x="11146234" y="1780171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A8160536-70B1-B254-504C-5879F86B2FEF}"/>
              </a:ext>
            </a:extLst>
          </p:cNvPr>
          <p:cNvSpPr/>
          <p:nvPr/>
        </p:nvSpPr>
        <p:spPr>
          <a:xfrm>
            <a:off x="11146234" y="1646506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7" name="Ellipse 146">
            <a:extLst>
              <a:ext uri="{FF2B5EF4-FFF2-40B4-BE49-F238E27FC236}">
                <a16:creationId xmlns:a16="http://schemas.microsoft.com/office/drawing/2014/main" id="{06A94292-D571-661B-EAA7-4B51BED0A0F5}"/>
              </a:ext>
            </a:extLst>
          </p:cNvPr>
          <p:cNvSpPr/>
          <p:nvPr/>
        </p:nvSpPr>
        <p:spPr>
          <a:xfrm>
            <a:off x="11146234" y="1504167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0D4D40BA-5BA6-7300-5D00-1BB2B9B6D511}"/>
              </a:ext>
            </a:extLst>
          </p:cNvPr>
          <p:cNvSpPr/>
          <p:nvPr/>
        </p:nvSpPr>
        <p:spPr>
          <a:xfrm>
            <a:off x="5957352" y="1664222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49" name="Ellipse 148">
            <a:extLst>
              <a:ext uri="{FF2B5EF4-FFF2-40B4-BE49-F238E27FC236}">
                <a16:creationId xmlns:a16="http://schemas.microsoft.com/office/drawing/2014/main" id="{80127BE7-834A-4BEE-D713-DE407A278C9B}"/>
              </a:ext>
            </a:extLst>
          </p:cNvPr>
          <p:cNvSpPr>
            <a:spLocks noChangeAspect="1"/>
          </p:cNvSpPr>
          <p:nvPr/>
        </p:nvSpPr>
        <p:spPr>
          <a:xfrm rot="5400000">
            <a:off x="5925084" y="2454257"/>
            <a:ext cx="1324539" cy="64939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160"/>
              <a:t>Cache</a:t>
            </a:r>
          </a:p>
        </p:txBody>
      </p:sp>
      <p:sp>
        <p:nvSpPr>
          <p:cNvPr id="150" name="Ellipse 149">
            <a:extLst>
              <a:ext uri="{FF2B5EF4-FFF2-40B4-BE49-F238E27FC236}">
                <a16:creationId xmlns:a16="http://schemas.microsoft.com/office/drawing/2014/main" id="{02D36E97-D75E-541C-E4D6-00FF1E5C7833}"/>
              </a:ext>
            </a:extLst>
          </p:cNvPr>
          <p:cNvSpPr/>
          <p:nvPr/>
        </p:nvSpPr>
        <p:spPr>
          <a:xfrm>
            <a:off x="7266637" y="1511120"/>
            <a:ext cx="3662612" cy="72519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Controller</a:t>
            </a:r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8A5667DE-8B86-E2A0-67DA-E46B5ECA3718}"/>
              </a:ext>
            </a:extLst>
          </p:cNvPr>
          <p:cNvSpPr/>
          <p:nvPr/>
        </p:nvSpPr>
        <p:spPr>
          <a:xfrm>
            <a:off x="10976031" y="1237411"/>
            <a:ext cx="8947487" cy="1337003"/>
          </a:xfrm>
          <a:prstGeom prst="ellipse">
            <a:avLst/>
          </a:prstGeom>
          <a:solidFill>
            <a:schemeClr val="accent5">
              <a:alpha val="74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de-DE" sz="2160"/>
              <a:t>Device</a:t>
            </a:r>
          </a:p>
        </p:txBody>
      </p:sp>
      <p:sp>
        <p:nvSpPr>
          <p:cNvPr id="163" name="Rechteck 162">
            <a:extLst>
              <a:ext uri="{FF2B5EF4-FFF2-40B4-BE49-F238E27FC236}">
                <a16:creationId xmlns:a16="http://schemas.microsoft.com/office/drawing/2014/main" id="{3ED78662-2A96-30AA-F3D5-01A49570358E}"/>
              </a:ext>
            </a:extLst>
          </p:cNvPr>
          <p:cNvSpPr/>
          <p:nvPr/>
        </p:nvSpPr>
        <p:spPr>
          <a:xfrm>
            <a:off x="5959859" y="4157519"/>
            <a:ext cx="1260000" cy="1260000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>
            <a:solidFill>
              <a:schemeClr val="accent6">
                <a:shade val="15000"/>
                <a:alpha val="2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71" name="Rechteck 170">
            <a:extLst>
              <a:ext uri="{FF2B5EF4-FFF2-40B4-BE49-F238E27FC236}">
                <a16:creationId xmlns:a16="http://schemas.microsoft.com/office/drawing/2014/main" id="{65F9F537-E439-F6E8-242E-7EF2AB2D1B86}"/>
              </a:ext>
            </a:extLst>
          </p:cNvPr>
          <p:cNvSpPr/>
          <p:nvPr/>
        </p:nvSpPr>
        <p:spPr>
          <a:xfrm>
            <a:off x="9862764" y="4157519"/>
            <a:ext cx="1260000" cy="1260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Controller</a:t>
            </a:r>
          </a:p>
          <a:p>
            <a:pPr algn="ctr"/>
            <a:endParaRPr lang="de-DE" sz="2000"/>
          </a:p>
        </p:txBody>
      </p:sp>
      <p:sp>
        <p:nvSpPr>
          <p:cNvPr id="179" name="Rechteck 178">
            <a:extLst>
              <a:ext uri="{FF2B5EF4-FFF2-40B4-BE49-F238E27FC236}">
                <a16:creationId xmlns:a16="http://schemas.microsoft.com/office/drawing/2014/main" id="{8404B881-7652-7153-B2F4-444541516FF0}"/>
              </a:ext>
            </a:extLst>
          </p:cNvPr>
          <p:cNvSpPr/>
          <p:nvPr/>
        </p:nvSpPr>
        <p:spPr>
          <a:xfrm>
            <a:off x="14251407" y="4157519"/>
            <a:ext cx="1260000" cy="1260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  <a:p>
            <a:pPr algn="ctr"/>
            <a:endParaRPr lang="de-DE" sz="1440"/>
          </a:p>
          <a:p>
            <a:pPr algn="ctr"/>
            <a:r>
              <a:rPr lang="de-DE" sz="1440"/>
              <a:t>Mediator</a:t>
            </a:r>
          </a:p>
        </p:txBody>
      </p:sp>
      <p:sp>
        <p:nvSpPr>
          <p:cNvPr id="187" name="Rechteck 186">
            <a:extLst>
              <a:ext uri="{FF2B5EF4-FFF2-40B4-BE49-F238E27FC236}">
                <a16:creationId xmlns:a16="http://schemas.microsoft.com/office/drawing/2014/main" id="{4A367FCB-79B0-120B-7D5E-50786E9568C7}"/>
              </a:ext>
            </a:extLst>
          </p:cNvPr>
          <p:cNvSpPr/>
          <p:nvPr/>
        </p:nvSpPr>
        <p:spPr>
          <a:xfrm>
            <a:off x="18640047" y="4157519"/>
            <a:ext cx="1260000" cy="12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Device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5A939DF4-EBBB-9AC6-1140-7A66818D61B3}"/>
              </a:ext>
            </a:extLst>
          </p:cNvPr>
          <p:cNvSpPr/>
          <p:nvPr/>
        </p:nvSpPr>
        <p:spPr>
          <a:xfrm>
            <a:off x="18611062" y="4438231"/>
            <a:ext cx="45719" cy="45719"/>
          </a:xfrm>
          <a:prstGeom prst="ellipse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89" name="Ellipse 188">
            <a:extLst>
              <a:ext uri="{FF2B5EF4-FFF2-40B4-BE49-F238E27FC236}">
                <a16:creationId xmlns:a16="http://schemas.microsoft.com/office/drawing/2014/main" id="{34D51D38-7B67-569D-4340-87C47014F0AE}"/>
              </a:ext>
            </a:extLst>
          </p:cNvPr>
          <p:cNvSpPr/>
          <p:nvPr/>
        </p:nvSpPr>
        <p:spPr>
          <a:xfrm>
            <a:off x="18611672" y="4764660"/>
            <a:ext cx="45719" cy="45719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cxnSp>
        <p:nvCxnSpPr>
          <p:cNvPr id="197" name="Gerader Verbinder 196">
            <a:extLst>
              <a:ext uri="{FF2B5EF4-FFF2-40B4-BE49-F238E27FC236}">
                <a16:creationId xmlns:a16="http://schemas.microsoft.com/office/drawing/2014/main" id="{B6AC246A-756E-DAB9-3397-0AEEBEFA8769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10517598" y="4787520"/>
            <a:ext cx="434291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8" name="Gerader Verbinder 197">
            <a:extLst>
              <a:ext uri="{FF2B5EF4-FFF2-40B4-BE49-F238E27FC236}">
                <a16:creationId xmlns:a16="http://schemas.microsoft.com/office/drawing/2014/main" id="{4884B5B2-B783-A64A-45EA-13CB7F61E01A}"/>
              </a:ext>
            </a:extLst>
          </p:cNvPr>
          <p:cNvCxnSpPr>
            <a:cxnSpLocks/>
            <a:endCxn id="189" idx="2"/>
          </p:cNvCxnSpPr>
          <p:nvPr/>
        </p:nvCxnSpPr>
        <p:spPr>
          <a:xfrm>
            <a:off x="14902398" y="4787519"/>
            <a:ext cx="3709274" cy="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9" name="Textfeld 198">
            <a:extLst>
              <a:ext uri="{FF2B5EF4-FFF2-40B4-BE49-F238E27FC236}">
                <a16:creationId xmlns:a16="http://schemas.microsoft.com/office/drawing/2014/main" id="{14A77B87-AF25-623C-03D0-F2AEEEA4E27B}"/>
              </a:ext>
            </a:extLst>
          </p:cNvPr>
          <p:cNvSpPr txBox="1"/>
          <p:nvPr/>
        </p:nvSpPr>
        <p:spPr>
          <a:xfrm>
            <a:off x="16641781" y="4561200"/>
            <a:ext cx="848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SnmpLink</a:t>
            </a:r>
          </a:p>
        </p:txBody>
      </p:sp>
      <p:sp>
        <p:nvSpPr>
          <p:cNvPr id="200" name="Textfeld 199">
            <a:extLst>
              <a:ext uri="{FF2B5EF4-FFF2-40B4-BE49-F238E27FC236}">
                <a16:creationId xmlns:a16="http://schemas.microsoft.com/office/drawing/2014/main" id="{D31F9D91-2800-195E-79D7-2067E9849F93}"/>
              </a:ext>
            </a:extLst>
          </p:cNvPr>
          <p:cNvSpPr txBox="1"/>
          <p:nvPr/>
        </p:nvSpPr>
        <p:spPr>
          <a:xfrm>
            <a:off x="12082282" y="4561200"/>
            <a:ext cx="995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NetconfLink</a:t>
            </a:r>
          </a:p>
        </p:txBody>
      </p:sp>
      <p:sp>
        <p:nvSpPr>
          <p:cNvPr id="205" name="Ellipse 204">
            <a:extLst>
              <a:ext uri="{FF2B5EF4-FFF2-40B4-BE49-F238E27FC236}">
                <a16:creationId xmlns:a16="http://schemas.microsoft.com/office/drawing/2014/main" id="{70B1D5AF-540D-623A-27DB-59932A6F2ED6}"/>
              </a:ext>
            </a:extLst>
          </p:cNvPr>
          <p:cNvSpPr/>
          <p:nvPr/>
        </p:nvSpPr>
        <p:spPr>
          <a:xfrm>
            <a:off x="18617799" y="4437693"/>
            <a:ext cx="45719" cy="45719"/>
          </a:xfrm>
          <a:prstGeom prst="ellips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207" name="Textfeld 206">
            <a:extLst>
              <a:ext uri="{FF2B5EF4-FFF2-40B4-BE49-F238E27FC236}">
                <a16:creationId xmlns:a16="http://schemas.microsoft.com/office/drawing/2014/main" id="{BF57349F-6587-E3C5-84F2-46F65ECC64DD}"/>
              </a:ext>
            </a:extLst>
          </p:cNvPr>
          <p:cNvSpPr txBox="1"/>
          <p:nvPr/>
        </p:nvSpPr>
        <p:spPr>
          <a:xfrm>
            <a:off x="11522368" y="4221502"/>
            <a:ext cx="2393605" cy="271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25"/>
              </a:lnSpc>
            </a:pPr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</a:rPr>
              <a:t>ManagementPlaneTransportFc</a:t>
            </a:r>
          </a:p>
        </p:txBody>
      </p:sp>
      <p:cxnSp>
        <p:nvCxnSpPr>
          <p:cNvPr id="206" name="Gerader Verbinder 205">
            <a:extLst>
              <a:ext uri="{FF2B5EF4-FFF2-40B4-BE49-F238E27FC236}">
                <a16:creationId xmlns:a16="http://schemas.microsoft.com/office/drawing/2014/main" id="{5D5EA44F-52DC-DB6C-6E61-F46B72575118}"/>
              </a:ext>
            </a:extLst>
          </p:cNvPr>
          <p:cNvCxnSpPr>
            <a:cxnSpLocks/>
            <a:stCxn id="16" idx="6"/>
            <a:endCxn id="205" idx="2"/>
          </p:cNvCxnSpPr>
          <p:nvPr/>
        </p:nvCxnSpPr>
        <p:spPr>
          <a:xfrm>
            <a:off x="10513761" y="4460553"/>
            <a:ext cx="810403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9240DD67-F57C-0FF6-D297-2C5D9228A8A0}"/>
              </a:ext>
            </a:extLst>
          </p:cNvPr>
          <p:cNvSpPr/>
          <p:nvPr/>
        </p:nvSpPr>
        <p:spPr>
          <a:xfrm>
            <a:off x="18611059" y="5081668"/>
            <a:ext cx="45719" cy="4571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6CCDFBBA-CE14-47E6-8A78-104EFE0B0147}"/>
              </a:ext>
            </a:extLst>
          </p:cNvPr>
          <p:cNvSpPr/>
          <p:nvPr/>
        </p:nvSpPr>
        <p:spPr>
          <a:xfrm>
            <a:off x="10471879" y="4764660"/>
            <a:ext cx="45719" cy="45719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6893BF-4E56-A923-8609-8D8A6A5459DC}"/>
              </a:ext>
            </a:extLst>
          </p:cNvPr>
          <p:cNvSpPr/>
          <p:nvPr/>
        </p:nvSpPr>
        <p:spPr>
          <a:xfrm>
            <a:off x="10468042" y="5081667"/>
            <a:ext cx="45719" cy="4571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F8BB0A2-9D7E-E1B8-488B-F6FC5414EBB7}"/>
              </a:ext>
            </a:extLst>
          </p:cNvPr>
          <p:cNvSpPr/>
          <p:nvPr/>
        </p:nvSpPr>
        <p:spPr>
          <a:xfrm>
            <a:off x="14860516" y="4764660"/>
            <a:ext cx="45719" cy="45719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F90F1AB-84C8-F981-3171-8BC780B3699C}"/>
              </a:ext>
            </a:extLst>
          </p:cNvPr>
          <p:cNvSpPr/>
          <p:nvPr/>
        </p:nvSpPr>
        <p:spPr>
          <a:xfrm>
            <a:off x="14856679" y="5081667"/>
            <a:ext cx="45719" cy="4571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973A3D4-82C5-B98B-0379-6E42C629E437}"/>
              </a:ext>
            </a:extLst>
          </p:cNvPr>
          <p:cNvSpPr/>
          <p:nvPr/>
        </p:nvSpPr>
        <p:spPr>
          <a:xfrm>
            <a:off x="10468042" y="4437693"/>
            <a:ext cx="45719" cy="45719"/>
          </a:xfrm>
          <a:prstGeom prst="ellips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777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6483FD79-3122-2236-1E99-750C73433194}"/>
              </a:ext>
            </a:extLst>
          </p:cNvPr>
          <p:cNvSpPr/>
          <p:nvPr/>
        </p:nvSpPr>
        <p:spPr>
          <a:xfrm>
            <a:off x="2080424" y="7210449"/>
            <a:ext cx="17889875" cy="1298551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 i="1"/>
          </a:p>
        </p:txBody>
      </p:sp>
      <p:sp>
        <p:nvSpPr>
          <p:cNvPr id="8" name="Flussdiagramm: Daten 7">
            <a:extLst>
              <a:ext uri="{FF2B5EF4-FFF2-40B4-BE49-F238E27FC236}">
                <a16:creationId xmlns:a16="http://schemas.microsoft.com/office/drawing/2014/main" id="{778687C1-175C-0C97-FE98-3653E7F7D6C3}"/>
              </a:ext>
            </a:extLst>
          </p:cNvPr>
          <p:cNvSpPr/>
          <p:nvPr/>
        </p:nvSpPr>
        <p:spPr>
          <a:xfrm>
            <a:off x="8893637" y="7734300"/>
            <a:ext cx="1255576" cy="177800"/>
          </a:xfrm>
          <a:prstGeom prst="flowChartInputOutpu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i="1"/>
              <a:t>CDM</a:t>
            </a:r>
          </a:p>
        </p:txBody>
      </p:sp>
      <p:sp>
        <p:nvSpPr>
          <p:cNvPr id="4" name="Flussdiagramm: Daten 3">
            <a:extLst>
              <a:ext uri="{FF2B5EF4-FFF2-40B4-BE49-F238E27FC236}">
                <a16:creationId xmlns:a16="http://schemas.microsoft.com/office/drawing/2014/main" id="{CD5AA4C2-FA56-67D4-18AE-9BC27E9545C5}"/>
              </a:ext>
            </a:extLst>
          </p:cNvPr>
          <p:cNvSpPr/>
          <p:nvPr/>
        </p:nvSpPr>
        <p:spPr>
          <a:xfrm>
            <a:off x="5957352" y="7734300"/>
            <a:ext cx="1255576" cy="177800"/>
          </a:xfrm>
          <a:prstGeom prst="flowChartInputOutpu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i="1"/>
              <a:t>MWDI</a:t>
            </a:r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CBF71B95-F797-6985-D861-450C3FCE119B}"/>
              </a:ext>
            </a:extLst>
          </p:cNvPr>
          <p:cNvSpPr/>
          <p:nvPr/>
        </p:nvSpPr>
        <p:spPr>
          <a:xfrm>
            <a:off x="2080424" y="135756"/>
            <a:ext cx="17889875" cy="357976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/>
          </a:p>
          <a:p>
            <a:r>
              <a:rPr lang="de-DE" sz="2160"/>
              <a:t>MW SDN</a:t>
            </a: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8B15E994-ABDA-E4DD-63D0-99D6838DFF13}"/>
              </a:ext>
            </a:extLst>
          </p:cNvPr>
          <p:cNvSpPr/>
          <p:nvPr/>
        </p:nvSpPr>
        <p:spPr>
          <a:xfrm>
            <a:off x="7217352" y="968565"/>
            <a:ext cx="12706164" cy="184377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160"/>
              <a:t>        ManagementPlane</a:t>
            </a:r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5A7E11B2-3E42-130D-1D88-E325860CD6F4}"/>
              </a:ext>
            </a:extLst>
          </p:cNvPr>
          <p:cNvSpPr/>
          <p:nvPr/>
        </p:nvSpPr>
        <p:spPr>
          <a:xfrm>
            <a:off x="11146234" y="1890452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94CD7E54-8AC0-1221-73EB-CB8FBC9B51C4}"/>
              </a:ext>
            </a:extLst>
          </p:cNvPr>
          <p:cNvSpPr/>
          <p:nvPr/>
        </p:nvSpPr>
        <p:spPr>
          <a:xfrm>
            <a:off x="11146234" y="1780171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A8160536-70B1-B254-504C-5879F86B2FEF}"/>
              </a:ext>
            </a:extLst>
          </p:cNvPr>
          <p:cNvSpPr/>
          <p:nvPr/>
        </p:nvSpPr>
        <p:spPr>
          <a:xfrm>
            <a:off x="11146234" y="1646506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305251234</a:t>
            </a:r>
          </a:p>
        </p:txBody>
      </p:sp>
      <p:sp>
        <p:nvSpPr>
          <p:cNvPr id="147" name="Ellipse 146">
            <a:extLst>
              <a:ext uri="{FF2B5EF4-FFF2-40B4-BE49-F238E27FC236}">
                <a16:creationId xmlns:a16="http://schemas.microsoft.com/office/drawing/2014/main" id="{06A94292-D571-661B-EAA7-4B51BED0A0F5}"/>
              </a:ext>
            </a:extLst>
          </p:cNvPr>
          <p:cNvSpPr/>
          <p:nvPr/>
        </p:nvSpPr>
        <p:spPr>
          <a:xfrm>
            <a:off x="11146234" y="1504167"/>
            <a:ext cx="8611707" cy="39099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40"/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0D4D40BA-5BA6-7300-5D00-1BB2B9B6D511}"/>
              </a:ext>
            </a:extLst>
          </p:cNvPr>
          <p:cNvSpPr/>
          <p:nvPr/>
        </p:nvSpPr>
        <p:spPr>
          <a:xfrm>
            <a:off x="5957352" y="1664222"/>
            <a:ext cx="1255576" cy="45246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/>
              <a:t>MWDI</a:t>
            </a:r>
          </a:p>
        </p:txBody>
      </p:sp>
      <p:sp>
        <p:nvSpPr>
          <p:cNvPr id="149" name="Ellipse 148">
            <a:extLst>
              <a:ext uri="{FF2B5EF4-FFF2-40B4-BE49-F238E27FC236}">
                <a16:creationId xmlns:a16="http://schemas.microsoft.com/office/drawing/2014/main" id="{80127BE7-834A-4BEE-D713-DE407A278C9B}"/>
              </a:ext>
            </a:extLst>
          </p:cNvPr>
          <p:cNvSpPr>
            <a:spLocks noChangeAspect="1"/>
          </p:cNvSpPr>
          <p:nvPr/>
        </p:nvSpPr>
        <p:spPr>
          <a:xfrm rot="5400000">
            <a:off x="5925084" y="2454257"/>
            <a:ext cx="1324539" cy="64939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160"/>
              <a:t>Cache</a:t>
            </a:r>
          </a:p>
        </p:txBody>
      </p:sp>
      <p:sp>
        <p:nvSpPr>
          <p:cNvPr id="150" name="Ellipse 149">
            <a:extLst>
              <a:ext uri="{FF2B5EF4-FFF2-40B4-BE49-F238E27FC236}">
                <a16:creationId xmlns:a16="http://schemas.microsoft.com/office/drawing/2014/main" id="{02D36E97-D75E-541C-E4D6-00FF1E5C7833}"/>
              </a:ext>
            </a:extLst>
          </p:cNvPr>
          <p:cNvSpPr/>
          <p:nvPr/>
        </p:nvSpPr>
        <p:spPr>
          <a:xfrm>
            <a:off x="7266637" y="1511120"/>
            <a:ext cx="3662612" cy="72519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/>
              <a:t>Controller</a:t>
            </a:r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8A5667DE-8B86-E2A0-67DA-E46B5ECA3718}"/>
              </a:ext>
            </a:extLst>
          </p:cNvPr>
          <p:cNvSpPr/>
          <p:nvPr/>
        </p:nvSpPr>
        <p:spPr>
          <a:xfrm>
            <a:off x="10976031" y="1237411"/>
            <a:ext cx="8947487" cy="1337003"/>
          </a:xfrm>
          <a:prstGeom prst="ellipse">
            <a:avLst/>
          </a:prstGeom>
          <a:solidFill>
            <a:schemeClr val="accent5">
              <a:alpha val="74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de-DE" sz="2160"/>
              <a:t>Device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AB23EAC-0021-654C-265E-B85F6E739C10}"/>
              </a:ext>
            </a:extLst>
          </p:cNvPr>
          <p:cNvSpPr/>
          <p:nvPr/>
        </p:nvSpPr>
        <p:spPr>
          <a:xfrm rot="21210364">
            <a:off x="7059798" y="6786007"/>
            <a:ext cx="12706164" cy="57898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160" i="1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F9CC8D0-BCA5-F006-DE2E-531644D9153B}"/>
              </a:ext>
            </a:extLst>
          </p:cNvPr>
          <p:cNvSpPr/>
          <p:nvPr/>
        </p:nvSpPr>
        <p:spPr>
          <a:xfrm rot="21232284">
            <a:off x="7067819" y="7460605"/>
            <a:ext cx="3662612" cy="27369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AD0B84A-38D3-E7D0-962F-8F23C81EF568}"/>
              </a:ext>
            </a:extLst>
          </p:cNvPr>
          <p:cNvSpPr/>
          <p:nvPr/>
        </p:nvSpPr>
        <p:spPr>
          <a:xfrm rot="21198728">
            <a:off x="10724206" y="6686610"/>
            <a:ext cx="8947487" cy="354645"/>
          </a:xfrm>
          <a:prstGeom prst="ellipse">
            <a:avLst/>
          </a:prstGeom>
          <a:solidFill>
            <a:schemeClr val="accent5">
              <a:alpha val="74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de-DE" sz="2160"/>
          </a:p>
        </p:txBody>
      </p:sp>
      <p:sp>
        <p:nvSpPr>
          <p:cNvPr id="10" name="Flussdiagramm: Daten 9">
            <a:extLst>
              <a:ext uri="{FF2B5EF4-FFF2-40B4-BE49-F238E27FC236}">
                <a16:creationId xmlns:a16="http://schemas.microsoft.com/office/drawing/2014/main" id="{70FF74F1-1530-17A7-E60D-43A21F0C38CB}"/>
              </a:ext>
            </a:extLst>
          </p:cNvPr>
          <p:cNvSpPr/>
          <p:nvPr/>
        </p:nvSpPr>
        <p:spPr>
          <a:xfrm>
            <a:off x="13480191" y="7728339"/>
            <a:ext cx="1255576" cy="177800"/>
          </a:xfrm>
          <a:prstGeom prst="flowChartInputOutpu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i="1"/>
              <a:t>DDM</a:t>
            </a:r>
          </a:p>
        </p:txBody>
      </p:sp>
      <p:sp>
        <p:nvSpPr>
          <p:cNvPr id="12" name="Flussdiagramm: Daten 11">
            <a:extLst>
              <a:ext uri="{FF2B5EF4-FFF2-40B4-BE49-F238E27FC236}">
                <a16:creationId xmlns:a16="http://schemas.microsoft.com/office/drawing/2014/main" id="{9177D2DA-9E5C-67A3-7ED4-7A0812381C3A}"/>
              </a:ext>
            </a:extLst>
          </p:cNvPr>
          <p:cNvSpPr/>
          <p:nvPr/>
        </p:nvSpPr>
        <p:spPr>
          <a:xfrm>
            <a:off x="17857252" y="7728339"/>
            <a:ext cx="1255576" cy="177800"/>
          </a:xfrm>
          <a:prstGeom prst="flowChartInputOutpu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i="1"/>
              <a:t>CP</a:t>
            </a:r>
          </a:p>
        </p:txBody>
      </p:sp>
      <p:sp>
        <p:nvSpPr>
          <p:cNvPr id="13" name="Flussdiagramm: Daten 12">
            <a:extLst>
              <a:ext uri="{FF2B5EF4-FFF2-40B4-BE49-F238E27FC236}">
                <a16:creationId xmlns:a16="http://schemas.microsoft.com/office/drawing/2014/main" id="{2246883D-855C-ED1C-82D9-4AF347125BED}"/>
              </a:ext>
            </a:extLst>
          </p:cNvPr>
          <p:cNvSpPr>
            <a:spLocks noChangeAspect="1"/>
          </p:cNvSpPr>
          <p:nvPr/>
        </p:nvSpPr>
        <p:spPr>
          <a:xfrm rot="21231214">
            <a:off x="13575873" y="6887721"/>
            <a:ext cx="1155131" cy="163576"/>
          </a:xfrm>
          <a:prstGeom prst="flowChartInputOutpu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i="1"/>
              <a:t>xMIM</a:t>
            </a:r>
          </a:p>
        </p:txBody>
      </p:sp>
      <p:sp>
        <p:nvSpPr>
          <p:cNvPr id="14" name="Flussdiagramm: Daten 13">
            <a:extLst>
              <a:ext uri="{FF2B5EF4-FFF2-40B4-BE49-F238E27FC236}">
                <a16:creationId xmlns:a16="http://schemas.microsoft.com/office/drawing/2014/main" id="{31C4A74C-4BC6-2DFA-4CDD-49349B854C59}"/>
              </a:ext>
            </a:extLst>
          </p:cNvPr>
          <p:cNvSpPr>
            <a:spLocks noChangeAspect="1"/>
          </p:cNvSpPr>
          <p:nvPr/>
        </p:nvSpPr>
        <p:spPr>
          <a:xfrm rot="21231214">
            <a:off x="8545782" y="7494498"/>
            <a:ext cx="1057934" cy="149812"/>
          </a:xfrm>
          <a:prstGeom prst="flowChartInputOutpu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 i="1"/>
              <a:t>Controller</a:t>
            </a:r>
          </a:p>
        </p:txBody>
      </p:sp>
      <p:sp>
        <p:nvSpPr>
          <p:cNvPr id="16" name="Flussdiagramm: Daten 15">
            <a:extLst>
              <a:ext uri="{FF2B5EF4-FFF2-40B4-BE49-F238E27FC236}">
                <a16:creationId xmlns:a16="http://schemas.microsoft.com/office/drawing/2014/main" id="{79CAA643-A565-EED8-A134-932A91B681DD}"/>
              </a:ext>
            </a:extLst>
          </p:cNvPr>
          <p:cNvSpPr>
            <a:spLocks noChangeAspect="1"/>
          </p:cNvSpPr>
          <p:nvPr/>
        </p:nvSpPr>
        <p:spPr>
          <a:xfrm rot="21231214">
            <a:off x="17324472" y="6463680"/>
            <a:ext cx="1155131" cy="163576"/>
          </a:xfrm>
          <a:prstGeom prst="flowChartInputOutpu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i="1"/>
              <a:t>Device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0F93EC7-AD93-332A-1AE3-7C6848D13372}"/>
              </a:ext>
            </a:extLst>
          </p:cNvPr>
          <p:cNvSpPr>
            <a:spLocks noChangeAspect="1"/>
          </p:cNvSpPr>
          <p:nvPr/>
        </p:nvSpPr>
        <p:spPr>
          <a:xfrm rot="7104719">
            <a:off x="6170000" y="8035454"/>
            <a:ext cx="497124" cy="24372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2160"/>
          </a:p>
        </p:txBody>
      </p:sp>
    </p:spTree>
    <p:extLst>
      <p:ext uri="{BB962C8B-B14F-4D97-AF65-F5344CB8AC3E}">
        <p14:creationId xmlns:p14="http://schemas.microsoft.com/office/powerpoint/2010/main" val="739359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C82E5833-4438-2189-74F2-6F0A00400E55}"/>
              </a:ext>
            </a:extLst>
          </p:cNvPr>
          <p:cNvSpPr/>
          <p:nvPr/>
        </p:nvSpPr>
        <p:spPr>
          <a:xfrm>
            <a:off x="1265871" y="4422185"/>
            <a:ext cx="447675" cy="7641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MO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1A69868-6103-625F-02C0-18B79D5F8321}"/>
              </a:ext>
            </a:extLst>
          </p:cNvPr>
          <p:cNvCxnSpPr>
            <a:cxnSpLocks/>
          </p:cNvCxnSpPr>
          <p:nvPr/>
        </p:nvCxnSpPr>
        <p:spPr>
          <a:xfrm>
            <a:off x="1713545" y="4526733"/>
            <a:ext cx="3872863" cy="20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B532003B-47C2-54BB-664F-E6480C2F5F29}"/>
              </a:ext>
            </a:extLst>
          </p:cNvPr>
          <p:cNvSpPr txBox="1"/>
          <p:nvPr/>
        </p:nvSpPr>
        <p:spPr>
          <a:xfrm>
            <a:off x="1402628" y="4185705"/>
            <a:ext cx="4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900"/>
              <a:t>/v1/establish-netconf-connection</a:t>
            </a:r>
            <a:br>
              <a:rPr lang="de-DE" sz="900">
                <a:solidFill>
                  <a:srgbClr val="FF0000"/>
                </a:solidFill>
              </a:rPr>
            </a:br>
            <a:r>
              <a:rPr lang="de-DE" sz="900">
                <a:solidFill>
                  <a:srgbClr val="FF0000"/>
                </a:solidFill>
              </a:rPr>
              <a:t>{controllerName, mountName, deviceIp, deviceModel}</a:t>
            </a:r>
          </a:p>
        </p:txBody>
      </p:sp>
      <p:sp>
        <p:nvSpPr>
          <p:cNvPr id="15" name="Scrollen: vertikal 14">
            <a:extLst>
              <a:ext uri="{FF2B5EF4-FFF2-40B4-BE49-F238E27FC236}">
                <a16:creationId xmlns:a16="http://schemas.microsoft.com/office/drawing/2014/main" id="{E0D6D35F-81FE-6F08-CAD9-CEFA629499EC}"/>
              </a:ext>
            </a:extLst>
          </p:cNvPr>
          <p:cNvSpPr/>
          <p:nvPr/>
        </p:nvSpPr>
        <p:spPr>
          <a:xfrm>
            <a:off x="9035776" y="9307334"/>
            <a:ext cx="1476137" cy="923927"/>
          </a:xfrm>
          <a:prstGeom prst="verticalScroll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Queue of </a:t>
            </a:r>
            <a:r>
              <a:rPr lang="de-DE" sz="800">
                <a:solidFill>
                  <a:srgbClr val="FF0000"/>
                </a:solidFill>
              </a:rPr>
              <a:t>netconf</a:t>
            </a:r>
            <a:r>
              <a:rPr lang="de-DE" sz="800"/>
              <a:t> </a:t>
            </a:r>
            <a:r>
              <a:rPr lang="de-DE" sz="800">
                <a:solidFill>
                  <a:srgbClr val="FF0000"/>
                </a:solidFill>
              </a:rPr>
              <a:t>interfaces</a:t>
            </a:r>
            <a:r>
              <a:rPr lang="de-DE" sz="800"/>
              <a:t> that need to be provided</a:t>
            </a:r>
          </a:p>
        </p:txBody>
      </p:sp>
      <p:cxnSp>
        <p:nvCxnSpPr>
          <p:cNvPr id="17" name="Verbinder: gekrümmt 16">
            <a:extLst>
              <a:ext uri="{FF2B5EF4-FFF2-40B4-BE49-F238E27FC236}">
                <a16:creationId xmlns:a16="http://schemas.microsoft.com/office/drawing/2014/main" id="{2864ED64-2EE7-65DC-593B-667C0BE96ED5}"/>
              </a:ext>
            </a:extLst>
          </p:cNvPr>
          <p:cNvCxnSpPr>
            <a:cxnSpLocks/>
            <a:stCxn id="252" idx="6"/>
            <a:endCxn id="15" idx="0"/>
          </p:cNvCxnSpPr>
          <p:nvPr/>
        </p:nvCxnSpPr>
        <p:spPr>
          <a:xfrm>
            <a:off x="7099176" y="4827477"/>
            <a:ext cx="2674666" cy="4479857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FDF7E4D6-68B6-0355-CB3A-A2A0E28C931E}"/>
              </a:ext>
            </a:extLst>
          </p:cNvPr>
          <p:cNvCxnSpPr>
            <a:cxnSpLocks/>
          </p:cNvCxnSpPr>
          <p:nvPr/>
        </p:nvCxnSpPr>
        <p:spPr>
          <a:xfrm flipH="1" flipV="1">
            <a:off x="1713543" y="4744138"/>
            <a:ext cx="3872865" cy="1762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hteck 55">
            <a:extLst>
              <a:ext uri="{FF2B5EF4-FFF2-40B4-BE49-F238E27FC236}">
                <a16:creationId xmlns:a16="http://schemas.microsoft.com/office/drawing/2014/main" id="{9EBFEA2E-B45C-8A04-7DFE-5C0D54E2AEC3}"/>
              </a:ext>
            </a:extLst>
          </p:cNvPr>
          <p:cNvSpPr/>
          <p:nvPr/>
        </p:nvSpPr>
        <p:spPr>
          <a:xfrm>
            <a:off x="5591814" y="10710090"/>
            <a:ext cx="1571625" cy="16070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MediatorVmPhaseOut</a:t>
            </a:r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Check operational state and life cycle state of mediatorVm</a:t>
            </a:r>
          </a:p>
          <a:p>
            <a:endParaRPr lang="de-DE" sz="800"/>
          </a:p>
          <a:p>
            <a:r>
              <a:rPr lang="de-DE" sz="800"/>
              <a:t>IF mediatorVm not operational or marked deprecated</a:t>
            </a:r>
          </a:p>
          <a:p>
            <a:r>
              <a:rPr lang="de-DE" sz="800"/>
              <a:t>THEN add all related mediatorProcesses</a:t>
            </a:r>
          </a:p>
          <a:p>
            <a:pPr marL="171450" indent="-171450">
              <a:buFontTx/>
              <a:buChar char="-"/>
            </a:pPr>
            <a:r>
              <a:rPr lang="de-DE" sz="800"/>
              <a:t>to createQueue</a:t>
            </a:r>
          </a:p>
          <a:p>
            <a:pPr marL="171450" indent="-171450">
              <a:buFontTx/>
              <a:buChar char="-"/>
            </a:pPr>
            <a:r>
              <a:rPr lang="de-DE" sz="800"/>
              <a:t>to dismantleQueue</a:t>
            </a:r>
          </a:p>
          <a:p>
            <a:endParaRPr lang="de-DE" sz="800"/>
          </a:p>
        </p:txBody>
      </p:sp>
      <p:cxnSp>
        <p:nvCxnSpPr>
          <p:cNvPr id="61" name="Verbinder: gekrümmt 60">
            <a:extLst>
              <a:ext uri="{FF2B5EF4-FFF2-40B4-BE49-F238E27FC236}">
                <a16:creationId xmlns:a16="http://schemas.microsoft.com/office/drawing/2014/main" id="{BB2D77CC-429A-4157-5B5F-8EF25F79FEC7}"/>
              </a:ext>
            </a:extLst>
          </p:cNvPr>
          <p:cNvCxnSpPr>
            <a:cxnSpLocks/>
            <a:stCxn id="269" idx="6"/>
            <a:endCxn id="15" idx="0"/>
          </p:cNvCxnSpPr>
          <p:nvPr/>
        </p:nvCxnSpPr>
        <p:spPr>
          <a:xfrm>
            <a:off x="7148068" y="8588425"/>
            <a:ext cx="2625774" cy="718909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Verbinder: gekrümmt 70">
            <a:extLst>
              <a:ext uri="{FF2B5EF4-FFF2-40B4-BE49-F238E27FC236}">
                <a16:creationId xmlns:a16="http://schemas.microsoft.com/office/drawing/2014/main" id="{7A46D94E-44A3-06EB-80F4-E03CA33A63EF}"/>
              </a:ext>
            </a:extLst>
          </p:cNvPr>
          <p:cNvCxnSpPr>
            <a:cxnSpLocks/>
            <a:stCxn id="306" idx="6"/>
            <a:endCxn id="15" idx="0"/>
          </p:cNvCxnSpPr>
          <p:nvPr/>
        </p:nvCxnSpPr>
        <p:spPr>
          <a:xfrm flipV="1">
            <a:off x="7154170" y="9307331"/>
            <a:ext cx="2619672" cy="2698438"/>
          </a:xfrm>
          <a:prstGeom prst="curvedConnector4">
            <a:avLst>
              <a:gd name="adj1" fmla="val 35913"/>
              <a:gd name="adj2" fmla="val 108472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hteck: abgerundete Ecken 76">
            <a:extLst>
              <a:ext uri="{FF2B5EF4-FFF2-40B4-BE49-F238E27FC236}">
                <a16:creationId xmlns:a16="http://schemas.microsoft.com/office/drawing/2014/main" id="{8DFFF67D-D75C-32F2-8280-CB92247117F7}"/>
              </a:ext>
            </a:extLst>
          </p:cNvPr>
          <p:cNvSpPr/>
          <p:nvPr/>
        </p:nvSpPr>
        <p:spPr>
          <a:xfrm>
            <a:off x="13051900" y="12189955"/>
            <a:ext cx="447675" cy="328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CP</a:t>
            </a:r>
          </a:p>
        </p:txBody>
      </p:sp>
      <p:cxnSp>
        <p:nvCxnSpPr>
          <p:cNvPr id="90" name="Verbinder: gekrümmt 89">
            <a:extLst>
              <a:ext uri="{FF2B5EF4-FFF2-40B4-BE49-F238E27FC236}">
                <a16:creationId xmlns:a16="http://schemas.microsoft.com/office/drawing/2014/main" id="{4D6640C8-1C91-CE56-09D4-B2581D76A95E}"/>
              </a:ext>
            </a:extLst>
          </p:cNvPr>
          <p:cNvCxnSpPr>
            <a:cxnSpLocks/>
            <a:stCxn id="15" idx="2"/>
            <a:endCxn id="75" idx="0"/>
          </p:cNvCxnSpPr>
          <p:nvPr/>
        </p:nvCxnSpPr>
        <p:spPr>
          <a:xfrm rot="5400000">
            <a:off x="9285595" y="10449306"/>
            <a:ext cx="706299" cy="270202"/>
          </a:xfrm>
          <a:prstGeom prst="curved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Scrollen: vertikal 102">
            <a:extLst>
              <a:ext uri="{FF2B5EF4-FFF2-40B4-BE49-F238E27FC236}">
                <a16:creationId xmlns:a16="http://schemas.microsoft.com/office/drawing/2014/main" id="{CC6A1FEE-2FD5-A0BD-9923-2B7D18953F4E}"/>
              </a:ext>
            </a:extLst>
          </p:cNvPr>
          <p:cNvSpPr/>
          <p:nvPr/>
        </p:nvSpPr>
        <p:spPr>
          <a:xfrm>
            <a:off x="15248429" y="5280392"/>
            <a:ext cx="1560042" cy="997947"/>
          </a:xfrm>
          <a:prstGeom prst="verticalScroll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Queue of </a:t>
            </a:r>
            <a:r>
              <a:rPr lang="de-DE" sz="800">
                <a:solidFill>
                  <a:schemeClr val="accent5"/>
                </a:solidFill>
              </a:rPr>
              <a:t>mediatorProcesses</a:t>
            </a:r>
            <a:r>
              <a:rPr lang="de-DE" sz="800"/>
              <a:t> to be deleted</a:t>
            </a:r>
          </a:p>
        </p:txBody>
      </p:sp>
      <p:sp>
        <p:nvSpPr>
          <p:cNvPr id="104" name="Flussdiagramm: Zusammenstellen 103">
            <a:extLst>
              <a:ext uri="{FF2B5EF4-FFF2-40B4-BE49-F238E27FC236}">
                <a16:creationId xmlns:a16="http://schemas.microsoft.com/office/drawing/2014/main" id="{6181BD8D-E00F-C65B-E014-B40604A43C3E}"/>
              </a:ext>
            </a:extLst>
          </p:cNvPr>
          <p:cNvSpPr/>
          <p:nvPr/>
        </p:nvSpPr>
        <p:spPr>
          <a:xfrm>
            <a:off x="8964212" y="5474674"/>
            <a:ext cx="369117" cy="525849"/>
          </a:xfrm>
          <a:prstGeom prst="flowChartCol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06" name="Verbinder: gekrümmt 105">
            <a:extLst>
              <a:ext uri="{FF2B5EF4-FFF2-40B4-BE49-F238E27FC236}">
                <a16:creationId xmlns:a16="http://schemas.microsoft.com/office/drawing/2014/main" id="{D52FD071-631C-02F8-0686-931FA6B13A38}"/>
              </a:ext>
            </a:extLst>
          </p:cNvPr>
          <p:cNvCxnSpPr>
            <a:cxnSpLocks/>
            <a:stCxn id="104" idx="0"/>
            <a:endCxn id="103" idx="0"/>
          </p:cNvCxnSpPr>
          <p:nvPr/>
        </p:nvCxnSpPr>
        <p:spPr>
          <a:xfrm rot="5400000" flipH="1" flipV="1">
            <a:off x="12491468" y="1937689"/>
            <a:ext cx="194282" cy="6879682"/>
          </a:xfrm>
          <a:prstGeom prst="curvedConnector3">
            <a:avLst>
              <a:gd name="adj1" fmla="val 217664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Verbinder: gekrümmt 106">
            <a:extLst>
              <a:ext uri="{FF2B5EF4-FFF2-40B4-BE49-F238E27FC236}">
                <a16:creationId xmlns:a16="http://schemas.microsoft.com/office/drawing/2014/main" id="{D5EE6150-51F0-0E75-4A56-1F02BD0E5818}"/>
              </a:ext>
            </a:extLst>
          </p:cNvPr>
          <p:cNvCxnSpPr>
            <a:cxnSpLocks/>
            <a:stCxn id="270" idx="6"/>
            <a:endCxn id="104" idx="2"/>
          </p:cNvCxnSpPr>
          <p:nvPr/>
        </p:nvCxnSpPr>
        <p:spPr>
          <a:xfrm flipV="1">
            <a:off x="7148068" y="6000520"/>
            <a:ext cx="2000700" cy="2701388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Verbinder: gekrümmt 110">
            <a:extLst>
              <a:ext uri="{FF2B5EF4-FFF2-40B4-BE49-F238E27FC236}">
                <a16:creationId xmlns:a16="http://schemas.microsoft.com/office/drawing/2014/main" id="{BF8CEEB0-27E7-67FE-9CD2-F7BC154D1FF5}"/>
              </a:ext>
            </a:extLst>
          </p:cNvPr>
          <p:cNvCxnSpPr>
            <a:cxnSpLocks/>
            <a:stCxn id="314" idx="6"/>
            <a:endCxn id="104" idx="2"/>
          </p:cNvCxnSpPr>
          <p:nvPr/>
        </p:nvCxnSpPr>
        <p:spPr>
          <a:xfrm flipV="1">
            <a:off x="7154170" y="6000520"/>
            <a:ext cx="1994598" cy="6170472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feld 104">
            <a:extLst>
              <a:ext uri="{FF2B5EF4-FFF2-40B4-BE49-F238E27FC236}">
                <a16:creationId xmlns:a16="http://schemas.microsoft.com/office/drawing/2014/main" id="{CAA8C806-679B-A077-8EA7-09C210CD301E}"/>
              </a:ext>
            </a:extLst>
          </p:cNvPr>
          <p:cNvSpPr txBox="1"/>
          <p:nvPr/>
        </p:nvSpPr>
        <p:spPr>
          <a:xfrm>
            <a:off x="8743230" y="5596735"/>
            <a:ext cx="960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DelayElement</a:t>
            </a: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1FE31B48-04FF-C298-6453-7225A40DA40D}"/>
              </a:ext>
            </a:extLst>
          </p:cNvPr>
          <p:cNvSpPr/>
          <p:nvPr/>
        </p:nvSpPr>
        <p:spPr>
          <a:xfrm>
            <a:off x="15150487" y="9864751"/>
            <a:ext cx="1571625" cy="1964349"/>
          </a:xfrm>
          <a:prstGeom prst="rect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UnusedMediatorProcessEraser</a:t>
            </a:r>
          </a:p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IF there is a mountPoint with same deviceName in ODL (ask MO) using this mediatorProc. </a:t>
            </a:r>
          </a:p>
          <a:p>
            <a:r>
              <a:rPr lang="de-DE" sz="800"/>
              <a:t>THEN terminate without change</a:t>
            </a:r>
          </a:p>
          <a:p>
            <a:r>
              <a:rPr lang="de-DE" sz="800"/>
              <a:t>ELSE</a:t>
            </a:r>
          </a:p>
          <a:p>
            <a:r>
              <a:rPr lang="de-DE" sz="800"/>
              <a:t>- Dismantle mediatorProc</a:t>
            </a:r>
          </a:p>
          <a:p>
            <a:r>
              <a:rPr lang="de-DE" sz="800"/>
              <a:t>- Delete from AppDATA:</a:t>
            </a:r>
          </a:p>
          <a:p>
            <a:r>
              <a:rPr lang="de-DE" sz="800"/>
              <a:t>   . Netconf connection</a:t>
            </a:r>
          </a:p>
          <a:p>
            <a:r>
              <a:rPr lang="de-DE" sz="800"/>
              <a:t>   . Snmp connection</a:t>
            </a:r>
          </a:p>
          <a:p>
            <a:r>
              <a:rPr lang="de-DE" sz="800"/>
              <a:t>   . mediatorProcess</a:t>
            </a:r>
          </a:p>
        </p:txBody>
      </p:sp>
      <p:cxnSp>
        <p:nvCxnSpPr>
          <p:cNvPr id="134" name="Verbinder: gekrümmt 133">
            <a:extLst>
              <a:ext uri="{FF2B5EF4-FFF2-40B4-BE49-F238E27FC236}">
                <a16:creationId xmlns:a16="http://schemas.microsoft.com/office/drawing/2014/main" id="{5D7864F1-1ED2-2D1B-8095-C111EA57113A}"/>
              </a:ext>
            </a:extLst>
          </p:cNvPr>
          <p:cNvCxnSpPr>
            <a:cxnSpLocks/>
            <a:stCxn id="103" idx="2"/>
            <a:endCxn id="125" idx="0"/>
          </p:cNvCxnSpPr>
          <p:nvPr/>
        </p:nvCxnSpPr>
        <p:spPr>
          <a:xfrm rot="5400000">
            <a:off x="14189168" y="8025469"/>
            <a:ext cx="3586412" cy="92153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feld 143">
            <a:extLst>
              <a:ext uri="{FF2B5EF4-FFF2-40B4-BE49-F238E27FC236}">
                <a16:creationId xmlns:a16="http://schemas.microsoft.com/office/drawing/2014/main" id="{29D2BC74-3BE7-174C-D371-53D0640E1A05}"/>
              </a:ext>
            </a:extLst>
          </p:cNvPr>
          <p:cNvSpPr txBox="1"/>
          <p:nvPr/>
        </p:nvSpPr>
        <p:spPr>
          <a:xfrm>
            <a:off x="19348189" y="3296396"/>
            <a:ext cx="2548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/>
              <a:t>/v1/dismantle-netconf-connection</a:t>
            </a:r>
          </a:p>
        </p:txBody>
      </p: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76527FFD-A27D-C191-D636-0418D2347CF0}"/>
              </a:ext>
            </a:extLst>
          </p:cNvPr>
          <p:cNvCxnSpPr>
            <a:cxnSpLocks/>
          </p:cNvCxnSpPr>
          <p:nvPr/>
        </p:nvCxnSpPr>
        <p:spPr>
          <a:xfrm flipH="1">
            <a:off x="19320037" y="3536847"/>
            <a:ext cx="22735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D5350EC3-81F5-928A-7AB1-C83683A18AC5}"/>
              </a:ext>
            </a:extLst>
          </p:cNvPr>
          <p:cNvCxnSpPr>
            <a:cxnSpLocks/>
          </p:cNvCxnSpPr>
          <p:nvPr/>
        </p:nvCxnSpPr>
        <p:spPr>
          <a:xfrm>
            <a:off x="19320037" y="3659955"/>
            <a:ext cx="22735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feld 148">
            <a:extLst>
              <a:ext uri="{FF2B5EF4-FFF2-40B4-BE49-F238E27FC236}">
                <a16:creationId xmlns:a16="http://schemas.microsoft.com/office/drawing/2014/main" id="{B4C32C75-C175-6476-37BE-A82F695B7FF2}"/>
              </a:ext>
            </a:extLst>
          </p:cNvPr>
          <p:cNvSpPr txBox="1"/>
          <p:nvPr/>
        </p:nvSpPr>
        <p:spPr>
          <a:xfrm flipH="1">
            <a:off x="20827679" y="3639302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sp>
        <p:nvSpPr>
          <p:cNvPr id="210" name="Rechteck: abgerundete Ecken 209">
            <a:extLst>
              <a:ext uri="{FF2B5EF4-FFF2-40B4-BE49-F238E27FC236}">
                <a16:creationId xmlns:a16="http://schemas.microsoft.com/office/drawing/2014/main" id="{44B2B777-E588-B36C-E091-FFDB6E04A573}"/>
              </a:ext>
            </a:extLst>
          </p:cNvPr>
          <p:cNvSpPr/>
          <p:nvPr/>
        </p:nvSpPr>
        <p:spPr>
          <a:xfrm>
            <a:off x="21593563" y="3461123"/>
            <a:ext cx="447675" cy="3046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MO</a:t>
            </a:r>
          </a:p>
        </p:txBody>
      </p:sp>
      <p:sp>
        <p:nvSpPr>
          <p:cNvPr id="213" name="Rechteck 212">
            <a:extLst>
              <a:ext uri="{FF2B5EF4-FFF2-40B4-BE49-F238E27FC236}">
                <a16:creationId xmlns:a16="http://schemas.microsoft.com/office/drawing/2014/main" id="{65B05C39-22C7-3BDA-ABC8-0E08C367F8F4}"/>
              </a:ext>
            </a:extLst>
          </p:cNvPr>
          <p:cNvSpPr/>
          <p:nvPr/>
        </p:nvSpPr>
        <p:spPr>
          <a:xfrm>
            <a:off x="17747467" y="3190473"/>
            <a:ext cx="1571625" cy="1320166"/>
          </a:xfrm>
          <a:prstGeom prst="rect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Search throu all mediatorVms for mediatorProcesses for the defined deviceName</a:t>
            </a:r>
          </a:p>
          <a:p>
            <a:endParaRPr lang="de-DE" sz="800"/>
          </a:p>
          <a:p>
            <a:r>
              <a:rPr lang="de-DE" sz="800"/>
              <a:t>Add all mediatorProcesses</a:t>
            </a:r>
          </a:p>
          <a:p>
            <a:r>
              <a:rPr lang="de-DE" sz="800"/>
              <a:t>to dismantleQueue</a:t>
            </a:r>
          </a:p>
        </p:txBody>
      </p:sp>
      <p:cxnSp>
        <p:nvCxnSpPr>
          <p:cNvPr id="220" name="Verbinder: gekrümmt 219">
            <a:extLst>
              <a:ext uri="{FF2B5EF4-FFF2-40B4-BE49-F238E27FC236}">
                <a16:creationId xmlns:a16="http://schemas.microsoft.com/office/drawing/2014/main" id="{561F252A-8C14-74DE-20EB-D490C3D6B7B2}"/>
              </a:ext>
            </a:extLst>
          </p:cNvPr>
          <p:cNvCxnSpPr>
            <a:cxnSpLocks/>
            <a:stCxn id="213" idx="2"/>
            <a:endCxn id="103" idx="0"/>
          </p:cNvCxnSpPr>
          <p:nvPr/>
        </p:nvCxnSpPr>
        <p:spPr>
          <a:xfrm rot="5400000">
            <a:off x="16895989" y="3643104"/>
            <a:ext cx="769750" cy="2504827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Rechteck 224">
            <a:extLst>
              <a:ext uri="{FF2B5EF4-FFF2-40B4-BE49-F238E27FC236}">
                <a16:creationId xmlns:a16="http://schemas.microsoft.com/office/drawing/2014/main" id="{8778D23D-E927-DABD-0332-D93807833FA4}"/>
              </a:ext>
            </a:extLst>
          </p:cNvPr>
          <p:cNvSpPr/>
          <p:nvPr/>
        </p:nvSpPr>
        <p:spPr>
          <a:xfrm>
            <a:off x="17729239" y="4910189"/>
            <a:ext cx="1798430" cy="2678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r>
              <a:rPr lang="de-DE" sz="800" i="1"/>
              <a:t>InactiveMediatorProcessTracker</a:t>
            </a:r>
          </a:p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Go slowly through all mediatorProcesses at all mediatorVms</a:t>
            </a:r>
          </a:p>
          <a:p>
            <a:endParaRPr lang="de-DE" sz="800"/>
          </a:p>
          <a:p>
            <a:r>
              <a:rPr lang="de-DE" sz="800"/>
              <a:t>IF mediatorProcess is responsive on netconf</a:t>
            </a:r>
          </a:p>
          <a:p>
            <a:r>
              <a:rPr lang="de-DE" sz="800"/>
              <a:t>THEN set firstSilenceDate=‚‘</a:t>
            </a:r>
          </a:p>
          <a:p>
            <a:r>
              <a:rPr lang="de-DE" sz="800"/>
              <a:t>ELSE check firstSilenceDate</a:t>
            </a:r>
          </a:p>
          <a:p>
            <a:endParaRPr lang="de-DE" sz="800"/>
          </a:p>
          <a:p>
            <a:r>
              <a:rPr lang="de-DE" sz="800"/>
              <a:t>IF firstSilenceDate==‚‘</a:t>
            </a:r>
            <a:br>
              <a:rPr lang="de-DE" sz="800"/>
            </a:br>
            <a:r>
              <a:rPr lang="de-DE" sz="800"/>
              <a:t>THEN set firstSilenceDate= currentDate</a:t>
            </a:r>
          </a:p>
          <a:p>
            <a:pPr>
              <a:tabLst>
                <a:tab pos="36000" algn="l"/>
              </a:tabLst>
            </a:pPr>
            <a:r>
              <a:rPr lang="de-DE" sz="800"/>
              <a:t>ELSE</a:t>
            </a:r>
          </a:p>
          <a:p>
            <a:pPr>
              <a:tabLst>
                <a:tab pos="108000" algn="l"/>
              </a:tabLst>
            </a:pPr>
            <a:r>
              <a:rPr lang="de-DE" sz="800"/>
              <a:t>	IF currentDate – firstSilenceDate</a:t>
            </a:r>
          </a:p>
          <a:p>
            <a:pPr>
              <a:tabLst>
                <a:tab pos="108000" algn="l"/>
              </a:tabLst>
            </a:pPr>
            <a:r>
              <a:rPr lang="de-DE" sz="800"/>
              <a:t>	&lt;=[keepMediatorProcessPeriode]</a:t>
            </a:r>
          </a:p>
          <a:p>
            <a:pPr>
              <a:tabLst>
                <a:tab pos="108000" algn="l"/>
              </a:tabLst>
            </a:pPr>
            <a:r>
              <a:rPr lang="de-DE" sz="800"/>
              <a:t>	THEN no change</a:t>
            </a:r>
          </a:p>
          <a:p>
            <a:pPr>
              <a:tabLst>
                <a:tab pos="108000" algn="l"/>
              </a:tabLst>
            </a:pPr>
            <a:r>
              <a:rPr lang="de-DE" sz="800"/>
              <a:t>	ELSE add to dismantleQueue</a:t>
            </a:r>
          </a:p>
        </p:txBody>
      </p:sp>
      <p:pic>
        <p:nvPicPr>
          <p:cNvPr id="226" name="Grafik 225">
            <a:extLst>
              <a:ext uri="{FF2B5EF4-FFF2-40B4-BE49-F238E27FC236}">
                <a16:creationId xmlns:a16="http://schemas.microsoft.com/office/drawing/2014/main" id="{E590A6FC-6F27-1F52-01B4-64301CA59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6436" y="5123628"/>
            <a:ext cx="260088" cy="251271"/>
          </a:xfrm>
          <a:prstGeom prst="rect">
            <a:avLst/>
          </a:prstGeom>
        </p:spPr>
      </p:pic>
      <p:cxnSp>
        <p:nvCxnSpPr>
          <p:cNvPr id="227" name="Verbinder: gekrümmt 226">
            <a:extLst>
              <a:ext uri="{FF2B5EF4-FFF2-40B4-BE49-F238E27FC236}">
                <a16:creationId xmlns:a16="http://schemas.microsoft.com/office/drawing/2014/main" id="{2DB9CE1C-063B-8F4A-85EB-0564067865B1}"/>
              </a:ext>
            </a:extLst>
          </p:cNvPr>
          <p:cNvCxnSpPr>
            <a:cxnSpLocks/>
            <a:stCxn id="225" idx="2"/>
            <a:endCxn id="103" idx="0"/>
          </p:cNvCxnSpPr>
          <p:nvPr/>
        </p:nvCxnSpPr>
        <p:spPr>
          <a:xfrm rot="5400000" flipH="1">
            <a:off x="16174464" y="5134375"/>
            <a:ext cx="2307976" cy="2600004"/>
          </a:xfrm>
          <a:prstGeom prst="curvedConnector5">
            <a:avLst>
              <a:gd name="adj1" fmla="val -9905"/>
              <a:gd name="adj2" fmla="val 52292"/>
              <a:gd name="adj3" fmla="val 109905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fik 5">
            <a:extLst>
              <a:ext uri="{FF2B5EF4-FFF2-40B4-BE49-F238E27FC236}">
                <a16:creationId xmlns:a16="http://schemas.microsoft.com/office/drawing/2014/main" id="{BB4CEC89-E2AF-ACDF-4C17-3FFE58CA1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7837" y="9091944"/>
            <a:ext cx="447675" cy="439333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4668BABB-C444-CB57-7286-A2F16DFE205B}"/>
              </a:ext>
            </a:extLst>
          </p:cNvPr>
          <p:cNvSpPr/>
          <p:nvPr/>
        </p:nvSpPr>
        <p:spPr>
          <a:xfrm>
            <a:off x="5591814" y="9039934"/>
            <a:ext cx="1571625" cy="1454839"/>
          </a:xfrm>
          <a:prstGeom prst="rect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Check feasibility of deleting mediatorVm without the total number of mediatorProcesses exceeding the capacity of remaining mediatorVms</a:t>
            </a:r>
          </a:p>
          <a:p>
            <a:endParaRPr lang="de-DE" sz="800"/>
          </a:p>
          <a:p>
            <a:r>
              <a:rPr lang="de-DE" sz="800"/>
              <a:t>IF reducing resources feasible</a:t>
            </a:r>
          </a:p>
          <a:p>
            <a:r>
              <a:rPr lang="de-DE" sz="800"/>
              <a:t>THEN mark life cycle state of defined mediatorVm to be deprecated</a:t>
            </a:r>
          </a:p>
          <a:p>
            <a:r>
              <a:rPr lang="de-DE" sz="800"/>
              <a:t>ELSE respond error code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AAB2F06-0754-E97D-8AB1-446BC5BE28CA}"/>
              </a:ext>
            </a:extLst>
          </p:cNvPr>
          <p:cNvCxnSpPr>
            <a:cxnSpLocks/>
          </p:cNvCxnSpPr>
          <p:nvPr/>
        </p:nvCxnSpPr>
        <p:spPr>
          <a:xfrm>
            <a:off x="1660440" y="9229331"/>
            <a:ext cx="3939537" cy="16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2E92D9DA-09E1-FFC1-98ED-74AC6BF930F6}"/>
              </a:ext>
            </a:extLst>
          </p:cNvPr>
          <p:cNvSpPr txBox="1"/>
          <p:nvPr/>
        </p:nvSpPr>
        <p:spPr>
          <a:xfrm>
            <a:off x="3156685" y="8999784"/>
            <a:ext cx="2548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/>
              <a:t>/v1/disregard-mediator-instance-manager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FF5680D-94F2-F4E3-FACF-63C223B4FC46}"/>
              </a:ext>
            </a:extLst>
          </p:cNvPr>
          <p:cNvCxnSpPr>
            <a:cxnSpLocks/>
          </p:cNvCxnSpPr>
          <p:nvPr/>
        </p:nvCxnSpPr>
        <p:spPr>
          <a:xfrm flipH="1">
            <a:off x="1708708" y="9455071"/>
            <a:ext cx="389126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9104B411-5652-1AC8-0AF7-757041C6FEF8}"/>
              </a:ext>
            </a:extLst>
          </p:cNvPr>
          <p:cNvSpPr txBox="1"/>
          <p:nvPr/>
        </p:nvSpPr>
        <p:spPr>
          <a:xfrm>
            <a:off x="1727112" y="9411808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A6E275FF-6DBA-3F21-5F4B-5FB306A7F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088" y="10793292"/>
            <a:ext cx="260088" cy="273783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ED8304CB-60E8-CF50-67B6-A0D2890F5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7837" y="5958475"/>
            <a:ext cx="447675" cy="439333"/>
          </a:xfrm>
          <a:prstGeom prst="rect">
            <a:avLst/>
          </a:prstGeom>
        </p:spPr>
      </p:pic>
      <p:sp>
        <p:nvSpPr>
          <p:cNvPr id="53" name="Rechteck 52">
            <a:extLst>
              <a:ext uri="{FF2B5EF4-FFF2-40B4-BE49-F238E27FC236}">
                <a16:creationId xmlns:a16="http://schemas.microsoft.com/office/drawing/2014/main" id="{0CB49B7E-39F6-8FA1-969C-E823B6707C2C}"/>
              </a:ext>
            </a:extLst>
          </p:cNvPr>
          <p:cNvSpPr/>
          <p:nvPr/>
        </p:nvSpPr>
        <p:spPr>
          <a:xfrm>
            <a:off x="5599977" y="5619142"/>
            <a:ext cx="1571625" cy="82971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Create new MIM in CONFIGfile of MM</a:t>
            </a:r>
          </a:p>
          <a:p>
            <a:endParaRPr lang="de-DE" sz="800"/>
          </a:p>
          <a:p>
            <a:r>
              <a:rPr lang="de-DE" sz="800"/>
              <a:t>Create new mediatorVm of defined mediatorVmTemplate in internal data</a:t>
            </a:r>
          </a:p>
          <a:p>
            <a:r>
              <a:rPr lang="de-DE" sz="800"/>
              <a:t> 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364C45C3-6320-2BE5-6D29-5D768A0B74C2}"/>
              </a:ext>
            </a:extLst>
          </p:cNvPr>
          <p:cNvCxnSpPr>
            <a:cxnSpLocks/>
          </p:cNvCxnSpPr>
          <p:nvPr/>
        </p:nvCxnSpPr>
        <p:spPr>
          <a:xfrm>
            <a:off x="1660440" y="6095862"/>
            <a:ext cx="3939537" cy="16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7ADFF6E2-BED2-7001-6D8F-FB1B1141882C}"/>
              </a:ext>
            </a:extLst>
          </p:cNvPr>
          <p:cNvSpPr txBox="1"/>
          <p:nvPr/>
        </p:nvSpPr>
        <p:spPr>
          <a:xfrm>
            <a:off x="3194785" y="5866315"/>
            <a:ext cx="2397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/>
              <a:t>/v1/regard-mediator-instance-manager</a:t>
            </a:r>
          </a:p>
        </p:txBody>
      </p: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A54EFF6E-FB0C-128D-DA81-486F143823EE}"/>
              </a:ext>
            </a:extLst>
          </p:cNvPr>
          <p:cNvCxnSpPr>
            <a:cxnSpLocks/>
          </p:cNvCxnSpPr>
          <p:nvPr/>
        </p:nvCxnSpPr>
        <p:spPr>
          <a:xfrm flipH="1">
            <a:off x="1708708" y="6321602"/>
            <a:ext cx="389126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feld 59">
            <a:extLst>
              <a:ext uri="{FF2B5EF4-FFF2-40B4-BE49-F238E27FC236}">
                <a16:creationId xmlns:a16="http://schemas.microsoft.com/office/drawing/2014/main" id="{0EE42FE5-8A58-E39B-A6C9-FAEC5A5A3985}"/>
              </a:ext>
            </a:extLst>
          </p:cNvPr>
          <p:cNvSpPr txBox="1"/>
          <p:nvPr/>
        </p:nvSpPr>
        <p:spPr>
          <a:xfrm>
            <a:off x="1727112" y="6278339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B91D68D4-8FDC-2F63-0B78-6959E36F48EA}"/>
              </a:ext>
            </a:extLst>
          </p:cNvPr>
          <p:cNvSpPr/>
          <p:nvPr/>
        </p:nvSpPr>
        <p:spPr>
          <a:xfrm>
            <a:off x="17729239" y="7854080"/>
            <a:ext cx="1798430" cy="1694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r>
              <a:rPr lang="de-DE" sz="800" i="1"/>
              <a:t>EmptyMediatorVmEraser</a:t>
            </a:r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Go slowly through all mediatorVms</a:t>
            </a:r>
          </a:p>
          <a:p>
            <a:endParaRPr lang="de-DE" sz="800"/>
          </a:p>
          <a:p>
            <a:r>
              <a:rPr lang="de-DE" sz="800"/>
              <a:t>IF mediatorVm is marked to be  deprecated AND number of mediatorProcesses==0</a:t>
            </a:r>
          </a:p>
          <a:p>
            <a:endParaRPr lang="de-DE" sz="800"/>
          </a:p>
          <a:p>
            <a:r>
              <a:rPr lang="de-DE" sz="800"/>
              <a:t>THEN </a:t>
            </a:r>
          </a:p>
          <a:p>
            <a:pPr marL="171450" indent="-171450">
              <a:buFontTx/>
              <a:buChar char="-"/>
            </a:pPr>
            <a:r>
              <a:rPr lang="de-DE" sz="800"/>
              <a:t>delete MIM from CONFIGfile</a:t>
            </a:r>
          </a:p>
          <a:p>
            <a:pPr marL="171450" indent="-171450">
              <a:buFontTx/>
              <a:buChar char="-"/>
            </a:pPr>
            <a:r>
              <a:rPr lang="de-DE" sz="800"/>
              <a:t>delete mediatorVm from AppDATA</a:t>
            </a:r>
          </a:p>
          <a:p>
            <a:pPr marL="171450" indent="-171450">
              <a:buFontTx/>
              <a:buChar char="-"/>
            </a:pPr>
            <a:endParaRPr lang="de-DE" sz="800"/>
          </a:p>
          <a:p>
            <a:pPr marL="171450" indent="-171450">
              <a:buFontTx/>
              <a:buChar char="-"/>
            </a:pPr>
            <a:endParaRPr lang="de-DE" sz="800"/>
          </a:p>
        </p:txBody>
      </p:sp>
      <p:pic>
        <p:nvPicPr>
          <p:cNvPr id="66" name="Grafik 65">
            <a:extLst>
              <a:ext uri="{FF2B5EF4-FFF2-40B4-BE49-F238E27FC236}">
                <a16:creationId xmlns:a16="http://schemas.microsoft.com/office/drawing/2014/main" id="{CF2B14E0-79EE-778B-31F8-147AF761D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044" y="7929602"/>
            <a:ext cx="260088" cy="251271"/>
          </a:xfrm>
          <a:prstGeom prst="rect">
            <a:avLst/>
          </a:prstGeom>
        </p:spPr>
      </p:pic>
      <p:cxnSp>
        <p:nvCxnSpPr>
          <p:cNvPr id="94" name="Verbinder: gekrümmt 93">
            <a:extLst>
              <a:ext uri="{FF2B5EF4-FFF2-40B4-BE49-F238E27FC236}">
                <a16:creationId xmlns:a16="http://schemas.microsoft.com/office/drawing/2014/main" id="{FAA648C8-F1C2-EED5-2050-3327EE9688C6}"/>
              </a:ext>
            </a:extLst>
          </p:cNvPr>
          <p:cNvCxnSpPr>
            <a:cxnSpLocks/>
            <a:stCxn id="96" idx="6"/>
            <a:endCxn id="77" idx="0"/>
          </p:cNvCxnSpPr>
          <p:nvPr/>
        </p:nvCxnSpPr>
        <p:spPr>
          <a:xfrm>
            <a:off x="10328629" y="11266031"/>
            <a:ext cx="2947109" cy="923927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Zylinder 98">
            <a:extLst>
              <a:ext uri="{FF2B5EF4-FFF2-40B4-BE49-F238E27FC236}">
                <a16:creationId xmlns:a16="http://schemas.microsoft.com/office/drawing/2014/main" id="{891D0F3E-4EDF-452F-15BB-368A6160A5A0}"/>
              </a:ext>
            </a:extLst>
          </p:cNvPr>
          <p:cNvSpPr/>
          <p:nvPr/>
        </p:nvSpPr>
        <p:spPr>
          <a:xfrm>
            <a:off x="11751309" y="6505010"/>
            <a:ext cx="1461538" cy="541614"/>
          </a:xfrm>
          <a:prstGeom prst="can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800" i="1"/>
              <a:t>AppDATA</a:t>
            </a:r>
            <a:br>
              <a:rPr lang="de-DE" sz="800" i="1"/>
            </a:br>
            <a:r>
              <a:rPr lang="de-DE" sz="800" i="1"/>
              <a:t>(ElasticSearch)</a:t>
            </a:r>
          </a:p>
        </p:txBody>
      </p:sp>
      <p:cxnSp>
        <p:nvCxnSpPr>
          <p:cNvPr id="102" name="Verbinder: gekrümmt 101">
            <a:extLst>
              <a:ext uri="{FF2B5EF4-FFF2-40B4-BE49-F238E27FC236}">
                <a16:creationId xmlns:a16="http://schemas.microsoft.com/office/drawing/2014/main" id="{4A175909-FAD8-251A-99E3-765E8C9D63C1}"/>
              </a:ext>
            </a:extLst>
          </p:cNvPr>
          <p:cNvCxnSpPr>
            <a:cxnSpLocks/>
            <a:stCxn id="100" idx="6"/>
            <a:endCxn id="99" idx="1"/>
          </p:cNvCxnSpPr>
          <p:nvPr/>
        </p:nvCxnSpPr>
        <p:spPr>
          <a:xfrm flipV="1">
            <a:off x="10329968" y="6505010"/>
            <a:ext cx="2152113" cy="5081478"/>
          </a:xfrm>
          <a:prstGeom prst="curvedConnector4">
            <a:avLst>
              <a:gd name="adj1" fmla="val 33022"/>
              <a:gd name="adj2" fmla="val 104499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hteck 74">
            <a:extLst>
              <a:ext uri="{FF2B5EF4-FFF2-40B4-BE49-F238E27FC236}">
                <a16:creationId xmlns:a16="http://schemas.microsoft.com/office/drawing/2014/main" id="{20FFD60F-206D-CB5E-071D-9AF309A2C14D}"/>
              </a:ext>
            </a:extLst>
          </p:cNvPr>
          <p:cNvSpPr/>
          <p:nvPr/>
        </p:nvSpPr>
        <p:spPr>
          <a:xfrm>
            <a:off x="8670991" y="10937557"/>
            <a:ext cx="1665303" cy="31394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NetconfConnectionBuilder</a:t>
            </a:r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Prepare device (if not 204, create alarm in AppDATA)</a:t>
            </a:r>
          </a:p>
          <a:p>
            <a:r>
              <a:rPr lang="de-DE" sz="800"/>
              <a:t>Add SnmpServers to AppDATA</a:t>
            </a:r>
          </a:p>
          <a:p>
            <a:endParaRPr lang="de-DE" sz="800"/>
          </a:p>
          <a:p>
            <a:r>
              <a:rPr lang="de-DE" sz="800"/>
              <a:t>Pick mediatorVm in </a:t>
            </a:r>
            <a:r>
              <a:rPr lang="de-DE" sz="800" i="1"/>
              <a:t>installed </a:t>
            </a:r>
            <a:r>
              <a:rPr lang="de-DE" sz="800"/>
              <a:t>and </a:t>
            </a:r>
            <a:r>
              <a:rPr lang="de-DE" sz="800" i="1"/>
              <a:t>enabled</a:t>
            </a:r>
            <a:r>
              <a:rPr lang="de-DE" sz="800"/>
              <a:t> states with lowest number of mediatorProcesses</a:t>
            </a:r>
          </a:p>
          <a:p>
            <a:endParaRPr lang="de-DE" sz="800"/>
          </a:p>
          <a:p>
            <a:r>
              <a:rPr lang="de-DE" sz="800"/>
              <a:t>Create mediatorProcess</a:t>
            </a:r>
          </a:p>
          <a:p>
            <a:endParaRPr lang="de-DE" sz="800"/>
          </a:p>
          <a:p>
            <a:r>
              <a:rPr lang="de-DE" sz="800"/>
              <a:t>add to AppDATA:</a:t>
            </a:r>
          </a:p>
          <a:p>
            <a:pPr marL="171450" indent="-171450">
              <a:buFontTx/>
              <a:buChar char="-"/>
            </a:pPr>
            <a:r>
              <a:rPr lang="de-DE" sz="800"/>
              <a:t>mediatorProcess </a:t>
            </a:r>
          </a:p>
          <a:p>
            <a:pPr marL="171450" indent="-171450">
              <a:buFontTx/>
              <a:buChar char="-"/>
            </a:pPr>
            <a:r>
              <a:rPr lang="de-DE" sz="800"/>
              <a:t>(update NetconClient at Controller)</a:t>
            </a:r>
          </a:p>
          <a:p>
            <a:pPr marL="171450" indent="-171450">
              <a:buFontTx/>
              <a:buChar char="-"/>
            </a:pPr>
            <a:r>
              <a:rPr lang="de-DE" sz="800"/>
              <a:t>Snmp connection</a:t>
            </a:r>
          </a:p>
          <a:p>
            <a:pPr marL="171450" indent="-171450">
              <a:buFontTx/>
              <a:buChar char="-"/>
            </a:pPr>
            <a:r>
              <a:rPr lang="de-DE" sz="800"/>
              <a:t>Netconf connection</a:t>
            </a:r>
          </a:p>
          <a:p>
            <a:endParaRPr lang="de-DE" sz="800"/>
          </a:p>
          <a:p>
            <a:r>
              <a:rPr lang="de-DE" sz="800"/>
              <a:t>Meassure operationalState of netconfInterface</a:t>
            </a:r>
          </a:p>
          <a:p>
            <a:endParaRPr lang="de-DE" sz="800"/>
          </a:p>
          <a:p>
            <a:r>
              <a:rPr lang="de-DE" sz="800"/>
              <a:t>Update AppDATA with operationalState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F17CEFED-6C55-18CE-0DC0-A02405C77B87}"/>
              </a:ext>
            </a:extLst>
          </p:cNvPr>
          <p:cNvSpPr/>
          <p:nvPr/>
        </p:nvSpPr>
        <p:spPr>
          <a:xfrm>
            <a:off x="10282910" y="11241829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0316B798-F84B-8F58-B450-28890D99FD37}"/>
              </a:ext>
            </a:extLst>
          </p:cNvPr>
          <p:cNvSpPr/>
          <p:nvPr/>
        </p:nvSpPr>
        <p:spPr>
          <a:xfrm>
            <a:off x="10284249" y="11562289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64EE5B7C-EB86-A4BA-C1DC-A5CF5509B0DF}"/>
              </a:ext>
            </a:extLst>
          </p:cNvPr>
          <p:cNvSpPr/>
          <p:nvPr/>
        </p:nvSpPr>
        <p:spPr>
          <a:xfrm>
            <a:off x="10243326" y="13379754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628ABCC8-58C9-4BCD-7F8B-F84942659C2C}"/>
              </a:ext>
            </a:extLst>
          </p:cNvPr>
          <p:cNvSpPr/>
          <p:nvPr/>
        </p:nvSpPr>
        <p:spPr>
          <a:xfrm>
            <a:off x="10220467" y="12111736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6" name="Ellipse 185">
            <a:extLst>
              <a:ext uri="{FF2B5EF4-FFF2-40B4-BE49-F238E27FC236}">
                <a16:creationId xmlns:a16="http://schemas.microsoft.com/office/drawing/2014/main" id="{3D249596-FA55-E138-EB1E-1CF618EE9902}"/>
              </a:ext>
            </a:extLst>
          </p:cNvPr>
          <p:cNvSpPr/>
          <p:nvPr/>
        </p:nvSpPr>
        <p:spPr>
          <a:xfrm>
            <a:off x="10257223" y="12842676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5" name="Rechteck 204">
            <a:extLst>
              <a:ext uri="{FF2B5EF4-FFF2-40B4-BE49-F238E27FC236}">
                <a16:creationId xmlns:a16="http://schemas.microsoft.com/office/drawing/2014/main" id="{25949520-17DD-825A-771B-50A9F85D5649}"/>
              </a:ext>
            </a:extLst>
          </p:cNvPr>
          <p:cNvSpPr/>
          <p:nvPr/>
        </p:nvSpPr>
        <p:spPr>
          <a:xfrm>
            <a:off x="11704113" y="7295985"/>
            <a:ext cx="1571625" cy="15079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MediatorVmReconciler</a:t>
            </a:r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Regularly update AppDATA with configuration data about all mediatorVms</a:t>
            </a:r>
            <a:br>
              <a:rPr lang="de-DE" sz="800"/>
            </a:br>
            <a:endParaRPr lang="de-DE" sz="800"/>
          </a:p>
          <a:p>
            <a:r>
              <a:rPr lang="de-DE" sz="800"/>
              <a:t>IF not responding</a:t>
            </a:r>
            <a:br>
              <a:rPr lang="de-DE" sz="800"/>
            </a:br>
            <a:r>
              <a:rPr lang="de-DE" sz="800"/>
              <a:t>THEN operationState of the mediatorVM to be set to UNAVAILABLE)</a:t>
            </a:r>
          </a:p>
        </p:txBody>
      </p:sp>
      <p:pic>
        <p:nvPicPr>
          <p:cNvPr id="206" name="Grafik 205">
            <a:extLst>
              <a:ext uri="{FF2B5EF4-FFF2-40B4-BE49-F238E27FC236}">
                <a16:creationId xmlns:a16="http://schemas.microsoft.com/office/drawing/2014/main" id="{32DFB1AC-4A02-46A6-0902-CDB05ECAF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1954" y="7357574"/>
            <a:ext cx="260088" cy="273783"/>
          </a:xfrm>
          <a:prstGeom prst="rect">
            <a:avLst/>
          </a:prstGeom>
        </p:spPr>
      </p:pic>
      <p:sp>
        <p:nvSpPr>
          <p:cNvPr id="207" name="Textfeld 206">
            <a:extLst>
              <a:ext uri="{FF2B5EF4-FFF2-40B4-BE49-F238E27FC236}">
                <a16:creationId xmlns:a16="http://schemas.microsoft.com/office/drawing/2014/main" id="{7B3F1610-212D-C5AF-6461-4AF848173708}"/>
              </a:ext>
            </a:extLst>
          </p:cNvPr>
          <p:cNvSpPr txBox="1"/>
          <p:nvPr/>
        </p:nvSpPr>
        <p:spPr>
          <a:xfrm rot="3530940">
            <a:off x="10508011" y="12812988"/>
            <a:ext cx="1921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/>
              <a:t>/v1/provide-mediator-instance</a:t>
            </a:r>
          </a:p>
          <a:p>
            <a:r>
              <a:rPr lang="de-DE" sz="600"/>
              <a:t>{deviceName, deviceIp, deviceModel}</a:t>
            </a:r>
          </a:p>
        </p:txBody>
      </p:sp>
      <p:cxnSp>
        <p:nvCxnSpPr>
          <p:cNvPr id="208" name="Verbinder: gekrümmt 207">
            <a:extLst>
              <a:ext uri="{FF2B5EF4-FFF2-40B4-BE49-F238E27FC236}">
                <a16:creationId xmlns:a16="http://schemas.microsoft.com/office/drawing/2014/main" id="{03D99CD0-D661-AEB6-B7DB-B8279173FD62}"/>
              </a:ext>
            </a:extLst>
          </p:cNvPr>
          <p:cNvCxnSpPr>
            <a:cxnSpLocks/>
            <a:stCxn id="205" idx="2"/>
            <a:endCxn id="366" idx="1"/>
          </p:cNvCxnSpPr>
          <p:nvPr/>
        </p:nvCxnSpPr>
        <p:spPr>
          <a:xfrm rot="5400000">
            <a:off x="9831716" y="10882284"/>
            <a:ext cx="4736535" cy="5798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Textfeld 215">
            <a:extLst>
              <a:ext uri="{FF2B5EF4-FFF2-40B4-BE49-F238E27FC236}">
                <a16:creationId xmlns:a16="http://schemas.microsoft.com/office/drawing/2014/main" id="{FB2DD6AF-ADEF-2063-C223-F2D4C5A446DF}"/>
              </a:ext>
            </a:extLst>
          </p:cNvPr>
          <p:cNvSpPr txBox="1"/>
          <p:nvPr/>
        </p:nvSpPr>
        <p:spPr>
          <a:xfrm rot="16538606">
            <a:off x="10948122" y="12303099"/>
            <a:ext cx="19217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/>
              <a:t>/v1/list-mediator-instances</a:t>
            </a:r>
          </a:p>
        </p:txBody>
      </p:sp>
      <p:cxnSp>
        <p:nvCxnSpPr>
          <p:cNvPr id="217" name="Verbinder: gekrümmt 216">
            <a:extLst>
              <a:ext uri="{FF2B5EF4-FFF2-40B4-BE49-F238E27FC236}">
                <a16:creationId xmlns:a16="http://schemas.microsoft.com/office/drawing/2014/main" id="{1A29FBAB-E411-12EF-C0AC-859391AAC5FF}"/>
              </a:ext>
            </a:extLst>
          </p:cNvPr>
          <p:cNvCxnSpPr>
            <a:cxnSpLocks/>
            <a:stCxn id="205" idx="0"/>
            <a:endCxn id="99" idx="3"/>
          </p:cNvCxnSpPr>
          <p:nvPr/>
        </p:nvCxnSpPr>
        <p:spPr>
          <a:xfrm rot="16200000" flipV="1">
            <a:off x="12361322" y="7167383"/>
            <a:ext cx="249358" cy="784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Ellipse 232">
            <a:extLst>
              <a:ext uri="{FF2B5EF4-FFF2-40B4-BE49-F238E27FC236}">
                <a16:creationId xmlns:a16="http://schemas.microsoft.com/office/drawing/2014/main" id="{5A08106D-934F-EB86-4CA1-0A5FF2908077}"/>
              </a:ext>
            </a:extLst>
          </p:cNvPr>
          <p:cNvSpPr/>
          <p:nvPr/>
        </p:nvSpPr>
        <p:spPr>
          <a:xfrm>
            <a:off x="16675771" y="10048601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6" name="Ellipse 235">
            <a:extLst>
              <a:ext uri="{FF2B5EF4-FFF2-40B4-BE49-F238E27FC236}">
                <a16:creationId xmlns:a16="http://schemas.microsoft.com/office/drawing/2014/main" id="{EFFB7ABE-B8F6-7B01-1534-91C8EEE1822D}"/>
              </a:ext>
            </a:extLst>
          </p:cNvPr>
          <p:cNvSpPr/>
          <p:nvPr/>
        </p:nvSpPr>
        <p:spPr>
          <a:xfrm>
            <a:off x="10243327" y="12586719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7" name="Ellipse 236">
            <a:extLst>
              <a:ext uri="{FF2B5EF4-FFF2-40B4-BE49-F238E27FC236}">
                <a16:creationId xmlns:a16="http://schemas.microsoft.com/office/drawing/2014/main" id="{68D95A02-3B3D-25B5-488B-B9B18912DDAC}"/>
              </a:ext>
            </a:extLst>
          </p:cNvPr>
          <p:cNvSpPr/>
          <p:nvPr/>
        </p:nvSpPr>
        <p:spPr>
          <a:xfrm>
            <a:off x="7134092" y="11165798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9" name="Ellipse 238">
            <a:extLst>
              <a:ext uri="{FF2B5EF4-FFF2-40B4-BE49-F238E27FC236}">
                <a16:creationId xmlns:a16="http://schemas.microsoft.com/office/drawing/2014/main" id="{699FEFDF-5F9D-D272-08D7-FC35BCE49259}"/>
              </a:ext>
            </a:extLst>
          </p:cNvPr>
          <p:cNvSpPr/>
          <p:nvPr/>
        </p:nvSpPr>
        <p:spPr>
          <a:xfrm>
            <a:off x="16677304" y="10400981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7" name="Ellipse 246">
            <a:extLst>
              <a:ext uri="{FF2B5EF4-FFF2-40B4-BE49-F238E27FC236}">
                <a16:creationId xmlns:a16="http://schemas.microsoft.com/office/drawing/2014/main" id="{251A60F8-F452-DA9F-FF1A-280D4C63F686}"/>
              </a:ext>
            </a:extLst>
          </p:cNvPr>
          <p:cNvSpPr/>
          <p:nvPr/>
        </p:nvSpPr>
        <p:spPr>
          <a:xfrm>
            <a:off x="7115308" y="9634529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0" name="Ellipse 249">
            <a:extLst>
              <a:ext uri="{FF2B5EF4-FFF2-40B4-BE49-F238E27FC236}">
                <a16:creationId xmlns:a16="http://schemas.microsoft.com/office/drawing/2014/main" id="{65F29E2F-51E4-E254-C00D-19FC22B9266A}"/>
              </a:ext>
            </a:extLst>
          </p:cNvPr>
          <p:cNvSpPr/>
          <p:nvPr/>
        </p:nvSpPr>
        <p:spPr>
          <a:xfrm>
            <a:off x="17756187" y="3347370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1" name="Ellipse 250">
            <a:extLst>
              <a:ext uri="{FF2B5EF4-FFF2-40B4-BE49-F238E27FC236}">
                <a16:creationId xmlns:a16="http://schemas.microsoft.com/office/drawing/2014/main" id="{C90EDC9F-D9EE-82C5-8D77-44BDA50CEFAB}"/>
              </a:ext>
            </a:extLst>
          </p:cNvPr>
          <p:cNvSpPr/>
          <p:nvPr/>
        </p:nvSpPr>
        <p:spPr>
          <a:xfrm>
            <a:off x="7108096" y="9194915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870663B-C73A-4771-A211-4239452F5C6F}"/>
              </a:ext>
            </a:extLst>
          </p:cNvPr>
          <p:cNvSpPr/>
          <p:nvPr/>
        </p:nvSpPr>
        <p:spPr>
          <a:xfrm>
            <a:off x="5591811" y="4230880"/>
            <a:ext cx="1579788" cy="120874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IF an additional interface can be provided without exceeding the engineering limit</a:t>
            </a:r>
          </a:p>
          <a:p>
            <a:r>
              <a:rPr lang="de-DE" sz="800"/>
              <a:t>THEN</a:t>
            </a:r>
          </a:p>
          <a:p>
            <a:pPr marL="171450" indent="-171450">
              <a:buFontTx/>
              <a:buChar char="-"/>
            </a:pPr>
            <a:r>
              <a:rPr lang="de-DE" sz="800"/>
              <a:t>add device to AppDATA</a:t>
            </a:r>
          </a:p>
          <a:p>
            <a:pPr marL="171450" indent="-171450">
              <a:buFontTx/>
              <a:buChar char="-"/>
            </a:pPr>
            <a:r>
              <a:rPr lang="de-DE" sz="800"/>
              <a:t>add mountPoint to AppDATA</a:t>
            </a:r>
          </a:p>
          <a:p>
            <a:pPr marL="171450" indent="-171450">
              <a:buFontTx/>
              <a:buChar char="-"/>
            </a:pPr>
            <a:r>
              <a:rPr lang="de-DE" sz="800"/>
              <a:t>add to createQueue</a:t>
            </a:r>
          </a:p>
          <a:p>
            <a:r>
              <a:rPr lang="de-DE" sz="800"/>
              <a:t>ELSE respond error code</a:t>
            </a:r>
          </a:p>
        </p:txBody>
      </p:sp>
      <p:sp>
        <p:nvSpPr>
          <p:cNvPr id="248" name="Ellipse 247">
            <a:extLst>
              <a:ext uri="{FF2B5EF4-FFF2-40B4-BE49-F238E27FC236}">
                <a16:creationId xmlns:a16="http://schemas.microsoft.com/office/drawing/2014/main" id="{A692FBE6-EE2E-AF3B-EC93-8B8A9207898A}"/>
              </a:ext>
            </a:extLst>
          </p:cNvPr>
          <p:cNvSpPr/>
          <p:nvPr/>
        </p:nvSpPr>
        <p:spPr>
          <a:xfrm>
            <a:off x="7078257" y="5068498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2" name="Ellipse 251">
            <a:extLst>
              <a:ext uri="{FF2B5EF4-FFF2-40B4-BE49-F238E27FC236}">
                <a16:creationId xmlns:a16="http://schemas.microsoft.com/office/drawing/2014/main" id="{913FE3AE-A440-CC21-792C-79FD25782F18}"/>
              </a:ext>
            </a:extLst>
          </p:cNvPr>
          <p:cNvSpPr/>
          <p:nvPr/>
        </p:nvSpPr>
        <p:spPr>
          <a:xfrm>
            <a:off x="7053460" y="4804617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3" name="Ellipse 252">
            <a:extLst>
              <a:ext uri="{FF2B5EF4-FFF2-40B4-BE49-F238E27FC236}">
                <a16:creationId xmlns:a16="http://schemas.microsoft.com/office/drawing/2014/main" id="{C6D8E57B-9A7E-DB25-D05B-D55D542817D4}"/>
              </a:ext>
            </a:extLst>
          </p:cNvPr>
          <p:cNvSpPr/>
          <p:nvPr/>
        </p:nvSpPr>
        <p:spPr>
          <a:xfrm>
            <a:off x="7060919" y="4386573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55" name="Verbinder: gekrümmt 254">
            <a:extLst>
              <a:ext uri="{FF2B5EF4-FFF2-40B4-BE49-F238E27FC236}">
                <a16:creationId xmlns:a16="http://schemas.microsoft.com/office/drawing/2014/main" id="{7AEAA726-2F8B-A437-D670-2CD4209FF0BB}"/>
              </a:ext>
            </a:extLst>
          </p:cNvPr>
          <p:cNvCxnSpPr>
            <a:cxnSpLocks/>
            <a:stCxn id="253" idx="6"/>
            <a:endCxn id="99" idx="1"/>
          </p:cNvCxnSpPr>
          <p:nvPr/>
        </p:nvCxnSpPr>
        <p:spPr>
          <a:xfrm>
            <a:off x="7106638" y="4409430"/>
            <a:ext cx="5375443" cy="2095580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Verbinder: gekrümmt 259">
            <a:extLst>
              <a:ext uri="{FF2B5EF4-FFF2-40B4-BE49-F238E27FC236}">
                <a16:creationId xmlns:a16="http://schemas.microsoft.com/office/drawing/2014/main" id="{E162F2CB-7C2A-AD67-4219-003FF27FD4F3}"/>
              </a:ext>
            </a:extLst>
          </p:cNvPr>
          <p:cNvCxnSpPr>
            <a:cxnSpLocks/>
            <a:stCxn id="53" idx="3"/>
            <a:endCxn id="99" idx="3"/>
          </p:cNvCxnSpPr>
          <p:nvPr/>
        </p:nvCxnSpPr>
        <p:spPr>
          <a:xfrm>
            <a:off x="7171602" y="6033998"/>
            <a:ext cx="5310479" cy="1012629"/>
          </a:xfrm>
          <a:prstGeom prst="curvedConnector4">
            <a:avLst>
              <a:gd name="adj1" fmla="val 43120"/>
              <a:gd name="adj2" fmla="val 122575"/>
            </a:avLst>
          </a:prstGeom>
          <a:ln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Verbinder: gekrümmt 264">
            <a:extLst>
              <a:ext uri="{FF2B5EF4-FFF2-40B4-BE49-F238E27FC236}">
                <a16:creationId xmlns:a16="http://schemas.microsoft.com/office/drawing/2014/main" id="{503582BC-0E02-58A4-A693-1CBB2113D5CD}"/>
              </a:ext>
            </a:extLst>
          </p:cNvPr>
          <p:cNvCxnSpPr>
            <a:cxnSpLocks/>
            <a:stCxn id="243" idx="7"/>
            <a:endCxn id="99" idx="1"/>
          </p:cNvCxnSpPr>
          <p:nvPr/>
        </p:nvCxnSpPr>
        <p:spPr>
          <a:xfrm rot="5400000" flipH="1" flipV="1">
            <a:off x="9516280" y="4132158"/>
            <a:ext cx="592949" cy="5338654"/>
          </a:xfrm>
          <a:prstGeom prst="curvedConnector3">
            <a:avLst>
              <a:gd name="adj1" fmla="val 13855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uppieren 273">
            <a:extLst>
              <a:ext uri="{FF2B5EF4-FFF2-40B4-BE49-F238E27FC236}">
                <a16:creationId xmlns:a16="http://schemas.microsoft.com/office/drawing/2014/main" id="{B6F62F1F-22A3-BA43-A9C9-60D2BA520C01}"/>
              </a:ext>
            </a:extLst>
          </p:cNvPr>
          <p:cNvGrpSpPr/>
          <p:nvPr/>
        </p:nvGrpSpPr>
        <p:grpSpPr>
          <a:xfrm>
            <a:off x="5599982" y="6634086"/>
            <a:ext cx="1571625" cy="2213250"/>
            <a:chOff x="4699866" y="3563189"/>
            <a:chExt cx="1571625" cy="2213250"/>
          </a:xfrm>
        </p:grpSpPr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0A919349-A95E-3FB9-AA37-0D6D48B0754E}"/>
                </a:ext>
              </a:extLst>
            </p:cNvPr>
            <p:cNvSpPr/>
            <p:nvPr/>
          </p:nvSpPr>
          <p:spPr>
            <a:xfrm>
              <a:off x="4699866" y="3563189"/>
              <a:ext cx="1571625" cy="22132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de-DE" sz="800" i="1"/>
                <a:t>ContinuousLoadSharing</a:t>
              </a:r>
            </a:p>
            <a:p>
              <a:endParaRPr lang="de-DE" sz="800"/>
            </a:p>
            <a:p>
              <a:endParaRPr lang="de-DE" sz="800"/>
            </a:p>
            <a:p>
              <a:r>
                <a:rPr lang="de-DE" sz="800"/>
                <a:t>Calculate average number of mediatorProcesses at available mediatorVms of same mediatorVmTemplate</a:t>
              </a:r>
            </a:p>
            <a:p>
              <a:endParaRPr lang="de-DE" sz="800"/>
            </a:p>
            <a:p>
              <a:r>
                <a:rPr lang="de-DE" sz="800"/>
                <a:t>IF some mediatorVm exceeds average by more than a </a:t>
              </a:r>
              <a:r>
                <a:rPr lang="de-DE" sz="800" i="1"/>
                <a:t>[threshold]</a:t>
              </a:r>
            </a:p>
            <a:p>
              <a:r>
                <a:rPr lang="de-DE" sz="800"/>
                <a:t>THEN </a:t>
              </a:r>
            </a:p>
            <a:p>
              <a:pPr marL="171450" indent="-171450">
                <a:buFontTx/>
                <a:buChar char="-"/>
              </a:pPr>
              <a:r>
                <a:rPr lang="de-DE" sz="800"/>
                <a:t>calculate number of mediatorProcesses to be re-allocated</a:t>
              </a:r>
            </a:p>
            <a:p>
              <a:pPr marL="171450" indent="-171450">
                <a:buFontTx/>
                <a:buChar char="-"/>
              </a:pPr>
              <a:r>
                <a:rPr lang="de-DE" sz="800"/>
                <a:t>add to createQueue</a:t>
              </a:r>
            </a:p>
            <a:p>
              <a:pPr marL="171450" indent="-171450">
                <a:buFontTx/>
                <a:buChar char="-"/>
              </a:pPr>
              <a:r>
                <a:rPr lang="de-DE" sz="800"/>
                <a:t>add to dismantleQueue</a:t>
              </a:r>
            </a:p>
            <a:p>
              <a:pPr marL="171450" indent="-171450">
                <a:buFontTx/>
                <a:buChar char="-"/>
              </a:pPr>
              <a:endParaRPr lang="de-DE" sz="800"/>
            </a:p>
            <a:p>
              <a:endParaRPr lang="de-DE" sz="800"/>
            </a:p>
          </p:txBody>
        </p:sp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06E9B889-5E01-4664-FE1F-8B1AA87DF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3360" y="3645991"/>
              <a:ext cx="260088" cy="251271"/>
            </a:xfrm>
            <a:prstGeom prst="rect">
              <a:avLst/>
            </a:prstGeom>
          </p:spPr>
        </p:pic>
        <p:sp>
          <p:nvSpPr>
            <p:cNvPr id="243" name="Ellipse 242">
              <a:extLst>
                <a:ext uri="{FF2B5EF4-FFF2-40B4-BE49-F238E27FC236}">
                  <a16:creationId xmlns:a16="http://schemas.microsoft.com/office/drawing/2014/main" id="{155E365C-AD3C-E52C-E1E7-A9A0B6D0E6D2}"/>
                </a:ext>
              </a:extLst>
            </p:cNvPr>
            <p:cNvSpPr/>
            <p:nvPr/>
          </p:nvSpPr>
          <p:spPr>
            <a:xfrm>
              <a:off x="6204287" y="4020367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9" name="Ellipse 268">
              <a:extLst>
                <a:ext uri="{FF2B5EF4-FFF2-40B4-BE49-F238E27FC236}">
                  <a16:creationId xmlns:a16="http://schemas.microsoft.com/office/drawing/2014/main" id="{C72007A6-BE0E-D0E3-59A3-5062510B8F81}"/>
                </a:ext>
              </a:extLst>
            </p:cNvPr>
            <p:cNvSpPr/>
            <p:nvPr/>
          </p:nvSpPr>
          <p:spPr>
            <a:xfrm>
              <a:off x="6202236" y="5494665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0" name="Ellipse 269">
              <a:extLst>
                <a:ext uri="{FF2B5EF4-FFF2-40B4-BE49-F238E27FC236}">
                  <a16:creationId xmlns:a16="http://schemas.microsoft.com/office/drawing/2014/main" id="{38997AE1-6E30-E4A9-D73F-B36BE7AA4AB6}"/>
                </a:ext>
              </a:extLst>
            </p:cNvPr>
            <p:cNvSpPr/>
            <p:nvPr/>
          </p:nvSpPr>
          <p:spPr>
            <a:xfrm>
              <a:off x="6202236" y="5608151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281" name="Verbinder: gekrümmt 280">
            <a:extLst>
              <a:ext uri="{FF2B5EF4-FFF2-40B4-BE49-F238E27FC236}">
                <a16:creationId xmlns:a16="http://schemas.microsoft.com/office/drawing/2014/main" id="{634204CB-EC13-119C-997C-7C9884C5DEC8}"/>
              </a:ext>
            </a:extLst>
          </p:cNvPr>
          <p:cNvCxnSpPr>
            <a:cxnSpLocks/>
            <a:stCxn id="250" idx="2"/>
            <a:endCxn id="99" idx="1"/>
          </p:cNvCxnSpPr>
          <p:nvPr/>
        </p:nvCxnSpPr>
        <p:spPr>
          <a:xfrm rot="10800000" flipV="1">
            <a:off x="12482078" y="3370229"/>
            <a:ext cx="5274106" cy="3134783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Verbinder: gekrümmt 293">
            <a:extLst>
              <a:ext uri="{FF2B5EF4-FFF2-40B4-BE49-F238E27FC236}">
                <a16:creationId xmlns:a16="http://schemas.microsoft.com/office/drawing/2014/main" id="{E067D299-71C2-27F9-678A-7BDD854ED661}"/>
              </a:ext>
            </a:extLst>
          </p:cNvPr>
          <p:cNvCxnSpPr>
            <a:cxnSpLocks/>
            <a:stCxn id="251" idx="6"/>
            <a:endCxn id="99" idx="1"/>
          </p:cNvCxnSpPr>
          <p:nvPr/>
        </p:nvCxnSpPr>
        <p:spPr>
          <a:xfrm flipV="1">
            <a:off x="7153812" y="6505010"/>
            <a:ext cx="5328266" cy="2712762"/>
          </a:xfrm>
          <a:prstGeom prst="curvedConnector4">
            <a:avLst>
              <a:gd name="adj1" fmla="val 43143"/>
              <a:gd name="adj2" fmla="val 108427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Verbinder: gekrümmt 296">
            <a:extLst>
              <a:ext uri="{FF2B5EF4-FFF2-40B4-BE49-F238E27FC236}">
                <a16:creationId xmlns:a16="http://schemas.microsoft.com/office/drawing/2014/main" id="{A53EADE9-A1A9-04F8-ED1D-624A078F0D86}"/>
              </a:ext>
            </a:extLst>
          </p:cNvPr>
          <p:cNvCxnSpPr>
            <a:cxnSpLocks/>
            <a:stCxn id="247" idx="6"/>
            <a:endCxn id="99" idx="3"/>
          </p:cNvCxnSpPr>
          <p:nvPr/>
        </p:nvCxnSpPr>
        <p:spPr>
          <a:xfrm flipV="1">
            <a:off x="7161024" y="7046624"/>
            <a:ext cx="5321054" cy="2610762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Verbinder: gekrümmt 304">
            <a:extLst>
              <a:ext uri="{FF2B5EF4-FFF2-40B4-BE49-F238E27FC236}">
                <a16:creationId xmlns:a16="http://schemas.microsoft.com/office/drawing/2014/main" id="{9A6FDAFC-2F83-3C10-82E9-21AD364A062C}"/>
              </a:ext>
            </a:extLst>
          </p:cNvPr>
          <p:cNvCxnSpPr>
            <a:cxnSpLocks/>
            <a:stCxn id="237" idx="7"/>
            <a:endCxn id="99" idx="1"/>
          </p:cNvCxnSpPr>
          <p:nvPr/>
        </p:nvCxnSpPr>
        <p:spPr>
          <a:xfrm rot="5400000" flipH="1" flipV="1">
            <a:off x="7493855" y="6184271"/>
            <a:ext cx="4667480" cy="5308965"/>
          </a:xfrm>
          <a:prstGeom prst="curvedConnector3">
            <a:avLst>
              <a:gd name="adj1" fmla="val 104898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Ellipse 305">
            <a:extLst>
              <a:ext uri="{FF2B5EF4-FFF2-40B4-BE49-F238E27FC236}">
                <a16:creationId xmlns:a16="http://schemas.microsoft.com/office/drawing/2014/main" id="{4EDFCD88-C51B-124F-B009-FF682DA1F8D2}"/>
              </a:ext>
            </a:extLst>
          </p:cNvPr>
          <p:cNvSpPr/>
          <p:nvPr/>
        </p:nvSpPr>
        <p:spPr>
          <a:xfrm>
            <a:off x="7108454" y="11982912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C39D2EEF-7699-FF86-C89D-04ACFCF32E31}"/>
              </a:ext>
            </a:extLst>
          </p:cNvPr>
          <p:cNvSpPr/>
          <p:nvPr/>
        </p:nvSpPr>
        <p:spPr>
          <a:xfrm>
            <a:off x="7108454" y="12148135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20" name="Verbinder: gekrümmt 319">
            <a:extLst>
              <a:ext uri="{FF2B5EF4-FFF2-40B4-BE49-F238E27FC236}">
                <a16:creationId xmlns:a16="http://schemas.microsoft.com/office/drawing/2014/main" id="{D47B3217-2E2D-88F4-CEF8-C155B5FF44DA}"/>
              </a:ext>
            </a:extLst>
          </p:cNvPr>
          <p:cNvCxnSpPr>
            <a:cxnSpLocks/>
            <a:stCxn id="233" idx="6"/>
            <a:endCxn id="210" idx="2"/>
          </p:cNvCxnSpPr>
          <p:nvPr/>
        </p:nvCxnSpPr>
        <p:spPr>
          <a:xfrm flipV="1">
            <a:off x="16721490" y="3765812"/>
            <a:ext cx="5095911" cy="6305649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Verbinder: gekrümmt 325">
            <a:extLst>
              <a:ext uri="{FF2B5EF4-FFF2-40B4-BE49-F238E27FC236}">
                <a16:creationId xmlns:a16="http://schemas.microsoft.com/office/drawing/2014/main" id="{8D92A0B0-8F15-20BD-3BFC-A1733049A130}"/>
              </a:ext>
            </a:extLst>
          </p:cNvPr>
          <p:cNvCxnSpPr>
            <a:cxnSpLocks/>
            <a:stCxn id="239" idx="6"/>
            <a:endCxn id="84" idx="3"/>
          </p:cNvCxnSpPr>
          <p:nvPr/>
        </p:nvCxnSpPr>
        <p:spPr>
          <a:xfrm flipH="1">
            <a:off x="12242540" y="10423841"/>
            <a:ext cx="4480480" cy="3243747"/>
          </a:xfrm>
          <a:prstGeom prst="curvedConnector3">
            <a:avLst>
              <a:gd name="adj1" fmla="val -510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Rechteck 344">
            <a:extLst>
              <a:ext uri="{FF2B5EF4-FFF2-40B4-BE49-F238E27FC236}">
                <a16:creationId xmlns:a16="http://schemas.microsoft.com/office/drawing/2014/main" id="{A9FAA250-F266-90C1-2B0C-43D14650F20C}"/>
              </a:ext>
            </a:extLst>
          </p:cNvPr>
          <p:cNvSpPr/>
          <p:nvPr/>
        </p:nvSpPr>
        <p:spPr>
          <a:xfrm>
            <a:off x="13451202" y="7295985"/>
            <a:ext cx="1571625" cy="1507975"/>
          </a:xfrm>
          <a:prstGeom prst="rect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NetconfInterfaceStateAnalyzer</a:t>
            </a:r>
            <a:endParaRPr lang="de-DE" sz="800"/>
          </a:p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Regularly send netconf requests to all documented mediatorProcesses to determine their operational state and update AppDATA with status data</a:t>
            </a:r>
          </a:p>
        </p:txBody>
      </p:sp>
      <p:pic>
        <p:nvPicPr>
          <p:cNvPr id="346" name="Grafik 345">
            <a:extLst>
              <a:ext uri="{FF2B5EF4-FFF2-40B4-BE49-F238E27FC236}">
                <a16:creationId xmlns:a16="http://schemas.microsoft.com/office/drawing/2014/main" id="{EFF0F8E7-A9DA-88D8-2ACB-F80ECF978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5701" y="7494465"/>
            <a:ext cx="260088" cy="273783"/>
          </a:xfrm>
          <a:prstGeom prst="rect">
            <a:avLst/>
          </a:prstGeom>
        </p:spPr>
      </p:pic>
      <p:cxnSp>
        <p:nvCxnSpPr>
          <p:cNvPr id="347" name="Verbinder: gekrümmt 346">
            <a:extLst>
              <a:ext uri="{FF2B5EF4-FFF2-40B4-BE49-F238E27FC236}">
                <a16:creationId xmlns:a16="http://schemas.microsoft.com/office/drawing/2014/main" id="{907C5ECB-8D81-E02A-D05F-356C446EE16A}"/>
              </a:ext>
            </a:extLst>
          </p:cNvPr>
          <p:cNvCxnSpPr>
            <a:cxnSpLocks/>
            <a:stCxn id="345" idx="0"/>
            <a:endCxn id="99" idx="3"/>
          </p:cNvCxnSpPr>
          <p:nvPr/>
        </p:nvCxnSpPr>
        <p:spPr>
          <a:xfrm rot="16200000" flipV="1">
            <a:off x="13234866" y="6293836"/>
            <a:ext cx="249358" cy="175493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Verbinder: gekrümmt 348">
            <a:extLst>
              <a:ext uri="{FF2B5EF4-FFF2-40B4-BE49-F238E27FC236}">
                <a16:creationId xmlns:a16="http://schemas.microsoft.com/office/drawing/2014/main" id="{F96F34AD-F463-3D89-2CA1-85EC87B0FA4F}"/>
              </a:ext>
            </a:extLst>
          </p:cNvPr>
          <p:cNvCxnSpPr>
            <a:cxnSpLocks/>
            <a:stCxn id="345" idx="2"/>
            <a:endCxn id="114" idx="3"/>
          </p:cNvCxnSpPr>
          <p:nvPr/>
        </p:nvCxnSpPr>
        <p:spPr>
          <a:xfrm rot="5400000">
            <a:off x="10529388" y="10517109"/>
            <a:ext cx="5420776" cy="199447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Verbinder: gekrümmt 352">
            <a:extLst>
              <a:ext uri="{FF2B5EF4-FFF2-40B4-BE49-F238E27FC236}">
                <a16:creationId xmlns:a16="http://schemas.microsoft.com/office/drawing/2014/main" id="{5C9CE3CC-A505-0137-60F5-65EB22F4E8FA}"/>
              </a:ext>
            </a:extLst>
          </p:cNvPr>
          <p:cNvCxnSpPr>
            <a:cxnSpLocks/>
            <a:stCxn id="345" idx="0"/>
            <a:endCxn id="99" idx="1"/>
          </p:cNvCxnSpPr>
          <p:nvPr/>
        </p:nvCxnSpPr>
        <p:spPr>
          <a:xfrm rot="16200000" flipV="1">
            <a:off x="12964059" y="6023029"/>
            <a:ext cx="790972" cy="1754934"/>
          </a:xfrm>
          <a:prstGeom prst="curvedConnector3">
            <a:avLst>
              <a:gd name="adj1" fmla="val 1289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Textfeld 360">
            <a:extLst>
              <a:ext uri="{FF2B5EF4-FFF2-40B4-BE49-F238E27FC236}">
                <a16:creationId xmlns:a16="http://schemas.microsoft.com/office/drawing/2014/main" id="{6F960F18-3AF0-3FBE-9EFF-0F931AABE477}"/>
              </a:ext>
            </a:extLst>
          </p:cNvPr>
          <p:cNvSpPr txBox="1"/>
          <p:nvPr/>
        </p:nvSpPr>
        <p:spPr>
          <a:xfrm>
            <a:off x="12235741" y="13415524"/>
            <a:ext cx="19217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/>
              <a:t>/v1/dismantle-mediator-instance</a:t>
            </a:r>
          </a:p>
        </p:txBody>
      </p:sp>
      <p:grpSp>
        <p:nvGrpSpPr>
          <p:cNvPr id="368" name="Gruppieren 367">
            <a:extLst>
              <a:ext uri="{FF2B5EF4-FFF2-40B4-BE49-F238E27FC236}">
                <a16:creationId xmlns:a16="http://schemas.microsoft.com/office/drawing/2014/main" id="{544AB122-FC55-7CAB-709A-1F82B50EFF40}"/>
              </a:ext>
            </a:extLst>
          </p:cNvPr>
          <p:cNvGrpSpPr/>
          <p:nvPr/>
        </p:nvGrpSpPr>
        <p:grpSpPr>
          <a:xfrm>
            <a:off x="10871348" y="13396568"/>
            <a:ext cx="1371192" cy="1549618"/>
            <a:chOff x="7951059" y="10590996"/>
            <a:chExt cx="1371192" cy="1549618"/>
          </a:xfrm>
        </p:grpSpPr>
        <p:grpSp>
          <p:nvGrpSpPr>
            <p:cNvPr id="202" name="Gruppieren 201">
              <a:extLst>
                <a:ext uri="{FF2B5EF4-FFF2-40B4-BE49-F238E27FC236}">
                  <a16:creationId xmlns:a16="http://schemas.microsoft.com/office/drawing/2014/main" id="{5AEE2D10-F89B-E123-FB17-177128F8D172}"/>
                </a:ext>
              </a:extLst>
            </p:cNvPr>
            <p:cNvGrpSpPr/>
            <p:nvPr/>
          </p:nvGrpSpPr>
          <p:grpSpPr>
            <a:xfrm>
              <a:off x="7951059" y="10590996"/>
              <a:ext cx="1257300" cy="1442907"/>
              <a:chOff x="10924900" y="10591007"/>
              <a:chExt cx="1257300" cy="1442907"/>
            </a:xfrm>
          </p:grpSpPr>
          <p:sp>
            <p:nvSpPr>
              <p:cNvPr id="196" name="Rechteck: abgerundete Ecken 195">
                <a:extLst>
                  <a:ext uri="{FF2B5EF4-FFF2-40B4-BE49-F238E27FC236}">
                    <a16:creationId xmlns:a16="http://schemas.microsoft.com/office/drawing/2014/main" id="{E5C8744C-C02C-AE9B-4068-2EA3CF897565}"/>
                  </a:ext>
                </a:extLst>
              </p:cNvPr>
              <p:cNvSpPr/>
              <p:nvPr/>
            </p:nvSpPr>
            <p:spPr>
              <a:xfrm>
                <a:off x="10924900" y="10591007"/>
                <a:ext cx="1257300" cy="1442907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  <a:p>
                <a:pPr algn="ctr"/>
                <a:endParaRPr lang="de-DE" sz="1050"/>
              </a:p>
              <a:p>
                <a:pPr algn="ctr"/>
                <a:r>
                  <a:rPr lang="de-DE" sz="1050"/>
                  <a:t>mediatorVM</a:t>
                </a:r>
              </a:p>
              <a:p>
                <a:endParaRPr lang="de-DE" sz="800"/>
              </a:p>
              <a:p>
                <a:r>
                  <a:rPr lang="de-DE" sz="800"/>
                  <a:t>mediatorProcess#1</a:t>
                </a:r>
              </a:p>
              <a:p>
                <a:r>
                  <a:rPr lang="de-DE" sz="800"/>
                  <a:t>mediatorProcess#2</a:t>
                </a:r>
              </a:p>
              <a:p>
                <a:r>
                  <a:rPr lang="de-DE" sz="800"/>
                  <a:t>…</a:t>
                </a:r>
              </a:p>
              <a:p>
                <a:r>
                  <a:rPr lang="de-DE" sz="800"/>
                  <a:t>mediatorProcess#n</a:t>
                </a:r>
              </a:p>
            </p:txBody>
          </p:sp>
          <p:sp>
            <p:nvSpPr>
              <p:cNvPr id="197" name="Rechteck: abgerundete Ecken 196">
                <a:extLst>
                  <a:ext uri="{FF2B5EF4-FFF2-40B4-BE49-F238E27FC236}">
                    <a16:creationId xmlns:a16="http://schemas.microsoft.com/office/drawing/2014/main" id="{DE1EF18F-9F6B-4DEF-80C2-451681BC0416}"/>
                  </a:ext>
                </a:extLst>
              </p:cNvPr>
              <p:cNvSpPr/>
              <p:nvPr/>
            </p:nvSpPr>
            <p:spPr>
              <a:xfrm>
                <a:off x="10924900" y="10591007"/>
                <a:ext cx="1257300" cy="32861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900"/>
                  <a:t>MIM</a:t>
                </a:r>
              </a:p>
            </p:txBody>
          </p:sp>
          <p:sp>
            <p:nvSpPr>
              <p:cNvPr id="198" name="Ellipse 197">
                <a:extLst>
                  <a:ext uri="{FF2B5EF4-FFF2-40B4-BE49-F238E27FC236}">
                    <a16:creationId xmlns:a16="http://schemas.microsoft.com/office/drawing/2014/main" id="{81EDEA61-9EF0-BCF7-3AD9-C2A5DFD686D2}"/>
                  </a:ext>
                </a:extLst>
              </p:cNvPr>
              <p:cNvSpPr/>
              <p:nvPr/>
            </p:nvSpPr>
            <p:spPr>
              <a:xfrm>
                <a:off x="10948386" y="11689639"/>
                <a:ext cx="62820" cy="7011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199" name="Ellipse 198">
                <a:extLst>
                  <a:ext uri="{FF2B5EF4-FFF2-40B4-BE49-F238E27FC236}">
                    <a16:creationId xmlns:a16="http://schemas.microsoft.com/office/drawing/2014/main" id="{586B154C-DFF2-10DA-F4CE-88E0CB4B6A0C}"/>
                  </a:ext>
                </a:extLst>
              </p:cNvPr>
              <p:cNvSpPr/>
              <p:nvPr/>
            </p:nvSpPr>
            <p:spPr>
              <a:xfrm>
                <a:off x="12069816" y="11689639"/>
                <a:ext cx="62820" cy="7011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200" name="Ellipse 199">
                <a:extLst>
                  <a:ext uri="{FF2B5EF4-FFF2-40B4-BE49-F238E27FC236}">
                    <a16:creationId xmlns:a16="http://schemas.microsoft.com/office/drawing/2014/main" id="{DE7A60DA-6C97-CB59-B087-07F92C9D4C03}"/>
                  </a:ext>
                </a:extLst>
              </p:cNvPr>
              <p:cNvSpPr/>
              <p:nvPr/>
            </p:nvSpPr>
            <p:spPr>
              <a:xfrm>
                <a:off x="12101226" y="11326854"/>
                <a:ext cx="62820" cy="7011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201" name="Ellipse 200">
                <a:extLst>
                  <a:ext uri="{FF2B5EF4-FFF2-40B4-BE49-F238E27FC236}">
                    <a16:creationId xmlns:a16="http://schemas.microsoft.com/office/drawing/2014/main" id="{E6E28A01-0D0E-43D3-D44D-488AC61BAF04}"/>
                  </a:ext>
                </a:extLst>
              </p:cNvPr>
              <p:cNvSpPr/>
              <p:nvPr/>
            </p:nvSpPr>
            <p:spPr>
              <a:xfrm>
                <a:off x="10979796" y="11332721"/>
                <a:ext cx="62820" cy="7011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</p:grpSp>
        <p:grpSp>
          <p:nvGrpSpPr>
            <p:cNvPr id="122" name="Gruppieren 121">
              <a:extLst>
                <a:ext uri="{FF2B5EF4-FFF2-40B4-BE49-F238E27FC236}">
                  <a16:creationId xmlns:a16="http://schemas.microsoft.com/office/drawing/2014/main" id="{5679A4A5-E986-DCF8-0EAF-8DDFE68C827D}"/>
                </a:ext>
              </a:extLst>
            </p:cNvPr>
            <p:cNvGrpSpPr/>
            <p:nvPr/>
          </p:nvGrpSpPr>
          <p:grpSpPr>
            <a:xfrm>
              <a:off x="8064951" y="10697707"/>
              <a:ext cx="1257300" cy="1442907"/>
              <a:chOff x="9442450" y="10552243"/>
              <a:chExt cx="1257300" cy="1442907"/>
            </a:xfrm>
          </p:grpSpPr>
          <p:sp>
            <p:nvSpPr>
              <p:cNvPr id="114" name="Rechteck: abgerundete Ecken 113">
                <a:extLst>
                  <a:ext uri="{FF2B5EF4-FFF2-40B4-BE49-F238E27FC236}">
                    <a16:creationId xmlns:a16="http://schemas.microsoft.com/office/drawing/2014/main" id="{C0D61018-DD68-B783-0D87-6E46773ABBA5}"/>
                  </a:ext>
                </a:extLst>
              </p:cNvPr>
              <p:cNvSpPr/>
              <p:nvPr/>
            </p:nvSpPr>
            <p:spPr>
              <a:xfrm>
                <a:off x="9442450" y="10552243"/>
                <a:ext cx="1257300" cy="1442907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  <a:p>
                <a:pPr algn="ctr"/>
                <a:endParaRPr lang="de-DE" sz="1050"/>
              </a:p>
              <a:p>
                <a:pPr algn="ctr"/>
                <a:r>
                  <a:rPr lang="de-DE" sz="1050"/>
                  <a:t>mediatorVM</a:t>
                </a:r>
              </a:p>
              <a:p>
                <a:endParaRPr lang="de-DE" sz="800"/>
              </a:p>
              <a:p>
                <a:r>
                  <a:rPr lang="de-DE" sz="800"/>
                  <a:t>mediatorProcess#1</a:t>
                </a:r>
              </a:p>
              <a:p>
                <a:r>
                  <a:rPr lang="de-DE" sz="800"/>
                  <a:t>mediatorProcess#2</a:t>
                </a:r>
              </a:p>
              <a:p>
                <a:r>
                  <a:rPr lang="de-DE" sz="800"/>
                  <a:t>…</a:t>
                </a:r>
              </a:p>
              <a:p>
                <a:r>
                  <a:rPr lang="de-DE" sz="800"/>
                  <a:t>mediatorProcess#n</a:t>
                </a:r>
              </a:p>
            </p:txBody>
          </p:sp>
          <p:sp>
            <p:nvSpPr>
              <p:cNvPr id="84" name="Rechteck: abgerundete Ecken 83">
                <a:extLst>
                  <a:ext uri="{FF2B5EF4-FFF2-40B4-BE49-F238E27FC236}">
                    <a16:creationId xmlns:a16="http://schemas.microsoft.com/office/drawing/2014/main" id="{7AB70A29-DF37-2F1A-F8F8-82ECADC63218}"/>
                  </a:ext>
                </a:extLst>
              </p:cNvPr>
              <p:cNvSpPr/>
              <p:nvPr/>
            </p:nvSpPr>
            <p:spPr>
              <a:xfrm>
                <a:off x="9442450" y="10552243"/>
                <a:ext cx="1257300" cy="32861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900"/>
                  <a:t>MIM</a:t>
                </a:r>
              </a:p>
            </p:txBody>
          </p:sp>
          <p:sp>
            <p:nvSpPr>
              <p:cNvPr id="118" name="Ellipse 117">
                <a:extLst>
                  <a:ext uri="{FF2B5EF4-FFF2-40B4-BE49-F238E27FC236}">
                    <a16:creationId xmlns:a16="http://schemas.microsoft.com/office/drawing/2014/main" id="{7EE6A8AA-2B90-132F-4D79-74C7F38E6645}"/>
                  </a:ext>
                </a:extLst>
              </p:cNvPr>
              <p:cNvSpPr/>
              <p:nvPr/>
            </p:nvSpPr>
            <p:spPr>
              <a:xfrm>
                <a:off x="9465936" y="11650875"/>
                <a:ext cx="62820" cy="7011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119" name="Ellipse 118">
                <a:extLst>
                  <a:ext uri="{FF2B5EF4-FFF2-40B4-BE49-F238E27FC236}">
                    <a16:creationId xmlns:a16="http://schemas.microsoft.com/office/drawing/2014/main" id="{29039A0C-2B5D-A65A-F96B-F0AC5BC95618}"/>
                  </a:ext>
                </a:extLst>
              </p:cNvPr>
              <p:cNvSpPr/>
              <p:nvPr/>
            </p:nvSpPr>
            <p:spPr>
              <a:xfrm>
                <a:off x="10587366" y="11650875"/>
                <a:ext cx="62820" cy="7011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120" name="Ellipse 119">
                <a:extLst>
                  <a:ext uri="{FF2B5EF4-FFF2-40B4-BE49-F238E27FC236}">
                    <a16:creationId xmlns:a16="http://schemas.microsoft.com/office/drawing/2014/main" id="{AB71EFE7-7528-2E1F-DE68-34D159F1CA49}"/>
                  </a:ext>
                </a:extLst>
              </p:cNvPr>
              <p:cNvSpPr/>
              <p:nvPr/>
            </p:nvSpPr>
            <p:spPr>
              <a:xfrm>
                <a:off x="10618776" y="11288090"/>
                <a:ext cx="62820" cy="7011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121" name="Ellipse 120">
                <a:extLst>
                  <a:ext uri="{FF2B5EF4-FFF2-40B4-BE49-F238E27FC236}">
                    <a16:creationId xmlns:a16="http://schemas.microsoft.com/office/drawing/2014/main" id="{DF4D51F5-7C0B-1ADF-5880-79C88AAD6B0C}"/>
                  </a:ext>
                </a:extLst>
              </p:cNvPr>
              <p:cNvSpPr/>
              <p:nvPr/>
            </p:nvSpPr>
            <p:spPr>
              <a:xfrm>
                <a:off x="9497346" y="11293957"/>
                <a:ext cx="62820" cy="7011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</p:grpSp>
        <p:sp>
          <p:nvSpPr>
            <p:cNvPr id="234" name="Ellipse 233">
              <a:extLst>
                <a:ext uri="{FF2B5EF4-FFF2-40B4-BE49-F238E27FC236}">
                  <a16:creationId xmlns:a16="http://schemas.microsoft.com/office/drawing/2014/main" id="{9D92FC26-513D-F1A1-46E5-D0C12645E7F2}"/>
                </a:ext>
              </a:extLst>
            </p:cNvPr>
            <p:cNvSpPr/>
            <p:nvPr/>
          </p:nvSpPr>
          <p:spPr>
            <a:xfrm>
              <a:off x="9201126" y="10731541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4" name="Ellipse 243">
              <a:extLst>
                <a:ext uri="{FF2B5EF4-FFF2-40B4-BE49-F238E27FC236}">
                  <a16:creationId xmlns:a16="http://schemas.microsoft.com/office/drawing/2014/main" id="{00632EDC-13ED-D796-F3E2-9A8D80DB2728}"/>
                </a:ext>
              </a:extLst>
            </p:cNvPr>
            <p:cNvSpPr/>
            <p:nvPr/>
          </p:nvSpPr>
          <p:spPr>
            <a:xfrm>
              <a:off x="8117112" y="10733848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6" name="Ellipse 365">
              <a:extLst>
                <a:ext uri="{FF2B5EF4-FFF2-40B4-BE49-F238E27FC236}">
                  <a16:creationId xmlns:a16="http://schemas.microsoft.com/office/drawing/2014/main" id="{828FC9DE-6473-436D-69FD-C4D4AA62218C}"/>
                </a:ext>
              </a:extLst>
            </p:cNvPr>
            <p:cNvSpPr/>
            <p:nvPr/>
          </p:nvSpPr>
          <p:spPr>
            <a:xfrm>
              <a:off x="8983052" y="10728225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79" name="Rechteck 378">
            <a:extLst>
              <a:ext uri="{FF2B5EF4-FFF2-40B4-BE49-F238E27FC236}">
                <a16:creationId xmlns:a16="http://schemas.microsoft.com/office/drawing/2014/main" id="{F6FC92C7-3D49-7205-A078-6D4B274D32F3}"/>
              </a:ext>
            </a:extLst>
          </p:cNvPr>
          <p:cNvSpPr/>
          <p:nvPr/>
        </p:nvSpPr>
        <p:spPr>
          <a:xfrm>
            <a:off x="17729239" y="9793503"/>
            <a:ext cx="1798430" cy="1694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r>
              <a:rPr lang="de-DE" sz="800" i="1"/>
              <a:t>UnusedMediatorProcessTracker</a:t>
            </a:r>
            <a:endParaRPr lang="de-DE" sz="800"/>
          </a:p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Go slowly throu all mediatorProcess at all mediatorVms and ask the MO for the netconf port at the mountPoint in ODL</a:t>
            </a:r>
          </a:p>
          <a:p>
            <a:endParaRPr lang="de-DE" sz="800"/>
          </a:p>
          <a:p>
            <a:r>
              <a:rPr lang="de-DE" sz="800"/>
              <a:t>IF mountPoint is addressing another mediatorProcess</a:t>
            </a:r>
          </a:p>
          <a:p>
            <a:r>
              <a:rPr lang="de-DE" sz="800"/>
              <a:t>THEN add to dismantleQueue </a:t>
            </a:r>
          </a:p>
          <a:p>
            <a:r>
              <a:rPr lang="de-DE" sz="800"/>
              <a:t>ELSE no change</a:t>
            </a:r>
          </a:p>
        </p:txBody>
      </p:sp>
      <p:pic>
        <p:nvPicPr>
          <p:cNvPr id="380" name="Grafik 379">
            <a:extLst>
              <a:ext uri="{FF2B5EF4-FFF2-40B4-BE49-F238E27FC236}">
                <a16:creationId xmlns:a16="http://schemas.microsoft.com/office/drawing/2014/main" id="{F32C22D3-797D-88B2-894A-BD2585245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6436" y="10009130"/>
            <a:ext cx="260088" cy="251271"/>
          </a:xfrm>
          <a:prstGeom prst="rect">
            <a:avLst/>
          </a:prstGeom>
        </p:spPr>
      </p:pic>
      <p:sp>
        <p:nvSpPr>
          <p:cNvPr id="381" name="Textfeld 380">
            <a:extLst>
              <a:ext uri="{FF2B5EF4-FFF2-40B4-BE49-F238E27FC236}">
                <a16:creationId xmlns:a16="http://schemas.microsoft.com/office/drawing/2014/main" id="{CB1BBA9E-BA83-774D-6BC0-5FD2B534CD84}"/>
              </a:ext>
            </a:extLst>
          </p:cNvPr>
          <p:cNvSpPr txBox="1"/>
          <p:nvPr/>
        </p:nvSpPr>
        <p:spPr>
          <a:xfrm>
            <a:off x="1746681" y="4761763"/>
            <a:ext cx="8226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cxnSp>
        <p:nvCxnSpPr>
          <p:cNvPr id="418" name="Verbinder: gekrümmt 417">
            <a:extLst>
              <a:ext uri="{FF2B5EF4-FFF2-40B4-BE49-F238E27FC236}">
                <a16:creationId xmlns:a16="http://schemas.microsoft.com/office/drawing/2014/main" id="{52669EDD-467C-6E1D-133F-905A1D3143D1}"/>
              </a:ext>
            </a:extLst>
          </p:cNvPr>
          <p:cNvCxnSpPr>
            <a:cxnSpLocks/>
            <a:stCxn id="236" idx="6"/>
            <a:endCxn id="121" idx="2"/>
          </p:cNvCxnSpPr>
          <p:nvPr/>
        </p:nvCxnSpPr>
        <p:spPr>
          <a:xfrm>
            <a:off x="10289046" y="12609576"/>
            <a:ext cx="751093" cy="1670474"/>
          </a:xfrm>
          <a:prstGeom prst="curved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Verbinder: gekrümmt 170">
            <a:extLst>
              <a:ext uri="{FF2B5EF4-FFF2-40B4-BE49-F238E27FC236}">
                <a16:creationId xmlns:a16="http://schemas.microsoft.com/office/drawing/2014/main" id="{5F1E594E-4CD0-D101-9518-C767663A5475}"/>
              </a:ext>
            </a:extLst>
          </p:cNvPr>
          <p:cNvCxnSpPr>
            <a:cxnSpLocks/>
            <a:stCxn id="166" idx="6"/>
            <a:endCxn id="197" idx="0"/>
          </p:cNvCxnSpPr>
          <p:nvPr/>
        </p:nvCxnSpPr>
        <p:spPr>
          <a:xfrm>
            <a:off x="10266186" y="12135940"/>
            <a:ext cx="1233815" cy="1260631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Verbinder: gekrümmt 461">
            <a:extLst>
              <a:ext uri="{FF2B5EF4-FFF2-40B4-BE49-F238E27FC236}">
                <a16:creationId xmlns:a16="http://schemas.microsoft.com/office/drawing/2014/main" id="{7378382E-2658-1C8C-01AB-865DB8B750F2}"/>
              </a:ext>
            </a:extLst>
          </p:cNvPr>
          <p:cNvCxnSpPr>
            <a:cxnSpLocks/>
            <a:stCxn id="379" idx="2"/>
            <a:endCxn id="103" idx="0"/>
          </p:cNvCxnSpPr>
          <p:nvPr/>
        </p:nvCxnSpPr>
        <p:spPr>
          <a:xfrm rot="5400000" flipH="1">
            <a:off x="14224819" y="7084020"/>
            <a:ext cx="6207266" cy="2600004"/>
          </a:xfrm>
          <a:prstGeom prst="curvedConnector5">
            <a:avLst>
              <a:gd name="adj1" fmla="val -3683"/>
              <a:gd name="adj2" fmla="val 52292"/>
              <a:gd name="adj3" fmla="val 103683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5A45491C-39F5-65AF-9F68-2F3D46BA3DD7}"/>
              </a:ext>
            </a:extLst>
          </p:cNvPr>
          <p:cNvCxnSpPr>
            <a:cxnSpLocks/>
          </p:cNvCxnSpPr>
          <p:nvPr/>
        </p:nvCxnSpPr>
        <p:spPr>
          <a:xfrm>
            <a:off x="4594833" y="3340129"/>
            <a:ext cx="3350973" cy="25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716B9F04-740C-64F6-1517-616A01104468}"/>
              </a:ext>
            </a:extLst>
          </p:cNvPr>
          <p:cNvSpPr txBox="1"/>
          <p:nvPr/>
        </p:nvSpPr>
        <p:spPr>
          <a:xfrm>
            <a:off x="4286920" y="3082899"/>
            <a:ext cx="3728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/v1/provide-alarms-for-connection {connectionId==mountPoint)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69675F5D-C5FA-D48F-6C70-AAA7B4D8177B}"/>
              </a:ext>
            </a:extLst>
          </p:cNvPr>
          <p:cNvCxnSpPr>
            <a:cxnSpLocks/>
          </p:cNvCxnSpPr>
          <p:nvPr/>
        </p:nvCxnSpPr>
        <p:spPr>
          <a:xfrm flipH="1" flipV="1">
            <a:off x="4548238" y="3473887"/>
            <a:ext cx="3436697" cy="3525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69550947-F7A9-678B-EACA-8B3BDC47C42A}"/>
              </a:ext>
            </a:extLst>
          </p:cNvPr>
          <p:cNvSpPr txBox="1"/>
          <p:nvPr/>
        </p:nvSpPr>
        <p:spPr>
          <a:xfrm>
            <a:off x="4489209" y="3457351"/>
            <a:ext cx="18582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{list of currently active alarms}</a:t>
            </a:r>
          </a:p>
        </p:txBody>
      </p:sp>
      <p:cxnSp>
        <p:nvCxnSpPr>
          <p:cNvPr id="50" name="Verbinder: gekrümmt 49">
            <a:extLst>
              <a:ext uri="{FF2B5EF4-FFF2-40B4-BE49-F238E27FC236}">
                <a16:creationId xmlns:a16="http://schemas.microsoft.com/office/drawing/2014/main" id="{A85011FA-55C4-40DC-919A-E4F55495E826}"/>
              </a:ext>
            </a:extLst>
          </p:cNvPr>
          <p:cNvCxnSpPr>
            <a:cxnSpLocks/>
            <a:endCxn id="99" idx="3"/>
          </p:cNvCxnSpPr>
          <p:nvPr/>
        </p:nvCxnSpPr>
        <p:spPr>
          <a:xfrm>
            <a:off x="7146838" y="5086896"/>
            <a:ext cx="5335243" cy="1959728"/>
          </a:xfrm>
          <a:prstGeom prst="curvedConnector4">
            <a:avLst>
              <a:gd name="adj1" fmla="val 43151"/>
              <a:gd name="adj2" fmla="val 11166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A774034F-560F-7CA7-9FFD-8EE28037E4F9}"/>
              </a:ext>
            </a:extLst>
          </p:cNvPr>
          <p:cNvSpPr txBox="1"/>
          <p:nvPr/>
        </p:nvSpPr>
        <p:spPr>
          <a:xfrm rot="1675356">
            <a:off x="12029636" y="11662094"/>
            <a:ext cx="19217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/>
              <a:t>/v1/prepare-connection {deviceIp, deviceModel}</a:t>
            </a:r>
          </a:p>
        </p:txBody>
      </p:sp>
      <p:cxnSp>
        <p:nvCxnSpPr>
          <p:cNvPr id="450" name="Verbinder: gekrümmt 449">
            <a:extLst>
              <a:ext uri="{FF2B5EF4-FFF2-40B4-BE49-F238E27FC236}">
                <a16:creationId xmlns:a16="http://schemas.microsoft.com/office/drawing/2014/main" id="{D086A7D4-5665-79AC-2FA5-1740BF4BDEED}"/>
              </a:ext>
            </a:extLst>
          </p:cNvPr>
          <p:cNvCxnSpPr>
            <a:cxnSpLocks/>
            <a:stCxn id="163" idx="6"/>
            <a:endCxn id="99" idx="3"/>
          </p:cNvCxnSpPr>
          <p:nvPr/>
        </p:nvCxnSpPr>
        <p:spPr>
          <a:xfrm flipV="1">
            <a:off x="10289042" y="7046627"/>
            <a:ext cx="2193036" cy="6357331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crollen: vertikal 8">
            <a:extLst>
              <a:ext uri="{FF2B5EF4-FFF2-40B4-BE49-F238E27FC236}">
                <a16:creationId xmlns:a16="http://schemas.microsoft.com/office/drawing/2014/main" id="{955A8D41-311F-F1B9-433D-B3628AEE3ECC}"/>
              </a:ext>
            </a:extLst>
          </p:cNvPr>
          <p:cNvSpPr/>
          <p:nvPr/>
        </p:nvSpPr>
        <p:spPr>
          <a:xfrm>
            <a:off x="7890967" y="2966934"/>
            <a:ext cx="1560042" cy="997947"/>
          </a:xfrm>
          <a:prstGeom prst="verticalScroll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>
                <a:solidFill>
                  <a:srgbClr val="FF0000"/>
                </a:solidFill>
              </a:rPr>
              <a:t>AlarmList</a:t>
            </a:r>
          </a:p>
        </p:txBody>
      </p:sp>
      <p:cxnSp>
        <p:nvCxnSpPr>
          <p:cNvPr id="20" name="Verbinder: gekrümmt 19">
            <a:extLst>
              <a:ext uri="{FF2B5EF4-FFF2-40B4-BE49-F238E27FC236}">
                <a16:creationId xmlns:a16="http://schemas.microsoft.com/office/drawing/2014/main" id="{A4174CDF-3609-292F-0516-515356C0A33C}"/>
              </a:ext>
            </a:extLst>
          </p:cNvPr>
          <p:cNvCxnSpPr>
            <a:cxnSpLocks/>
            <a:endCxn id="9" idx="2"/>
          </p:cNvCxnSpPr>
          <p:nvPr/>
        </p:nvCxnSpPr>
        <p:spPr>
          <a:xfrm rot="10800000">
            <a:off x="8670992" y="3964882"/>
            <a:ext cx="2643125" cy="524155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6EF19788-C1A1-5463-BE47-036CBEC31C59}"/>
              </a:ext>
            </a:extLst>
          </p:cNvPr>
          <p:cNvSpPr txBox="1"/>
          <p:nvPr/>
        </p:nvSpPr>
        <p:spPr>
          <a:xfrm rot="346354">
            <a:off x="9304650" y="4168427"/>
            <a:ext cx="1669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/>
            </a:lvl1pPr>
          </a:lstStyle>
          <a:p>
            <a:r>
              <a:rPr lang="de-DE"/>
              <a:t>(private) /p1/create-entry-in-alarm-list</a:t>
            </a:r>
          </a:p>
          <a:p>
            <a:r>
              <a:rPr lang="de-DE"/>
              <a:t>(private) /p1/delete-entry-in-alarm-list</a:t>
            </a: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B753D5BC-06A2-E444-F342-29D4F051B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248" y="11028906"/>
            <a:ext cx="260088" cy="273783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76AC2175-49FB-26F5-AE98-AF5889C5B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8429" y="10071460"/>
            <a:ext cx="260088" cy="273783"/>
          </a:xfrm>
          <a:prstGeom prst="rect">
            <a:avLst/>
          </a:prstGeom>
        </p:spPr>
      </p:pic>
      <p:sp>
        <p:nvSpPr>
          <p:cNvPr id="43" name="Rechteck 42">
            <a:extLst>
              <a:ext uri="{FF2B5EF4-FFF2-40B4-BE49-F238E27FC236}">
                <a16:creationId xmlns:a16="http://schemas.microsoft.com/office/drawing/2014/main" id="{029D838B-9268-CDDA-BB54-8E25901775DF}"/>
              </a:ext>
            </a:extLst>
          </p:cNvPr>
          <p:cNvSpPr/>
          <p:nvPr/>
        </p:nvSpPr>
        <p:spPr>
          <a:xfrm>
            <a:off x="10746523" y="2868553"/>
            <a:ext cx="1934110" cy="14067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r>
              <a:rPr lang="de-DE" sz="800" i="1"/>
              <a:t>TroubleShooter</a:t>
            </a:r>
          </a:p>
          <a:p>
            <a:pPr>
              <a:tabLst>
                <a:tab pos="36000" algn="l"/>
              </a:tabLst>
            </a:pPr>
            <a:endParaRPr lang="de-DE" sz="800"/>
          </a:p>
          <a:p>
            <a:pPr>
              <a:tabLst>
                <a:tab pos="36000" algn="l"/>
              </a:tabLst>
            </a:pPr>
            <a:endParaRPr lang="de-DE" sz="800"/>
          </a:p>
          <a:p>
            <a:pPr>
              <a:tabLst>
                <a:tab pos="36000" algn="l"/>
              </a:tabLst>
            </a:pPr>
            <a:r>
              <a:rPr lang="de-DE" sz="800"/>
              <a:t>Check AlarmList for 532</a:t>
            </a:r>
          </a:p>
          <a:p>
            <a:pPr>
              <a:tabLst>
                <a:tab pos="36000" algn="l"/>
              </a:tabLst>
            </a:pPr>
            <a:r>
              <a:rPr lang="de-DE" sz="800"/>
              <a:t>IF timestamp elder that </a:t>
            </a:r>
            <a:r>
              <a:rPr lang="de-DE" sz="800" i="1"/>
              <a:t>[threshold]</a:t>
            </a:r>
          </a:p>
          <a:p>
            <a:pPr>
              <a:tabLst>
                <a:tab pos="36000" algn="l"/>
              </a:tabLst>
            </a:pPr>
            <a:r>
              <a:rPr lang="de-DE" sz="800"/>
              <a:t>THEN trigger </a:t>
            </a:r>
            <a:r>
              <a:rPr lang="de-DE" sz="800" i="1"/>
              <a:t>NetconfConnectionBuilder</a:t>
            </a:r>
          </a:p>
          <a:p>
            <a:pPr>
              <a:tabLst>
                <a:tab pos="36000" algn="l"/>
              </a:tabLst>
            </a:pPr>
            <a:endParaRPr lang="de-DE" sz="800" i="1"/>
          </a:p>
          <a:p>
            <a:pPr>
              <a:tabLst>
                <a:tab pos="36000" algn="l"/>
              </a:tabLst>
            </a:pPr>
            <a:r>
              <a:rPr lang="de-DE" sz="800"/>
              <a:t>Check AlarmList for …</a:t>
            </a:r>
            <a:endParaRPr lang="de-DE" sz="800" i="1"/>
          </a:p>
          <a:p>
            <a:pPr>
              <a:tabLst>
                <a:tab pos="36000" algn="l"/>
              </a:tabLst>
            </a:pPr>
            <a:r>
              <a:rPr lang="de-DE" sz="800"/>
              <a:t>IF condition</a:t>
            </a:r>
          </a:p>
          <a:p>
            <a:pPr>
              <a:tabLst>
                <a:tab pos="36000" algn="l"/>
              </a:tabLst>
            </a:pPr>
            <a:r>
              <a:rPr lang="de-DE" sz="800"/>
              <a:t>THEN counter measure</a:t>
            </a:r>
          </a:p>
          <a:p>
            <a:pPr>
              <a:tabLst>
                <a:tab pos="36000" algn="l"/>
              </a:tabLst>
            </a:pPr>
            <a:r>
              <a:rPr lang="de-DE" sz="800"/>
              <a:t>….</a:t>
            </a:r>
          </a:p>
        </p:txBody>
      </p:sp>
      <p:pic>
        <p:nvPicPr>
          <p:cNvPr id="38" name="Grafik 37">
            <a:extLst>
              <a:ext uri="{FF2B5EF4-FFF2-40B4-BE49-F238E27FC236}">
                <a16:creationId xmlns:a16="http://schemas.microsoft.com/office/drawing/2014/main" id="{C6F84473-3FA6-A539-02F4-FF4E7D27D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308" y="2974631"/>
            <a:ext cx="260088" cy="27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371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C82E5833-4438-2189-74F2-6F0A00400E55}"/>
              </a:ext>
            </a:extLst>
          </p:cNvPr>
          <p:cNvSpPr/>
          <p:nvPr/>
        </p:nvSpPr>
        <p:spPr>
          <a:xfrm>
            <a:off x="1265871" y="4422185"/>
            <a:ext cx="447675" cy="7641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MO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1A69868-6103-625F-02C0-18B79D5F8321}"/>
              </a:ext>
            </a:extLst>
          </p:cNvPr>
          <p:cNvCxnSpPr>
            <a:cxnSpLocks/>
          </p:cNvCxnSpPr>
          <p:nvPr/>
        </p:nvCxnSpPr>
        <p:spPr>
          <a:xfrm>
            <a:off x="1713545" y="4526733"/>
            <a:ext cx="3872863" cy="20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B532003B-47C2-54BB-664F-E6480C2F5F29}"/>
              </a:ext>
            </a:extLst>
          </p:cNvPr>
          <p:cNvSpPr txBox="1"/>
          <p:nvPr/>
        </p:nvSpPr>
        <p:spPr>
          <a:xfrm>
            <a:off x="1402628" y="4185705"/>
            <a:ext cx="419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900"/>
              <a:t>/v1/establish-netconf-connection</a:t>
            </a:r>
            <a:br>
              <a:rPr lang="de-DE" sz="900">
                <a:solidFill>
                  <a:srgbClr val="FF0000"/>
                </a:solidFill>
              </a:rPr>
            </a:br>
            <a:r>
              <a:rPr lang="de-DE" sz="900">
                <a:solidFill>
                  <a:srgbClr val="FF0000"/>
                </a:solidFill>
              </a:rPr>
              <a:t>{controllerName, mountName, deviceIp, deviceModel}</a:t>
            </a:r>
          </a:p>
        </p:txBody>
      </p:sp>
      <p:cxnSp>
        <p:nvCxnSpPr>
          <p:cNvPr id="17" name="Verbinder: gekrümmt 16">
            <a:extLst>
              <a:ext uri="{FF2B5EF4-FFF2-40B4-BE49-F238E27FC236}">
                <a16:creationId xmlns:a16="http://schemas.microsoft.com/office/drawing/2014/main" id="{2864ED64-2EE7-65DC-593B-667C0BE96ED5}"/>
              </a:ext>
            </a:extLst>
          </p:cNvPr>
          <p:cNvCxnSpPr>
            <a:cxnSpLocks/>
            <a:stCxn id="252" idx="6"/>
            <a:endCxn id="7" idx="1"/>
          </p:cNvCxnSpPr>
          <p:nvPr/>
        </p:nvCxnSpPr>
        <p:spPr>
          <a:xfrm>
            <a:off x="7099179" y="4827474"/>
            <a:ext cx="3274653" cy="3652356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FDF7E4D6-68B6-0355-CB3A-A2A0E28C931E}"/>
              </a:ext>
            </a:extLst>
          </p:cNvPr>
          <p:cNvCxnSpPr>
            <a:cxnSpLocks/>
          </p:cNvCxnSpPr>
          <p:nvPr/>
        </p:nvCxnSpPr>
        <p:spPr>
          <a:xfrm flipH="1" flipV="1">
            <a:off x="1713543" y="4744138"/>
            <a:ext cx="3872865" cy="1762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hteck 55">
            <a:extLst>
              <a:ext uri="{FF2B5EF4-FFF2-40B4-BE49-F238E27FC236}">
                <a16:creationId xmlns:a16="http://schemas.microsoft.com/office/drawing/2014/main" id="{9EBFEA2E-B45C-8A04-7DFE-5C0D54E2AEC3}"/>
              </a:ext>
            </a:extLst>
          </p:cNvPr>
          <p:cNvSpPr/>
          <p:nvPr/>
        </p:nvSpPr>
        <p:spPr>
          <a:xfrm>
            <a:off x="5591814" y="10710090"/>
            <a:ext cx="1571625" cy="16070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MediatorVmPhaseOut</a:t>
            </a:r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Check operational state and life cycle state of mediatorVm</a:t>
            </a:r>
          </a:p>
          <a:p>
            <a:endParaRPr lang="de-DE" sz="800"/>
          </a:p>
          <a:p>
            <a:r>
              <a:rPr lang="de-DE" sz="800"/>
              <a:t>IF mediatorVm not operational or marked deprecated</a:t>
            </a:r>
          </a:p>
          <a:p>
            <a:r>
              <a:rPr lang="de-DE" sz="800"/>
              <a:t>THEN add all related mediatorProcesses</a:t>
            </a:r>
          </a:p>
          <a:p>
            <a:pPr marL="171450" indent="-171450">
              <a:buFontTx/>
              <a:buChar char="-"/>
            </a:pPr>
            <a:r>
              <a:rPr lang="de-DE" sz="800"/>
              <a:t>to createQueue</a:t>
            </a:r>
          </a:p>
          <a:p>
            <a:pPr marL="171450" indent="-171450">
              <a:buFontTx/>
              <a:buChar char="-"/>
            </a:pPr>
            <a:r>
              <a:rPr lang="de-DE" sz="800"/>
              <a:t>to dismantleQueue</a:t>
            </a:r>
          </a:p>
          <a:p>
            <a:endParaRPr lang="de-DE" sz="800"/>
          </a:p>
        </p:txBody>
      </p:sp>
      <p:cxnSp>
        <p:nvCxnSpPr>
          <p:cNvPr id="61" name="Verbinder: gekrümmt 60">
            <a:extLst>
              <a:ext uri="{FF2B5EF4-FFF2-40B4-BE49-F238E27FC236}">
                <a16:creationId xmlns:a16="http://schemas.microsoft.com/office/drawing/2014/main" id="{BB2D77CC-429A-4157-5B5F-8EF25F79FEC7}"/>
              </a:ext>
            </a:extLst>
          </p:cNvPr>
          <p:cNvCxnSpPr>
            <a:cxnSpLocks/>
            <a:stCxn id="269" idx="6"/>
            <a:endCxn id="7" idx="1"/>
          </p:cNvCxnSpPr>
          <p:nvPr/>
        </p:nvCxnSpPr>
        <p:spPr>
          <a:xfrm flipV="1">
            <a:off x="7148071" y="8479830"/>
            <a:ext cx="3225761" cy="108592"/>
          </a:xfrm>
          <a:prstGeom prst="curvedConnector4">
            <a:avLst>
              <a:gd name="adj1" fmla="val 39116"/>
              <a:gd name="adj2" fmla="val 31051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Verbinder: gekrümmt 70">
            <a:extLst>
              <a:ext uri="{FF2B5EF4-FFF2-40B4-BE49-F238E27FC236}">
                <a16:creationId xmlns:a16="http://schemas.microsoft.com/office/drawing/2014/main" id="{7A46D94E-44A3-06EB-80F4-E03CA33A63EF}"/>
              </a:ext>
            </a:extLst>
          </p:cNvPr>
          <p:cNvCxnSpPr>
            <a:cxnSpLocks/>
            <a:stCxn id="306" idx="6"/>
            <a:endCxn id="7" idx="1"/>
          </p:cNvCxnSpPr>
          <p:nvPr/>
        </p:nvCxnSpPr>
        <p:spPr>
          <a:xfrm flipV="1">
            <a:off x="7154173" y="8479833"/>
            <a:ext cx="3219659" cy="3525939"/>
          </a:xfrm>
          <a:prstGeom prst="curvedConnector4">
            <a:avLst>
              <a:gd name="adj1" fmla="val 39095"/>
              <a:gd name="adj2" fmla="val 10648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hteck: abgerundete Ecken 76">
            <a:extLst>
              <a:ext uri="{FF2B5EF4-FFF2-40B4-BE49-F238E27FC236}">
                <a16:creationId xmlns:a16="http://schemas.microsoft.com/office/drawing/2014/main" id="{8DFFF67D-D75C-32F2-8280-CB92247117F7}"/>
              </a:ext>
            </a:extLst>
          </p:cNvPr>
          <p:cNvSpPr/>
          <p:nvPr/>
        </p:nvSpPr>
        <p:spPr>
          <a:xfrm>
            <a:off x="13051900" y="12189955"/>
            <a:ext cx="447675" cy="328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CP</a:t>
            </a:r>
          </a:p>
        </p:txBody>
      </p:sp>
      <p:cxnSp>
        <p:nvCxnSpPr>
          <p:cNvPr id="90" name="Verbinder: gekrümmt 89">
            <a:extLst>
              <a:ext uri="{FF2B5EF4-FFF2-40B4-BE49-F238E27FC236}">
                <a16:creationId xmlns:a16="http://schemas.microsoft.com/office/drawing/2014/main" id="{4D6640C8-1C91-CE56-09D4-B2581D76A95E}"/>
              </a:ext>
            </a:extLst>
          </p:cNvPr>
          <p:cNvCxnSpPr>
            <a:cxnSpLocks/>
            <a:stCxn id="7" idx="3"/>
          </p:cNvCxnSpPr>
          <p:nvPr/>
        </p:nvCxnSpPr>
        <p:spPr>
          <a:xfrm rot="16200000" flipH="1">
            <a:off x="10189026" y="9668802"/>
            <a:ext cx="557015" cy="187402"/>
          </a:xfrm>
          <a:prstGeom prst="curved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Scrollen: vertikal 102">
            <a:extLst>
              <a:ext uri="{FF2B5EF4-FFF2-40B4-BE49-F238E27FC236}">
                <a16:creationId xmlns:a16="http://schemas.microsoft.com/office/drawing/2014/main" id="{CC6A1FEE-2FD5-A0BD-9923-2B7D18953F4E}"/>
              </a:ext>
            </a:extLst>
          </p:cNvPr>
          <p:cNvSpPr/>
          <p:nvPr/>
        </p:nvSpPr>
        <p:spPr>
          <a:xfrm>
            <a:off x="15248429" y="5280392"/>
            <a:ext cx="1560042" cy="997947"/>
          </a:xfrm>
          <a:prstGeom prst="verticalScroll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Queue of </a:t>
            </a:r>
            <a:r>
              <a:rPr lang="de-DE" sz="800">
                <a:solidFill>
                  <a:schemeClr val="accent5"/>
                </a:solidFill>
              </a:rPr>
              <a:t>mediatorProcesses</a:t>
            </a:r>
            <a:r>
              <a:rPr lang="de-DE" sz="800"/>
              <a:t> to be deleted</a:t>
            </a:r>
          </a:p>
        </p:txBody>
      </p:sp>
      <p:sp>
        <p:nvSpPr>
          <p:cNvPr id="104" name="Flussdiagramm: Zusammenstellen 103">
            <a:extLst>
              <a:ext uri="{FF2B5EF4-FFF2-40B4-BE49-F238E27FC236}">
                <a16:creationId xmlns:a16="http://schemas.microsoft.com/office/drawing/2014/main" id="{6181BD8D-E00F-C65B-E014-B40604A43C3E}"/>
              </a:ext>
            </a:extLst>
          </p:cNvPr>
          <p:cNvSpPr/>
          <p:nvPr/>
        </p:nvSpPr>
        <p:spPr>
          <a:xfrm>
            <a:off x="8964212" y="5474674"/>
            <a:ext cx="369117" cy="525849"/>
          </a:xfrm>
          <a:prstGeom prst="flowChartCol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06" name="Verbinder: gekrümmt 105">
            <a:extLst>
              <a:ext uri="{FF2B5EF4-FFF2-40B4-BE49-F238E27FC236}">
                <a16:creationId xmlns:a16="http://schemas.microsoft.com/office/drawing/2014/main" id="{D52FD071-631C-02F8-0686-931FA6B13A38}"/>
              </a:ext>
            </a:extLst>
          </p:cNvPr>
          <p:cNvCxnSpPr>
            <a:cxnSpLocks/>
            <a:stCxn id="104" idx="0"/>
            <a:endCxn id="103" idx="0"/>
          </p:cNvCxnSpPr>
          <p:nvPr/>
        </p:nvCxnSpPr>
        <p:spPr>
          <a:xfrm rot="5400000" flipH="1" flipV="1">
            <a:off x="12491468" y="1937689"/>
            <a:ext cx="194282" cy="6879682"/>
          </a:xfrm>
          <a:prstGeom prst="curvedConnector3">
            <a:avLst>
              <a:gd name="adj1" fmla="val 217664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Verbinder: gekrümmt 106">
            <a:extLst>
              <a:ext uri="{FF2B5EF4-FFF2-40B4-BE49-F238E27FC236}">
                <a16:creationId xmlns:a16="http://schemas.microsoft.com/office/drawing/2014/main" id="{D5EE6150-51F0-0E75-4A56-1F02BD0E5818}"/>
              </a:ext>
            </a:extLst>
          </p:cNvPr>
          <p:cNvCxnSpPr>
            <a:cxnSpLocks/>
            <a:stCxn id="270" idx="6"/>
            <a:endCxn id="104" idx="2"/>
          </p:cNvCxnSpPr>
          <p:nvPr/>
        </p:nvCxnSpPr>
        <p:spPr>
          <a:xfrm flipV="1">
            <a:off x="7148068" y="6000520"/>
            <a:ext cx="2000700" cy="2701388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Verbinder: gekrümmt 110">
            <a:extLst>
              <a:ext uri="{FF2B5EF4-FFF2-40B4-BE49-F238E27FC236}">
                <a16:creationId xmlns:a16="http://schemas.microsoft.com/office/drawing/2014/main" id="{BF8CEEB0-27E7-67FE-9CD2-F7BC154D1FF5}"/>
              </a:ext>
            </a:extLst>
          </p:cNvPr>
          <p:cNvCxnSpPr>
            <a:cxnSpLocks/>
            <a:stCxn id="314" idx="6"/>
            <a:endCxn id="104" idx="2"/>
          </p:cNvCxnSpPr>
          <p:nvPr/>
        </p:nvCxnSpPr>
        <p:spPr>
          <a:xfrm flipV="1">
            <a:off x="7154170" y="6000520"/>
            <a:ext cx="1994598" cy="6170472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feld 104">
            <a:extLst>
              <a:ext uri="{FF2B5EF4-FFF2-40B4-BE49-F238E27FC236}">
                <a16:creationId xmlns:a16="http://schemas.microsoft.com/office/drawing/2014/main" id="{CAA8C806-679B-A077-8EA7-09C210CD301E}"/>
              </a:ext>
            </a:extLst>
          </p:cNvPr>
          <p:cNvSpPr txBox="1"/>
          <p:nvPr/>
        </p:nvSpPr>
        <p:spPr>
          <a:xfrm>
            <a:off x="8743230" y="5596735"/>
            <a:ext cx="960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DelayElement</a:t>
            </a: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1FE31B48-04FF-C298-6453-7225A40DA40D}"/>
              </a:ext>
            </a:extLst>
          </p:cNvPr>
          <p:cNvSpPr/>
          <p:nvPr/>
        </p:nvSpPr>
        <p:spPr>
          <a:xfrm>
            <a:off x="15150487" y="9864751"/>
            <a:ext cx="1571625" cy="196434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UnusedMediatorProcessEraser</a:t>
            </a:r>
            <a:endParaRPr lang="de-DE" sz="800"/>
          </a:p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IF there is a mountPoint with same deviceName in ODL (ask MO) using this mediatorProc. </a:t>
            </a:r>
          </a:p>
          <a:p>
            <a:r>
              <a:rPr lang="de-DE" sz="800"/>
              <a:t>THEN terminate without change</a:t>
            </a:r>
          </a:p>
          <a:p>
            <a:r>
              <a:rPr lang="de-DE" sz="800"/>
              <a:t>ELSE</a:t>
            </a:r>
          </a:p>
          <a:p>
            <a:r>
              <a:rPr lang="de-DE" sz="800"/>
              <a:t>- Dismantle mediatorProc</a:t>
            </a:r>
          </a:p>
          <a:p>
            <a:r>
              <a:rPr lang="de-DE" sz="800"/>
              <a:t>- Delete from AppDATA:</a:t>
            </a:r>
          </a:p>
          <a:p>
            <a:r>
              <a:rPr lang="de-DE" sz="800"/>
              <a:t>   . Netconf connection</a:t>
            </a:r>
          </a:p>
          <a:p>
            <a:r>
              <a:rPr lang="de-DE" sz="800"/>
              <a:t>   . Snmp connection</a:t>
            </a:r>
          </a:p>
          <a:p>
            <a:r>
              <a:rPr lang="de-DE" sz="800"/>
              <a:t>   . mediatorProcess</a:t>
            </a:r>
          </a:p>
        </p:txBody>
      </p:sp>
      <p:cxnSp>
        <p:nvCxnSpPr>
          <p:cNvPr id="134" name="Verbinder: gekrümmt 133">
            <a:extLst>
              <a:ext uri="{FF2B5EF4-FFF2-40B4-BE49-F238E27FC236}">
                <a16:creationId xmlns:a16="http://schemas.microsoft.com/office/drawing/2014/main" id="{5D7864F1-1ED2-2D1B-8095-C111EA57113A}"/>
              </a:ext>
            </a:extLst>
          </p:cNvPr>
          <p:cNvCxnSpPr>
            <a:cxnSpLocks/>
            <a:stCxn id="103" idx="2"/>
            <a:endCxn id="125" idx="0"/>
          </p:cNvCxnSpPr>
          <p:nvPr/>
        </p:nvCxnSpPr>
        <p:spPr>
          <a:xfrm rot="5400000">
            <a:off x="14189168" y="8025469"/>
            <a:ext cx="3586412" cy="92153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feld 143">
            <a:extLst>
              <a:ext uri="{FF2B5EF4-FFF2-40B4-BE49-F238E27FC236}">
                <a16:creationId xmlns:a16="http://schemas.microsoft.com/office/drawing/2014/main" id="{29D2BC74-3BE7-174C-D371-53D0640E1A05}"/>
              </a:ext>
            </a:extLst>
          </p:cNvPr>
          <p:cNvSpPr txBox="1"/>
          <p:nvPr/>
        </p:nvSpPr>
        <p:spPr>
          <a:xfrm>
            <a:off x="19348189" y="3296396"/>
            <a:ext cx="2548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/>
              <a:t>/v1/dismantle-netconf-connection</a:t>
            </a:r>
          </a:p>
        </p:txBody>
      </p: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76527FFD-A27D-C191-D636-0418D2347CF0}"/>
              </a:ext>
            </a:extLst>
          </p:cNvPr>
          <p:cNvCxnSpPr>
            <a:cxnSpLocks/>
          </p:cNvCxnSpPr>
          <p:nvPr/>
        </p:nvCxnSpPr>
        <p:spPr>
          <a:xfrm flipH="1">
            <a:off x="19320037" y="3536847"/>
            <a:ext cx="22735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D5350EC3-81F5-928A-7AB1-C83683A18AC5}"/>
              </a:ext>
            </a:extLst>
          </p:cNvPr>
          <p:cNvCxnSpPr>
            <a:cxnSpLocks/>
          </p:cNvCxnSpPr>
          <p:nvPr/>
        </p:nvCxnSpPr>
        <p:spPr>
          <a:xfrm>
            <a:off x="19320037" y="3659955"/>
            <a:ext cx="22735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feld 148">
            <a:extLst>
              <a:ext uri="{FF2B5EF4-FFF2-40B4-BE49-F238E27FC236}">
                <a16:creationId xmlns:a16="http://schemas.microsoft.com/office/drawing/2014/main" id="{B4C32C75-C175-6476-37BE-A82F695B7FF2}"/>
              </a:ext>
            </a:extLst>
          </p:cNvPr>
          <p:cNvSpPr txBox="1"/>
          <p:nvPr/>
        </p:nvSpPr>
        <p:spPr>
          <a:xfrm flipH="1">
            <a:off x="20827679" y="3639302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sp>
        <p:nvSpPr>
          <p:cNvPr id="210" name="Rechteck: abgerundete Ecken 209">
            <a:extLst>
              <a:ext uri="{FF2B5EF4-FFF2-40B4-BE49-F238E27FC236}">
                <a16:creationId xmlns:a16="http://schemas.microsoft.com/office/drawing/2014/main" id="{44B2B777-E588-B36C-E091-FFDB6E04A573}"/>
              </a:ext>
            </a:extLst>
          </p:cNvPr>
          <p:cNvSpPr/>
          <p:nvPr/>
        </p:nvSpPr>
        <p:spPr>
          <a:xfrm>
            <a:off x="21593563" y="3461123"/>
            <a:ext cx="447675" cy="3046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MO</a:t>
            </a:r>
          </a:p>
        </p:txBody>
      </p:sp>
      <p:sp>
        <p:nvSpPr>
          <p:cNvPr id="213" name="Rechteck 212">
            <a:extLst>
              <a:ext uri="{FF2B5EF4-FFF2-40B4-BE49-F238E27FC236}">
                <a16:creationId xmlns:a16="http://schemas.microsoft.com/office/drawing/2014/main" id="{65B05C39-22C7-3BDA-ABC8-0E08C367F8F4}"/>
              </a:ext>
            </a:extLst>
          </p:cNvPr>
          <p:cNvSpPr/>
          <p:nvPr/>
        </p:nvSpPr>
        <p:spPr>
          <a:xfrm>
            <a:off x="17747467" y="3190473"/>
            <a:ext cx="1571625" cy="1320166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Search throu all mediatorVms for mediatorProcesses for the defined deviceName</a:t>
            </a:r>
          </a:p>
          <a:p>
            <a:endParaRPr lang="de-DE" sz="800"/>
          </a:p>
          <a:p>
            <a:r>
              <a:rPr lang="de-DE" sz="800"/>
              <a:t>Add all mediatorProcesses</a:t>
            </a:r>
          </a:p>
          <a:p>
            <a:pPr marL="171450" indent="-171450">
              <a:buFontTx/>
              <a:buChar char="-"/>
            </a:pPr>
            <a:r>
              <a:rPr lang="de-DE" sz="800"/>
              <a:t>to dismantleQueue</a:t>
            </a:r>
          </a:p>
        </p:txBody>
      </p:sp>
      <p:cxnSp>
        <p:nvCxnSpPr>
          <p:cNvPr id="220" name="Verbinder: gekrümmt 219">
            <a:extLst>
              <a:ext uri="{FF2B5EF4-FFF2-40B4-BE49-F238E27FC236}">
                <a16:creationId xmlns:a16="http://schemas.microsoft.com/office/drawing/2014/main" id="{561F252A-8C14-74DE-20EB-D490C3D6B7B2}"/>
              </a:ext>
            </a:extLst>
          </p:cNvPr>
          <p:cNvCxnSpPr>
            <a:cxnSpLocks/>
            <a:stCxn id="213" idx="2"/>
            <a:endCxn id="103" idx="0"/>
          </p:cNvCxnSpPr>
          <p:nvPr/>
        </p:nvCxnSpPr>
        <p:spPr>
          <a:xfrm rot="5400000">
            <a:off x="16895989" y="3643104"/>
            <a:ext cx="769750" cy="2504827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Rechteck 224">
            <a:extLst>
              <a:ext uri="{FF2B5EF4-FFF2-40B4-BE49-F238E27FC236}">
                <a16:creationId xmlns:a16="http://schemas.microsoft.com/office/drawing/2014/main" id="{8778D23D-E927-DABD-0332-D93807833FA4}"/>
              </a:ext>
            </a:extLst>
          </p:cNvPr>
          <p:cNvSpPr/>
          <p:nvPr/>
        </p:nvSpPr>
        <p:spPr>
          <a:xfrm>
            <a:off x="17729239" y="4910189"/>
            <a:ext cx="1798430" cy="2678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r>
              <a:rPr lang="de-DE" sz="800" i="1"/>
              <a:t>InactiveMediatorProcessTracker</a:t>
            </a:r>
          </a:p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Go slowly through all mediatorProcesses at all mediatorVms</a:t>
            </a:r>
          </a:p>
          <a:p>
            <a:endParaRPr lang="de-DE" sz="800"/>
          </a:p>
          <a:p>
            <a:r>
              <a:rPr lang="de-DE" sz="800"/>
              <a:t>IF mediatorProcess is responsive on netconf</a:t>
            </a:r>
          </a:p>
          <a:p>
            <a:r>
              <a:rPr lang="de-DE" sz="800"/>
              <a:t>THEN set firstSilenceDate=‚‘</a:t>
            </a:r>
          </a:p>
          <a:p>
            <a:r>
              <a:rPr lang="de-DE" sz="800"/>
              <a:t>ELSE check firstSilenceDate</a:t>
            </a:r>
          </a:p>
          <a:p>
            <a:endParaRPr lang="de-DE" sz="800"/>
          </a:p>
          <a:p>
            <a:r>
              <a:rPr lang="de-DE" sz="800"/>
              <a:t>IF firstSilenceDate==‚‘</a:t>
            </a:r>
            <a:br>
              <a:rPr lang="de-DE" sz="800"/>
            </a:br>
            <a:r>
              <a:rPr lang="de-DE" sz="800"/>
              <a:t>THEN set firstSilenceDate= currentDate</a:t>
            </a:r>
          </a:p>
          <a:p>
            <a:pPr>
              <a:tabLst>
                <a:tab pos="36000" algn="l"/>
              </a:tabLst>
            </a:pPr>
            <a:r>
              <a:rPr lang="de-DE" sz="800"/>
              <a:t>ELSE</a:t>
            </a:r>
          </a:p>
          <a:p>
            <a:pPr>
              <a:tabLst>
                <a:tab pos="108000" algn="l"/>
              </a:tabLst>
            </a:pPr>
            <a:r>
              <a:rPr lang="de-DE" sz="800"/>
              <a:t>	IF currentDate – firstSilenceDate</a:t>
            </a:r>
          </a:p>
          <a:p>
            <a:pPr>
              <a:tabLst>
                <a:tab pos="108000" algn="l"/>
              </a:tabLst>
            </a:pPr>
            <a:r>
              <a:rPr lang="de-DE" sz="800"/>
              <a:t>	&lt;=[keepMediatorProcessPeriode]</a:t>
            </a:r>
          </a:p>
          <a:p>
            <a:pPr>
              <a:tabLst>
                <a:tab pos="108000" algn="l"/>
              </a:tabLst>
            </a:pPr>
            <a:r>
              <a:rPr lang="de-DE" sz="800"/>
              <a:t>	THEN no change</a:t>
            </a:r>
          </a:p>
          <a:p>
            <a:pPr>
              <a:tabLst>
                <a:tab pos="108000" algn="l"/>
              </a:tabLst>
            </a:pPr>
            <a:r>
              <a:rPr lang="de-DE" sz="800"/>
              <a:t>	ELSE add to dismantleQueue</a:t>
            </a:r>
          </a:p>
        </p:txBody>
      </p:sp>
      <p:pic>
        <p:nvPicPr>
          <p:cNvPr id="226" name="Grafik 225">
            <a:extLst>
              <a:ext uri="{FF2B5EF4-FFF2-40B4-BE49-F238E27FC236}">
                <a16:creationId xmlns:a16="http://schemas.microsoft.com/office/drawing/2014/main" id="{E590A6FC-6F27-1F52-01B4-64301CA59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6436" y="5123628"/>
            <a:ext cx="260088" cy="251271"/>
          </a:xfrm>
          <a:prstGeom prst="rect">
            <a:avLst/>
          </a:prstGeom>
        </p:spPr>
      </p:pic>
      <p:cxnSp>
        <p:nvCxnSpPr>
          <p:cNvPr id="227" name="Verbinder: gekrümmt 226">
            <a:extLst>
              <a:ext uri="{FF2B5EF4-FFF2-40B4-BE49-F238E27FC236}">
                <a16:creationId xmlns:a16="http://schemas.microsoft.com/office/drawing/2014/main" id="{2DB9CE1C-063B-8F4A-85EB-0564067865B1}"/>
              </a:ext>
            </a:extLst>
          </p:cNvPr>
          <p:cNvCxnSpPr>
            <a:cxnSpLocks/>
            <a:stCxn id="225" idx="2"/>
            <a:endCxn id="103" idx="0"/>
          </p:cNvCxnSpPr>
          <p:nvPr/>
        </p:nvCxnSpPr>
        <p:spPr>
          <a:xfrm rot="5400000" flipH="1">
            <a:off x="16174464" y="5134375"/>
            <a:ext cx="2307976" cy="2600004"/>
          </a:xfrm>
          <a:prstGeom prst="curvedConnector5">
            <a:avLst>
              <a:gd name="adj1" fmla="val -9905"/>
              <a:gd name="adj2" fmla="val 52292"/>
              <a:gd name="adj3" fmla="val 109905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fik 5">
            <a:extLst>
              <a:ext uri="{FF2B5EF4-FFF2-40B4-BE49-F238E27FC236}">
                <a16:creationId xmlns:a16="http://schemas.microsoft.com/office/drawing/2014/main" id="{BB4CEC89-E2AF-ACDF-4C17-3FFE58CA1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7837" y="9091944"/>
            <a:ext cx="447675" cy="439333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4668BABB-C444-CB57-7286-A2F16DFE205B}"/>
              </a:ext>
            </a:extLst>
          </p:cNvPr>
          <p:cNvSpPr/>
          <p:nvPr/>
        </p:nvSpPr>
        <p:spPr>
          <a:xfrm>
            <a:off x="5591814" y="9039934"/>
            <a:ext cx="1571625" cy="1454839"/>
          </a:xfrm>
          <a:prstGeom prst="rect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Check feasibility of deleting mediatorVm without the total number of mediatorProcesses exceeding the capacity of remaining mediatorVms</a:t>
            </a:r>
          </a:p>
          <a:p>
            <a:endParaRPr lang="de-DE" sz="800"/>
          </a:p>
          <a:p>
            <a:r>
              <a:rPr lang="de-DE" sz="800"/>
              <a:t>IF reducing resources feasible</a:t>
            </a:r>
          </a:p>
          <a:p>
            <a:r>
              <a:rPr lang="de-DE" sz="800"/>
              <a:t>THEN mark life cycle state of defined mediatorVm to be deprecated</a:t>
            </a:r>
          </a:p>
          <a:p>
            <a:r>
              <a:rPr lang="de-DE" sz="800"/>
              <a:t>ELSE respond error code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AAB2F06-0754-E97D-8AB1-446BC5BE28CA}"/>
              </a:ext>
            </a:extLst>
          </p:cNvPr>
          <p:cNvCxnSpPr>
            <a:cxnSpLocks/>
          </p:cNvCxnSpPr>
          <p:nvPr/>
        </p:nvCxnSpPr>
        <p:spPr>
          <a:xfrm>
            <a:off x="1660440" y="9229331"/>
            <a:ext cx="3939537" cy="16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2E92D9DA-09E1-FFC1-98ED-74AC6BF930F6}"/>
              </a:ext>
            </a:extLst>
          </p:cNvPr>
          <p:cNvSpPr txBox="1"/>
          <p:nvPr/>
        </p:nvSpPr>
        <p:spPr>
          <a:xfrm>
            <a:off x="3156685" y="8999784"/>
            <a:ext cx="2548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/>
              <a:t>/v1/disregard-mediator-instance-manager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FF5680D-94F2-F4E3-FACF-63C223B4FC46}"/>
              </a:ext>
            </a:extLst>
          </p:cNvPr>
          <p:cNvCxnSpPr>
            <a:cxnSpLocks/>
          </p:cNvCxnSpPr>
          <p:nvPr/>
        </p:nvCxnSpPr>
        <p:spPr>
          <a:xfrm flipH="1">
            <a:off x="1708708" y="9455071"/>
            <a:ext cx="389126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9104B411-5652-1AC8-0AF7-757041C6FEF8}"/>
              </a:ext>
            </a:extLst>
          </p:cNvPr>
          <p:cNvSpPr txBox="1"/>
          <p:nvPr/>
        </p:nvSpPr>
        <p:spPr>
          <a:xfrm>
            <a:off x="1727112" y="9411808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A6E275FF-6DBA-3F21-5F4B-5FB306A7F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088" y="10793292"/>
            <a:ext cx="260088" cy="273783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ED8304CB-60E8-CF50-67B6-A0D2890F5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7837" y="5958475"/>
            <a:ext cx="447675" cy="439333"/>
          </a:xfrm>
          <a:prstGeom prst="rect">
            <a:avLst/>
          </a:prstGeom>
        </p:spPr>
      </p:pic>
      <p:sp>
        <p:nvSpPr>
          <p:cNvPr id="53" name="Rechteck 52">
            <a:extLst>
              <a:ext uri="{FF2B5EF4-FFF2-40B4-BE49-F238E27FC236}">
                <a16:creationId xmlns:a16="http://schemas.microsoft.com/office/drawing/2014/main" id="{0CB49B7E-39F6-8FA1-969C-E823B6707C2C}"/>
              </a:ext>
            </a:extLst>
          </p:cNvPr>
          <p:cNvSpPr/>
          <p:nvPr/>
        </p:nvSpPr>
        <p:spPr>
          <a:xfrm>
            <a:off x="5599977" y="5619142"/>
            <a:ext cx="1571625" cy="82971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Create new MIM in CONFIGfile of MM</a:t>
            </a:r>
          </a:p>
          <a:p>
            <a:endParaRPr lang="de-DE" sz="800"/>
          </a:p>
          <a:p>
            <a:r>
              <a:rPr lang="de-DE" sz="800"/>
              <a:t>Create new mediatorVm of defined mediatorVmTemplate in internal data</a:t>
            </a:r>
          </a:p>
          <a:p>
            <a:r>
              <a:rPr lang="de-DE" sz="800"/>
              <a:t> 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364C45C3-6320-2BE5-6D29-5D768A0B74C2}"/>
              </a:ext>
            </a:extLst>
          </p:cNvPr>
          <p:cNvCxnSpPr>
            <a:cxnSpLocks/>
          </p:cNvCxnSpPr>
          <p:nvPr/>
        </p:nvCxnSpPr>
        <p:spPr>
          <a:xfrm>
            <a:off x="1660440" y="6095862"/>
            <a:ext cx="3939537" cy="16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7ADFF6E2-BED2-7001-6D8F-FB1B1141882C}"/>
              </a:ext>
            </a:extLst>
          </p:cNvPr>
          <p:cNvSpPr txBox="1"/>
          <p:nvPr/>
        </p:nvSpPr>
        <p:spPr>
          <a:xfrm>
            <a:off x="3194785" y="5866315"/>
            <a:ext cx="2397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/>
              <a:t>/v1/regard-mediator-instance-manager</a:t>
            </a:r>
          </a:p>
        </p:txBody>
      </p: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A54EFF6E-FB0C-128D-DA81-486F143823EE}"/>
              </a:ext>
            </a:extLst>
          </p:cNvPr>
          <p:cNvCxnSpPr>
            <a:cxnSpLocks/>
          </p:cNvCxnSpPr>
          <p:nvPr/>
        </p:nvCxnSpPr>
        <p:spPr>
          <a:xfrm flipH="1">
            <a:off x="1708708" y="6321602"/>
            <a:ext cx="389126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feld 59">
            <a:extLst>
              <a:ext uri="{FF2B5EF4-FFF2-40B4-BE49-F238E27FC236}">
                <a16:creationId xmlns:a16="http://schemas.microsoft.com/office/drawing/2014/main" id="{0EE42FE5-8A58-E39B-A6C9-FAEC5A5A3985}"/>
              </a:ext>
            </a:extLst>
          </p:cNvPr>
          <p:cNvSpPr txBox="1"/>
          <p:nvPr/>
        </p:nvSpPr>
        <p:spPr>
          <a:xfrm>
            <a:off x="1727112" y="6278339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B91D68D4-8FDC-2F63-0B78-6959E36F48EA}"/>
              </a:ext>
            </a:extLst>
          </p:cNvPr>
          <p:cNvSpPr/>
          <p:nvPr/>
        </p:nvSpPr>
        <p:spPr>
          <a:xfrm>
            <a:off x="17729239" y="7854080"/>
            <a:ext cx="1798430" cy="1694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r>
              <a:rPr lang="de-DE" sz="800" i="1"/>
              <a:t>EmptyMediatorVmEraser</a:t>
            </a:r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Go slowly through all mediatorVms</a:t>
            </a:r>
          </a:p>
          <a:p>
            <a:endParaRPr lang="de-DE" sz="800"/>
          </a:p>
          <a:p>
            <a:r>
              <a:rPr lang="de-DE" sz="800"/>
              <a:t>IF mediatorVm is marked to be  deprecated AND number of mediatorProcesses==0</a:t>
            </a:r>
          </a:p>
          <a:p>
            <a:endParaRPr lang="de-DE" sz="800"/>
          </a:p>
          <a:p>
            <a:r>
              <a:rPr lang="de-DE" sz="800"/>
              <a:t>THEN </a:t>
            </a:r>
          </a:p>
          <a:p>
            <a:pPr marL="171450" indent="-171450">
              <a:buFontTx/>
              <a:buChar char="-"/>
            </a:pPr>
            <a:r>
              <a:rPr lang="de-DE" sz="800"/>
              <a:t>delete MIM from CONFIGfile</a:t>
            </a:r>
          </a:p>
          <a:p>
            <a:pPr marL="171450" indent="-171450">
              <a:buFontTx/>
              <a:buChar char="-"/>
            </a:pPr>
            <a:r>
              <a:rPr lang="de-DE" sz="800"/>
              <a:t>delete mediatorVm from AppDATA</a:t>
            </a:r>
          </a:p>
          <a:p>
            <a:pPr marL="171450" indent="-171450">
              <a:buFontTx/>
              <a:buChar char="-"/>
            </a:pPr>
            <a:endParaRPr lang="de-DE" sz="800"/>
          </a:p>
          <a:p>
            <a:pPr marL="171450" indent="-171450">
              <a:buFontTx/>
              <a:buChar char="-"/>
            </a:pPr>
            <a:endParaRPr lang="de-DE" sz="800"/>
          </a:p>
        </p:txBody>
      </p:sp>
      <p:pic>
        <p:nvPicPr>
          <p:cNvPr id="66" name="Grafik 65">
            <a:extLst>
              <a:ext uri="{FF2B5EF4-FFF2-40B4-BE49-F238E27FC236}">
                <a16:creationId xmlns:a16="http://schemas.microsoft.com/office/drawing/2014/main" id="{CF2B14E0-79EE-778B-31F8-147AF761D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044" y="7929602"/>
            <a:ext cx="260088" cy="251271"/>
          </a:xfrm>
          <a:prstGeom prst="rect">
            <a:avLst/>
          </a:prstGeom>
        </p:spPr>
      </p:pic>
      <p:cxnSp>
        <p:nvCxnSpPr>
          <p:cNvPr id="94" name="Verbinder: gekrümmt 93">
            <a:extLst>
              <a:ext uri="{FF2B5EF4-FFF2-40B4-BE49-F238E27FC236}">
                <a16:creationId xmlns:a16="http://schemas.microsoft.com/office/drawing/2014/main" id="{FAA648C8-F1C2-EED5-2050-3327EE9688C6}"/>
              </a:ext>
            </a:extLst>
          </p:cNvPr>
          <p:cNvCxnSpPr>
            <a:cxnSpLocks/>
            <a:stCxn id="96" idx="6"/>
            <a:endCxn id="77" idx="0"/>
          </p:cNvCxnSpPr>
          <p:nvPr/>
        </p:nvCxnSpPr>
        <p:spPr>
          <a:xfrm>
            <a:off x="10328629" y="11266031"/>
            <a:ext cx="2947109" cy="923927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Zylinder 98">
            <a:extLst>
              <a:ext uri="{FF2B5EF4-FFF2-40B4-BE49-F238E27FC236}">
                <a16:creationId xmlns:a16="http://schemas.microsoft.com/office/drawing/2014/main" id="{891D0F3E-4EDF-452F-15BB-368A6160A5A0}"/>
              </a:ext>
            </a:extLst>
          </p:cNvPr>
          <p:cNvSpPr/>
          <p:nvPr/>
        </p:nvSpPr>
        <p:spPr>
          <a:xfrm>
            <a:off x="11751309" y="6505010"/>
            <a:ext cx="1461538" cy="541614"/>
          </a:xfrm>
          <a:prstGeom prst="can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AppDATA</a:t>
            </a:r>
            <a:br>
              <a:rPr lang="de-DE" sz="1050"/>
            </a:br>
            <a:r>
              <a:rPr lang="de-DE" sz="1050"/>
              <a:t>(ElasticSearch)</a:t>
            </a:r>
          </a:p>
        </p:txBody>
      </p:sp>
      <p:cxnSp>
        <p:nvCxnSpPr>
          <p:cNvPr id="102" name="Verbinder: gekrümmt 101">
            <a:extLst>
              <a:ext uri="{FF2B5EF4-FFF2-40B4-BE49-F238E27FC236}">
                <a16:creationId xmlns:a16="http://schemas.microsoft.com/office/drawing/2014/main" id="{4A175909-FAD8-251A-99E3-765E8C9D63C1}"/>
              </a:ext>
            </a:extLst>
          </p:cNvPr>
          <p:cNvCxnSpPr>
            <a:cxnSpLocks/>
            <a:stCxn id="100" idx="6"/>
            <a:endCxn id="99" idx="1"/>
          </p:cNvCxnSpPr>
          <p:nvPr/>
        </p:nvCxnSpPr>
        <p:spPr>
          <a:xfrm flipV="1">
            <a:off x="10329968" y="6505010"/>
            <a:ext cx="2152113" cy="5081478"/>
          </a:xfrm>
          <a:prstGeom prst="curvedConnector4">
            <a:avLst>
              <a:gd name="adj1" fmla="val 33022"/>
              <a:gd name="adj2" fmla="val 104499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hteck 74">
            <a:extLst>
              <a:ext uri="{FF2B5EF4-FFF2-40B4-BE49-F238E27FC236}">
                <a16:creationId xmlns:a16="http://schemas.microsoft.com/office/drawing/2014/main" id="{20FFD60F-206D-CB5E-071D-9AF309A2C14D}"/>
              </a:ext>
            </a:extLst>
          </p:cNvPr>
          <p:cNvSpPr/>
          <p:nvPr/>
        </p:nvSpPr>
        <p:spPr>
          <a:xfrm>
            <a:off x="8670991" y="10937557"/>
            <a:ext cx="1665303" cy="31394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NetconfConnectionBuilder</a:t>
            </a:r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Prepare device (if not 204, create alarm in AppDATA)</a:t>
            </a:r>
          </a:p>
          <a:p>
            <a:r>
              <a:rPr lang="de-DE" sz="800"/>
              <a:t>Add SnmpServers to AppDATA</a:t>
            </a:r>
          </a:p>
          <a:p>
            <a:endParaRPr lang="de-DE" sz="800"/>
          </a:p>
          <a:p>
            <a:r>
              <a:rPr lang="de-DE" sz="800"/>
              <a:t>Pick mediatorVm in </a:t>
            </a:r>
            <a:r>
              <a:rPr lang="de-DE" sz="800" i="1"/>
              <a:t>installed </a:t>
            </a:r>
            <a:r>
              <a:rPr lang="de-DE" sz="800"/>
              <a:t>and </a:t>
            </a:r>
            <a:r>
              <a:rPr lang="de-DE" sz="800" i="1"/>
              <a:t>enabled</a:t>
            </a:r>
            <a:r>
              <a:rPr lang="de-DE" sz="800"/>
              <a:t> states with lowest number of mediatorProcesses</a:t>
            </a:r>
          </a:p>
          <a:p>
            <a:endParaRPr lang="de-DE" sz="800"/>
          </a:p>
          <a:p>
            <a:r>
              <a:rPr lang="de-DE" sz="800"/>
              <a:t>Create mediatorProcess</a:t>
            </a:r>
          </a:p>
          <a:p>
            <a:endParaRPr lang="de-DE" sz="800"/>
          </a:p>
          <a:p>
            <a:r>
              <a:rPr lang="de-DE" sz="800"/>
              <a:t>add to AppDATA:</a:t>
            </a:r>
          </a:p>
          <a:p>
            <a:pPr marL="171450" indent="-171450">
              <a:buFontTx/>
              <a:buChar char="-"/>
            </a:pPr>
            <a:r>
              <a:rPr lang="de-DE" sz="800"/>
              <a:t>mediatorProcess </a:t>
            </a:r>
          </a:p>
          <a:p>
            <a:pPr marL="171450" indent="-171450">
              <a:buFontTx/>
              <a:buChar char="-"/>
            </a:pPr>
            <a:r>
              <a:rPr lang="de-DE" sz="800"/>
              <a:t>(update NetconClient at Controller)</a:t>
            </a:r>
          </a:p>
          <a:p>
            <a:pPr marL="171450" indent="-171450">
              <a:buFontTx/>
              <a:buChar char="-"/>
            </a:pPr>
            <a:r>
              <a:rPr lang="de-DE" sz="800"/>
              <a:t>Snmp connection</a:t>
            </a:r>
          </a:p>
          <a:p>
            <a:pPr marL="171450" indent="-171450">
              <a:buFontTx/>
              <a:buChar char="-"/>
            </a:pPr>
            <a:r>
              <a:rPr lang="de-DE" sz="800"/>
              <a:t>Netconf connection</a:t>
            </a:r>
          </a:p>
          <a:p>
            <a:endParaRPr lang="de-DE" sz="800"/>
          </a:p>
          <a:p>
            <a:r>
              <a:rPr lang="de-DE" sz="800"/>
              <a:t>Meassure operationalState of netconfInterface</a:t>
            </a:r>
          </a:p>
          <a:p>
            <a:endParaRPr lang="de-DE" sz="800"/>
          </a:p>
          <a:p>
            <a:r>
              <a:rPr lang="de-DE" sz="800"/>
              <a:t>Update AppDATA with operationalState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F17CEFED-6C55-18CE-0DC0-A02405C77B87}"/>
              </a:ext>
            </a:extLst>
          </p:cNvPr>
          <p:cNvSpPr/>
          <p:nvPr/>
        </p:nvSpPr>
        <p:spPr>
          <a:xfrm>
            <a:off x="10282910" y="11241829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0316B798-F84B-8F58-B450-28890D99FD37}"/>
              </a:ext>
            </a:extLst>
          </p:cNvPr>
          <p:cNvSpPr/>
          <p:nvPr/>
        </p:nvSpPr>
        <p:spPr>
          <a:xfrm>
            <a:off x="10284249" y="11562289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64EE5B7C-EB86-A4BA-C1DC-A5CF5509B0DF}"/>
              </a:ext>
            </a:extLst>
          </p:cNvPr>
          <p:cNvSpPr/>
          <p:nvPr/>
        </p:nvSpPr>
        <p:spPr>
          <a:xfrm>
            <a:off x="10243326" y="13379754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628ABCC8-58C9-4BCD-7F8B-F84942659C2C}"/>
              </a:ext>
            </a:extLst>
          </p:cNvPr>
          <p:cNvSpPr/>
          <p:nvPr/>
        </p:nvSpPr>
        <p:spPr>
          <a:xfrm>
            <a:off x="10220467" y="12111736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6" name="Ellipse 185">
            <a:extLst>
              <a:ext uri="{FF2B5EF4-FFF2-40B4-BE49-F238E27FC236}">
                <a16:creationId xmlns:a16="http://schemas.microsoft.com/office/drawing/2014/main" id="{3D249596-FA55-E138-EB1E-1CF618EE9902}"/>
              </a:ext>
            </a:extLst>
          </p:cNvPr>
          <p:cNvSpPr/>
          <p:nvPr/>
        </p:nvSpPr>
        <p:spPr>
          <a:xfrm>
            <a:off x="10257223" y="12842676"/>
            <a:ext cx="45719" cy="4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5" name="Rechteck 204">
            <a:extLst>
              <a:ext uri="{FF2B5EF4-FFF2-40B4-BE49-F238E27FC236}">
                <a16:creationId xmlns:a16="http://schemas.microsoft.com/office/drawing/2014/main" id="{25949520-17DD-825A-771B-50A9F85D5649}"/>
              </a:ext>
            </a:extLst>
          </p:cNvPr>
          <p:cNvSpPr/>
          <p:nvPr/>
        </p:nvSpPr>
        <p:spPr>
          <a:xfrm>
            <a:off x="11704113" y="7295985"/>
            <a:ext cx="1571625" cy="15079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MediatorVmReconciler</a:t>
            </a:r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Regularly update AppDATA with configuration data about all mediatorVms</a:t>
            </a:r>
            <a:br>
              <a:rPr lang="de-DE" sz="800"/>
            </a:br>
            <a:endParaRPr lang="de-DE" sz="800"/>
          </a:p>
          <a:p>
            <a:r>
              <a:rPr lang="de-DE" sz="800"/>
              <a:t>IF not responding</a:t>
            </a:r>
            <a:br>
              <a:rPr lang="de-DE" sz="800"/>
            </a:br>
            <a:r>
              <a:rPr lang="de-DE" sz="800"/>
              <a:t>THEN operationState of the mediatorVM to be set to UNAVAILABLE)</a:t>
            </a:r>
          </a:p>
        </p:txBody>
      </p:sp>
      <p:pic>
        <p:nvPicPr>
          <p:cNvPr id="206" name="Grafik 205">
            <a:extLst>
              <a:ext uri="{FF2B5EF4-FFF2-40B4-BE49-F238E27FC236}">
                <a16:creationId xmlns:a16="http://schemas.microsoft.com/office/drawing/2014/main" id="{32DFB1AC-4A02-46A6-0902-CDB05ECAF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1954" y="7357574"/>
            <a:ext cx="260088" cy="273783"/>
          </a:xfrm>
          <a:prstGeom prst="rect">
            <a:avLst/>
          </a:prstGeom>
        </p:spPr>
      </p:pic>
      <p:sp>
        <p:nvSpPr>
          <p:cNvPr id="207" name="Textfeld 206">
            <a:extLst>
              <a:ext uri="{FF2B5EF4-FFF2-40B4-BE49-F238E27FC236}">
                <a16:creationId xmlns:a16="http://schemas.microsoft.com/office/drawing/2014/main" id="{7B3F1610-212D-C5AF-6461-4AF848173708}"/>
              </a:ext>
            </a:extLst>
          </p:cNvPr>
          <p:cNvSpPr txBox="1"/>
          <p:nvPr/>
        </p:nvSpPr>
        <p:spPr>
          <a:xfrm rot="3530940">
            <a:off x="10508011" y="12812988"/>
            <a:ext cx="1921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/>
              <a:t>/v1/provide-mediator-instance</a:t>
            </a:r>
          </a:p>
          <a:p>
            <a:r>
              <a:rPr lang="de-DE" sz="600"/>
              <a:t>{deviceName, deviceIp, deviceModel}</a:t>
            </a:r>
          </a:p>
        </p:txBody>
      </p:sp>
      <p:cxnSp>
        <p:nvCxnSpPr>
          <p:cNvPr id="208" name="Verbinder: gekrümmt 207">
            <a:extLst>
              <a:ext uri="{FF2B5EF4-FFF2-40B4-BE49-F238E27FC236}">
                <a16:creationId xmlns:a16="http://schemas.microsoft.com/office/drawing/2014/main" id="{03D99CD0-D661-AEB6-B7DB-B8279173FD62}"/>
              </a:ext>
            </a:extLst>
          </p:cNvPr>
          <p:cNvCxnSpPr>
            <a:cxnSpLocks/>
            <a:stCxn id="205" idx="2"/>
            <a:endCxn id="366" idx="1"/>
          </p:cNvCxnSpPr>
          <p:nvPr/>
        </p:nvCxnSpPr>
        <p:spPr>
          <a:xfrm rot="5400000">
            <a:off x="9831716" y="10882284"/>
            <a:ext cx="4736535" cy="5798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Textfeld 215">
            <a:extLst>
              <a:ext uri="{FF2B5EF4-FFF2-40B4-BE49-F238E27FC236}">
                <a16:creationId xmlns:a16="http://schemas.microsoft.com/office/drawing/2014/main" id="{FB2DD6AF-ADEF-2063-C223-F2D4C5A446DF}"/>
              </a:ext>
            </a:extLst>
          </p:cNvPr>
          <p:cNvSpPr txBox="1"/>
          <p:nvPr/>
        </p:nvSpPr>
        <p:spPr>
          <a:xfrm rot="16538606">
            <a:off x="10948122" y="12303099"/>
            <a:ext cx="19217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/>
              <a:t>/v1/list-mediator-instances</a:t>
            </a:r>
          </a:p>
        </p:txBody>
      </p:sp>
      <p:cxnSp>
        <p:nvCxnSpPr>
          <p:cNvPr id="217" name="Verbinder: gekrümmt 216">
            <a:extLst>
              <a:ext uri="{FF2B5EF4-FFF2-40B4-BE49-F238E27FC236}">
                <a16:creationId xmlns:a16="http://schemas.microsoft.com/office/drawing/2014/main" id="{1A29FBAB-E411-12EF-C0AC-859391AAC5FF}"/>
              </a:ext>
            </a:extLst>
          </p:cNvPr>
          <p:cNvCxnSpPr>
            <a:cxnSpLocks/>
            <a:stCxn id="205" idx="0"/>
            <a:endCxn id="99" idx="3"/>
          </p:cNvCxnSpPr>
          <p:nvPr/>
        </p:nvCxnSpPr>
        <p:spPr>
          <a:xfrm rot="16200000" flipV="1">
            <a:off x="12361322" y="7167383"/>
            <a:ext cx="249358" cy="784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Ellipse 232">
            <a:extLst>
              <a:ext uri="{FF2B5EF4-FFF2-40B4-BE49-F238E27FC236}">
                <a16:creationId xmlns:a16="http://schemas.microsoft.com/office/drawing/2014/main" id="{5A08106D-934F-EB86-4CA1-0A5FF2908077}"/>
              </a:ext>
            </a:extLst>
          </p:cNvPr>
          <p:cNvSpPr/>
          <p:nvPr/>
        </p:nvSpPr>
        <p:spPr>
          <a:xfrm>
            <a:off x="16675771" y="10048601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6" name="Ellipse 235">
            <a:extLst>
              <a:ext uri="{FF2B5EF4-FFF2-40B4-BE49-F238E27FC236}">
                <a16:creationId xmlns:a16="http://schemas.microsoft.com/office/drawing/2014/main" id="{EFFB7ABE-B8F6-7B01-1534-91C8EEE1822D}"/>
              </a:ext>
            </a:extLst>
          </p:cNvPr>
          <p:cNvSpPr/>
          <p:nvPr/>
        </p:nvSpPr>
        <p:spPr>
          <a:xfrm>
            <a:off x="10243327" y="12586719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7" name="Ellipse 236">
            <a:extLst>
              <a:ext uri="{FF2B5EF4-FFF2-40B4-BE49-F238E27FC236}">
                <a16:creationId xmlns:a16="http://schemas.microsoft.com/office/drawing/2014/main" id="{68D95A02-3B3D-25B5-488B-B9B18912DDAC}"/>
              </a:ext>
            </a:extLst>
          </p:cNvPr>
          <p:cNvSpPr/>
          <p:nvPr/>
        </p:nvSpPr>
        <p:spPr>
          <a:xfrm>
            <a:off x="7134092" y="11165798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9" name="Ellipse 238">
            <a:extLst>
              <a:ext uri="{FF2B5EF4-FFF2-40B4-BE49-F238E27FC236}">
                <a16:creationId xmlns:a16="http://schemas.microsoft.com/office/drawing/2014/main" id="{699FEFDF-5F9D-D272-08D7-FC35BCE49259}"/>
              </a:ext>
            </a:extLst>
          </p:cNvPr>
          <p:cNvSpPr/>
          <p:nvPr/>
        </p:nvSpPr>
        <p:spPr>
          <a:xfrm>
            <a:off x="16677304" y="10400981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7" name="Ellipse 246">
            <a:extLst>
              <a:ext uri="{FF2B5EF4-FFF2-40B4-BE49-F238E27FC236}">
                <a16:creationId xmlns:a16="http://schemas.microsoft.com/office/drawing/2014/main" id="{251A60F8-F452-DA9F-FF1A-280D4C63F686}"/>
              </a:ext>
            </a:extLst>
          </p:cNvPr>
          <p:cNvSpPr/>
          <p:nvPr/>
        </p:nvSpPr>
        <p:spPr>
          <a:xfrm>
            <a:off x="7115308" y="9634529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0" name="Ellipse 249">
            <a:extLst>
              <a:ext uri="{FF2B5EF4-FFF2-40B4-BE49-F238E27FC236}">
                <a16:creationId xmlns:a16="http://schemas.microsoft.com/office/drawing/2014/main" id="{65F29E2F-51E4-E254-C00D-19FC22B9266A}"/>
              </a:ext>
            </a:extLst>
          </p:cNvPr>
          <p:cNvSpPr/>
          <p:nvPr/>
        </p:nvSpPr>
        <p:spPr>
          <a:xfrm>
            <a:off x="17756187" y="3347370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1" name="Ellipse 250">
            <a:extLst>
              <a:ext uri="{FF2B5EF4-FFF2-40B4-BE49-F238E27FC236}">
                <a16:creationId xmlns:a16="http://schemas.microsoft.com/office/drawing/2014/main" id="{C90EDC9F-D9EE-82C5-8D77-44BDA50CEFAB}"/>
              </a:ext>
            </a:extLst>
          </p:cNvPr>
          <p:cNvSpPr/>
          <p:nvPr/>
        </p:nvSpPr>
        <p:spPr>
          <a:xfrm>
            <a:off x="7108096" y="9194915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870663B-C73A-4771-A211-4239452F5C6F}"/>
              </a:ext>
            </a:extLst>
          </p:cNvPr>
          <p:cNvSpPr/>
          <p:nvPr/>
        </p:nvSpPr>
        <p:spPr>
          <a:xfrm>
            <a:off x="5591811" y="4230880"/>
            <a:ext cx="1579788" cy="120874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IF an additional interface can be provided without exceeding the engineering limit</a:t>
            </a:r>
          </a:p>
          <a:p>
            <a:r>
              <a:rPr lang="de-DE" sz="800"/>
              <a:t>THEN</a:t>
            </a:r>
          </a:p>
          <a:p>
            <a:pPr marL="171450" indent="-171450">
              <a:buFontTx/>
              <a:buChar char="-"/>
            </a:pPr>
            <a:r>
              <a:rPr lang="de-DE" sz="800"/>
              <a:t>add device to targetState</a:t>
            </a:r>
          </a:p>
          <a:p>
            <a:pPr marL="171450" indent="-171450">
              <a:buFontTx/>
              <a:buChar char="-"/>
            </a:pPr>
            <a:r>
              <a:rPr lang="de-DE" sz="800"/>
              <a:t>add mountPoint to targetState</a:t>
            </a:r>
          </a:p>
          <a:p>
            <a:pPr marL="171450" indent="-171450">
              <a:buFontTx/>
              <a:buChar char="-"/>
            </a:pPr>
            <a:r>
              <a:rPr lang="de-DE" sz="800">
                <a:solidFill>
                  <a:srgbClr val="FF0000"/>
                </a:solidFill>
              </a:rPr>
              <a:t>add to createQueue</a:t>
            </a:r>
          </a:p>
          <a:p>
            <a:r>
              <a:rPr lang="de-DE" sz="800"/>
              <a:t>ELSE respond error code</a:t>
            </a:r>
          </a:p>
        </p:txBody>
      </p:sp>
      <p:sp>
        <p:nvSpPr>
          <p:cNvPr id="248" name="Ellipse 247">
            <a:extLst>
              <a:ext uri="{FF2B5EF4-FFF2-40B4-BE49-F238E27FC236}">
                <a16:creationId xmlns:a16="http://schemas.microsoft.com/office/drawing/2014/main" id="{A692FBE6-EE2E-AF3B-EC93-8B8A9207898A}"/>
              </a:ext>
            </a:extLst>
          </p:cNvPr>
          <p:cNvSpPr/>
          <p:nvPr/>
        </p:nvSpPr>
        <p:spPr>
          <a:xfrm>
            <a:off x="7078257" y="5068498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2" name="Ellipse 251">
            <a:extLst>
              <a:ext uri="{FF2B5EF4-FFF2-40B4-BE49-F238E27FC236}">
                <a16:creationId xmlns:a16="http://schemas.microsoft.com/office/drawing/2014/main" id="{913FE3AE-A440-CC21-792C-79FD25782F18}"/>
              </a:ext>
            </a:extLst>
          </p:cNvPr>
          <p:cNvSpPr/>
          <p:nvPr/>
        </p:nvSpPr>
        <p:spPr>
          <a:xfrm>
            <a:off x="7053460" y="4804617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3" name="Ellipse 252">
            <a:extLst>
              <a:ext uri="{FF2B5EF4-FFF2-40B4-BE49-F238E27FC236}">
                <a16:creationId xmlns:a16="http://schemas.microsoft.com/office/drawing/2014/main" id="{C6D8E57B-9A7E-DB25-D05B-D55D542817D4}"/>
              </a:ext>
            </a:extLst>
          </p:cNvPr>
          <p:cNvSpPr/>
          <p:nvPr/>
        </p:nvSpPr>
        <p:spPr>
          <a:xfrm>
            <a:off x="7060919" y="4386573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55" name="Verbinder: gekrümmt 254">
            <a:extLst>
              <a:ext uri="{FF2B5EF4-FFF2-40B4-BE49-F238E27FC236}">
                <a16:creationId xmlns:a16="http://schemas.microsoft.com/office/drawing/2014/main" id="{7AEAA726-2F8B-A437-D670-2CD4209FF0BB}"/>
              </a:ext>
            </a:extLst>
          </p:cNvPr>
          <p:cNvCxnSpPr>
            <a:cxnSpLocks/>
            <a:stCxn id="253" idx="6"/>
            <a:endCxn id="7" idx="2"/>
          </p:cNvCxnSpPr>
          <p:nvPr/>
        </p:nvCxnSpPr>
        <p:spPr>
          <a:xfrm>
            <a:off x="7106638" y="4409433"/>
            <a:ext cx="2564989" cy="4572483"/>
          </a:xfrm>
          <a:prstGeom prst="curved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Verbinder: gekrümmt 259">
            <a:extLst>
              <a:ext uri="{FF2B5EF4-FFF2-40B4-BE49-F238E27FC236}">
                <a16:creationId xmlns:a16="http://schemas.microsoft.com/office/drawing/2014/main" id="{E162F2CB-7C2A-AD67-4219-003FF27FD4F3}"/>
              </a:ext>
            </a:extLst>
          </p:cNvPr>
          <p:cNvCxnSpPr>
            <a:cxnSpLocks/>
            <a:stCxn id="53" idx="3"/>
            <a:endCxn id="99" idx="3"/>
          </p:cNvCxnSpPr>
          <p:nvPr/>
        </p:nvCxnSpPr>
        <p:spPr>
          <a:xfrm>
            <a:off x="7171602" y="6033998"/>
            <a:ext cx="5310479" cy="1012629"/>
          </a:xfrm>
          <a:prstGeom prst="curvedConnector4">
            <a:avLst>
              <a:gd name="adj1" fmla="val 43120"/>
              <a:gd name="adj2" fmla="val 122575"/>
            </a:avLst>
          </a:prstGeom>
          <a:ln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Verbinder: gekrümmt 264">
            <a:extLst>
              <a:ext uri="{FF2B5EF4-FFF2-40B4-BE49-F238E27FC236}">
                <a16:creationId xmlns:a16="http://schemas.microsoft.com/office/drawing/2014/main" id="{503582BC-0E02-58A4-A693-1CBB2113D5CD}"/>
              </a:ext>
            </a:extLst>
          </p:cNvPr>
          <p:cNvCxnSpPr>
            <a:cxnSpLocks/>
            <a:stCxn id="243" idx="7"/>
            <a:endCxn id="99" idx="1"/>
          </p:cNvCxnSpPr>
          <p:nvPr/>
        </p:nvCxnSpPr>
        <p:spPr>
          <a:xfrm rot="5400000" flipH="1" flipV="1">
            <a:off x="9516280" y="4132158"/>
            <a:ext cx="592949" cy="5338654"/>
          </a:xfrm>
          <a:prstGeom prst="curvedConnector3">
            <a:avLst>
              <a:gd name="adj1" fmla="val 13855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uppieren 273">
            <a:extLst>
              <a:ext uri="{FF2B5EF4-FFF2-40B4-BE49-F238E27FC236}">
                <a16:creationId xmlns:a16="http://schemas.microsoft.com/office/drawing/2014/main" id="{B6F62F1F-22A3-BA43-A9C9-60D2BA520C01}"/>
              </a:ext>
            </a:extLst>
          </p:cNvPr>
          <p:cNvGrpSpPr/>
          <p:nvPr/>
        </p:nvGrpSpPr>
        <p:grpSpPr>
          <a:xfrm>
            <a:off x="5599982" y="6634086"/>
            <a:ext cx="1571625" cy="2213250"/>
            <a:chOff x="4699866" y="3563189"/>
            <a:chExt cx="1571625" cy="2213250"/>
          </a:xfrm>
        </p:grpSpPr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0A919349-A95E-3FB9-AA37-0D6D48B0754E}"/>
                </a:ext>
              </a:extLst>
            </p:cNvPr>
            <p:cNvSpPr/>
            <p:nvPr/>
          </p:nvSpPr>
          <p:spPr>
            <a:xfrm>
              <a:off x="4699866" y="3563189"/>
              <a:ext cx="1571625" cy="22132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de-DE" sz="800" i="1"/>
                <a:t>ContinuousLoadSharing</a:t>
              </a:r>
            </a:p>
            <a:p>
              <a:endParaRPr lang="de-DE" sz="800"/>
            </a:p>
            <a:p>
              <a:endParaRPr lang="de-DE" sz="800"/>
            </a:p>
            <a:p>
              <a:r>
                <a:rPr lang="de-DE" sz="800"/>
                <a:t>Calculate average number of mediatorProcesses at available mediatorVms of same mediatorVmTemplate</a:t>
              </a:r>
            </a:p>
            <a:p>
              <a:endParaRPr lang="de-DE" sz="800"/>
            </a:p>
            <a:p>
              <a:r>
                <a:rPr lang="de-DE" sz="800"/>
                <a:t>IF some mediatorVm exceeds average by more than a </a:t>
              </a:r>
              <a:r>
                <a:rPr lang="de-DE" sz="800" i="1"/>
                <a:t>[threshold]</a:t>
              </a:r>
            </a:p>
            <a:p>
              <a:r>
                <a:rPr lang="de-DE" sz="800"/>
                <a:t>THEN </a:t>
              </a:r>
            </a:p>
            <a:p>
              <a:pPr marL="171450" indent="-171450">
                <a:buFontTx/>
                <a:buChar char="-"/>
              </a:pPr>
              <a:r>
                <a:rPr lang="de-DE" sz="800"/>
                <a:t>calculate number of mediatorProcesses to be re-allocated</a:t>
              </a:r>
            </a:p>
            <a:p>
              <a:pPr marL="171450" indent="-171450">
                <a:buFontTx/>
                <a:buChar char="-"/>
              </a:pPr>
              <a:r>
                <a:rPr lang="de-DE" sz="800"/>
                <a:t>add to createQueue</a:t>
              </a:r>
            </a:p>
            <a:p>
              <a:pPr marL="171450" indent="-171450">
                <a:buFontTx/>
                <a:buChar char="-"/>
              </a:pPr>
              <a:r>
                <a:rPr lang="de-DE" sz="800"/>
                <a:t>add to dismantleQueue</a:t>
              </a:r>
            </a:p>
            <a:p>
              <a:pPr marL="171450" indent="-171450">
                <a:buFontTx/>
                <a:buChar char="-"/>
              </a:pPr>
              <a:endParaRPr lang="de-DE" sz="800"/>
            </a:p>
            <a:p>
              <a:endParaRPr lang="de-DE" sz="800"/>
            </a:p>
          </p:txBody>
        </p:sp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06E9B889-5E01-4664-FE1F-8B1AA87DF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3360" y="3645991"/>
              <a:ext cx="260088" cy="251271"/>
            </a:xfrm>
            <a:prstGeom prst="rect">
              <a:avLst/>
            </a:prstGeom>
          </p:spPr>
        </p:pic>
        <p:sp>
          <p:nvSpPr>
            <p:cNvPr id="243" name="Ellipse 242">
              <a:extLst>
                <a:ext uri="{FF2B5EF4-FFF2-40B4-BE49-F238E27FC236}">
                  <a16:creationId xmlns:a16="http://schemas.microsoft.com/office/drawing/2014/main" id="{155E365C-AD3C-E52C-E1E7-A9A0B6D0E6D2}"/>
                </a:ext>
              </a:extLst>
            </p:cNvPr>
            <p:cNvSpPr/>
            <p:nvPr/>
          </p:nvSpPr>
          <p:spPr>
            <a:xfrm>
              <a:off x="6204287" y="4020367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9" name="Ellipse 268">
              <a:extLst>
                <a:ext uri="{FF2B5EF4-FFF2-40B4-BE49-F238E27FC236}">
                  <a16:creationId xmlns:a16="http://schemas.microsoft.com/office/drawing/2014/main" id="{C72007A6-BE0E-D0E3-59A3-5062510B8F81}"/>
                </a:ext>
              </a:extLst>
            </p:cNvPr>
            <p:cNvSpPr/>
            <p:nvPr/>
          </p:nvSpPr>
          <p:spPr>
            <a:xfrm>
              <a:off x="6202236" y="5494665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0" name="Ellipse 269">
              <a:extLst>
                <a:ext uri="{FF2B5EF4-FFF2-40B4-BE49-F238E27FC236}">
                  <a16:creationId xmlns:a16="http://schemas.microsoft.com/office/drawing/2014/main" id="{38997AE1-6E30-E4A9-D73F-B36BE7AA4AB6}"/>
                </a:ext>
              </a:extLst>
            </p:cNvPr>
            <p:cNvSpPr/>
            <p:nvPr/>
          </p:nvSpPr>
          <p:spPr>
            <a:xfrm>
              <a:off x="6202236" y="5608151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281" name="Verbinder: gekrümmt 280">
            <a:extLst>
              <a:ext uri="{FF2B5EF4-FFF2-40B4-BE49-F238E27FC236}">
                <a16:creationId xmlns:a16="http://schemas.microsoft.com/office/drawing/2014/main" id="{634204CB-EC13-119C-997C-7C9884C5DEC8}"/>
              </a:ext>
            </a:extLst>
          </p:cNvPr>
          <p:cNvCxnSpPr>
            <a:cxnSpLocks/>
            <a:stCxn id="250" idx="2"/>
            <a:endCxn id="99" idx="1"/>
          </p:cNvCxnSpPr>
          <p:nvPr/>
        </p:nvCxnSpPr>
        <p:spPr>
          <a:xfrm rot="10800000" flipV="1">
            <a:off x="12482078" y="3370229"/>
            <a:ext cx="5274106" cy="3134783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Verbinder: gekrümmt 293">
            <a:extLst>
              <a:ext uri="{FF2B5EF4-FFF2-40B4-BE49-F238E27FC236}">
                <a16:creationId xmlns:a16="http://schemas.microsoft.com/office/drawing/2014/main" id="{E067D299-71C2-27F9-678A-7BDD854ED661}"/>
              </a:ext>
            </a:extLst>
          </p:cNvPr>
          <p:cNvCxnSpPr>
            <a:cxnSpLocks/>
            <a:stCxn id="251" idx="6"/>
            <a:endCxn id="99" idx="1"/>
          </p:cNvCxnSpPr>
          <p:nvPr/>
        </p:nvCxnSpPr>
        <p:spPr>
          <a:xfrm flipV="1">
            <a:off x="7153812" y="6505010"/>
            <a:ext cx="5328266" cy="2712762"/>
          </a:xfrm>
          <a:prstGeom prst="curvedConnector4">
            <a:avLst>
              <a:gd name="adj1" fmla="val 43143"/>
              <a:gd name="adj2" fmla="val 108427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Verbinder: gekrümmt 296">
            <a:extLst>
              <a:ext uri="{FF2B5EF4-FFF2-40B4-BE49-F238E27FC236}">
                <a16:creationId xmlns:a16="http://schemas.microsoft.com/office/drawing/2014/main" id="{A53EADE9-A1A9-04F8-ED1D-624A078F0D86}"/>
              </a:ext>
            </a:extLst>
          </p:cNvPr>
          <p:cNvCxnSpPr>
            <a:cxnSpLocks/>
            <a:stCxn id="247" idx="6"/>
            <a:endCxn id="99" idx="3"/>
          </p:cNvCxnSpPr>
          <p:nvPr/>
        </p:nvCxnSpPr>
        <p:spPr>
          <a:xfrm flipV="1">
            <a:off x="7161024" y="7046624"/>
            <a:ext cx="5321054" cy="2610762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Verbinder: gekrümmt 304">
            <a:extLst>
              <a:ext uri="{FF2B5EF4-FFF2-40B4-BE49-F238E27FC236}">
                <a16:creationId xmlns:a16="http://schemas.microsoft.com/office/drawing/2014/main" id="{9A6FDAFC-2F83-3C10-82E9-21AD364A062C}"/>
              </a:ext>
            </a:extLst>
          </p:cNvPr>
          <p:cNvCxnSpPr>
            <a:cxnSpLocks/>
            <a:stCxn id="237" idx="7"/>
            <a:endCxn id="99" idx="1"/>
          </p:cNvCxnSpPr>
          <p:nvPr/>
        </p:nvCxnSpPr>
        <p:spPr>
          <a:xfrm rot="5400000" flipH="1" flipV="1">
            <a:off x="7493855" y="6184271"/>
            <a:ext cx="4667480" cy="5308965"/>
          </a:xfrm>
          <a:prstGeom prst="curvedConnector3">
            <a:avLst>
              <a:gd name="adj1" fmla="val 104898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Ellipse 305">
            <a:extLst>
              <a:ext uri="{FF2B5EF4-FFF2-40B4-BE49-F238E27FC236}">
                <a16:creationId xmlns:a16="http://schemas.microsoft.com/office/drawing/2014/main" id="{4EDFCD88-C51B-124F-B009-FF682DA1F8D2}"/>
              </a:ext>
            </a:extLst>
          </p:cNvPr>
          <p:cNvSpPr/>
          <p:nvPr/>
        </p:nvSpPr>
        <p:spPr>
          <a:xfrm>
            <a:off x="7108454" y="11982912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C39D2EEF-7699-FF86-C89D-04ACFCF32E31}"/>
              </a:ext>
            </a:extLst>
          </p:cNvPr>
          <p:cNvSpPr/>
          <p:nvPr/>
        </p:nvSpPr>
        <p:spPr>
          <a:xfrm>
            <a:off x="7108454" y="12148135"/>
            <a:ext cx="45719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20" name="Verbinder: gekrümmt 319">
            <a:extLst>
              <a:ext uri="{FF2B5EF4-FFF2-40B4-BE49-F238E27FC236}">
                <a16:creationId xmlns:a16="http://schemas.microsoft.com/office/drawing/2014/main" id="{D47B3217-2E2D-88F4-CEF8-C155B5FF44DA}"/>
              </a:ext>
            </a:extLst>
          </p:cNvPr>
          <p:cNvCxnSpPr>
            <a:cxnSpLocks/>
            <a:stCxn id="233" idx="6"/>
            <a:endCxn id="210" idx="2"/>
          </p:cNvCxnSpPr>
          <p:nvPr/>
        </p:nvCxnSpPr>
        <p:spPr>
          <a:xfrm flipV="1">
            <a:off x="16721490" y="3765812"/>
            <a:ext cx="5095911" cy="6305649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Verbinder: gekrümmt 325">
            <a:extLst>
              <a:ext uri="{FF2B5EF4-FFF2-40B4-BE49-F238E27FC236}">
                <a16:creationId xmlns:a16="http://schemas.microsoft.com/office/drawing/2014/main" id="{8D92A0B0-8F15-20BD-3BFC-A1733049A130}"/>
              </a:ext>
            </a:extLst>
          </p:cNvPr>
          <p:cNvCxnSpPr>
            <a:cxnSpLocks/>
            <a:stCxn id="239" idx="6"/>
            <a:endCxn id="84" idx="3"/>
          </p:cNvCxnSpPr>
          <p:nvPr/>
        </p:nvCxnSpPr>
        <p:spPr>
          <a:xfrm flipH="1">
            <a:off x="12242540" y="10423841"/>
            <a:ext cx="4480480" cy="3243747"/>
          </a:xfrm>
          <a:prstGeom prst="curvedConnector3">
            <a:avLst>
              <a:gd name="adj1" fmla="val -510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Rechteck 344">
            <a:extLst>
              <a:ext uri="{FF2B5EF4-FFF2-40B4-BE49-F238E27FC236}">
                <a16:creationId xmlns:a16="http://schemas.microsoft.com/office/drawing/2014/main" id="{A9FAA250-F266-90C1-2B0C-43D14650F20C}"/>
              </a:ext>
            </a:extLst>
          </p:cNvPr>
          <p:cNvSpPr/>
          <p:nvPr/>
        </p:nvSpPr>
        <p:spPr>
          <a:xfrm>
            <a:off x="13451202" y="7295985"/>
            <a:ext cx="1571625" cy="1507975"/>
          </a:xfrm>
          <a:prstGeom prst="rect">
            <a:avLst/>
          </a:prstGeom>
          <a:ln>
            <a:solidFill>
              <a:srgbClr val="04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800" i="1"/>
              <a:t>NetconfInterfaceStateAnalyzer</a:t>
            </a:r>
            <a:endParaRPr lang="de-DE" sz="800"/>
          </a:p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Regularly send netconf requests to all documented mediatorProcesses to determine their operational state and update AppDATA with status data</a:t>
            </a:r>
          </a:p>
        </p:txBody>
      </p:sp>
      <p:pic>
        <p:nvPicPr>
          <p:cNvPr id="346" name="Grafik 345">
            <a:extLst>
              <a:ext uri="{FF2B5EF4-FFF2-40B4-BE49-F238E27FC236}">
                <a16:creationId xmlns:a16="http://schemas.microsoft.com/office/drawing/2014/main" id="{EFF0F8E7-A9DA-88D8-2ACB-F80ECF978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5701" y="7494465"/>
            <a:ext cx="260088" cy="273783"/>
          </a:xfrm>
          <a:prstGeom prst="rect">
            <a:avLst/>
          </a:prstGeom>
        </p:spPr>
      </p:pic>
      <p:cxnSp>
        <p:nvCxnSpPr>
          <p:cNvPr id="347" name="Verbinder: gekrümmt 346">
            <a:extLst>
              <a:ext uri="{FF2B5EF4-FFF2-40B4-BE49-F238E27FC236}">
                <a16:creationId xmlns:a16="http://schemas.microsoft.com/office/drawing/2014/main" id="{907C5ECB-8D81-E02A-D05F-356C446EE16A}"/>
              </a:ext>
            </a:extLst>
          </p:cNvPr>
          <p:cNvCxnSpPr>
            <a:cxnSpLocks/>
            <a:stCxn id="345" idx="0"/>
            <a:endCxn id="99" idx="3"/>
          </p:cNvCxnSpPr>
          <p:nvPr/>
        </p:nvCxnSpPr>
        <p:spPr>
          <a:xfrm rot="16200000" flipV="1">
            <a:off x="13234866" y="6293836"/>
            <a:ext cx="249358" cy="175493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Verbinder: gekrümmt 348">
            <a:extLst>
              <a:ext uri="{FF2B5EF4-FFF2-40B4-BE49-F238E27FC236}">
                <a16:creationId xmlns:a16="http://schemas.microsoft.com/office/drawing/2014/main" id="{F96F34AD-F463-3D89-2CA1-85EC87B0FA4F}"/>
              </a:ext>
            </a:extLst>
          </p:cNvPr>
          <p:cNvCxnSpPr>
            <a:cxnSpLocks/>
            <a:stCxn id="345" idx="2"/>
            <a:endCxn id="114" idx="3"/>
          </p:cNvCxnSpPr>
          <p:nvPr/>
        </p:nvCxnSpPr>
        <p:spPr>
          <a:xfrm rot="5400000">
            <a:off x="10529388" y="10517109"/>
            <a:ext cx="5420776" cy="199447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Verbinder: gekrümmt 352">
            <a:extLst>
              <a:ext uri="{FF2B5EF4-FFF2-40B4-BE49-F238E27FC236}">
                <a16:creationId xmlns:a16="http://schemas.microsoft.com/office/drawing/2014/main" id="{5C9CE3CC-A505-0137-60F5-65EB22F4E8FA}"/>
              </a:ext>
            </a:extLst>
          </p:cNvPr>
          <p:cNvCxnSpPr>
            <a:cxnSpLocks/>
            <a:stCxn id="345" idx="0"/>
            <a:endCxn id="99" idx="1"/>
          </p:cNvCxnSpPr>
          <p:nvPr/>
        </p:nvCxnSpPr>
        <p:spPr>
          <a:xfrm rot="16200000" flipV="1">
            <a:off x="12964059" y="6023029"/>
            <a:ext cx="790972" cy="1754934"/>
          </a:xfrm>
          <a:prstGeom prst="curvedConnector3">
            <a:avLst>
              <a:gd name="adj1" fmla="val 1289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Textfeld 360">
            <a:extLst>
              <a:ext uri="{FF2B5EF4-FFF2-40B4-BE49-F238E27FC236}">
                <a16:creationId xmlns:a16="http://schemas.microsoft.com/office/drawing/2014/main" id="{6F960F18-3AF0-3FBE-9EFF-0F931AABE477}"/>
              </a:ext>
            </a:extLst>
          </p:cNvPr>
          <p:cNvSpPr txBox="1"/>
          <p:nvPr/>
        </p:nvSpPr>
        <p:spPr>
          <a:xfrm>
            <a:off x="12235741" y="13415524"/>
            <a:ext cx="19217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/>
              <a:t>/v1/dismantle-mediator-instance</a:t>
            </a:r>
          </a:p>
        </p:txBody>
      </p:sp>
      <p:grpSp>
        <p:nvGrpSpPr>
          <p:cNvPr id="368" name="Gruppieren 367">
            <a:extLst>
              <a:ext uri="{FF2B5EF4-FFF2-40B4-BE49-F238E27FC236}">
                <a16:creationId xmlns:a16="http://schemas.microsoft.com/office/drawing/2014/main" id="{544AB122-FC55-7CAB-709A-1F82B50EFF40}"/>
              </a:ext>
            </a:extLst>
          </p:cNvPr>
          <p:cNvGrpSpPr/>
          <p:nvPr/>
        </p:nvGrpSpPr>
        <p:grpSpPr>
          <a:xfrm>
            <a:off x="10871348" y="13396568"/>
            <a:ext cx="1371192" cy="1549618"/>
            <a:chOff x="7951059" y="10590996"/>
            <a:chExt cx="1371192" cy="1549618"/>
          </a:xfrm>
        </p:grpSpPr>
        <p:grpSp>
          <p:nvGrpSpPr>
            <p:cNvPr id="202" name="Gruppieren 201">
              <a:extLst>
                <a:ext uri="{FF2B5EF4-FFF2-40B4-BE49-F238E27FC236}">
                  <a16:creationId xmlns:a16="http://schemas.microsoft.com/office/drawing/2014/main" id="{5AEE2D10-F89B-E123-FB17-177128F8D172}"/>
                </a:ext>
              </a:extLst>
            </p:cNvPr>
            <p:cNvGrpSpPr/>
            <p:nvPr/>
          </p:nvGrpSpPr>
          <p:grpSpPr>
            <a:xfrm>
              <a:off x="7951059" y="10590996"/>
              <a:ext cx="1257300" cy="1442907"/>
              <a:chOff x="10924900" y="10591007"/>
              <a:chExt cx="1257300" cy="1442907"/>
            </a:xfrm>
          </p:grpSpPr>
          <p:sp>
            <p:nvSpPr>
              <p:cNvPr id="196" name="Rechteck: abgerundete Ecken 195">
                <a:extLst>
                  <a:ext uri="{FF2B5EF4-FFF2-40B4-BE49-F238E27FC236}">
                    <a16:creationId xmlns:a16="http://schemas.microsoft.com/office/drawing/2014/main" id="{E5C8744C-C02C-AE9B-4068-2EA3CF897565}"/>
                  </a:ext>
                </a:extLst>
              </p:cNvPr>
              <p:cNvSpPr/>
              <p:nvPr/>
            </p:nvSpPr>
            <p:spPr>
              <a:xfrm>
                <a:off x="10924900" y="10591007"/>
                <a:ext cx="1257300" cy="1442907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  <a:p>
                <a:pPr algn="ctr"/>
                <a:endParaRPr lang="de-DE" sz="1050"/>
              </a:p>
              <a:p>
                <a:pPr algn="ctr"/>
                <a:r>
                  <a:rPr lang="de-DE" sz="1050"/>
                  <a:t>mediatorVM</a:t>
                </a:r>
              </a:p>
              <a:p>
                <a:endParaRPr lang="de-DE" sz="800"/>
              </a:p>
              <a:p>
                <a:r>
                  <a:rPr lang="de-DE" sz="800"/>
                  <a:t>mediatorProcess#1</a:t>
                </a:r>
              </a:p>
              <a:p>
                <a:r>
                  <a:rPr lang="de-DE" sz="800"/>
                  <a:t>mediatorProcess#2</a:t>
                </a:r>
              </a:p>
              <a:p>
                <a:r>
                  <a:rPr lang="de-DE" sz="800"/>
                  <a:t>…</a:t>
                </a:r>
              </a:p>
              <a:p>
                <a:r>
                  <a:rPr lang="de-DE" sz="800"/>
                  <a:t>mediatorProcess#n</a:t>
                </a:r>
              </a:p>
            </p:txBody>
          </p:sp>
          <p:sp>
            <p:nvSpPr>
              <p:cNvPr id="197" name="Rechteck: abgerundete Ecken 196">
                <a:extLst>
                  <a:ext uri="{FF2B5EF4-FFF2-40B4-BE49-F238E27FC236}">
                    <a16:creationId xmlns:a16="http://schemas.microsoft.com/office/drawing/2014/main" id="{DE1EF18F-9F6B-4DEF-80C2-451681BC0416}"/>
                  </a:ext>
                </a:extLst>
              </p:cNvPr>
              <p:cNvSpPr/>
              <p:nvPr/>
            </p:nvSpPr>
            <p:spPr>
              <a:xfrm>
                <a:off x="10924900" y="10591007"/>
                <a:ext cx="1257300" cy="32861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900"/>
                  <a:t>MIM</a:t>
                </a:r>
              </a:p>
            </p:txBody>
          </p:sp>
          <p:sp>
            <p:nvSpPr>
              <p:cNvPr id="198" name="Ellipse 197">
                <a:extLst>
                  <a:ext uri="{FF2B5EF4-FFF2-40B4-BE49-F238E27FC236}">
                    <a16:creationId xmlns:a16="http://schemas.microsoft.com/office/drawing/2014/main" id="{81EDEA61-9EF0-BCF7-3AD9-C2A5DFD686D2}"/>
                  </a:ext>
                </a:extLst>
              </p:cNvPr>
              <p:cNvSpPr/>
              <p:nvPr/>
            </p:nvSpPr>
            <p:spPr>
              <a:xfrm>
                <a:off x="10948386" y="11689639"/>
                <a:ext cx="62820" cy="7011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199" name="Ellipse 198">
                <a:extLst>
                  <a:ext uri="{FF2B5EF4-FFF2-40B4-BE49-F238E27FC236}">
                    <a16:creationId xmlns:a16="http://schemas.microsoft.com/office/drawing/2014/main" id="{586B154C-DFF2-10DA-F4CE-88E0CB4B6A0C}"/>
                  </a:ext>
                </a:extLst>
              </p:cNvPr>
              <p:cNvSpPr/>
              <p:nvPr/>
            </p:nvSpPr>
            <p:spPr>
              <a:xfrm>
                <a:off x="12069816" y="11689639"/>
                <a:ext cx="62820" cy="7011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200" name="Ellipse 199">
                <a:extLst>
                  <a:ext uri="{FF2B5EF4-FFF2-40B4-BE49-F238E27FC236}">
                    <a16:creationId xmlns:a16="http://schemas.microsoft.com/office/drawing/2014/main" id="{DE7A60DA-6C97-CB59-B087-07F92C9D4C03}"/>
                  </a:ext>
                </a:extLst>
              </p:cNvPr>
              <p:cNvSpPr/>
              <p:nvPr/>
            </p:nvSpPr>
            <p:spPr>
              <a:xfrm>
                <a:off x="12101226" y="11326854"/>
                <a:ext cx="62820" cy="7011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201" name="Ellipse 200">
                <a:extLst>
                  <a:ext uri="{FF2B5EF4-FFF2-40B4-BE49-F238E27FC236}">
                    <a16:creationId xmlns:a16="http://schemas.microsoft.com/office/drawing/2014/main" id="{E6E28A01-0D0E-43D3-D44D-488AC61BAF04}"/>
                  </a:ext>
                </a:extLst>
              </p:cNvPr>
              <p:cNvSpPr/>
              <p:nvPr/>
            </p:nvSpPr>
            <p:spPr>
              <a:xfrm>
                <a:off x="10979796" y="11332721"/>
                <a:ext cx="62820" cy="7011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</p:grpSp>
        <p:grpSp>
          <p:nvGrpSpPr>
            <p:cNvPr id="122" name="Gruppieren 121">
              <a:extLst>
                <a:ext uri="{FF2B5EF4-FFF2-40B4-BE49-F238E27FC236}">
                  <a16:creationId xmlns:a16="http://schemas.microsoft.com/office/drawing/2014/main" id="{5679A4A5-E986-DCF8-0EAF-8DDFE68C827D}"/>
                </a:ext>
              </a:extLst>
            </p:cNvPr>
            <p:cNvGrpSpPr/>
            <p:nvPr/>
          </p:nvGrpSpPr>
          <p:grpSpPr>
            <a:xfrm>
              <a:off x="8064951" y="10697707"/>
              <a:ext cx="1257300" cy="1442907"/>
              <a:chOff x="9442450" y="10552243"/>
              <a:chExt cx="1257300" cy="1442907"/>
            </a:xfrm>
          </p:grpSpPr>
          <p:sp>
            <p:nvSpPr>
              <p:cNvPr id="114" name="Rechteck: abgerundete Ecken 113">
                <a:extLst>
                  <a:ext uri="{FF2B5EF4-FFF2-40B4-BE49-F238E27FC236}">
                    <a16:creationId xmlns:a16="http://schemas.microsoft.com/office/drawing/2014/main" id="{C0D61018-DD68-B783-0D87-6E46773ABBA5}"/>
                  </a:ext>
                </a:extLst>
              </p:cNvPr>
              <p:cNvSpPr/>
              <p:nvPr/>
            </p:nvSpPr>
            <p:spPr>
              <a:xfrm>
                <a:off x="9442450" y="10552243"/>
                <a:ext cx="1257300" cy="1442907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  <a:p>
                <a:pPr algn="ctr"/>
                <a:endParaRPr lang="de-DE" sz="1050"/>
              </a:p>
              <a:p>
                <a:pPr algn="ctr"/>
                <a:r>
                  <a:rPr lang="de-DE" sz="1050"/>
                  <a:t>mediatorVM</a:t>
                </a:r>
              </a:p>
              <a:p>
                <a:endParaRPr lang="de-DE" sz="800"/>
              </a:p>
              <a:p>
                <a:r>
                  <a:rPr lang="de-DE" sz="800"/>
                  <a:t>mediatorProcess#1</a:t>
                </a:r>
              </a:p>
              <a:p>
                <a:r>
                  <a:rPr lang="de-DE" sz="800"/>
                  <a:t>mediatorProcess#2</a:t>
                </a:r>
              </a:p>
              <a:p>
                <a:r>
                  <a:rPr lang="de-DE" sz="800"/>
                  <a:t>…</a:t>
                </a:r>
              </a:p>
              <a:p>
                <a:r>
                  <a:rPr lang="de-DE" sz="800"/>
                  <a:t>mediatorProcess#n</a:t>
                </a:r>
              </a:p>
            </p:txBody>
          </p:sp>
          <p:sp>
            <p:nvSpPr>
              <p:cNvPr id="84" name="Rechteck: abgerundete Ecken 83">
                <a:extLst>
                  <a:ext uri="{FF2B5EF4-FFF2-40B4-BE49-F238E27FC236}">
                    <a16:creationId xmlns:a16="http://schemas.microsoft.com/office/drawing/2014/main" id="{7AB70A29-DF37-2F1A-F8F8-82ECADC63218}"/>
                  </a:ext>
                </a:extLst>
              </p:cNvPr>
              <p:cNvSpPr/>
              <p:nvPr/>
            </p:nvSpPr>
            <p:spPr>
              <a:xfrm>
                <a:off x="9442450" y="10552243"/>
                <a:ext cx="1257300" cy="32861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900"/>
                  <a:t>MIM</a:t>
                </a:r>
              </a:p>
            </p:txBody>
          </p:sp>
          <p:sp>
            <p:nvSpPr>
              <p:cNvPr id="118" name="Ellipse 117">
                <a:extLst>
                  <a:ext uri="{FF2B5EF4-FFF2-40B4-BE49-F238E27FC236}">
                    <a16:creationId xmlns:a16="http://schemas.microsoft.com/office/drawing/2014/main" id="{7EE6A8AA-2B90-132F-4D79-74C7F38E6645}"/>
                  </a:ext>
                </a:extLst>
              </p:cNvPr>
              <p:cNvSpPr/>
              <p:nvPr/>
            </p:nvSpPr>
            <p:spPr>
              <a:xfrm>
                <a:off x="9465936" y="11650875"/>
                <a:ext cx="62820" cy="7011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119" name="Ellipse 118">
                <a:extLst>
                  <a:ext uri="{FF2B5EF4-FFF2-40B4-BE49-F238E27FC236}">
                    <a16:creationId xmlns:a16="http://schemas.microsoft.com/office/drawing/2014/main" id="{29039A0C-2B5D-A65A-F96B-F0AC5BC95618}"/>
                  </a:ext>
                </a:extLst>
              </p:cNvPr>
              <p:cNvSpPr/>
              <p:nvPr/>
            </p:nvSpPr>
            <p:spPr>
              <a:xfrm>
                <a:off x="10587366" y="11650875"/>
                <a:ext cx="62820" cy="7011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120" name="Ellipse 119">
                <a:extLst>
                  <a:ext uri="{FF2B5EF4-FFF2-40B4-BE49-F238E27FC236}">
                    <a16:creationId xmlns:a16="http://schemas.microsoft.com/office/drawing/2014/main" id="{AB71EFE7-7528-2E1F-DE68-34D159F1CA49}"/>
                  </a:ext>
                </a:extLst>
              </p:cNvPr>
              <p:cNvSpPr/>
              <p:nvPr/>
            </p:nvSpPr>
            <p:spPr>
              <a:xfrm>
                <a:off x="10618776" y="11288090"/>
                <a:ext cx="62820" cy="7011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  <p:sp>
            <p:nvSpPr>
              <p:cNvPr id="121" name="Ellipse 120">
                <a:extLst>
                  <a:ext uri="{FF2B5EF4-FFF2-40B4-BE49-F238E27FC236}">
                    <a16:creationId xmlns:a16="http://schemas.microsoft.com/office/drawing/2014/main" id="{DF4D51F5-7C0B-1ADF-5880-79C88AAD6B0C}"/>
                  </a:ext>
                </a:extLst>
              </p:cNvPr>
              <p:cNvSpPr/>
              <p:nvPr/>
            </p:nvSpPr>
            <p:spPr>
              <a:xfrm>
                <a:off x="9497346" y="11293957"/>
                <a:ext cx="62820" cy="7011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de-DE" sz="1050"/>
              </a:p>
            </p:txBody>
          </p:sp>
        </p:grpSp>
        <p:sp>
          <p:nvSpPr>
            <p:cNvPr id="234" name="Ellipse 233">
              <a:extLst>
                <a:ext uri="{FF2B5EF4-FFF2-40B4-BE49-F238E27FC236}">
                  <a16:creationId xmlns:a16="http://schemas.microsoft.com/office/drawing/2014/main" id="{9D92FC26-513D-F1A1-46E5-D0C12645E7F2}"/>
                </a:ext>
              </a:extLst>
            </p:cNvPr>
            <p:cNvSpPr/>
            <p:nvPr/>
          </p:nvSpPr>
          <p:spPr>
            <a:xfrm>
              <a:off x="9201126" y="10731541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4" name="Ellipse 243">
              <a:extLst>
                <a:ext uri="{FF2B5EF4-FFF2-40B4-BE49-F238E27FC236}">
                  <a16:creationId xmlns:a16="http://schemas.microsoft.com/office/drawing/2014/main" id="{00632EDC-13ED-D796-F3E2-9A8D80DB2728}"/>
                </a:ext>
              </a:extLst>
            </p:cNvPr>
            <p:cNvSpPr/>
            <p:nvPr/>
          </p:nvSpPr>
          <p:spPr>
            <a:xfrm>
              <a:off x="8117112" y="10733848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6" name="Ellipse 365">
              <a:extLst>
                <a:ext uri="{FF2B5EF4-FFF2-40B4-BE49-F238E27FC236}">
                  <a16:creationId xmlns:a16="http://schemas.microsoft.com/office/drawing/2014/main" id="{828FC9DE-6473-436D-69FD-C4D4AA62218C}"/>
                </a:ext>
              </a:extLst>
            </p:cNvPr>
            <p:cNvSpPr/>
            <p:nvPr/>
          </p:nvSpPr>
          <p:spPr>
            <a:xfrm>
              <a:off x="8983052" y="10728225"/>
              <a:ext cx="45719" cy="457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79" name="Rechteck 378">
            <a:extLst>
              <a:ext uri="{FF2B5EF4-FFF2-40B4-BE49-F238E27FC236}">
                <a16:creationId xmlns:a16="http://schemas.microsoft.com/office/drawing/2014/main" id="{F6FC92C7-3D49-7205-A078-6D4B274D32F3}"/>
              </a:ext>
            </a:extLst>
          </p:cNvPr>
          <p:cNvSpPr/>
          <p:nvPr/>
        </p:nvSpPr>
        <p:spPr>
          <a:xfrm>
            <a:off x="17729239" y="9793503"/>
            <a:ext cx="1798430" cy="1694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r>
              <a:rPr lang="de-DE" sz="800" i="1"/>
              <a:t>UnusedMediatorProcessTracker</a:t>
            </a:r>
            <a:endParaRPr lang="de-DE" sz="800"/>
          </a:p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Go slowly throu all mediatorProcess at all mediatorVms and ask the MO for the netconf port at the mountPoint in ODL</a:t>
            </a:r>
          </a:p>
          <a:p>
            <a:endParaRPr lang="de-DE" sz="800"/>
          </a:p>
          <a:p>
            <a:r>
              <a:rPr lang="de-DE" sz="800"/>
              <a:t>IF mountPoint is addressing another mediatorProcess</a:t>
            </a:r>
          </a:p>
          <a:p>
            <a:r>
              <a:rPr lang="de-DE" sz="800"/>
              <a:t>THEN add to dismantleQueue </a:t>
            </a:r>
          </a:p>
          <a:p>
            <a:r>
              <a:rPr lang="de-DE" sz="800"/>
              <a:t>ELSE no change</a:t>
            </a:r>
          </a:p>
        </p:txBody>
      </p:sp>
      <p:pic>
        <p:nvPicPr>
          <p:cNvPr id="380" name="Grafik 379">
            <a:extLst>
              <a:ext uri="{FF2B5EF4-FFF2-40B4-BE49-F238E27FC236}">
                <a16:creationId xmlns:a16="http://schemas.microsoft.com/office/drawing/2014/main" id="{F32C22D3-797D-88B2-894A-BD2585245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6436" y="10009130"/>
            <a:ext cx="260088" cy="251271"/>
          </a:xfrm>
          <a:prstGeom prst="rect">
            <a:avLst/>
          </a:prstGeom>
        </p:spPr>
      </p:pic>
      <p:sp>
        <p:nvSpPr>
          <p:cNvPr id="381" name="Textfeld 380">
            <a:extLst>
              <a:ext uri="{FF2B5EF4-FFF2-40B4-BE49-F238E27FC236}">
                <a16:creationId xmlns:a16="http://schemas.microsoft.com/office/drawing/2014/main" id="{CB1BBA9E-BA83-774D-6BC0-5FD2B534CD84}"/>
              </a:ext>
            </a:extLst>
          </p:cNvPr>
          <p:cNvSpPr txBox="1"/>
          <p:nvPr/>
        </p:nvSpPr>
        <p:spPr>
          <a:xfrm>
            <a:off x="1746681" y="4761763"/>
            <a:ext cx="8226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cxnSp>
        <p:nvCxnSpPr>
          <p:cNvPr id="418" name="Verbinder: gekrümmt 417">
            <a:extLst>
              <a:ext uri="{FF2B5EF4-FFF2-40B4-BE49-F238E27FC236}">
                <a16:creationId xmlns:a16="http://schemas.microsoft.com/office/drawing/2014/main" id="{52669EDD-467C-6E1D-133F-905A1D3143D1}"/>
              </a:ext>
            </a:extLst>
          </p:cNvPr>
          <p:cNvCxnSpPr>
            <a:cxnSpLocks/>
            <a:stCxn id="236" idx="6"/>
            <a:endCxn id="121" idx="2"/>
          </p:cNvCxnSpPr>
          <p:nvPr/>
        </p:nvCxnSpPr>
        <p:spPr>
          <a:xfrm>
            <a:off x="10289046" y="12609576"/>
            <a:ext cx="751093" cy="1670474"/>
          </a:xfrm>
          <a:prstGeom prst="curved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Verbinder: gekrümmt 170">
            <a:extLst>
              <a:ext uri="{FF2B5EF4-FFF2-40B4-BE49-F238E27FC236}">
                <a16:creationId xmlns:a16="http://schemas.microsoft.com/office/drawing/2014/main" id="{5F1E594E-4CD0-D101-9518-C767663A5475}"/>
              </a:ext>
            </a:extLst>
          </p:cNvPr>
          <p:cNvCxnSpPr>
            <a:cxnSpLocks/>
            <a:stCxn id="166" idx="6"/>
            <a:endCxn id="197" idx="0"/>
          </p:cNvCxnSpPr>
          <p:nvPr/>
        </p:nvCxnSpPr>
        <p:spPr>
          <a:xfrm>
            <a:off x="10266186" y="12135940"/>
            <a:ext cx="1233815" cy="1260631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Verbinder: gekrümmt 461">
            <a:extLst>
              <a:ext uri="{FF2B5EF4-FFF2-40B4-BE49-F238E27FC236}">
                <a16:creationId xmlns:a16="http://schemas.microsoft.com/office/drawing/2014/main" id="{7378382E-2658-1C8C-01AB-865DB8B750F2}"/>
              </a:ext>
            </a:extLst>
          </p:cNvPr>
          <p:cNvCxnSpPr>
            <a:cxnSpLocks/>
            <a:stCxn id="379" idx="2"/>
            <a:endCxn id="103" idx="0"/>
          </p:cNvCxnSpPr>
          <p:nvPr/>
        </p:nvCxnSpPr>
        <p:spPr>
          <a:xfrm rot="5400000" flipH="1">
            <a:off x="14224819" y="7084020"/>
            <a:ext cx="6207266" cy="2600004"/>
          </a:xfrm>
          <a:prstGeom prst="curvedConnector5">
            <a:avLst>
              <a:gd name="adj1" fmla="val -3683"/>
              <a:gd name="adj2" fmla="val 52292"/>
              <a:gd name="adj3" fmla="val 103683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5A45491C-39F5-65AF-9F68-2F3D46BA3DD7}"/>
              </a:ext>
            </a:extLst>
          </p:cNvPr>
          <p:cNvCxnSpPr>
            <a:cxnSpLocks/>
          </p:cNvCxnSpPr>
          <p:nvPr/>
        </p:nvCxnSpPr>
        <p:spPr>
          <a:xfrm>
            <a:off x="4594833" y="3340129"/>
            <a:ext cx="3350973" cy="25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716B9F04-740C-64F6-1517-616A01104468}"/>
              </a:ext>
            </a:extLst>
          </p:cNvPr>
          <p:cNvSpPr txBox="1"/>
          <p:nvPr/>
        </p:nvSpPr>
        <p:spPr>
          <a:xfrm>
            <a:off x="4286920" y="3082899"/>
            <a:ext cx="3728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/v1/provide-alarms-for-connection {connectionId==mountPoint)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69675F5D-C5FA-D48F-6C70-AAA7B4D8177B}"/>
              </a:ext>
            </a:extLst>
          </p:cNvPr>
          <p:cNvCxnSpPr>
            <a:cxnSpLocks/>
          </p:cNvCxnSpPr>
          <p:nvPr/>
        </p:nvCxnSpPr>
        <p:spPr>
          <a:xfrm flipH="1" flipV="1">
            <a:off x="4548238" y="3473887"/>
            <a:ext cx="3436697" cy="3525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69550947-F7A9-678B-EACA-8B3BDC47C42A}"/>
              </a:ext>
            </a:extLst>
          </p:cNvPr>
          <p:cNvSpPr txBox="1"/>
          <p:nvPr/>
        </p:nvSpPr>
        <p:spPr>
          <a:xfrm>
            <a:off x="4489209" y="3457351"/>
            <a:ext cx="18582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{list of currently active alarms}</a:t>
            </a:r>
          </a:p>
        </p:txBody>
      </p:sp>
      <p:cxnSp>
        <p:nvCxnSpPr>
          <p:cNvPr id="50" name="Verbinder: gekrümmt 49">
            <a:extLst>
              <a:ext uri="{FF2B5EF4-FFF2-40B4-BE49-F238E27FC236}">
                <a16:creationId xmlns:a16="http://schemas.microsoft.com/office/drawing/2014/main" id="{A85011FA-55C4-40DC-919A-E4F55495E826}"/>
              </a:ext>
            </a:extLst>
          </p:cNvPr>
          <p:cNvCxnSpPr>
            <a:cxnSpLocks/>
            <a:endCxn id="99" idx="3"/>
          </p:cNvCxnSpPr>
          <p:nvPr/>
        </p:nvCxnSpPr>
        <p:spPr>
          <a:xfrm>
            <a:off x="7146838" y="5086896"/>
            <a:ext cx="5335243" cy="1959728"/>
          </a:xfrm>
          <a:prstGeom prst="curvedConnector4">
            <a:avLst>
              <a:gd name="adj1" fmla="val 43151"/>
              <a:gd name="adj2" fmla="val 11166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A774034F-560F-7CA7-9FFD-8EE28037E4F9}"/>
              </a:ext>
            </a:extLst>
          </p:cNvPr>
          <p:cNvSpPr txBox="1"/>
          <p:nvPr/>
        </p:nvSpPr>
        <p:spPr>
          <a:xfrm rot="1675356">
            <a:off x="12029636" y="11662094"/>
            <a:ext cx="19217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/>
              <a:t>/v1/prepare-connection {deviceIp, deviceModel}</a:t>
            </a:r>
          </a:p>
        </p:txBody>
      </p:sp>
      <p:cxnSp>
        <p:nvCxnSpPr>
          <p:cNvPr id="450" name="Verbinder: gekrümmt 449">
            <a:extLst>
              <a:ext uri="{FF2B5EF4-FFF2-40B4-BE49-F238E27FC236}">
                <a16:creationId xmlns:a16="http://schemas.microsoft.com/office/drawing/2014/main" id="{D086A7D4-5665-79AC-2FA5-1740BF4BDEED}"/>
              </a:ext>
            </a:extLst>
          </p:cNvPr>
          <p:cNvCxnSpPr>
            <a:cxnSpLocks/>
            <a:stCxn id="163" idx="6"/>
            <a:endCxn id="99" idx="3"/>
          </p:cNvCxnSpPr>
          <p:nvPr/>
        </p:nvCxnSpPr>
        <p:spPr>
          <a:xfrm flipV="1">
            <a:off x="10289042" y="7046627"/>
            <a:ext cx="2193036" cy="6357331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crollen: vertikal 8">
            <a:extLst>
              <a:ext uri="{FF2B5EF4-FFF2-40B4-BE49-F238E27FC236}">
                <a16:creationId xmlns:a16="http://schemas.microsoft.com/office/drawing/2014/main" id="{955A8D41-311F-F1B9-433D-B3628AEE3ECC}"/>
              </a:ext>
            </a:extLst>
          </p:cNvPr>
          <p:cNvSpPr/>
          <p:nvPr/>
        </p:nvSpPr>
        <p:spPr>
          <a:xfrm>
            <a:off x="7890967" y="2966934"/>
            <a:ext cx="1560042" cy="997947"/>
          </a:xfrm>
          <a:prstGeom prst="verticalScroll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>
                <a:solidFill>
                  <a:srgbClr val="FF0000"/>
                </a:solidFill>
              </a:rPr>
              <a:t>AlarmList</a:t>
            </a:r>
          </a:p>
        </p:txBody>
      </p:sp>
      <p:cxnSp>
        <p:nvCxnSpPr>
          <p:cNvPr id="20" name="Verbinder: gekrümmt 19">
            <a:extLst>
              <a:ext uri="{FF2B5EF4-FFF2-40B4-BE49-F238E27FC236}">
                <a16:creationId xmlns:a16="http://schemas.microsoft.com/office/drawing/2014/main" id="{A4174CDF-3609-292F-0516-515356C0A33C}"/>
              </a:ext>
            </a:extLst>
          </p:cNvPr>
          <p:cNvCxnSpPr>
            <a:cxnSpLocks/>
            <a:endCxn id="9" idx="2"/>
          </p:cNvCxnSpPr>
          <p:nvPr/>
        </p:nvCxnSpPr>
        <p:spPr>
          <a:xfrm rot="10800000">
            <a:off x="8670992" y="3964882"/>
            <a:ext cx="2643125" cy="524155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6EF19788-C1A1-5463-BE47-036CBEC31C59}"/>
              </a:ext>
            </a:extLst>
          </p:cNvPr>
          <p:cNvSpPr txBox="1"/>
          <p:nvPr/>
        </p:nvSpPr>
        <p:spPr>
          <a:xfrm rot="346354">
            <a:off x="9304650" y="4168427"/>
            <a:ext cx="1669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/>
            </a:lvl1pPr>
          </a:lstStyle>
          <a:p>
            <a:r>
              <a:rPr lang="de-DE"/>
              <a:t>(private) /p1/create-entry-in-alarm-list</a:t>
            </a:r>
          </a:p>
          <a:p>
            <a:r>
              <a:rPr lang="de-DE"/>
              <a:t>(private) /p1/delete-entry-in-alarm-list</a:t>
            </a: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B753D5BC-06A2-E444-F342-29D4F051B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248" y="11028906"/>
            <a:ext cx="260088" cy="273783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76AC2175-49FB-26F5-AE98-AF5889C5B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8429" y="10071460"/>
            <a:ext cx="260088" cy="273783"/>
          </a:xfrm>
          <a:prstGeom prst="rect">
            <a:avLst/>
          </a:prstGeom>
        </p:spPr>
      </p:pic>
      <p:sp>
        <p:nvSpPr>
          <p:cNvPr id="43" name="Rechteck 42">
            <a:extLst>
              <a:ext uri="{FF2B5EF4-FFF2-40B4-BE49-F238E27FC236}">
                <a16:creationId xmlns:a16="http://schemas.microsoft.com/office/drawing/2014/main" id="{029D838B-9268-CDDA-BB54-8E25901775DF}"/>
              </a:ext>
            </a:extLst>
          </p:cNvPr>
          <p:cNvSpPr/>
          <p:nvPr/>
        </p:nvSpPr>
        <p:spPr>
          <a:xfrm>
            <a:off x="10746523" y="2868553"/>
            <a:ext cx="1934110" cy="14067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r>
              <a:rPr lang="de-DE" sz="800" i="1"/>
              <a:t>TroubleShooter</a:t>
            </a:r>
          </a:p>
          <a:p>
            <a:pPr>
              <a:tabLst>
                <a:tab pos="36000" algn="l"/>
              </a:tabLst>
            </a:pPr>
            <a:endParaRPr lang="de-DE" sz="800"/>
          </a:p>
          <a:p>
            <a:pPr>
              <a:tabLst>
                <a:tab pos="36000" algn="l"/>
              </a:tabLst>
            </a:pPr>
            <a:endParaRPr lang="de-DE" sz="800"/>
          </a:p>
          <a:p>
            <a:pPr>
              <a:tabLst>
                <a:tab pos="36000" algn="l"/>
              </a:tabLst>
            </a:pPr>
            <a:r>
              <a:rPr lang="de-DE" sz="800"/>
              <a:t>Check AlarmList for 532</a:t>
            </a:r>
          </a:p>
          <a:p>
            <a:pPr>
              <a:tabLst>
                <a:tab pos="36000" algn="l"/>
              </a:tabLst>
            </a:pPr>
            <a:r>
              <a:rPr lang="de-DE" sz="800"/>
              <a:t>IF timestamp elder that </a:t>
            </a:r>
            <a:r>
              <a:rPr lang="de-DE" sz="800" i="1"/>
              <a:t>[threshold]</a:t>
            </a:r>
          </a:p>
          <a:p>
            <a:pPr>
              <a:tabLst>
                <a:tab pos="36000" algn="l"/>
              </a:tabLst>
            </a:pPr>
            <a:r>
              <a:rPr lang="de-DE" sz="800"/>
              <a:t>THEN trigger </a:t>
            </a:r>
            <a:r>
              <a:rPr lang="de-DE" sz="800" i="1"/>
              <a:t>NetconfConnectionBuilder</a:t>
            </a:r>
          </a:p>
          <a:p>
            <a:pPr>
              <a:tabLst>
                <a:tab pos="36000" algn="l"/>
              </a:tabLst>
            </a:pPr>
            <a:endParaRPr lang="de-DE" sz="800" i="1"/>
          </a:p>
          <a:p>
            <a:pPr>
              <a:tabLst>
                <a:tab pos="36000" algn="l"/>
              </a:tabLst>
            </a:pPr>
            <a:r>
              <a:rPr lang="de-DE" sz="800"/>
              <a:t>Check AlarmList for …</a:t>
            </a:r>
            <a:endParaRPr lang="de-DE" sz="800" i="1"/>
          </a:p>
          <a:p>
            <a:pPr>
              <a:tabLst>
                <a:tab pos="36000" algn="l"/>
              </a:tabLst>
            </a:pPr>
            <a:r>
              <a:rPr lang="de-DE" sz="800"/>
              <a:t>IF condition</a:t>
            </a:r>
          </a:p>
          <a:p>
            <a:pPr>
              <a:tabLst>
                <a:tab pos="36000" algn="l"/>
              </a:tabLst>
            </a:pPr>
            <a:r>
              <a:rPr lang="de-DE" sz="800"/>
              <a:t>THEN counter measure</a:t>
            </a:r>
          </a:p>
          <a:p>
            <a:pPr>
              <a:tabLst>
                <a:tab pos="36000" algn="l"/>
              </a:tabLst>
            </a:pPr>
            <a:r>
              <a:rPr lang="de-DE" sz="800"/>
              <a:t>….</a:t>
            </a:r>
          </a:p>
        </p:txBody>
      </p:sp>
      <p:pic>
        <p:nvPicPr>
          <p:cNvPr id="38" name="Grafik 37">
            <a:extLst>
              <a:ext uri="{FF2B5EF4-FFF2-40B4-BE49-F238E27FC236}">
                <a16:creationId xmlns:a16="http://schemas.microsoft.com/office/drawing/2014/main" id="{C6F84473-3FA6-A539-02F4-FF4E7D27D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308" y="2974631"/>
            <a:ext cx="260088" cy="273783"/>
          </a:xfrm>
          <a:prstGeom prst="rect">
            <a:avLst/>
          </a:prstGeom>
        </p:spPr>
      </p:pic>
      <p:sp>
        <p:nvSpPr>
          <p:cNvPr id="7" name="Zylinder 6">
            <a:extLst>
              <a:ext uri="{FF2B5EF4-FFF2-40B4-BE49-F238E27FC236}">
                <a16:creationId xmlns:a16="http://schemas.microsoft.com/office/drawing/2014/main" id="{233DA69B-402B-E4F6-2560-70F2ACC22E66}"/>
              </a:ext>
            </a:extLst>
          </p:cNvPr>
          <p:cNvSpPr/>
          <p:nvPr/>
        </p:nvSpPr>
        <p:spPr>
          <a:xfrm>
            <a:off x="9671624" y="8479830"/>
            <a:ext cx="1404410" cy="1004166"/>
          </a:xfrm>
          <a:prstGeom prst="can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/>
              <a:t>TargetState</a:t>
            </a:r>
          </a:p>
        </p:txBody>
      </p:sp>
    </p:spTree>
    <p:extLst>
      <p:ext uri="{BB962C8B-B14F-4D97-AF65-F5344CB8AC3E}">
        <p14:creationId xmlns:p14="http://schemas.microsoft.com/office/powerpoint/2010/main" val="4005710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1CE0A02-15DF-2896-7C2D-5DFC349920D1}"/>
              </a:ext>
            </a:extLst>
          </p:cNvPr>
          <p:cNvSpPr/>
          <p:nvPr/>
        </p:nvSpPr>
        <p:spPr>
          <a:xfrm>
            <a:off x="3384312" y="5662837"/>
            <a:ext cx="1456660" cy="15736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MWDI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D02D88C-763B-A543-688D-9855AF14B01D}"/>
              </a:ext>
            </a:extLst>
          </p:cNvPr>
          <p:cNvSpPr/>
          <p:nvPr/>
        </p:nvSpPr>
        <p:spPr>
          <a:xfrm>
            <a:off x="5461386" y="5157787"/>
            <a:ext cx="1456660" cy="2078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Controller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E53494D-28D6-8CC5-DB54-81059DB5AF24}"/>
              </a:ext>
            </a:extLst>
          </p:cNvPr>
          <p:cNvSpPr/>
          <p:nvPr/>
        </p:nvSpPr>
        <p:spPr>
          <a:xfrm>
            <a:off x="8528751" y="5157787"/>
            <a:ext cx="1458000" cy="207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>
                <a:solidFill>
                  <a:schemeClr val="accent6">
                    <a:lumMod val="75000"/>
                  </a:schemeClr>
                </a:solidFill>
              </a:rPr>
              <a:t>MediatorInstanceManager</a:t>
            </a: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de-DE" sz="800">
                <a:solidFill>
                  <a:schemeClr val="accent6">
                    <a:lumMod val="75000"/>
                  </a:schemeClr>
                </a:solidFill>
              </a:rPr>
              <a:t>mediatorProcesses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B5FF00B-970D-C50C-579A-3D10911A26F3}"/>
              </a:ext>
            </a:extLst>
          </p:cNvPr>
          <p:cNvSpPr/>
          <p:nvPr/>
        </p:nvSpPr>
        <p:spPr>
          <a:xfrm>
            <a:off x="10591981" y="5652199"/>
            <a:ext cx="1899264" cy="25306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Device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2F32273-6801-7B92-0ADB-F67B56F3C9EE}"/>
              </a:ext>
            </a:extLst>
          </p:cNvPr>
          <p:cNvSpPr/>
          <p:nvPr/>
        </p:nvSpPr>
        <p:spPr>
          <a:xfrm>
            <a:off x="1312882" y="5662838"/>
            <a:ext cx="1456660" cy="15736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APTP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FDEC8BC-6708-4B28-28CF-7724B85F5A50}"/>
              </a:ext>
            </a:extLst>
          </p:cNvPr>
          <p:cNvSpPr/>
          <p:nvPr/>
        </p:nvSpPr>
        <p:spPr>
          <a:xfrm>
            <a:off x="1450557" y="6904076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1F7B44D-B1EF-E324-F605-AB033E82776D}"/>
              </a:ext>
            </a:extLst>
          </p:cNvPr>
          <p:cNvSpPr/>
          <p:nvPr/>
        </p:nvSpPr>
        <p:spPr>
          <a:xfrm>
            <a:off x="1450557" y="6504025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HttpS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48790B5-A649-43AD-C98B-435B22B7ED2F}"/>
              </a:ext>
            </a:extLst>
          </p:cNvPr>
          <p:cNvSpPr/>
          <p:nvPr/>
        </p:nvSpPr>
        <p:spPr>
          <a:xfrm>
            <a:off x="1450557" y="6103974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OpS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CEE26EF-C86B-A733-8DD9-059A9C6EC90E}"/>
              </a:ext>
            </a:extLst>
          </p:cNvPr>
          <p:cNvSpPr/>
          <p:nvPr/>
        </p:nvSpPr>
        <p:spPr>
          <a:xfrm>
            <a:off x="2274469" y="6904076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TcpC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A455AB2-E932-7831-EE99-F5772CDAFD0C}"/>
              </a:ext>
            </a:extLst>
          </p:cNvPr>
          <p:cNvSpPr/>
          <p:nvPr/>
        </p:nvSpPr>
        <p:spPr>
          <a:xfrm>
            <a:off x="2274469" y="6504025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HttpC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458F33B-C712-C71E-C879-C5DC8C91BB45}"/>
              </a:ext>
            </a:extLst>
          </p:cNvPr>
          <p:cNvSpPr/>
          <p:nvPr/>
        </p:nvSpPr>
        <p:spPr>
          <a:xfrm>
            <a:off x="2274469" y="6103974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OpC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F329620-3C22-08E1-6786-6E43712B3898}"/>
              </a:ext>
            </a:extLst>
          </p:cNvPr>
          <p:cNvSpPr/>
          <p:nvPr/>
        </p:nvSpPr>
        <p:spPr>
          <a:xfrm>
            <a:off x="3525817" y="6904076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B7992BE-C036-3AB7-C814-EBBDC7FC42E0}"/>
              </a:ext>
            </a:extLst>
          </p:cNvPr>
          <p:cNvSpPr/>
          <p:nvPr/>
        </p:nvSpPr>
        <p:spPr>
          <a:xfrm>
            <a:off x="3525817" y="6504025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HttpS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AFB896A-158F-65F5-EA28-4BC001A350A5}"/>
              </a:ext>
            </a:extLst>
          </p:cNvPr>
          <p:cNvSpPr/>
          <p:nvPr/>
        </p:nvSpPr>
        <p:spPr>
          <a:xfrm>
            <a:off x="3525817" y="6103974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OpS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C3E0E05-CA92-3033-4FD9-38C5421204DC}"/>
              </a:ext>
            </a:extLst>
          </p:cNvPr>
          <p:cNvSpPr/>
          <p:nvPr/>
        </p:nvSpPr>
        <p:spPr>
          <a:xfrm>
            <a:off x="4349729" y="6904076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TcpC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FFA3122-55DA-CD89-A397-A8CD9750B2B9}"/>
              </a:ext>
            </a:extLst>
          </p:cNvPr>
          <p:cNvSpPr/>
          <p:nvPr/>
        </p:nvSpPr>
        <p:spPr>
          <a:xfrm>
            <a:off x="4349729" y="6504025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HttpC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AA074D4-D1AF-7759-FA69-2B0DD4CAFC2D}"/>
              </a:ext>
            </a:extLst>
          </p:cNvPr>
          <p:cNvSpPr/>
          <p:nvPr/>
        </p:nvSpPr>
        <p:spPr>
          <a:xfrm>
            <a:off x="4349729" y="6103974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OpC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9E2AB45-4CA3-5B9B-E66E-E425E390B46B}"/>
              </a:ext>
            </a:extLst>
          </p:cNvPr>
          <p:cNvSpPr/>
          <p:nvPr/>
        </p:nvSpPr>
        <p:spPr>
          <a:xfrm>
            <a:off x="5617158" y="6914709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TcpS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54BD9F7-6B6B-B381-6EAD-966962D972D7}"/>
              </a:ext>
            </a:extLst>
          </p:cNvPr>
          <p:cNvSpPr/>
          <p:nvPr/>
        </p:nvSpPr>
        <p:spPr>
          <a:xfrm>
            <a:off x="5617158" y="6514658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HttpS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A081826-1714-5339-1A4A-A1B6EB3DD00D}"/>
              </a:ext>
            </a:extLst>
          </p:cNvPr>
          <p:cNvSpPr/>
          <p:nvPr/>
        </p:nvSpPr>
        <p:spPr>
          <a:xfrm>
            <a:off x="5617158" y="6114607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OpS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DF739C3-C4E3-6849-2F41-DF62CEF1A558}"/>
              </a:ext>
            </a:extLst>
          </p:cNvPr>
          <p:cNvSpPr/>
          <p:nvPr/>
        </p:nvSpPr>
        <p:spPr>
          <a:xfrm>
            <a:off x="6441070" y="6914709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TcpC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211DDACA-62B1-F5B0-EEC2-CD44D410F5D4}"/>
              </a:ext>
            </a:extLst>
          </p:cNvPr>
          <p:cNvSpPr/>
          <p:nvPr/>
        </p:nvSpPr>
        <p:spPr>
          <a:xfrm>
            <a:off x="6441070" y="6519641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NetC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9DA1E85-2C49-6E8A-CFDB-48FE31EBD704}"/>
              </a:ext>
            </a:extLst>
          </p:cNvPr>
          <p:cNvSpPr/>
          <p:nvPr/>
        </p:nvSpPr>
        <p:spPr>
          <a:xfrm>
            <a:off x="8689130" y="6911850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TcpS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C143F202-5361-48B9-4F64-3AA6EF735AD8}"/>
              </a:ext>
            </a:extLst>
          </p:cNvPr>
          <p:cNvSpPr/>
          <p:nvPr/>
        </p:nvSpPr>
        <p:spPr>
          <a:xfrm>
            <a:off x="8689130" y="6516782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NetS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ECBD2DF-E4B2-0439-FF9C-36D68796843C}"/>
              </a:ext>
            </a:extLst>
          </p:cNvPr>
          <p:cNvSpPr/>
          <p:nvPr/>
        </p:nvSpPr>
        <p:spPr>
          <a:xfrm>
            <a:off x="9513042" y="6911850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TcpC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C9B7C70-2BAF-3E76-BCAB-1FCC7BE517E5}"/>
              </a:ext>
            </a:extLst>
          </p:cNvPr>
          <p:cNvSpPr/>
          <p:nvPr/>
        </p:nvSpPr>
        <p:spPr>
          <a:xfrm>
            <a:off x="9513042" y="6516782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SnmpC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A0BA429-EEC5-F81D-6AA8-80B5299E7BE5}"/>
              </a:ext>
            </a:extLst>
          </p:cNvPr>
          <p:cNvSpPr/>
          <p:nvPr/>
        </p:nvSpPr>
        <p:spPr>
          <a:xfrm>
            <a:off x="10768667" y="6901217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TcpS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30D131E-4A61-2933-7E0D-0D59F14C99BA}"/>
              </a:ext>
            </a:extLst>
          </p:cNvPr>
          <p:cNvSpPr/>
          <p:nvPr/>
        </p:nvSpPr>
        <p:spPr>
          <a:xfrm>
            <a:off x="10768667" y="6506149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SnmpS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3616450-B93D-DEBD-7CE3-CD7A817B8078}"/>
              </a:ext>
            </a:extLst>
          </p:cNvPr>
          <p:cNvSpPr/>
          <p:nvPr/>
        </p:nvSpPr>
        <p:spPr>
          <a:xfrm>
            <a:off x="11963827" y="7833736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AirI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2B2B469F-780C-7B6E-97F6-89C3641EDBC9}"/>
              </a:ext>
            </a:extLst>
          </p:cNvPr>
          <p:cNvSpPr/>
          <p:nvPr/>
        </p:nvSpPr>
        <p:spPr>
          <a:xfrm>
            <a:off x="11963827" y="7433685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PES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66A4ECD-0416-DEC7-F62C-900B4B28A617}"/>
              </a:ext>
            </a:extLst>
          </p:cNvPr>
          <p:cNvSpPr/>
          <p:nvPr/>
        </p:nvSpPr>
        <p:spPr>
          <a:xfrm>
            <a:off x="11963827" y="7033634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EC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B164F71-093D-4EAD-77A0-7D44E762E72F}"/>
              </a:ext>
            </a:extLst>
          </p:cNvPr>
          <p:cNvSpPr/>
          <p:nvPr/>
        </p:nvSpPr>
        <p:spPr>
          <a:xfrm>
            <a:off x="11963826" y="6233532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VlanI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A5166CA-90F8-FF86-8D3C-A9D517E4F906}"/>
              </a:ext>
            </a:extLst>
          </p:cNvPr>
          <p:cNvSpPr/>
          <p:nvPr/>
        </p:nvSpPr>
        <p:spPr>
          <a:xfrm>
            <a:off x="11963827" y="6633583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MacI</a:t>
            </a: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8122B215-EF92-DC6C-4D34-A3840F4E37F7}"/>
              </a:ext>
            </a:extLst>
          </p:cNvPr>
          <p:cNvCxnSpPr>
            <a:cxnSpLocks/>
          </p:cNvCxnSpPr>
          <p:nvPr/>
        </p:nvCxnSpPr>
        <p:spPr>
          <a:xfrm flipV="1">
            <a:off x="10591984" y="5662833"/>
            <a:ext cx="1629017" cy="23404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B0A7E131-9A2D-FE2E-8F00-AC5963385B56}"/>
              </a:ext>
            </a:extLst>
          </p:cNvPr>
          <p:cNvGrpSpPr/>
          <p:nvPr/>
        </p:nvGrpSpPr>
        <p:grpSpPr>
          <a:xfrm rot="5400000">
            <a:off x="9188215" y="5173535"/>
            <a:ext cx="338137" cy="998176"/>
            <a:chOff x="7267925" y="3123310"/>
            <a:chExt cx="338137" cy="998176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E40F123A-7D28-DAF0-30FD-0C20E4BD6108}"/>
                </a:ext>
              </a:extLst>
            </p:cNvPr>
            <p:cNvSpPr/>
            <p:nvPr/>
          </p:nvSpPr>
          <p:spPr>
            <a:xfrm>
              <a:off x="7267925" y="3923412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TcpS</a:t>
              </a: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79339DC1-FB69-E4B3-2427-B0D9C1C3D60C}"/>
                </a:ext>
              </a:extLst>
            </p:cNvPr>
            <p:cNvSpPr/>
            <p:nvPr/>
          </p:nvSpPr>
          <p:spPr>
            <a:xfrm>
              <a:off x="7267925" y="3523361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HttpS</a:t>
              </a:r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A4C1EB5C-FBB1-A635-2577-1FDD4BB6C887}"/>
                </a:ext>
              </a:extLst>
            </p:cNvPr>
            <p:cNvSpPr/>
            <p:nvPr/>
          </p:nvSpPr>
          <p:spPr>
            <a:xfrm>
              <a:off x="7267925" y="3123310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OpS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68B5C107-E8B1-674E-0899-FA1D44E24ED9}"/>
              </a:ext>
            </a:extLst>
          </p:cNvPr>
          <p:cNvCxnSpPr>
            <a:cxnSpLocks/>
          </p:cNvCxnSpPr>
          <p:nvPr/>
        </p:nvCxnSpPr>
        <p:spPr>
          <a:xfrm>
            <a:off x="8522345" y="5998102"/>
            <a:ext cx="145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hteck 40">
            <a:extLst>
              <a:ext uri="{FF2B5EF4-FFF2-40B4-BE49-F238E27FC236}">
                <a16:creationId xmlns:a16="http://schemas.microsoft.com/office/drawing/2014/main" id="{7A2DB98D-C693-6ABF-3F91-DC76D3BBE6EB}"/>
              </a:ext>
            </a:extLst>
          </p:cNvPr>
          <p:cNvSpPr/>
          <p:nvPr/>
        </p:nvSpPr>
        <p:spPr>
          <a:xfrm>
            <a:off x="8522346" y="2938462"/>
            <a:ext cx="1458000" cy="16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MM / NCM</a:t>
            </a: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EA305853-A808-AB18-03A6-51C5387C71C7}"/>
              </a:ext>
            </a:extLst>
          </p:cNvPr>
          <p:cNvGrpSpPr/>
          <p:nvPr/>
        </p:nvGrpSpPr>
        <p:grpSpPr>
          <a:xfrm rot="5400000">
            <a:off x="8776260" y="3360105"/>
            <a:ext cx="1162049" cy="998176"/>
            <a:chOff x="7115461" y="1735493"/>
            <a:chExt cx="1162049" cy="998176"/>
          </a:xfrm>
        </p:grpSpPr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7608F1F3-2180-5F13-7FFA-83A74EB34A0F}"/>
                </a:ext>
              </a:extLst>
            </p:cNvPr>
            <p:cNvSpPr/>
            <p:nvPr/>
          </p:nvSpPr>
          <p:spPr>
            <a:xfrm>
              <a:off x="7115461" y="2535595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TcpS</a:t>
              </a:r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7AB24ABE-364B-F6B4-0452-33DF8DC753D4}"/>
                </a:ext>
              </a:extLst>
            </p:cNvPr>
            <p:cNvSpPr/>
            <p:nvPr/>
          </p:nvSpPr>
          <p:spPr>
            <a:xfrm>
              <a:off x="7115461" y="2135544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HttpS</a:t>
              </a:r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527DA6FE-EEDD-B9E3-03DD-74D221727344}"/>
                </a:ext>
              </a:extLst>
            </p:cNvPr>
            <p:cNvSpPr/>
            <p:nvPr/>
          </p:nvSpPr>
          <p:spPr>
            <a:xfrm>
              <a:off x="7115461" y="1735493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OpS</a:t>
              </a:r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ABB2D503-B665-D77A-B86F-14E059956922}"/>
                </a:ext>
              </a:extLst>
            </p:cNvPr>
            <p:cNvSpPr/>
            <p:nvPr/>
          </p:nvSpPr>
          <p:spPr>
            <a:xfrm>
              <a:off x="7939373" y="2535595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TcpC</a:t>
              </a:r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83CC7ED1-F16A-1896-62C7-D546E44B5B0B}"/>
                </a:ext>
              </a:extLst>
            </p:cNvPr>
            <p:cNvSpPr/>
            <p:nvPr/>
          </p:nvSpPr>
          <p:spPr>
            <a:xfrm>
              <a:off x="7939373" y="2135544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HttpC</a:t>
              </a: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13475550-2889-2F91-C960-D3DCA7DF8427}"/>
                </a:ext>
              </a:extLst>
            </p:cNvPr>
            <p:cNvSpPr/>
            <p:nvPr/>
          </p:nvSpPr>
          <p:spPr>
            <a:xfrm>
              <a:off x="7939373" y="1735493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OpC</a:t>
              </a:r>
            </a:p>
          </p:txBody>
        </p:sp>
      </p:grpSp>
      <p:sp>
        <p:nvSpPr>
          <p:cNvPr id="49" name="Rechteck 48">
            <a:extLst>
              <a:ext uri="{FF2B5EF4-FFF2-40B4-BE49-F238E27FC236}">
                <a16:creationId xmlns:a16="http://schemas.microsoft.com/office/drawing/2014/main" id="{06710257-94F2-6744-5C46-384800311A00}"/>
              </a:ext>
            </a:extLst>
          </p:cNvPr>
          <p:cNvSpPr/>
          <p:nvPr/>
        </p:nvSpPr>
        <p:spPr>
          <a:xfrm>
            <a:off x="5457125" y="2938462"/>
            <a:ext cx="1458000" cy="16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RCM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3BECA846-CE12-388B-D0A3-7DCF9503D532}"/>
              </a:ext>
            </a:extLst>
          </p:cNvPr>
          <p:cNvGrpSpPr/>
          <p:nvPr/>
        </p:nvGrpSpPr>
        <p:grpSpPr>
          <a:xfrm rot="5400000">
            <a:off x="5711039" y="3360105"/>
            <a:ext cx="1162049" cy="998176"/>
            <a:chOff x="7115461" y="1735493"/>
            <a:chExt cx="1162049" cy="998176"/>
          </a:xfrm>
        </p:grpSpPr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00C418EB-45BB-672B-9C17-4AA42BF9B100}"/>
                </a:ext>
              </a:extLst>
            </p:cNvPr>
            <p:cNvSpPr/>
            <p:nvPr/>
          </p:nvSpPr>
          <p:spPr>
            <a:xfrm>
              <a:off x="7115461" y="2535595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TcpS</a:t>
              </a:r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44340858-3359-78BC-0881-DF3CF6C4CE35}"/>
                </a:ext>
              </a:extLst>
            </p:cNvPr>
            <p:cNvSpPr/>
            <p:nvPr/>
          </p:nvSpPr>
          <p:spPr>
            <a:xfrm>
              <a:off x="7115461" y="2135544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HttpS</a:t>
              </a:r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9E2D812D-5420-32CE-48A0-1AE6BF2A7BF5}"/>
                </a:ext>
              </a:extLst>
            </p:cNvPr>
            <p:cNvSpPr/>
            <p:nvPr/>
          </p:nvSpPr>
          <p:spPr>
            <a:xfrm>
              <a:off x="7115461" y="1735493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OpS</a:t>
              </a: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4E017906-1474-ACF0-D4F3-A464FE7CBFFF}"/>
                </a:ext>
              </a:extLst>
            </p:cNvPr>
            <p:cNvSpPr/>
            <p:nvPr/>
          </p:nvSpPr>
          <p:spPr>
            <a:xfrm>
              <a:off x="7939373" y="2535595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TcpC</a:t>
              </a: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956CD8D0-9882-9742-5B49-B264ABEE6072}"/>
                </a:ext>
              </a:extLst>
            </p:cNvPr>
            <p:cNvSpPr/>
            <p:nvPr/>
          </p:nvSpPr>
          <p:spPr>
            <a:xfrm>
              <a:off x="7939373" y="2135544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HttpC</a:t>
              </a: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63481912-FA6A-F7F7-3828-E9E8B8381C8B}"/>
                </a:ext>
              </a:extLst>
            </p:cNvPr>
            <p:cNvSpPr/>
            <p:nvPr/>
          </p:nvSpPr>
          <p:spPr>
            <a:xfrm>
              <a:off x="7939373" y="1735493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OpC</a:t>
              </a:r>
            </a:p>
          </p:txBody>
        </p:sp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4ACE194F-09C5-4337-ABFD-DFEF72FE57AD}"/>
              </a:ext>
            </a:extLst>
          </p:cNvPr>
          <p:cNvGrpSpPr/>
          <p:nvPr/>
        </p:nvGrpSpPr>
        <p:grpSpPr>
          <a:xfrm rot="5400000">
            <a:off x="6132322" y="5173535"/>
            <a:ext cx="338137" cy="998176"/>
            <a:chOff x="7267925" y="3123310"/>
            <a:chExt cx="338137" cy="998176"/>
          </a:xfrm>
        </p:grpSpPr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86CF74E5-92A2-B2B4-84F2-A08711CE4576}"/>
                </a:ext>
              </a:extLst>
            </p:cNvPr>
            <p:cNvSpPr/>
            <p:nvPr/>
          </p:nvSpPr>
          <p:spPr>
            <a:xfrm>
              <a:off x="7267925" y="3923412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TcpS</a:t>
              </a: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E723D154-0D75-5EA9-8CF6-4EE379C46676}"/>
                </a:ext>
              </a:extLst>
            </p:cNvPr>
            <p:cNvSpPr/>
            <p:nvPr/>
          </p:nvSpPr>
          <p:spPr>
            <a:xfrm>
              <a:off x="7267925" y="3523361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HttpS</a:t>
              </a: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E5206EBD-D24E-28B5-568B-CB2C238F2C77}"/>
                </a:ext>
              </a:extLst>
            </p:cNvPr>
            <p:cNvSpPr/>
            <p:nvPr/>
          </p:nvSpPr>
          <p:spPr>
            <a:xfrm>
              <a:off x="7267925" y="3123310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OpS</a:t>
              </a:r>
            </a:p>
          </p:txBody>
        </p:sp>
      </p:grp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3F94A723-31E5-282A-5981-B162DED911D4}"/>
              </a:ext>
            </a:extLst>
          </p:cNvPr>
          <p:cNvCxnSpPr>
            <a:cxnSpLocks/>
          </p:cNvCxnSpPr>
          <p:nvPr/>
        </p:nvCxnSpPr>
        <p:spPr>
          <a:xfrm>
            <a:off x="5466452" y="5998102"/>
            <a:ext cx="145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5346B5A3-4EA9-8FBD-0F76-B4EDA3A628C9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1788694" y="6203011"/>
            <a:ext cx="485775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3308A1E7-F373-EE81-70DD-D860FE975724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612606" y="6203014"/>
            <a:ext cx="913211" cy="1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143B4FB2-12F8-7173-BA6F-335B26BFEBB3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>
            <a:off x="3863954" y="6203011"/>
            <a:ext cx="485775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19F5DEDC-F153-BEBB-1F1E-00186D344CDB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4687862" y="6203015"/>
            <a:ext cx="929292" cy="10633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2D93BD7A-37AB-F0E8-43D9-8825215C9245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6779207" y="6615823"/>
            <a:ext cx="1909923" cy="2859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A56D196D-AE0B-D035-092B-4260E960363F}"/>
              </a:ext>
            </a:extLst>
          </p:cNvPr>
          <p:cNvCxnSpPr>
            <a:cxnSpLocks/>
            <a:stCxn id="27" idx="1"/>
            <a:endCxn id="25" idx="3"/>
          </p:cNvCxnSpPr>
          <p:nvPr/>
        </p:nvCxnSpPr>
        <p:spPr>
          <a:xfrm flipH="1">
            <a:off x="9027267" y="6615819"/>
            <a:ext cx="485775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12924405-E882-9CBE-75FE-D41CF011EFBE}"/>
              </a:ext>
            </a:extLst>
          </p:cNvPr>
          <p:cNvCxnSpPr>
            <a:cxnSpLocks/>
            <a:stCxn id="29" idx="1"/>
            <a:endCxn id="27" idx="3"/>
          </p:cNvCxnSpPr>
          <p:nvPr/>
        </p:nvCxnSpPr>
        <p:spPr>
          <a:xfrm flipH="1">
            <a:off x="9851175" y="6605190"/>
            <a:ext cx="917488" cy="10633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8FCD2C10-717C-88E6-AFC8-560DB1181A3E}"/>
              </a:ext>
            </a:extLst>
          </p:cNvPr>
          <p:cNvCxnSpPr>
            <a:cxnSpLocks/>
            <a:stCxn id="53" idx="3"/>
            <a:endCxn id="56" idx="1"/>
          </p:cNvCxnSpPr>
          <p:nvPr/>
        </p:nvCxnSpPr>
        <p:spPr>
          <a:xfrm>
            <a:off x="6692111" y="3616310"/>
            <a:ext cx="0" cy="48577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62CC069B-5286-1DF7-37DC-08C2EE30445C}"/>
              </a:ext>
            </a:extLst>
          </p:cNvPr>
          <p:cNvCxnSpPr>
            <a:cxnSpLocks/>
            <a:stCxn id="56" idx="3"/>
            <a:endCxn id="60" idx="1"/>
          </p:cNvCxnSpPr>
          <p:nvPr/>
        </p:nvCxnSpPr>
        <p:spPr>
          <a:xfrm>
            <a:off x="6692115" y="4440222"/>
            <a:ext cx="9327" cy="106333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BD8A7BEC-DB33-B090-03AB-F516A5AE0094}"/>
              </a:ext>
            </a:extLst>
          </p:cNvPr>
          <p:cNvCxnSpPr>
            <a:cxnSpLocks/>
            <a:stCxn id="45" idx="3"/>
          </p:cNvCxnSpPr>
          <p:nvPr/>
        </p:nvCxnSpPr>
        <p:spPr>
          <a:xfrm flipH="1">
            <a:off x="9757335" y="3616306"/>
            <a:ext cx="1" cy="48577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EFEA5A29-2F76-9B94-1657-646671B4A389}"/>
              </a:ext>
            </a:extLst>
          </p:cNvPr>
          <p:cNvCxnSpPr>
            <a:cxnSpLocks/>
            <a:stCxn id="48" idx="3"/>
            <a:endCxn id="39" idx="1"/>
          </p:cNvCxnSpPr>
          <p:nvPr/>
        </p:nvCxnSpPr>
        <p:spPr>
          <a:xfrm flipH="1">
            <a:off x="9757335" y="4440222"/>
            <a:ext cx="1" cy="106333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4" name="Rechteck 73">
            <a:extLst>
              <a:ext uri="{FF2B5EF4-FFF2-40B4-BE49-F238E27FC236}">
                <a16:creationId xmlns:a16="http://schemas.microsoft.com/office/drawing/2014/main" id="{141BEA37-B8B7-2E75-E808-6581631CC6D3}"/>
              </a:ext>
            </a:extLst>
          </p:cNvPr>
          <p:cNvSpPr/>
          <p:nvPr/>
        </p:nvSpPr>
        <p:spPr>
          <a:xfrm>
            <a:off x="5461386" y="11355200"/>
            <a:ext cx="1456660" cy="2078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Controller</a:t>
            </a:r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6E4F015F-7EB0-1731-7016-76835118A137}"/>
              </a:ext>
            </a:extLst>
          </p:cNvPr>
          <p:cNvSpPr/>
          <p:nvPr/>
        </p:nvSpPr>
        <p:spPr>
          <a:xfrm>
            <a:off x="8528751" y="11355200"/>
            <a:ext cx="1458000" cy="207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>
                <a:solidFill>
                  <a:schemeClr val="accent6">
                    <a:lumMod val="75000"/>
                  </a:schemeClr>
                </a:solidFill>
              </a:rPr>
              <a:t>MediatorInstanceManager</a:t>
            </a: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endParaRPr lang="de-DE" sz="80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de-DE" sz="800">
                <a:solidFill>
                  <a:schemeClr val="accent6">
                    <a:lumMod val="75000"/>
                  </a:schemeClr>
                </a:solidFill>
              </a:rPr>
              <a:t>mediatorProcesses</a:t>
            </a: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EFCEA3C8-B645-BF8C-2685-7FE19E5CE4FC}"/>
              </a:ext>
            </a:extLst>
          </p:cNvPr>
          <p:cNvSpPr/>
          <p:nvPr/>
        </p:nvSpPr>
        <p:spPr>
          <a:xfrm>
            <a:off x="10591981" y="11849612"/>
            <a:ext cx="1899264" cy="25306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Device</a:t>
            </a: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34F69CE8-ED93-F830-873A-7C13AB12A20A}"/>
              </a:ext>
            </a:extLst>
          </p:cNvPr>
          <p:cNvSpPr/>
          <p:nvPr/>
        </p:nvSpPr>
        <p:spPr>
          <a:xfrm>
            <a:off x="6441070" y="13112122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TcpC</a:t>
            </a: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6DD63BA9-847D-1A2D-1C9A-FCA0DCF233B5}"/>
              </a:ext>
            </a:extLst>
          </p:cNvPr>
          <p:cNvSpPr/>
          <p:nvPr/>
        </p:nvSpPr>
        <p:spPr>
          <a:xfrm>
            <a:off x="6441070" y="12717054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NetC</a:t>
            </a: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0D437FAF-B507-C6CF-3948-A29EC8AF3A7B}"/>
              </a:ext>
            </a:extLst>
          </p:cNvPr>
          <p:cNvSpPr/>
          <p:nvPr/>
        </p:nvSpPr>
        <p:spPr>
          <a:xfrm>
            <a:off x="8689130" y="13109263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TcpS</a:t>
            </a:r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DC5A0C8A-D84F-A1BA-1C7B-F23ABA66D30B}"/>
              </a:ext>
            </a:extLst>
          </p:cNvPr>
          <p:cNvSpPr/>
          <p:nvPr/>
        </p:nvSpPr>
        <p:spPr>
          <a:xfrm>
            <a:off x="8689130" y="12714195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NetS</a:t>
            </a:r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C241DCC7-AAFF-3170-D434-F618D8A5DBD9}"/>
              </a:ext>
            </a:extLst>
          </p:cNvPr>
          <p:cNvSpPr/>
          <p:nvPr/>
        </p:nvSpPr>
        <p:spPr>
          <a:xfrm>
            <a:off x="9513042" y="13109263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TcpC</a:t>
            </a: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71ABFB95-8A94-31E5-3C83-3B14E2E5CDFD}"/>
              </a:ext>
            </a:extLst>
          </p:cNvPr>
          <p:cNvSpPr/>
          <p:nvPr/>
        </p:nvSpPr>
        <p:spPr>
          <a:xfrm>
            <a:off x="9513042" y="12714195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SnmpC</a:t>
            </a:r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341C7B94-7B76-8229-4A2A-8134880B4926}"/>
              </a:ext>
            </a:extLst>
          </p:cNvPr>
          <p:cNvSpPr/>
          <p:nvPr/>
        </p:nvSpPr>
        <p:spPr>
          <a:xfrm>
            <a:off x="10768667" y="13098630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TcpS</a:t>
            </a:r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0A6D84C4-1B1A-112F-0A67-A4735734FABF}"/>
              </a:ext>
            </a:extLst>
          </p:cNvPr>
          <p:cNvSpPr/>
          <p:nvPr/>
        </p:nvSpPr>
        <p:spPr>
          <a:xfrm>
            <a:off x="10768667" y="12703562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SnmpS</a:t>
            </a:r>
          </a:p>
        </p:txBody>
      </p:sp>
      <p:sp>
        <p:nvSpPr>
          <p:cNvPr id="101" name="Rechteck 100">
            <a:extLst>
              <a:ext uri="{FF2B5EF4-FFF2-40B4-BE49-F238E27FC236}">
                <a16:creationId xmlns:a16="http://schemas.microsoft.com/office/drawing/2014/main" id="{C1E45473-8297-A262-FFF9-E3B2B67A4F62}"/>
              </a:ext>
            </a:extLst>
          </p:cNvPr>
          <p:cNvSpPr/>
          <p:nvPr/>
        </p:nvSpPr>
        <p:spPr>
          <a:xfrm>
            <a:off x="11963827" y="14031149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AirI</a:t>
            </a:r>
          </a:p>
        </p:txBody>
      </p:sp>
      <p:sp>
        <p:nvSpPr>
          <p:cNvPr id="102" name="Rechteck 101">
            <a:extLst>
              <a:ext uri="{FF2B5EF4-FFF2-40B4-BE49-F238E27FC236}">
                <a16:creationId xmlns:a16="http://schemas.microsoft.com/office/drawing/2014/main" id="{87150E2D-EB67-7B24-E6A5-676B80CE5251}"/>
              </a:ext>
            </a:extLst>
          </p:cNvPr>
          <p:cNvSpPr/>
          <p:nvPr/>
        </p:nvSpPr>
        <p:spPr>
          <a:xfrm>
            <a:off x="11963827" y="13631098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PES</a:t>
            </a:r>
          </a:p>
        </p:txBody>
      </p:sp>
      <p:sp>
        <p:nvSpPr>
          <p:cNvPr id="103" name="Rechteck 102">
            <a:extLst>
              <a:ext uri="{FF2B5EF4-FFF2-40B4-BE49-F238E27FC236}">
                <a16:creationId xmlns:a16="http://schemas.microsoft.com/office/drawing/2014/main" id="{10AB6DFB-5CF2-D1E7-689E-3AA368C49408}"/>
              </a:ext>
            </a:extLst>
          </p:cNvPr>
          <p:cNvSpPr/>
          <p:nvPr/>
        </p:nvSpPr>
        <p:spPr>
          <a:xfrm>
            <a:off x="11963827" y="13231047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EC</a:t>
            </a:r>
          </a:p>
        </p:txBody>
      </p:sp>
      <p:sp>
        <p:nvSpPr>
          <p:cNvPr id="104" name="Rechteck 103">
            <a:extLst>
              <a:ext uri="{FF2B5EF4-FFF2-40B4-BE49-F238E27FC236}">
                <a16:creationId xmlns:a16="http://schemas.microsoft.com/office/drawing/2014/main" id="{0A3363A3-BA54-D35E-B388-C7321B9BE878}"/>
              </a:ext>
            </a:extLst>
          </p:cNvPr>
          <p:cNvSpPr/>
          <p:nvPr/>
        </p:nvSpPr>
        <p:spPr>
          <a:xfrm>
            <a:off x="11963826" y="12430945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VlanI</a:t>
            </a:r>
          </a:p>
        </p:txBody>
      </p:sp>
      <p:sp>
        <p:nvSpPr>
          <p:cNvPr id="105" name="Rechteck 104">
            <a:extLst>
              <a:ext uri="{FF2B5EF4-FFF2-40B4-BE49-F238E27FC236}">
                <a16:creationId xmlns:a16="http://schemas.microsoft.com/office/drawing/2014/main" id="{C6E9F742-DF08-789F-BC59-4FC946FC913F}"/>
              </a:ext>
            </a:extLst>
          </p:cNvPr>
          <p:cNvSpPr/>
          <p:nvPr/>
        </p:nvSpPr>
        <p:spPr>
          <a:xfrm>
            <a:off x="11963827" y="12830996"/>
            <a:ext cx="338137" cy="19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/>
              <a:t>MacI</a:t>
            </a:r>
          </a:p>
        </p:txBody>
      </p: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3BC68C30-1683-EA4C-845B-CB907CEC96F6}"/>
              </a:ext>
            </a:extLst>
          </p:cNvPr>
          <p:cNvCxnSpPr>
            <a:cxnSpLocks/>
          </p:cNvCxnSpPr>
          <p:nvPr/>
        </p:nvCxnSpPr>
        <p:spPr>
          <a:xfrm flipV="1">
            <a:off x="10591984" y="11860246"/>
            <a:ext cx="1629017" cy="23404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D6742ED2-F057-78A7-5150-A41844EF625C}"/>
              </a:ext>
            </a:extLst>
          </p:cNvPr>
          <p:cNvGrpSpPr/>
          <p:nvPr/>
        </p:nvGrpSpPr>
        <p:grpSpPr>
          <a:xfrm rot="5400000">
            <a:off x="9188215" y="11370948"/>
            <a:ext cx="338137" cy="998176"/>
            <a:chOff x="7267925" y="3123310"/>
            <a:chExt cx="338137" cy="998176"/>
          </a:xfrm>
        </p:grpSpPr>
        <p:sp>
          <p:nvSpPr>
            <p:cNvPr id="108" name="Rechteck 107">
              <a:extLst>
                <a:ext uri="{FF2B5EF4-FFF2-40B4-BE49-F238E27FC236}">
                  <a16:creationId xmlns:a16="http://schemas.microsoft.com/office/drawing/2014/main" id="{996873ED-9D66-B4CD-8D11-882288108F18}"/>
                </a:ext>
              </a:extLst>
            </p:cNvPr>
            <p:cNvSpPr/>
            <p:nvPr/>
          </p:nvSpPr>
          <p:spPr>
            <a:xfrm>
              <a:off x="7267925" y="3923412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TcpS</a:t>
              </a:r>
            </a:p>
          </p:txBody>
        </p:sp>
        <p:sp>
          <p:nvSpPr>
            <p:cNvPr id="109" name="Rechteck 108">
              <a:extLst>
                <a:ext uri="{FF2B5EF4-FFF2-40B4-BE49-F238E27FC236}">
                  <a16:creationId xmlns:a16="http://schemas.microsoft.com/office/drawing/2014/main" id="{E3161ECC-EE4D-308F-FC14-A34D5493E194}"/>
                </a:ext>
              </a:extLst>
            </p:cNvPr>
            <p:cNvSpPr/>
            <p:nvPr/>
          </p:nvSpPr>
          <p:spPr>
            <a:xfrm>
              <a:off x="7267925" y="3523361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HttpS</a:t>
              </a:r>
            </a:p>
          </p:txBody>
        </p:sp>
        <p:sp>
          <p:nvSpPr>
            <p:cNvPr id="110" name="Rechteck 109">
              <a:extLst>
                <a:ext uri="{FF2B5EF4-FFF2-40B4-BE49-F238E27FC236}">
                  <a16:creationId xmlns:a16="http://schemas.microsoft.com/office/drawing/2014/main" id="{5D5CBAFC-63CE-84E0-F817-9B8163E5A495}"/>
                </a:ext>
              </a:extLst>
            </p:cNvPr>
            <p:cNvSpPr/>
            <p:nvPr/>
          </p:nvSpPr>
          <p:spPr>
            <a:xfrm>
              <a:off x="7267925" y="3123310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OpS</a:t>
              </a:r>
            </a:p>
          </p:txBody>
        </p:sp>
      </p:grpSp>
      <p:cxnSp>
        <p:nvCxnSpPr>
          <p:cNvPr id="111" name="Gerader Verbinder 110">
            <a:extLst>
              <a:ext uri="{FF2B5EF4-FFF2-40B4-BE49-F238E27FC236}">
                <a16:creationId xmlns:a16="http://schemas.microsoft.com/office/drawing/2014/main" id="{E3F88B35-4DF8-36B9-FA1E-AF410D60D677}"/>
              </a:ext>
            </a:extLst>
          </p:cNvPr>
          <p:cNvCxnSpPr>
            <a:cxnSpLocks/>
          </p:cNvCxnSpPr>
          <p:nvPr/>
        </p:nvCxnSpPr>
        <p:spPr>
          <a:xfrm>
            <a:off x="8522345" y="12195515"/>
            <a:ext cx="145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hteck 111">
            <a:extLst>
              <a:ext uri="{FF2B5EF4-FFF2-40B4-BE49-F238E27FC236}">
                <a16:creationId xmlns:a16="http://schemas.microsoft.com/office/drawing/2014/main" id="{047369EB-7578-A672-B628-5F3CF1FD0B7A}"/>
              </a:ext>
            </a:extLst>
          </p:cNvPr>
          <p:cNvSpPr/>
          <p:nvPr/>
        </p:nvSpPr>
        <p:spPr>
          <a:xfrm>
            <a:off x="8522346" y="9135875"/>
            <a:ext cx="1458000" cy="16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100">
                <a:solidFill>
                  <a:schemeClr val="accent6">
                    <a:lumMod val="75000"/>
                  </a:schemeClr>
                </a:solidFill>
              </a:rPr>
              <a:t>MM / NCM</a:t>
            </a:r>
          </a:p>
        </p:txBody>
      </p: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97D29417-7626-C176-8171-B76EE10710D0}"/>
              </a:ext>
            </a:extLst>
          </p:cNvPr>
          <p:cNvGrpSpPr/>
          <p:nvPr/>
        </p:nvGrpSpPr>
        <p:grpSpPr>
          <a:xfrm rot="5400000">
            <a:off x="8776260" y="9557518"/>
            <a:ext cx="1162049" cy="998176"/>
            <a:chOff x="7115461" y="1735493"/>
            <a:chExt cx="1162049" cy="998176"/>
          </a:xfrm>
        </p:grpSpPr>
        <p:sp>
          <p:nvSpPr>
            <p:cNvPr id="114" name="Rechteck 113">
              <a:extLst>
                <a:ext uri="{FF2B5EF4-FFF2-40B4-BE49-F238E27FC236}">
                  <a16:creationId xmlns:a16="http://schemas.microsoft.com/office/drawing/2014/main" id="{FB43D1F3-B681-6EEA-3F0F-B493E6861262}"/>
                </a:ext>
              </a:extLst>
            </p:cNvPr>
            <p:cNvSpPr/>
            <p:nvPr/>
          </p:nvSpPr>
          <p:spPr>
            <a:xfrm>
              <a:off x="7115461" y="2535595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TcpS</a:t>
              </a:r>
            </a:p>
          </p:txBody>
        </p:sp>
        <p:sp>
          <p:nvSpPr>
            <p:cNvPr id="115" name="Rechteck 114">
              <a:extLst>
                <a:ext uri="{FF2B5EF4-FFF2-40B4-BE49-F238E27FC236}">
                  <a16:creationId xmlns:a16="http://schemas.microsoft.com/office/drawing/2014/main" id="{6C7F02BA-C5AC-616E-DDBB-974C28E821DC}"/>
                </a:ext>
              </a:extLst>
            </p:cNvPr>
            <p:cNvSpPr/>
            <p:nvPr/>
          </p:nvSpPr>
          <p:spPr>
            <a:xfrm>
              <a:off x="7115461" y="2135544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HttpS</a:t>
              </a:r>
            </a:p>
          </p:txBody>
        </p:sp>
        <p:sp>
          <p:nvSpPr>
            <p:cNvPr id="116" name="Rechteck 115">
              <a:extLst>
                <a:ext uri="{FF2B5EF4-FFF2-40B4-BE49-F238E27FC236}">
                  <a16:creationId xmlns:a16="http://schemas.microsoft.com/office/drawing/2014/main" id="{F2B3208E-962F-47AF-2FC5-F5F0E8CE1D8F}"/>
                </a:ext>
              </a:extLst>
            </p:cNvPr>
            <p:cNvSpPr/>
            <p:nvPr/>
          </p:nvSpPr>
          <p:spPr>
            <a:xfrm>
              <a:off x="7115461" y="1735493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OpS</a:t>
              </a:r>
            </a:p>
          </p:txBody>
        </p:sp>
        <p:sp>
          <p:nvSpPr>
            <p:cNvPr id="117" name="Rechteck 116">
              <a:extLst>
                <a:ext uri="{FF2B5EF4-FFF2-40B4-BE49-F238E27FC236}">
                  <a16:creationId xmlns:a16="http://schemas.microsoft.com/office/drawing/2014/main" id="{36ED8D34-FAB2-ECDA-7F59-469C3F477458}"/>
                </a:ext>
              </a:extLst>
            </p:cNvPr>
            <p:cNvSpPr/>
            <p:nvPr/>
          </p:nvSpPr>
          <p:spPr>
            <a:xfrm>
              <a:off x="7939373" y="2535595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TcpC</a:t>
              </a:r>
            </a:p>
          </p:txBody>
        </p:sp>
        <p:sp>
          <p:nvSpPr>
            <p:cNvPr id="118" name="Rechteck 117">
              <a:extLst>
                <a:ext uri="{FF2B5EF4-FFF2-40B4-BE49-F238E27FC236}">
                  <a16:creationId xmlns:a16="http://schemas.microsoft.com/office/drawing/2014/main" id="{97D57EA9-EF20-AB09-6218-B2C9760CA197}"/>
                </a:ext>
              </a:extLst>
            </p:cNvPr>
            <p:cNvSpPr/>
            <p:nvPr/>
          </p:nvSpPr>
          <p:spPr>
            <a:xfrm>
              <a:off x="7939373" y="2135544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HttpC</a:t>
              </a:r>
            </a:p>
          </p:txBody>
        </p:sp>
        <p:sp>
          <p:nvSpPr>
            <p:cNvPr id="119" name="Rechteck 118">
              <a:extLst>
                <a:ext uri="{FF2B5EF4-FFF2-40B4-BE49-F238E27FC236}">
                  <a16:creationId xmlns:a16="http://schemas.microsoft.com/office/drawing/2014/main" id="{7FD10FC3-ABF9-7B9C-D27A-9AF3D0750CDF}"/>
                </a:ext>
              </a:extLst>
            </p:cNvPr>
            <p:cNvSpPr/>
            <p:nvPr/>
          </p:nvSpPr>
          <p:spPr>
            <a:xfrm>
              <a:off x="7939373" y="1735493"/>
              <a:ext cx="338137" cy="1980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"/>
                <a:t>OpC</a:t>
              </a:r>
            </a:p>
          </p:txBody>
        </p:sp>
      </p:grpSp>
      <p:cxnSp>
        <p:nvCxnSpPr>
          <p:cNvPr id="132" name="Gerader Verbinder 131">
            <a:extLst>
              <a:ext uri="{FF2B5EF4-FFF2-40B4-BE49-F238E27FC236}">
                <a16:creationId xmlns:a16="http://schemas.microsoft.com/office/drawing/2014/main" id="{EE2E9144-2E50-61D5-6EF0-4D405BB2ED93}"/>
              </a:ext>
            </a:extLst>
          </p:cNvPr>
          <p:cNvCxnSpPr>
            <a:cxnSpLocks/>
          </p:cNvCxnSpPr>
          <p:nvPr/>
        </p:nvCxnSpPr>
        <p:spPr>
          <a:xfrm>
            <a:off x="5466452" y="12195515"/>
            <a:ext cx="145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Gerader Verbinder 136">
            <a:extLst>
              <a:ext uri="{FF2B5EF4-FFF2-40B4-BE49-F238E27FC236}">
                <a16:creationId xmlns:a16="http://schemas.microsoft.com/office/drawing/2014/main" id="{FA120268-DBD1-31E3-D560-DFCE67F86135}"/>
              </a:ext>
            </a:extLst>
          </p:cNvPr>
          <p:cNvCxnSpPr>
            <a:cxnSpLocks/>
            <a:stCxn id="94" idx="3"/>
            <a:endCxn id="96" idx="1"/>
          </p:cNvCxnSpPr>
          <p:nvPr/>
        </p:nvCxnSpPr>
        <p:spPr>
          <a:xfrm flipV="1">
            <a:off x="6779207" y="12813236"/>
            <a:ext cx="1909923" cy="2859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FF6D5A19-3A23-06BE-47EA-CFC2DA6CE54F}"/>
              </a:ext>
            </a:extLst>
          </p:cNvPr>
          <p:cNvCxnSpPr>
            <a:cxnSpLocks/>
            <a:stCxn id="98" idx="1"/>
            <a:endCxn id="96" idx="3"/>
          </p:cNvCxnSpPr>
          <p:nvPr/>
        </p:nvCxnSpPr>
        <p:spPr>
          <a:xfrm flipH="1">
            <a:off x="9027267" y="12813232"/>
            <a:ext cx="485775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9" name="Gerader Verbinder 138">
            <a:extLst>
              <a:ext uri="{FF2B5EF4-FFF2-40B4-BE49-F238E27FC236}">
                <a16:creationId xmlns:a16="http://schemas.microsoft.com/office/drawing/2014/main" id="{9AF164CF-4371-1D84-FE7D-B883D938C666}"/>
              </a:ext>
            </a:extLst>
          </p:cNvPr>
          <p:cNvCxnSpPr>
            <a:cxnSpLocks/>
            <a:stCxn id="100" idx="1"/>
            <a:endCxn id="98" idx="3"/>
          </p:cNvCxnSpPr>
          <p:nvPr/>
        </p:nvCxnSpPr>
        <p:spPr>
          <a:xfrm flipH="1">
            <a:off x="9851175" y="12802603"/>
            <a:ext cx="917488" cy="10633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D00B38C7-6860-5F20-0291-BDDAD5ADC652}"/>
              </a:ext>
            </a:extLst>
          </p:cNvPr>
          <p:cNvCxnSpPr>
            <a:cxnSpLocks/>
            <a:stCxn id="116" idx="3"/>
          </p:cNvCxnSpPr>
          <p:nvPr/>
        </p:nvCxnSpPr>
        <p:spPr>
          <a:xfrm flipH="1">
            <a:off x="9757335" y="9813719"/>
            <a:ext cx="1" cy="48577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3" name="Gerader Verbinder 142">
            <a:extLst>
              <a:ext uri="{FF2B5EF4-FFF2-40B4-BE49-F238E27FC236}">
                <a16:creationId xmlns:a16="http://schemas.microsoft.com/office/drawing/2014/main" id="{5024DC42-ED37-5014-2ACF-25AB816D582D}"/>
              </a:ext>
            </a:extLst>
          </p:cNvPr>
          <p:cNvCxnSpPr>
            <a:cxnSpLocks/>
            <a:stCxn id="119" idx="3"/>
            <a:endCxn id="110" idx="1"/>
          </p:cNvCxnSpPr>
          <p:nvPr/>
        </p:nvCxnSpPr>
        <p:spPr>
          <a:xfrm flipH="1">
            <a:off x="9757335" y="10637635"/>
            <a:ext cx="1" cy="106333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556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44600e-3e04-492e-baa1-25ec245c6f10}" enabled="0" method="" siteId="{9744600e-3e04-492e-baa1-25ec245c6f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1553</Words>
  <Application>Microsoft Office PowerPoint</Application>
  <PresentationFormat>Benutzerdefiniert</PresentationFormat>
  <Paragraphs>666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Thorsten Heinze</cp:lastModifiedBy>
  <cp:revision>88</cp:revision>
  <dcterms:created xsi:type="dcterms:W3CDTF">2025-01-24T13:53:29Z</dcterms:created>
  <dcterms:modified xsi:type="dcterms:W3CDTF">2025-05-28T10:38:17Z</dcterms:modified>
</cp:coreProperties>
</file>