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16_973288BB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78" r:id="rId2"/>
  </p:sldIdLst>
  <p:sldSz cx="18000663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67F8CD-2D8B-E02C-435C-7FEE036FC997}" name="Prathiba Jeevan (External)" initials="PJ" userId="S::prathiba.jeevan.external@telefonica.com::e3ff8f9f-a367-4d27-9bd4-84433ca974f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20" autoAdjust="0"/>
    <p:restoredTop sz="94660"/>
  </p:normalViewPr>
  <p:slideViewPr>
    <p:cSldViewPr snapToGrid="0">
      <p:cViewPr>
        <p:scale>
          <a:sx n="110" d="100"/>
          <a:sy n="110" d="100"/>
        </p:scale>
        <p:origin x="-235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omments/modernComment_116_973288B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5DF29A4-030A-40D4-A535-2E554BA81109}" authorId="{3067F8CD-2D8B-E02C-435C-7FEE036FC997}" created="2025-03-05T16:17:50.26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36671419" sldId="278"/>
      <ac:spMk id="9" creationId="{229884F1-1C12-104D-C37A-E8F9AAC43620}"/>
    </ac:deMkLst>
    <p188:txBody>
      <a:bodyPr/>
      <a:lstStyle/>
      <a:p>
        <a:r>
          <a:rPr lang="de-DE"/>
          <a:t>New requirement : 
New API /v1/notify-me-about-new-netconf-interfaces needs to be supported 
along with a invariant-process-snippet callback</a:t>
        </a:r>
      </a:p>
    </p188:txBody>
  </p188:cm>
  <p188:cm id="{E0643B63-4056-4D66-9ED0-0394071F46AD}" authorId="{3067F8CD-2D8B-E02C-435C-7FEE036FC997}" created="2025-03-05T16:18:30.04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36671419" sldId="278"/>
      <ac:spMk id="13" creationId="{0870663B-C73A-4771-A211-4239452F5C6F}"/>
    </ac:deMkLst>
    <p188:txBody>
      <a:bodyPr/>
      <a:lstStyle/>
      <a:p>
        <a:r>
          <a:rPr lang="de-DE"/>
          <a:t>Change to the existing requirement : 
Currently , we planned to send the response immediately. 
We need to enhance the existing specification.</a:t>
        </a:r>
      </a:p>
    </p188:txBody>
  </p188:cm>
  <p188:cm id="{014517AD-1968-4B48-ADFE-826BF58DF848}" authorId="{3067F8CD-2D8B-E02C-435C-7FEE036FC997}" created="2025-03-05T16:18:43.23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36671419" sldId="278"/>
      <ac:spMk id="39" creationId="{0A919349-A95E-3FB9-AA37-0D6D48B0754E}"/>
    </ac:deMkLst>
    <p188:txBody>
      <a:bodyPr/>
      <a:lstStyle/>
      <a:p>
        <a:r>
          <a:rPr lang="de-DE"/>
          <a:t>New requirement : 
A cyclic process shall be introduced as a consequence of the "embed-yourself".
Currently , when a mediator vm's engineering-limit gets lowered, then that number of instances above the engineering limits will be deleted. So , the "re-allocation" process is a new requirement.</a:t>
        </a:r>
      </a:p>
    </p188:txBody>
  </p188:cm>
  <p188:cm id="{D3394C60-029E-4DAD-B8C1-EB7BA0F930CE}" authorId="{3067F8CD-2D8B-E02C-435C-7FEE036FC997}" created="2025-03-05T16:19:12.63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36671419" sldId="278"/>
      <ac:spMk id="39" creationId="{0A919349-A95E-3FB9-AA37-0D6D48B0754E}"/>
    </ac:deMkLst>
    <p188:txBody>
      <a:bodyPr/>
      <a:lstStyle/>
      <a:p>
        <a:r>
          <a:rPr lang="de-DE"/>
          <a:t>Modification to the existing specification :
Currently , as a part of the "create-mediator-vm-template" , if the "engineering-limit" is lowered , then the number of instances above that limit shall be deleted. This behavior needs to be modified.</a:t>
        </a:r>
      </a:p>
    </p188:txBody>
  </p188:cm>
  <p188:cm id="{4E839D1D-976D-4FC2-B104-92638BB93C02}" authorId="{3067F8CD-2D8B-E02C-435C-7FEE036FC997}" created="2025-03-05T16:19:35.67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36671419" sldId="278"/>
      <ac:spMk id="56" creationId="{9EBFEA2E-B45C-8A04-7DFE-5C0D54E2AEC3}"/>
    </ac:deMkLst>
    <p188:txBody>
      <a:bodyPr/>
      <a:lstStyle/>
      <a:p>
        <a:r>
          <a:rPr lang="de-DE"/>
          <a:t>New requirement : 
Usually disregarding a instance will result in deleting that instance’s LTP stack from the LTP list in the Config File. Here “Mark affected mediatorVm to be deprecated” means , we will not delete that instance , instead we will mark the "operational-state" of the operation-client of MIM as Deprecated ?</a:t>
        </a:r>
      </a:p>
    </p188:txBody>
  </p188:cm>
  <p188:cm id="{09132071-3AAA-424E-8787-E1BF47F75373}" authorId="{3067F8CD-2D8B-E02C-435C-7FEE036FC997}" created="2025-03-05T16:20:19.45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36671419" sldId="278"/>
      <ac:spMk id="125" creationId="{1FE31B48-04FF-C298-6453-7225A40DA40D}"/>
    </ac:deMkLst>
    <p188:txBody>
      <a:bodyPr/>
      <a:lstStyle/>
      <a:p>
        <a:r>
          <a:rPr lang="de-DE"/>
          <a:t>Clarification :
1st line : Whether MM/NIM needs to be complemented with an operation-client of MO's API that provides the list the mount-names and its device-ip?
overall : Whether a /v1/disregard-netconf-interface service will be exposed by MO ? Because , as per this diagram , MM/NIM itself  decides to dismantle mediator process. Whether that should also be notified to MO ?</a:t>
        </a:r>
      </a:p>
    </p188:txBody>
  </p188:cm>
  <p188:cm id="{FDC29E76-1B9A-4CD1-89E0-A22C58FEE157}" authorId="{3067F8CD-2D8B-E02C-435C-7FEE036FC997}" created="2025-03-05T16:20:35.1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36671419" sldId="278"/>
      <ac:spMk id="225" creationId="{8778D23D-E927-DABD-0332-D93807833FA4}"/>
    </ac:deMkLst>
    <p188:txBody>
      <a:bodyPr/>
      <a:lstStyle/>
      <a:p>
        <a:r>
          <a:rPr lang="de-DE"/>
          <a:t>New requirement : 
retention period concept is a new requirement.
Clarification :
I hope the logic is "IF mediatorVmProcess is not responsive on netconf
THEN set firstSilenceDate=‚‘
ELSE check firstSilenceDate
" </a:t>
        </a:r>
      </a:p>
    </p188:txBody>
  </p188:cm>
  <p188:cm id="{70D6D539-FE88-4B03-A757-FBCA94E5FE54}" authorId="{3067F8CD-2D8B-E02C-435C-7FEE036FC997}" created="2025-03-05T16:20:50.22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36671419" sldId="278"/>
      <ac:spMk id="104" creationId="{6181BD8D-E00F-C65B-E014-B40604A43C3E}"/>
    </ac:deMkLst>
    <p188:txBody>
      <a:bodyPr/>
      <a:lstStyle/>
      <a:p>
        <a:r>
          <a:rPr lang="de-DE"/>
          <a:t>Further information shall be helpful to know about this component.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122363"/>
            <a:ext cx="1350049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3602038"/>
            <a:ext cx="13500497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9763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6875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1709739"/>
            <a:ext cx="1552557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4589464"/>
            <a:ext cx="15525572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9856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1825625"/>
            <a:ext cx="7650282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1825625"/>
            <a:ext cx="7650282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4613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365126"/>
            <a:ext cx="15525572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1681163"/>
            <a:ext cx="7615123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2505075"/>
            <a:ext cx="7615123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1681163"/>
            <a:ext cx="765262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2505075"/>
            <a:ext cx="7652626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9068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3396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802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457200"/>
            <a:ext cx="5805682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987426"/>
            <a:ext cx="9112836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2057400"/>
            <a:ext cx="5805682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9194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457200"/>
            <a:ext cx="5805682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987426"/>
            <a:ext cx="9112836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2057400"/>
            <a:ext cx="5805682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68405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33063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365125"/>
            <a:ext cx="3881393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365125"/>
            <a:ext cx="11419171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1815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365126"/>
            <a:ext cx="1552557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1825625"/>
            <a:ext cx="1552557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6356351"/>
            <a:ext cx="40501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6356351"/>
            <a:ext cx="607522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6356351"/>
            <a:ext cx="40501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6058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16_973288BB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39CD3B09-ACE8-D124-4C41-FE15C00157BB}"/>
              </a:ext>
            </a:extLst>
          </p:cNvPr>
          <p:cNvSpPr/>
          <p:nvPr/>
        </p:nvSpPr>
        <p:spPr>
          <a:xfrm>
            <a:off x="400050" y="352426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224D1142-030C-8BDE-C62A-6955AC6F6853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847725" y="516732"/>
            <a:ext cx="3872862" cy="295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88739EAC-0944-7C72-1B36-B74F6A68BFA5}"/>
              </a:ext>
            </a:extLst>
          </p:cNvPr>
          <p:cNvSpPr txBox="1"/>
          <p:nvPr/>
        </p:nvSpPr>
        <p:spPr>
          <a:xfrm>
            <a:off x="2033860" y="289086"/>
            <a:ext cx="264046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/v1/notify-me-about-new-netconf-interfaces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29884F1-1C12-104D-C37A-E8F9AAC43620}"/>
              </a:ext>
            </a:extLst>
          </p:cNvPr>
          <p:cNvSpPr/>
          <p:nvPr/>
        </p:nvSpPr>
        <p:spPr>
          <a:xfrm>
            <a:off x="4720590" y="412196"/>
            <a:ext cx="1571625" cy="7641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CONFIGfile: add MO address to forwarding of type subscription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400050" y="1736165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847724" y="1840707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2900861" y="1633061"/>
            <a:ext cx="18197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/v1/provide-netconf-interface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4720590" y="1736171"/>
            <a:ext cx="1571625" cy="10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Potentially do some tests to validate the request</a:t>
            </a:r>
          </a:p>
          <a:p>
            <a:endParaRPr lang="de-DE" sz="800"/>
          </a:p>
          <a:p>
            <a:r>
              <a:rPr lang="de-DE" sz="800"/>
              <a:t>Add to queue</a:t>
            </a:r>
          </a:p>
        </p:txBody>
      </p:sp>
      <p:sp>
        <p:nvSpPr>
          <p:cNvPr id="15" name="Scrollen: vertikal 14">
            <a:extLst>
              <a:ext uri="{FF2B5EF4-FFF2-40B4-BE49-F238E27FC236}">
                <a16:creationId xmlns:a16="http://schemas.microsoft.com/office/drawing/2014/main" id="{E0D6D35F-81FE-6F08-CAD9-CEFA629499EC}"/>
              </a:ext>
            </a:extLst>
          </p:cNvPr>
          <p:cNvSpPr/>
          <p:nvPr/>
        </p:nvSpPr>
        <p:spPr>
          <a:xfrm>
            <a:off x="7036593" y="4755106"/>
            <a:ext cx="1724025" cy="1416604"/>
          </a:xfrm>
          <a:prstGeom prst="verticalScroll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rgbClr val="FF0000"/>
                </a:solidFill>
              </a:rPr>
              <a:t>netconf</a:t>
            </a:r>
            <a:r>
              <a:rPr lang="de-DE" sz="800"/>
              <a:t> </a:t>
            </a:r>
            <a:r>
              <a:rPr lang="de-DE" sz="800">
                <a:solidFill>
                  <a:srgbClr val="FF0000"/>
                </a:solidFill>
              </a:rPr>
              <a:t>interfaces</a:t>
            </a:r>
            <a:r>
              <a:rPr lang="de-DE" sz="800"/>
              <a:t> to be provided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13" idx="3"/>
            <a:endCxn id="15" idx="0"/>
          </p:cNvCxnSpPr>
          <p:nvPr/>
        </p:nvCxnSpPr>
        <p:spPr>
          <a:xfrm>
            <a:off x="6292215" y="2277785"/>
            <a:ext cx="1606391" cy="247732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847722" y="2058112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51621379-E05A-7624-5E2B-9E656D5A037C}"/>
              </a:ext>
            </a:extLst>
          </p:cNvPr>
          <p:cNvSpPr txBox="1"/>
          <p:nvPr/>
        </p:nvSpPr>
        <p:spPr>
          <a:xfrm>
            <a:off x="932770" y="756764"/>
            <a:ext cx="17636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/v1/regard-netconf-interface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FDF6CC84-07AE-74AE-D03F-63E4D77F1828}"/>
              </a:ext>
            </a:extLst>
          </p:cNvPr>
          <p:cNvCxnSpPr>
            <a:cxnSpLocks/>
          </p:cNvCxnSpPr>
          <p:nvPr/>
        </p:nvCxnSpPr>
        <p:spPr>
          <a:xfrm flipH="1">
            <a:off x="847725" y="1040606"/>
            <a:ext cx="387286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15AE5EE0-6687-0B72-24E6-3E194CBFE77C}"/>
              </a:ext>
            </a:extLst>
          </p:cNvPr>
          <p:cNvCxnSpPr>
            <a:cxnSpLocks/>
          </p:cNvCxnSpPr>
          <p:nvPr/>
        </p:nvCxnSpPr>
        <p:spPr>
          <a:xfrm flipH="1" flipV="1">
            <a:off x="847725" y="1116806"/>
            <a:ext cx="3872862" cy="166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843E828F-6860-C4FF-62B1-5CF8EB977F11}"/>
              </a:ext>
            </a:extLst>
          </p:cNvPr>
          <p:cNvSpPr txBox="1"/>
          <p:nvPr/>
        </p:nvSpPr>
        <p:spPr>
          <a:xfrm>
            <a:off x="866120" y="2014843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C9280F8D-5783-26FF-2B26-854D0A7991FA}"/>
              </a:ext>
            </a:extLst>
          </p:cNvPr>
          <p:cNvCxnSpPr>
            <a:cxnSpLocks/>
          </p:cNvCxnSpPr>
          <p:nvPr/>
        </p:nvCxnSpPr>
        <p:spPr>
          <a:xfrm flipH="1" flipV="1">
            <a:off x="847724" y="959643"/>
            <a:ext cx="3872863" cy="4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hteck 38">
            <a:extLst>
              <a:ext uri="{FF2B5EF4-FFF2-40B4-BE49-F238E27FC236}">
                <a16:creationId xmlns:a16="http://schemas.microsoft.com/office/drawing/2014/main" id="{0A919349-A95E-3FB9-AA37-0D6D48B0754E}"/>
              </a:ext>
            </a:extLst>
          </p:cNvPr>
          <p:cNvSpPr/>
          <p:nvPr/>
        </p:nvSpPr>
        <p:spPr>
          <a:xfrm>
            <a:off x="4720589" y="2957512"/>
            <a:ext cx="1571625" cy="22132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Calculate average number of mediatorVmProcesses at mediatorVms of same mediatorVmTemplate</a:t>
            </a:r>
          </a:p>
          <a:p>
            <a:endParaRPr lang="de-DE" sz="800"/>
          </a:p>
          <a:p>
            <a:r>
              <a:rPr lang="de-DE" sz="800"/>
              <a:t>IF some mediatorVm exceeds average by more than a </a:t>
            </a:r>
            <a:r>
              <a:rPr lang="de-DE" sz="800" i="1"/>
              <a:t>[threshold]</a:t>
            </a:r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calculate number of mediatorVmProcesses to be re-allocated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to dismantleQueue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endParaRPr lang="de-DE" sz="800"/>
          </a:p>
        </p:txBody>
      </p:sp>
      <p:pic>
        <p:nvPicPr>
          <p:cNvPr id="41" name="Grafik 40">
            <a:extLst>
              <a:ext uri="{FF2B5EF4-FFF2-40B4-BE49-F238E27FC236}">
                <a16:creationId xmlns:a16="http://schemas.microsoft.com/office/drawing/2014/main" id="{06E9B889-5E01-4664-FE1F-8B1AA87DF8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4088" y="3040311"/>
            <a:ext cx="260088" cy="251271"/>
          </a:xfrm>
          <a:prstGeom prst="rect">
            <a:avLst/>
          </a:prstGeom>
        </p:spPr>
      </p:pic>
      <p:pic>
        <p:nvPicPr>
          <p:cNvPr id="48" name="Grafik 47">
            <a:extLst>
              <a:ext uri="{FF2B5EF4-FFF2-40B4-BE49-F238E27FC236}">
                <a16:creationId xmlns:a16="http://schemas.microsoft.com/office/drawing/2014/main" id="{870BE84E-95ED-1877-E390-75BBD1352D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418447" y="5378061"/>
            <a:ext cx="447675" cy="439333"/>
          </a:xfrm>
          <a:prstGeom prst="rect">
            <a:avLst/>
          </a:prstGeom>
        </p:spPr>
      </p:pic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4720587" y="5324475"/>
            <a:ext cx="1571625" cy="13201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Potentially do some tests to validate the request and its feasibility</a:t>
            </a:r>
          </a:p>
          <a:p>
            <a:endParaRPr lang="de-DE" sz="800"/>
          </a:p>
          <a:p>
            <a:r>
              <a:rPr lang="de-DE" sz="800"/>
              <a:t>Mark affected mediatorVm to be deprecated</a:t>
            </a:r>
          </a:p>
          <a:p>
            <a:endParaRPr lang="de-DE" sz="800"/>
          </a:p>
          <a:p>
            <a:r>
              <a:rPr lang="de-DE" sz="800"/>
              <a:t>Add all mediatorVmProcesses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</p:txBody>
      </p: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BF5A7625-9054-B71D-DE10-2CFC15E00439}"/>
              </a:ext>
            </a:extLst>
          </p:cNvPr>
          <p:cNvCxnSpPr>
            <a:cxnSpLocks/>
          </p:cNvCxnSpPr>
          <p:nvPr/>
        </p:nvCxnSpPr>
        <p:spPr>
          <a:xfrm>
            <a:off x="781050" y="5515454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feld 58">
            <a:extLst>
              <a:ext uri="{FF2B5EF4-FFF2-40B4-BE49-F238E27FC236}">
                <a16:creationId xmlns:a16="http://schemas.microsoft.com/office/drawing/2014/main" id="{DAF95710-04FD-5EBF-1EFF-2E7A8CC0D559}"/>
              </a:ext>
            </a:extLst>
          </p:cNvPr>
          <p:cNvSpPr txBox="1"/>
          <p:nvPr/>
        </p:nvSpPr>
        <p:spPr>
          <a:xfrm>
            <a:off x="2277301" y="5285901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39" idx="3"/>
            <a:endCxn id="15" idx="0"/>
          </p:cNvCxnSpPr>
          <p:nvPr/>
        </p:nvCxnSpPr>
        <p:spPr>
          <a:xfrm>
            <a:off x="6292214" y="4064137"/>
            <a:ext cx="1606392" cy="690969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4595AACB-AD7E-2212-5243-6ADB2967E746}"/>
              </a:ext>
            </a:extLst>
          </p:cNvPr>
          <p:cNvCxnSpPr>
            <a:cxnSpLocks/>
          </p:cNvCxnSpPr>
          <p:nvPr/>
        </p:nvCxnSpPr>
        <p:spPr>
          <a:xfrm flipH="1">
            <a:off x="829324" y="5741194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feld 66">
            <a:extLst>
              <a:ext uri="{FF2B5EF4-FFF2-40B4-BE49-F238E27FC236}">
                <a16:creationId xmlns:a16="http://schemas.microsoft.com/office/drawing/2014/main" id="{9138EED8-4D6E-B6D0-0EEC-4B1A51F97215}"/>
              </a:ext>
            </a:extLst>
          </p:cNvPr>
          <p:cNvSpPr txBox="1"/>
          <p:nvPr/>
        </p:nvSpPr>
        <p:spPr>
          <a:xfrm>
            <a:off x="847722" y="5697925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56" idx="3"/>
            <a:endCxn id="15" idx="0"/>
          </p:cNvCxnSpPr>
          <p:nvPr/>
        </p:nvCxnSpPr>
        <p:spPr>
          <a:xfrm flipV="1">
            <a:off x="6292212" y="4755106"/>
            <a:ext cx="1606394" cy="1229452"/>
          </a:xfrm>
          <a:prstGeom prst="curvedConnector4">
            <a:avLst>
              <a:gd name="adj1" fmla="val 23169"/>
              <a:gd name="adj2" fmla="val 11859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7036593" y="412196"/>
            <a:ext cx="1571625" cy="10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Prepare device</a:t>
            </a:r>
          </a:p>
          <a:p>
            <a:endParaRPr lang="de-DE" sz="800"/>
          </a:p>
          <a:p>
            <a:r>
              <a:rPr lang="de-DE" sz="800"/>
              <a:t>Pick mediatorVm with lowest number of mediatorVmProcess</a:t>
            </a:r>
          </a:p>
          <a:p>
            <a:endParaRPr lang="de-DE" sz="800"/>
          </a:p>
          <a:p>
            <a:r>
              <a:rPr lang="de-DE" sz="800"/>
              <a:t>Create mediatorVmProcess</a:t>
            </a:r>
          </a:p>
          <a:p>
            <a:endParaRPr lang="de-DE" sz="800"/>
          </a:p>
          <a:p>
            <a:r>
              <a:rPr lang="de-DE" sz="800"/>
              <a:t>Notify</a:t>
            </a:r>
          </a:p>
        </p:txBody>
      </p: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0069755" y="386469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2ED7CAC9-19BB-BA4D-CE9B-21D483F5CB41}"/>
              </a:ext>
            </a:extLst>
          </p:cNvPr>
          <p:cNvCxnSpPr>
            <a:cxnSpLocks/>
          </p:cNvCxnSpPr>
          <p:nvPr/>
        </p:nvCxnSpPr>
        <p:spPr>
          <a:xfrm>
            <a:off x="8608217" y="546242"/>
            <a:ext cx="1461538" cy="363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hteck: abgerundete Ecken 83">
            <a:extLst>
              <a:ext uri="{FF2B5EF4-FFF2-40B4-BE49-F238E27FC236}">
                <a16:creationId xmlns:a16="http://schemas.microsoft.com/office/drawing/2014/main" id="{7AB70A29-DF37-2F1A-F8F8-82ECADC63218}"/>
              </a:ext>
            </a:extLst>
          </p:cNvPr>
          <p:cNvSpPr/>
          <p:nvPr/>
        </p:nvSpPr>
        <p:spPr>
          <a:xfrm>
            <a:off x="10069755" y="1133449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900"/>
              <a:t>MIM</a:t>
            </a: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FB5D5C82-594D-A137-B7E0-C5EC59652ECE}"/>
              </a:ext>
            </a:extLst>
          </p:cNvPr>
          <p:cNvCxnSpPr>
            <a:cxnSpLocks/>
            <a:endCxn id="84" idx="1"/>
          </p:cNvCxnSpPr>
          <p:nvPr/>
        </p:nvCxnSpPr>
        <p:spPr>
          <a:xfrm>
            <a:off x="8608217" y="1186696"/>
            <a:ext cx="1461538" cy="111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15" idx="2"/>
            <a:endCxn id="75" idx="1"/>
          </p:cNvCxnSpPr>
          <p:nvPr/>
        </p:nvCxnSpPr>
        <p:spPr>
          <a:xfrm rot="5400000" flipH="1">
            <a:off x="4858650" y="3131754"/>
            <a:ext cx="5217900" cy="862013"/>
          </a:xfrm>
          <a:prstGeom prst="curvedConnector4">
            <a:avLst>
              <a:gd name="adj1" fmla="val -4381"/>
              <a:gd name="adj2" fmla="val 12651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Verbinder: gekrümmt 92">
            <a:extLst>
              <a:ext uri="{FF2B5EF4-FFF2-40B4-BE49-F238E27FC236}">
                <a16:creationId xmlns:a16="http://schemas.microsoft.com/office/drawing/2014/main" id="{A330ADED-BEE4-6C5F-0774-5C15994C0CA8}"/>
              </a:ext>
            </a:extLst>
          </p:cNvPr>
          <p:cNvCxnSpPr>
            <a:cxnSpLocks/>
            <a:stCxn id="75" idx="2"/>
            <a:endCxn id="9" idx="3"/>
          </p:cNvCxnSpPr>
          <p:nvPr/>
        </p:nvCxnSpPr>
        <p:spPr>
          <a:xfrm rot="5400000" flipH="1">
            <a:off x="6706732" y="379751"/>
            <a:ext cx="701157" cy="1530191"/>
          </a:xfrm>
          <a:prstGeom prst="curvedConnector4">
            <a:avLst>
              <a:gd name="adj1" fmla="val -32603"/>
              <a:gd name="adj2" fmla="val 75677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feld 97">
            <a:extLst>
              <a:ext uri="{FF2B5EF4-FFF2-40B4-BE49-F238E27FC236}">
                <a16:creationId xmlns:a16="http://schemas.microsoft.com/office/drawing/2014/main" id="{E0527AFB-8D5C-9E49-00E4-B5E45F638F08}"/>
              </a:ext>
            </a:extLst>
          </p:cNvPr>
          <p:cNvSpPr txBox="1"/>
          <p:nvPr/>
        </p:nvSpPr>
        <p:spPr>
          <a:xfrm rot="16425882">
            <a:off x="5408167" y="2696289"/>
            <a:ext cx="25539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(private) /p1/create-new-netconf-interface</a:t>
            </a:r>
          </a:p>
        </p:txBody>
      </p: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9299231" y="2500308"/>
            <a:ext cx="1724025" cy="1416604"/>
          </a:xfrm>
          <a:prstGeom prst="verticalScroll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084821" y="2694587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9118173" y="1651516"/>
            <a:ext cx="194279" cy="1891864"/>
          </a:xfrm>
          <a:prstGeom prst="curvedConnector3">
            <a:avLst>
              <a:gd name="adj1" fmla="val 217666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39" idx="3"/>
            <a:endCxn id="104" idx="2"/>
          </p:cNvCxnSpPr>
          <p:nvPr/>
        </p:nvCxnSpPr>
        <p:spPr>
          <a:xfrm flipV="1">
            <a:off x="6292214" y="3220436"/>
            <a:ext cx="1977166" cy="843701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56" idx="3"/>
            <a:endCxn id="104" idx="2"/>
          </p:cNvCxnSpPr>
          <p:nvPr/>
        </p:nvCxnSpPr>
        <p:spPr>
          <a:xfrm flipV="1">
            <a:off x="6292212" y="3220436"/>
            <a:ext cx="1977168" cy="276412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7863839" y="2816648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9375432" y="4617604"/>
            <a:ext cx="1571625" cy="16941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there is </a:t>
            </a:r>
            <a:r>
              <a:rPr lang="de-DE" sz="800" u="sng"/>
              <a:t>no</a:t>
            </a:r>
            <a:r>
              <a:rPr lang="de-DE" sz="800"/>
              <a:t> mountPoint with same deviceName in MO</a:t>
            </a:r>
          </a:p>
          <a:p>
            <a:r>
              <a:rPr lang="de-DE" sz="800"/>
              <a:t>THEN dismantle mediatorProc.</a:t>
            </a:r>
          </a:p>
          <a:p>
            <a:r>
              <a:rPr lang="de-DE" sz="800"/>
              <a:t>ELSE check its TCP/IP address</a:t>
            </a:r>
          </a:p>
          <a:p>
            <a:endParaRPr lang="de-DE" sz="800"/>
          </a:p>
          <a:p>
            <a:r>
              <a:rPr lang="de-DE" sz="800"/>
              <a:t>IF different TCP/IP address</a:t>
            </a:r>
          </a:p>
          <a:p>
            <a:r>
              <a:rPr lang="de-DE" sz="800"/>
              <a:t>THEN dismantle mediatorProc.</a:t>
            </a:r>
          </a:p>
          <a:p>
            <a:r>
              <a:rPr lang="de-DE" sz="800"/>
              <a:t>ELSE check connected state</a:t>
            </a:r>
          </a:p>
          <a:p>
            <a:endParaRPr lang="de-DE" sz="800"/>
          </a:p>
          <a:p>
            <a:r>
              <a:rPr lang="de-DE" sz="800"/>
              <a:t>IF </a:t>
            </a:r>
            <a:r>
              <a:rPr lang="de-DE" sz="800" u="sng"/>
              <a:t>not</a:t>
            </a:r>
            <a:r>
              <a:rPr lang="de-DE" sz="800"/>
              <a:t> in connected state</a:t>
            </a:r>
          </a:p>
          <a:p>
            <a:r>
              <a:rPr lang="de-DE" sz="800"/>
              <a:t>THEN dismantle mediatorProc.</a:t>
            </a:r>
          </a:p>
          <a:p>
            <a:r>
              <a:rPr lang="de-DE" sz="800"/>
              <a:t>ELSE terminate without change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16200000" flipH="1">
            <a:off x="9810898" y="4267257"/>
            <a:ext cx="700692" cy="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feld 137">
            <a:extLst>
              <a:ext uri="{FF2B5EF4-FFF2-40B4-BE49-F238E27FC236}">
                <a16:creationId xmlns:a16="http://schemas.microsoft.com/office/drawing/2014/main" id="{5F39A88C-C8DD-8585-E481-7CA9215CE4E7}"/>
              </a:ext>
            </a:extLst>
          </p:cNvPr>
          <p:cNvSpPr txBox="1"/>
          <p:nvPr/>
        </p:nvSpPr>
        <p:spPr>
          <a:xfrm>
            <a:off x="8994856" y="4124669"/>
            <a:ext cx="24849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(private) /p1/dismantle-mediator-process</a:t>
            </a:r>
          </a:p>
        </p:txBody>
      </p:sp>
      <p:sp>
        <p:nvSpPr>
          <p:cNvPr id="139" name="Rechteck: abgerundete Ecken 138">
            <a:extLst>
              <a:ext uri="{FF2B5EF4-FFF2-40B4-BE49-F238E27FC236}">
                <a16:creationId xmlns:a16="http://schemas.microsoft.com/office/drawing/2014/main" id="{285D310C-B755-6D1C-64A1-00BEA6F9B3C3}"/>
              </a:ext>
            </a:extLst>
          </p:cNvPr>
          <p:cNvSpPr/>
          <p:nvPr/>
        </p:nvSpPr>
        <p:spPr>
          <a:xfrm>
            <a:off x="12408595" y="4824315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40" name="Gerade Verbindung mit Pfeil 139">
            <a:extLst>
              <a:ext uri="{FF2B5EF4-FFF2-40B4-BE49-F238E27FC236}">
                <a16:creationId xmlns:a16="http://schemas.microsoft.com/office/drawing/2014/main" id="{271364D9-7F9E-79AA-C893-2822AA00732D}"/>
              </a:ext>
            </a:extLst>
          </p:cNvPr>
          <p:cNvCxnSpPr>
            <a:cxnSpLocks/>
          </p:cNvCxnSpPr>
          <p:nvPr/>
        </p:nvCxnSpPr>
        <p:spPr>
          <a:xfrm>
            <a:off x="10947057" y="4984088"/>
            <a:ext cx="1461538" cy="363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echteck: abgerundete Ecken 141">
            <a:extLst>
              <a:ext uri="{FF2B5EF4-FFF2-40B4-BE49-F238E27FC236}">
                <a16:creationId xmlns:a16="http://schemas.microsoft.com/office/drawing/2014/main" id="{9374E8B7-24B6-FC85-A77A-EEE5D605F984}"/>
              </a:ext>
            </a:extLst>
          </p:cNvPr>
          <p:cNvSpPr/>
          <p:nvPr/>
        </p:nvSpPr>
        <p:spPr>
          <a:xfrm>
            <a:off x="12432753" y="5444403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900"/>
              <a:t>MIM</a:t>
            </a:r>
          </a:p>
        </p:txBody>
      </p:sp>
      <p:cxnSp>
        <p:nvCxnSpPr>
          <p:cNvPr id="143" name="Gerade Verbindung mit Pfeil 142">
            <a:extLst>
              <a:ext uri="{FF2B5EF4-FFF2-40B4-BE49-F238E27FC236}">
                <a16:creationId xmlns:a16="http://schemas.microsoft.com/office/drawing/2014/main" id="{F2C294CF-C45A-D742-3870-3237D39F0838}"/>
              </a:ext>
            </a:extLst>
          </p:cNvPr>
          <p:cNvCxnSpPr>
            <a:cxnSpLocks/>
            <a:endCxn id="142" idx="1"/>
          </p:cNvCxnSpPr>
          <p:nvPr/>
        </p:nvCxnSpPr>
        <p:spPr>
          <a:xfrm>
            <a:off x="10971215" y="5497650"/>
            <a:ext cx="1461538" cy="111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3525320" y="571612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/v1/dismantle-netconf-interface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3537658" y="755345"/>
            <a:ext cx="33886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3534823" y="879874"/>
            <a:ext cx="3381577" cy="1166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16163217" y="86825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16929101" y="690079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1963198" y="410392"/>
            <a:ext cx="1571625" cy="13201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all mediatorVms for mediatorVmProcesses for the defined deviceName</a:t>
            </a:r>
          </a:p>
          <a:p>
            <a:endParaRPr lang="de-DE" sz="800"/>
          </a:p>
          <a:p>
            <a:r>
              <a:rPr lang="de-DE" sz="800"/>
              <a:t>Add all mediatorVmProcesses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1070253" y="821550"/>
            <a:ext cx="769750" cy="258776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1944027" y="2182541"/>
            <a:ext cx="1666994" cy="2309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mediatorVmProcesses at all mediatorVms</a:t>
            </a:r>
          </a:p>
          <a:p>
            <a:endParaRPr lang="de-DE" sz="800"/>
          </a:p>
          <a:p>
            <a:r>
              <a:rPr lang="de-DE" sz="800"/>
              <a:t>IF mediatorVmProcess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</a:t>
            </a:r>
            <a:br>
              <a:rPr lang="de-DE" sz="800"/>
            </a:br>
            <a:r>
              <a:rPr lang="de-DE" sz="800"/>
              <a:t>currentDate – firstSilenceDate &lt;= [keepMediatorProcessPeriode]</a:t>
            </a:r>
          </a:p>
          <a:p>
            <a:r>
              <a:rPr lang="de-DE" sz="800"/>
              <a:t>THEN no change</a:t>
            </a:r>
          </a:p>
          <a:p>
            <a:r>
              <a:rPr lang="de-DE" sz="800"/>
              <a:t>ELSE add to dismantleQueue</a:t>
            </a:r>
          </a:p>
          <a:p>
            <a:endParaRPr lang="de-DE" sz="800"/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3832" y="2224233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0473353" y="2188199"/>
            <a:ext cx="1992061" cy="2616280"/>
          </a:xfrm>
          <a:prstGeom prst="curvedConnector5">
            <a:avLst>
              <a:gd name="adj1" fmla="val -11476"/>
              <a:gd name="adj2" fmla="val 49455"/>
              <a:gd name="adj3" fmla="val 111476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667141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259</Words>
  <Application>Microsoft Office PowerPoint</Application>
  <PresentationFormat>Custom</PresentationFormat>
  <Paragraphs>75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 Presentation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Prathiba Jeevan (External)</cp:lastModifiedBy>
  <cp:revision>6</cp:revision>
  <dcterms:created xsi:type="dcterms:W3CDTF">2025-01-24T13:53:29Z</dcterms:created>
  <dcterms:modified xsi:type="dcterms:W3CDTF">2025-03-05T16:21:01Z</dcterms:modified>
</cp:coreProperties>
</file>