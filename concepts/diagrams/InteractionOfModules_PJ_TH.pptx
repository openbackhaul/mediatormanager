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16_973288BB.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8" r:id="rId2"/>
  </p:sldIdLst>
  <p:sldSz cx="18000663"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067F8CD-2D8B-E02C-435C-7FEE036FC997}" name="Prathiba Jeevan (External)" initials="PJ" userId="S::prathiba.jeevan.external@telefonica.com::e3ff8f9f-a367-4d27-9bd4-84433ca974f5" providerId="AD"/>
  <p188:author id="{5A5C1DE8-4EBB-33F7-1516-E57BA5686026}" name="Thorsten Heinze" initials="TH" userId="S::thorsten.heinze@telefonica.com::8373ecd2-b5b9-4b48-849d-3bee853f6cc0"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20" autoAdjust="0"/>
    <p:restoredTop sz="94660"/>
  </p:normalViewPr>
  <p:slideViewPr>
    <p:cSldViewPr snapToGrid="0">
      <p:cViewPr varScale="1">
        <p:scale>
          <a:sx n="110" d="100"/>
          <a:sy n="110" d="100"/>
        </p:scale>
        <p:origin x="150" y="13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8/10/relationships/authors" Targe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omments/modernComment_116_973288BB.xml><?xml version="1.0" encoding="utf-8"?>
<p188:cmLst xmlns:a="http://schemas.openxmlformats.org/drawingml/2006/main" xmlns:r="http://schemas.openxmlformats.org/officeDocument/2006/relationships" xmlns:p188="http://schemas.microsoft.com/office/powerpoint/2018/8/main">
  <p188:cm id="{65DF29A4-030A-40D4-A535-2E554BA81109}" authorId="{3067F8CD-2D8B-E02C-435C-7FEE036FC997}" created="2025-03-05T16:17:50.266">
    <ac:deMkLst xmlns:ac="http://schemas.microsoft.com/office/drawing/2013/main/command">
      <pc:docMk xmlns:pc="http://schemas.microsoft.com/office/powerpoint/2013/main/command"/>
      <pc:sldMk xmlns:pc="http://schemas.microsoft.com/office/powerpoint/2013/main/command" cId="2536671419" sldId="278"/>
      <ac:spMk id="9" creationId="{229884F1-1C12-104D-C37A-E8F9AAC43620}"/>
    </ac:deMkLst>
    <p188:replyLst>
      <p188:reply id="{4FA91F57-C64F-4BB3-AF65-5C26CAB9AC77}" authorId="{5A5C1DE8-4EBB-33F7-1516-E57BA5686026}" created="2025-03-05T17:21:39.247">
        <p188:txBody>
          <a:bodyPr/>
          <a:lstStyle/>
          <a:p>
            <a:r>
              <a:rPr lang="de-DE"/>
              <a:t>Yes.
Some channel for informing about new NETCONF interfaces is required, because not all of them are requested by /v1/provide-netconf-interface</a:t>
            </a:r>
          </a:p>
        </p188:txBody>
      </p188:reply>
      <p188:reply id="{0FCECDC7-7C47-41DD-8A4B-2F1338D3415E}" authorId="{5A5C1DE8-4EBB-33F7-1516-E57BA5686026}" created="2025-03-07T16:43:33.879">
        <p188:txBody>
          <a:bodyPr/>
          <a:lstStyle/>
          <a:p>
            <a:r>
              <a:rPr lang="de-DE"/>
              <a:t>Yes.
It is a  invariant-process-snippet .</a:t>
            </a:r>
          </a:p>
        </p188:txBody>
      </p188:reply>
    </p188:replyLst>
    <p188:txBody>
      <a:bodyPr/>
      <a:lstStyle/>
      <a:p>
        <a:r>
          <a:rPr lang="de-DE"/>
          <a:t>New requirement : 
New API /v1/notify-me-about-new-netconf-interfaces needs to be supported 
along with a invariant-process-snippet callback</a:t>
        </a:r>
      </a:p>
    </p188:txBody>
  </p188:cm>
  <p188:cm id="{E0643B63-4056-4D66-9ED0-0394071F46AD}" authorId="{3067F8CD-2D8B-E02C-435C-7FEE036FC997}" created="2025-03-05T16:18:30.043">
    <ac:deMkLst xmlns:ac="http://schemas.microsoft.com/office/drawing/2013/main/command">
      <pc:docMk xmlns:pc="http://schemas.microsoft.com/office/powerpoint/2013/main/command"/>
      <pc:sldMk xmlns:pc="http://schemas.microsoft.com/office/powerpoint/2013/main/command" cId="2536671419" sldId="278"/>
      <ac:spMk id="13" creationId="{0870663B-C73A-4771-A211-4239452F5C6F}"/>
    </ac:deMkLst>
    <p188:replyLst>
      <p188:reply id="{BA8ED43B-1F8C-419D-93EE-72D50F35B58A}" authorId="{5A5C1DE8-4EBB-33F7-1516-E57BA5686026}" created="2025-03-05T17:22:12.400">
        <p188:txBody>
          <a:bodyPr/>
          <a:lstStyle/>
          <a:p>
            <a:r>
              <a:rPr lang="de-DE"/>
              <a:t>Yes. See above.</a:t>
            </a:r>
          </a:p>
        </p188:txBody>
      </p188:reply>
    </p188:replyLst>
    <p188:txBody>
      <a:bodyPr/>
      <a:lstStyle/>
      <a:p>
        <a:r>
          <a:rPr lang="de-DE"/>
          <a:t>Change to the existing requirement : 
Currently , we planned to send the response immediately. 
We need to enhance the existing specification.</a:t>
        </a:r>
      </a:p>
    </p188:txBody>
  </p188:cm>
  <p188:cm id="{014517AD-1968-4B48-ADFE-826BF58DF848}" authorId="{3067F8CD-2D8B-E02C-435C-7FEE036FC997}" created="2025-03-05T16:18:43.232">
    <ac:deMkLst xmlns:ac="http://schemas.microsoft.com/office/drawing/2013/main/command">
      <pc:docMk xmlns:pc="http://schemas.microsoft.com/office/powerpoint/2013/main/command"/>
      <pc:sldMk xmlns:pc="http://schemas.microsoft.com/office/powerpoint/2013/main/command" cId="2536671419" sldId="278"/>
      <ac:spMk id="39" creationId="{0A919349-A95E-3FB9-AA37-0D6D48B0754E}"/>
    </ac:deMkLst>
    <p188:replyLst>
      <p188:reply id="{9421DD21-E30C-4230-89BE-1A55ADE8B524}" authorId="{5A5C1DE8-4EBB-33F7-1516-E57BA5686026}" created="2025-03-05T17:27:44.989">
        <p188:txBody>
          <a:bodyPr/>
          <a:lstStyle/>
          <a:p>
            <a:r>
              <a:rPr lang="de-DE"/>
              <a:t>If preferred, we could also add a service for start/stop the load sharing.
Lowering the engineeringLimit is a very special case. If we would decide covering it, it would most likely be in a separate module.</a:t>
            </a:r>
          </a:p>
        </p188:txBody>
      </p188:reply>
      <p188:reply id="{5F64E3E0-17CE-42CA-8CEB-12A9E7719316}" authorId="{5A5C1DE8-4EBB-33F7-1516-E57BA5686026}" created="2025-03-07T16:48:40.575">
        <p188:txBody>
          <a:bodyPr/>
          <a:lstStyle/>
          <a:p>
            <a:r>
              <a:rPr lang="de-DE"/>
              <a:t>I am wondering, whether it would make sense to add a start/stop service for all cyclic modules.
It would allow to hand over some parameters for the operations, too.
In some remote future version, there could be a small GUI for addressing these start/stop services.</a:t>
            </a:r>
          </a:p>
        </p188:txBody>
      </p188:reply>
    </p188:replyLst>
    <p188:txBody>
      <a:bodyPr/>
      <a:lstStyle/>
      <a:p>
        <a:r>
          <a:rPr lang="de-DE"/>
          <a:t>New requirement : 
A cyclic process shall be introduced as a consequence of the "embed-yourself".
Currently , when a mediator vm's engineering-limit gets lowered, then that number of instances above the engineering limits will be deleted. So , the "re-allocation" process is a new requirement.</a:t>
        </a:r>
      </a:p>
    </p188:txBody>
  </p188:cm>
  <p188:cm id="{D3394C60-029E-4DAD-B8C1-EB7BA0F930CE}" authorId="{3067F8CD-2D8B-E02C-435C-7FEE036FC997}" created="2025-03-05T16:19:12.632">
    <ac:deMkLst xmlns:ac="http://schemas.microsoft.com/office/drawing/2013/main/command">
      <pc:docMk xmlns:pc="http://schemas.microsoft.com/office/powerpoint/2013/main/command"/>
      <pc:sldMk xmlns:pc="http://schemas.microsoft.com/office/powerpoint/2013/main/command" cId="2536671419" sldId="278"/>
      <ac:spMk id="39" creationId="{0A919349-A95E-3FB9-AA37-0D6D48B0754E}"/>
    </ac:deMkLst>
    <p188:replyLst>
      <p188:reply id="{3BAED90F-2599-4F8E-B86F-5AC0C3888342}" authorId="{5A5C1DE8-4EBB-33F7-1516-E57BA5686026}" created="2025-03-05T17:34:06.731">
        <p188:txBody>
          <a:bodyPr/>
          <a:lstStyle/>
          <a:p>
            <a:r>
              <a:rPr lang="de-DE"/>
              <a:t>I would like to avoid implementations like (whenever the engineeringLimit is lowered, exceeding numbers shall be killed).
There shall be rules like (the engineeringLimit must not be exceeded) and modules that monitor compliance with these rules no matter why we came into an unwished situation.</a:t>
            </a:r>
          </a:p>
        </p188:txBody>
      </p188:reply>
      <p188:reply id="{C89449E4-9D15-4953-8336-32C359394166}" authorId="{5A5C1DE8-4EBB-33F7-1516-E57BA5686026}" created="2025-03-07T16:50:07.586">
        <p188:txBody>
          <a:bodyPr/>
          <a:lstStyle/>
          <a:p>
            <a:r>
              <a:rPr lang="de-DE"/>
              <a:t>In short term there shall be no module for monitoring the engineering limit.</a:t>
            </a:r>
          </a:p>
        </p188:txBody>
      </p188:reply>
    </p188:replyLst>
    <p188:txBody>
      <a:bodyPr/>
      <a:lstStyle/>
      <a:p>
        <a:r>
          <a:rPr lang="de-DE"/>
          <a:t>Modification to the existing specification :
Currently , as a part of the "create-mediator-vm-template" , if the "engineering-limit" is lowered , then the number of instances above that limit shall be deleted. This behavior needs to be modified.</a:t>
        </a:r>
      </a:p>
    </p188:txBody>
  </p188:cm>
  <p188:cm id="{4E839D1D-976D-4FC2-B104-92638BB93C02}" authorId="{3067F8CD-2D8B-E02C-435C-7FEE036FC997}" created="2025-03-05T16:19:35.673">
    <ac:deMkLst xmlns:ac="http://schemas.microsoft.com/office/drawing/2013/main/command">
      <pc:docMk xmlns:pc="http://schemas.microsoft.com/office/powerpoint/2013/main/command"/>
      <pc:sldMk xmlns:pc="http://schemas.microsoft.com/office/powerpoint/2013/main/command" cId="2536671419" sldId="278"/>
      <ac:spMk id="56" creationId="{9EBFEA2E-B45C-8A04-7DFE-5C0D54E2AEC3}"/>
    </ac:deMkLst>
    <p188:replyLst>
      <p188:reply id="{6D997951-8A31-4557-94C0-E49D645ABFA6}" authorId="{5A5C1DE8-4EBB-33F7-1516-E57BA5686026}" created="2025-03-05T17:46:44.594">
        <p188:txBody>
          <a:bodyPr/>
          <a:lstStyle/>
          <a:p>
            <a:r>
              <a:rPr lang="de-DE"/>
              <a:t>Yes, the deleting shall be decoupled from the request call.
It shall be a „life-cycle-state“ attribute that shall store the „deprecated“.</a:t>
            </a:r>
          </a:p>
        </p188:txBody>
      </p188:reply>
    </p188:replyLst>
    <p188:txBody>
      <a:bodyPr/>
      <a:lstStyle/>
      <a:p>
        <a:r>
          <a:rPr lang="de-DE"/>
          <a:t>New requirement : 
Usually disregarding a instance will result in deleting that instance’s LTP stack from the LTP list in the Config File. Here “Mark affected mediatorVm to be deprecated” means , we will not delete that instance , instead we will mark the "operational-state" of the operation-client of MIM as Deprecated ?</a:t>
        </a:r>
      </a:p>
    </p188:txBody>
  </p188:cm>
  <p188:cm id="{09132071-3AAA-424E-8787-E1BF47F75373}" authorId="{3067F8CD-2D8B-E02C-435C-7FEE036FC997}" created="2025-03-05T16:20:19.456">
    <ac:deMkLst xmlns:ac="http://schemas.microsoft.com/office/drawing/2013/main/command">
      <pc:docMk xmlns:pc="http://schemas.microsoft.com/office/powerpoint/2013/main/command"/>
      <pc:sldMk xmlns:pc="http://schemas.microsoft.com/office/powerpoint/2013/main/command" cId="2536671419" sldId="278"/>
      <ac:spMk id="125" creationId="{1FE31B48-04FF-C298-6453-7225A40DA40D}"/>
    </ac:deMkLst>
    <p188:replyLst>
      <p188:reply id="{3EA20E2F-B05D-4EF8-8E64-5DCEFEECBDE2}" authorId="{5A5C1DE8-4EBB-33F7-1516-E57BA5686026}" created="2025-03-05T17:55:18.519">
        <p188:txBody>
          <a:bodyPr/>
          <a:lstStyle/>
          <a:p>
            <a:r>
              <a:rPr lang="de-DE"/>
              <a:t>It shall not retrieve the entire list of mount-names, but all required information about a single mount-point.
MO shall not provide a /v1/disregard-netconf-interface as dismantling of interfaces shall exclusively been initiated by MO.
MM shall only dismantle mediatorProcesses (but no NETCONF interfaces) as long as there is another mediatorProcess that maintains the NETCONF interface.</a:t>
            </a:r>
          </a:p>
        </p188:txBody>
      </p188:reply>
    </p188:replyLst>
    <p188:txBody>
      <a:bodyPr/>
      <a:lstStyle/>
      <a:p>
        <a:r>
          <a:rPr lang="de-DE"/>
          <a:t>Clarification :
1st line : Whether MM/NIM needs to be complemented with an operation-client of MO's API that provides the list the mount-names and its device-ip?
overall : Whether a /v1/disregard-netconf-interface service will be exposed by MO ? Because , as per this diagram , MM/NIM itself  decides to dismantle mediator process. Whether that should also be notified to MO ?</a:t>
        </a:r>
      </a:p>
    </p188:txBody>
  </p188:cm>
  <p188:cm id="{FDC29E76-1B9A-4CD1-89E0-A22C58FEE157}" authorId="{3067F8CD-2D8B-E02C-435C-7FEE036FC997}" created="2025-03-05T16:20:35.140">
    <ac:deMkLst xmlns:ac="http://schemas.microsoft.com/office/drawing/2013/main/command">
      <pc:docMk xmlns:pc="http://schemas.microsoft.com/office/powerpoint/2013/main/command"/>
      <pc:sldMk xmlns:pc="http://schemas.microsoft.com/office/powerpoint/2013/main/command" cId="2536671419" sldId="278"/>
      <ac:spMk id="225" creationId="{8778D23D-E927-DABD-0332-D93807833FA4}"/>
    </ac:deMkLst>
    <p188:replyLst>
      <p188:reply id="{73FA34DD-DDEC-41C2-AC59-D2979DD574D5}" authorId="{5A5C1DE8-4EBB-33F7-1516-E57BA5686026}" created="2025-03-07T16:55:45.372">
        <p188:txBody>
          <a:bodyPr/>
          <a:lstStyle/>
          <a:p>
            <a:r>
              <a:rPr lang="de-DE"/>
              <a:t>No. If the interface is working the firstSilenceDate shall be empty. Exclusively, if it is not working there shall be some date.</a:t>
            </a:r>
          </a:p>
        </p188:txBody>
      </p188:reply>
    </p188:replyLst>
    <p188:txBody>
      <a:bodyPr/>
      <a:lstStyle/>
      <a:p>
        <a:r>
          <a:rPr lang="de-DE"/>
          <a:t>New requirement : 
retention period concept is a new requirement.
Clarification :
I hope the logic is "IF mediatorVmProcess is not responsive on netconf
THEN set firstSilenceDate=‚‘
ELSE check firstSilenceDate
" </a:t>
        </a:r>
      </a:p>
    </p188:txBody>
  </p188:cm>
  <p188:cm id="{70D6D539-FE88-4B03-A757-FBCA94E5FE54}" authorId="{3067F8CD-2D8B-E02C-435C-7FEE036FC997}" created="2025-03-05T16:20:50.222">
    <ac:deMkLst xmlns:ac="http://schemas.microsoft.com/office/drawing/2013/main/command">
      <pc:docMk xmlns:pc="http://schemas.microsoft.com/office/powerpoint/2013/main/command"/>
      <pc:sldMk xmlns:pc="http://schemas.microsoft.com/office/powerpoint/2013/main/command" cId="2536671419" sldId="278"/>
      <ac:spMk id="104" creationId="{6181BD8D-E00F-C65B-E014-B40604A43C3E}"/>
    </ac:deMkLst>
    <p188:replyLst>
      <p188:reply id="{9C2760BE-3D5F-40BB-B42A-A29AB941ED39}" authorId="{5A5C1DE8-4EBB-33F7-1516-E57BA5686026}" created="2025-03-07T16:57:38.336">
        <p188:txBody>
          <a:bodyPr/>
          <a:lstStyle/>
          <a:p>
            <a:r>
              <a:rPr lang="de-DE"/>
              <a:t>It shall post-pone adding the mediatorProcess to the dismantleList by a configurable time.
This shall increase the chances for  the new mendiatorProcess being created before the old one it attempted to be deleted.</a:t>
            </a:r>
          </a:p>
        </p188:txBody>
      </p188:reply>
    </p188:replyLst>
    <p188:txBody>
      <a:bodyPr/>
      <a:lstStyle/>
      <a:p>
        <a:r>
          <a:rPr lang="de-DE"/>
          <a:t>Further information shall be helpful to know about this component.</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2250083" y="1122363"/>
            <a:ext cx="13500497" cy="2387600"/>
          </a:xfrm>
        </p:spPr>
        <p:txBody>
          <a:bodyPr anchor="b"/>
          <a:lstStyle>
            <a:lvl1pPr algn="ctr">
              <a:defRPr sz="6000"/>
            </a:lvl1pPr>
          </a:lstStyle>
          <a:p>
            <a:r>
              <a:rPr lang="de-DE"/>
              <a:t>Mastertitelformat bearbeiten</a:t>
            </a:r>
            <a:endParaRPr lang="en-US" dirty="0"/>
          </a:p>
        </p:txBody>
      </p:sp>
      <p:sp>
        <p:nvSpPr>
          <p:cNvPr id="3" name="Subtitle 2"/>
          <p:cNvSpPr>
            <a:spLocks noGrp="1"/>
          </p:cNvSpPr>
          <p:nvPr>
            <p:ph type="subTitle" idx="1"/>
          </p:nvPr>
        </p:nvSpPr>
        <p:spPr>
          <a:xfrm>
            <a:off x="2250083" y="3602038"/>
            <a:ext cx="13500497"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9A2764DB-E7DF-4EA7-A1AF-05A77C280FCA}" type="datetimeFigureOut">
              <a:rPr lang="de-DE" smtClean="0"/>
              <a:t>05.03.2025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F0A02A80-A104-426B-9779-D7499AE27B60}" type="slidenum">
              <a:rPr lang="de-DE" smtClean="0"/>
              <a:t>‹Nr.›</a:t>
            </a:fld>
            <a:endParaRPr lang="de-DE"/>
          </a:p>
        </p:txBody>
      </p:sp>
    </p:spTree>
    <p:extLst>
      <p:ext uri="{BB962C8B-B14F-4D97-AF65-F5344CB8AC3E}">
        <p14:creationId xmlns:p14="http://schemas.microsoft.com/office/powerpoint/2010/main" val="2979763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9A2764DB-E7DF-4EA7-A1AF-05A77C280FCA}" type="datetimeFigureOut">
              <a:rPr lang="de-DE" smtClean="0"/>
              <a:t>05.03.2025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F0A02A80-A104-426B-9779-D7499AE27B60}" type="slidenum">
              <a:rPr lang="de-DE" smtClean="0"/>
              <a:t>‹Nr.›</a:t>
            </a:fld>
            <a:endParaRPr lang="de-DE"/>
          </a:p>
        </p:txBody>
      </p:sp>
    </p:spTree>
    <p:extLst>
      <p:ext uri="{BB962C8B-B14F-4D97-AF65-F5344CB8AC3E}">
        <p14:creationId xmlns:p14="http://schemas.microsoft.com/office/powerpoint/2010/main" val="2396875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228170" y="1709739"/>
            <a:ext cx="15525572" cy="2852737"/>
          </a:xfrm>
        </p:spPr>
        <p:txBody>
          <a:bodyPr anchor="b"/>
          <a:lstStyle>
            <a:lvl1pPr>
              <a:defRPr sz="6000"/>
            </a:lvl1pPr>
          </a:lstStyle>
          <a:p>
            <a:r>
              <a:rPr lang="de-DE"/>
              <a:t>Mastertitelformat bearbeiten</a:t>
            </a:r>
            <a:endParaRPr lang="en-US" dirty="0"/>
          </a:p>
        </p:txBody>
      </p:sp>
      <p:sp>
        <p:nvSpPr>
          <p:cNvPr id="3" name="Text Placeholder 2"/>
          <p:cNvSpPr>
            <a:spLocks noGrp="1"/>
          </p:cNvSpPr>
          <p:nvPr>
            <p:ph type="body" idx="1"/>
          </p:nvPr>
        </p:nvSpPr>
        <p:spPr>
          <a:xfrm>
            <a:off x="1228170" y="4589464"/>
            <a:ext cx="15525572"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9A2764DB-E7DF-4EA7-A1AF-05A77C280FCA}" type="datetimeFigureOut">
              <a:rPr lang="de-DE" smtClean="0"/>
              <a:t>05.03.2025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F0A02A80-A104-426B-9779-D7499AE27B60}" type="slidenum">
              <a:rPr lang="de-DE" smtClean="0"/>
              <a:t>‹Nr.›</a:t>
            </a:fld>
            <a:endParaRPr lang="de-DE"/>
          </a:p>
        </p:txBody>
      </p:sp>
    </p:spTree>
    <p:extLst>
      <p:ext uri="{BB962C8B-B14F-4D97-AF65-F5344CB8AC3E}">
        <p14:creationId xmlns:p14="http://schemas.microsoft.com/office/powerpoint/2010/main" val="3439856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1237545" y="1825625"/>
            <a:ext cx="7650282"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9112836" y="1825625"/>
            <a:ext cx="7650282"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9A2764DB-E7DF-4EA7-A1AF-05A77C280FCA}" type="datetimeFigureOut">
              <a:rPr lang="de-DE" smtClean="0"/>
              <a:t>05.03.2025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F0A02A80-A104-426B-9779-D7499AE27B60}" type="slidenum">
              <a:rPr lang="de-DE" smtClean="0"/>
              <a:t>‹Nr.›</a:t>
            </a:fld>
            <a:endParaRPr lang="de-DE"/>
          </a:p>
        </p:txBody>
      </p:sp>
    </p:spTree>
    <p:extLst>
      <p:ext uri="{BB962C8B-B14F-4D97-AF65-F5344CB8AC3E}">
        <p14:creationId xmlns:p14="http://schemas.microsoft.com/office/powerpoint/2010/main" val="2194613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1239890" y="365126"/>
            <a:ext cx="15525572" cy="1325563"/>
          </a:xfrm>
        </p:spPr>
        <p:txBody>
          <a:bodyPr/>
          <a:lstStyle/>
          <a:p>
            <a:r>
              <a:rPr lang="de-DE"/>
              <a:t>Mastertitelformat bearbeiten</a:t>
            </a:r>
            <a:endParaRPr lang="en-US" dirty="0"/>
          </a:p>
        </p:txBody>
      </p:sp>
      <p:sp>
        <p:nvSpPr>
          <p:cNvPr id="3" name="Text Placeholder 2"/>
          <p:cNvSpPr>
            <a:spLocks noGrp="1"/>
          </p:cNvSpPr>
          <p:nvPr>
            <p:ph type="body" idx="1"/>
          </p:nvPr>
        </p:nvSpPr>
        <p:spPr>
          <a:xfrm>
            <a:off x="1239891" y="1681163"/>
            <a:ext cx="761512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Content Placeholder 3"/>
          <p:cNvSpPr>
            <a:spLocks noGrp="1"/>
          </p:cNvSpPr>
          <p:nvPr>
            <p:ph sz="half" idx="2"/>
          </p:nvPr>
        </p:nvSpPr>
        <p:spPr>
          <a:xfrm>
            <a:off x="1239891" y="2505075"/>
            <a:ext cx="7615123"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9112836" y="1681163"/>
            <a:ext cx="765262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Content Placeholder 5"/>
          <p:cNvSpPr>
            <a:spLocks noGrp="1"/>
          </p:cNvSpPr>
          <p:nvPr>
            <p:ph sz="quarter" idx="4"/>
          </p:nvPr>
        </p:nvSpPr>
        <p:spPr>
          <a:xfrm>
            <a:off x="9112836" y="2505075"/>
            <a:ext cx="7652626"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9A2764DB-E7DF-4EA7-A1AF-05A77C280FCA}" type="datetimeFigureOut">
              <a:rPr lang="de-DE" smtClean="0"/>
              <a:t>05.03.2025</a:t>
            </a:fld>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F0A02A80-A104-426B-9779-D7499AE27B60}" type="slidenum">
              <a:rPr lang="de-DE" smtClean="0"/>
              <a:t>‹Nr.›</a:t>
            </a:fld>
            <a:endParaRPr lang="de-DE"/>
          </a:p>
        </p:txBody>
      </p:sp>
    </p:spTree>
    <p:extLst>
      <p:ext uri="{BB962C8B-B14F-4D97-AF65-F5344CB8AC3E}">
        <p14:creationId xmlns:p14="http://schemas.microsoft.com/office/powerpoint/2010/main" val="859068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9A2764DB-E7DF-4EA7-A1AF-05A77C280FCA}" type="datetimeFigureOut">
              <a:rPr lang="de-DE" smtClean="0"/>
              <a:t>05.03.2025</a:t>
            </a:fld>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F0A02A80-A104-426B-9779-D7499AE27B60}" type="slidenum">
              <a:rPr lang="de-DE" smtClean="0"/>
              <a:t>‹Nr.›</a:t>
            </a:fld>
            <a:endParaRPr lang="de-DE"/>
          </a:p>
        </p:txBody>
      </p:sp>
    </p:spTree>
    <p:extLst>
      <p:ext uri="{BB962C8B-B14F-4D97-AF65-F5344CB8AC3E}">
        <p14:creationId xmlns:p14="http://schemas.microsoft.com/office/powerpoint/2010/main" val="2923396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2764DB-E7DF-4EA7-A1AF-05A77C280FCA}" type="datetimeFigureOut">
              <a:rPr lang="de-DE" smtClean="0"/>
              <a:t>05.03.2025</a:t>
            </a:fld>
            <a:endParaRPr lang="de-DE"/>
          </a:p>
        </p:txBody>
      </p:sp>
      <p:sp>
        <p:nvSpPr>
          <p:cNvPr id="3" name="Footer Placeholder 2"/>
          <p:cNvSpPr>
            <a:spLocks noGrp="1"/>
          </p:cNvSpPr>
          <p:nvPr>
            <p:ph type="ftr" sz="quarter" idx="11"/>
          </p:nvPr>
        </p:nvSpPr>
        <p:spPr/>
        <p:txBody>
          <a:bodyPr/>
          <a:lstStyle/>
          <a:p>
            <a:endParaRPr lang="de-DE"/>
          </a:p>
        </p:txBody>
      </p:sp>
      <p:sp>
        <p:nvSpPr>
          <p:cNvPr id="4" name="Slide Number Placeholder 3"/>
          <p:cNvSpPr>
            <a:spLocks noGrp="1"/>
          </p:cNvSpPr>
          <p:nvPr>
            <p:ph type="sldNum" sz="quarter" idx="12"/>
          </p:nvPr>
        </p:nvSpPr>
        <p:spPr/>
        <p:txBody>
          <a:bodyPr/>
          <a:lstStyle/>
          <a:p>
            <a:fld id="{F0A02A80-A104-426B-9779-D7499AE27B60}" type="slidenum">
              <a:rPr lang="de-DE" smtClean="0"/>
              <a:t>‹Nr.›</a:t>
            </a:fld>
            <a:endParaRPr lang="de-DE"/>
          </a:p>
        </p:txBody>
      </p:sp>
    </p:spTree>
    <p:extLst>
      <p:ext uri="{BB962C8B-B14F-4D97-AF65-F5344CB8AC3E}">
        <p14:creationId xmlns:p14="http://schemas.microsoft.com/office/powerpoint/2010/main" val="345802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239891" y="457200"/>
            <a:ext cx="5805682" cy="1600200"/>
          </a:xfrm>
        </p:spPr>
        <p:txBody>
          <a:bodyPr anchor="b"/>
          <a:lstStyle>
            <a:lvl1pPr>
              <a:defRPr sz="3200"/>
            </a:lvl1pPr>
          </a:lstStyle>
          <a:p>
            <a:r>
              <a:rPr lang="de-DE"/>
              <a:t>Mastertitelformat bearbeiten</a:t>
            </a:r>
            <a:endParaRPr lang="en-US" dirty="0"/>
          </a:p>
        </p:txBody>
      </p:sp>
      <p:sp>
        <p:nvSpPr>
          <p:cNvPr id="3" name="Content Placeholder 2"/>
          <p:cNvSpPr>
            <a:spLocks noGrp="1"/>
          </p:cNvSpPr>
          <p:nvPr>
            <p:ph idx="1"/>
          </p:nvPr>
        </p:nvSpPr>
        <p:spPr>
          <a:xfrm>
            <a:off x="7652626" y="987426"/>
            <a:ext cx="9112836"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1239891" y="2057400"/>
            <a:ext cx="580568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9A2764DB-E7DF-4EA7-A1AF-05A77C280FCA}" type="datetimeFigureOut">
              <a:rPr lang="de-DE" smtClean="0"/>
              <a:t>05.03.2025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F0A02A80-A104-426B-9779-D7499AE27B60}" type="slidenum">
              <a:rPr lang="de-DE" smtClean="0"/>
              <a:t>‹Nr.›</a:t>
            </a:fld>
            <a:endParaRPr lang="de-DE"/>
          </a:p>
        </p:txBody>
      </p:sp>
    </p:spTree>
    <p:extLst>
      <p:ext uri="{BB962C8B-B14F-4D97-AF65-F5344CB8AC3E}">
        <p14:creationId xmlns:p14="http://schemas.microsoft.com/office/powerpoint/2010/main" val="3949194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239891" y="457200"/>
            <a:ext cx="5805682" cy="1600200"/>
          </a:xfrm>
        </p:spPr>
        <p:txBody>
          <a:bodyPr anchor="b"/>
          <a:lstStyle>
            <a:lvl1pPr>
              <a:defRPr sz="3200"/>
            </a:lvl1pPr>
          </a:lstStyle>
          <a:p>
            <a:r>
              <a:rPr lang="de-DE"/>
              <a:t>Mastertitelformat bearbeiten</a:t>
            </a:r>
            <a:endParaRPr lang="en-US" dirty="0"/>
          </a:p>
        </p:txBody>
      </p:sp>
      <p:sp>
        <p:nvSpPr>
          <p:cNvPr id="3" name="Picture Placeholder 2"/>
          <p:cNvSpPr>
            <a:spLocks noGrp="1" noChangeAspect="1"/>
          </p:cNvSpPr>
          <p:nvPr>
            <p:ph type="pic" idx="1"/>
          </p:nvPr>
        </p:nvSpPr>
        <p:spPr>
          <a:xfrm>
            <a:off x="7652626" y="987426"/>
            <a:ext cx="9112836"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endParaRPr lang="en-US" dirty="0"/>
          </a:p>
        </p:txBody>
      </p:sp>
      <p:sp>
        <p:nvSpPr>
          <p:cNvPr id="4" name="Text Placeholder 3"/>
          <p:cNvSpPr>
            <a:spLocks noGrp="1"/>
          </p:cNvSpPr>
          <p:nvPr>
            <p:ph type="body" sz="half" idx="2"/>
          </p:nvPr>
        </p:nvSpPr>
        <p:spPr>
          <a:xfrm>
            <a:off x="1239891" y="2057400"/>
            <a:ext cx="580568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9A2764DB-E7DF-4EA7-A1AF-05A77C280FCA}" type="datetimeFigureOut">
              <a:rPr lang="de-DE" smtClean="0"/>
              <a:t>05.03.2025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F0A02A80-A104-426B-9779-D7499AE27B60}" type="slidenum">
              <a:rPr lang="de-DE" smtClean="0"/>
              <a:t>‹Nr.›</a:t>
            </a:fld>
            <a:endParaRPr lang="de-DE"/>
          </a:p>
        </p:txBody>
      </p:sp>
    </p:spTree>
    <p:extLst>
      <p:ext uri="{BB962C8B-B14F-4D97-AF65-F5344CB8AC3E}">
        <p14:creationId xmlns:p14="http://schemas.microsoft.com/office/powerpoint/2010/main" val="4176840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9A2764DB-E7DF-4EA7-A1AF-05A77C280FCA}" type="datetimeFigureOut">
              <a:rPr lang="de-DE" smtClean="0"/>
              <a:t>05.03.2025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F0A02A80-A104-426B-9779-D7499AE27B60}" type="slidenum">
              <a:rPr lang="de-DE" smtClean="0"/>
              <a:t>‹Nr.›</a:t>
            </a:fld>
            <a:endParaRPr lang="de-DE"/>
          </a:p>
        </p:txBody>
      </p:sp>
    </p:spTree>
    <p:extLst>
      <p:ext uri="{BB962C8B-B14F-4D97-AF65-F5344CB8AC3E}">
        <p14:creationId xmlns:p14="http://schemas.microsoft.com/office/powerpoint/2010/main" val="1533306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881724" y="365125"/>
            <a:ext cx="3881393" cy="5811838"/>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1237545" y="365125"/>
            <a:ext cx="11419171"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9A2764DB-E7DF-4EA7-A1AF-05A77C280FCA}" type="datetimeFigureOut">
              <a:rPr lang="de-DE" smtClean="0"/>
              <a:t>05.03.2025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F0A02A80-A104-426B-9779-D7499AE27B60}" type="slidenum">
              <a:rPr lang="de-DE" smtClean="0"/>
              <a:t>‹Nr.›</a:t>
            </a:fld>
            <a:endParaRPr lang="de-DE"/>
          </a:p>
        </p:txBody>
      </p:sp>
    </p:spTree>
    <p:extLst>
      <p:ext uri="{BB962C8B-B14F-4D97-AF65-F5344CB8AC3E}">
        <p14:creationId xmlns:p14="http://schemas.microsoft.com/office/powerpoint/2010/main" val="3951815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37546" y="365126"/>
            <a:ext cx="15525572" cy="1325563"/>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1237546" y="1825625"/>
            <a:ext cx="15525572"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1237546" y="6356351"/>
            <a:ext cx="4050149"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A2764DB-E7DF-4EA7-A1AF-05A77C280FCA}" type="datetimeFigureOut">
              <a:rPr lang="de-DE" smtClean="0"/>
              <a:t>05.03.2025</a:t>
            </a:fld>
            <a:endParaRPr lang="de-DE"/>
          </a:p>
        </p:txBody>
      </p:sp>
      <p:sp>
        <p:nvSpPr>
          <p:cNvPr id="5" name="Footer Placeholder 4"/>
          <p:cNvSpPr>
            <a:spLocks noGrp="1"/>
          </p:cNvSpPr>
          <p:nvPr>
            <p:ph type="ftr" sz="quarter" idx="3"/>
          </p:nvPr>
        </p:nvSpPr>
        <p:spPr>
          <a:xfrm>
            <a:off x="5962720" y="6356351"/>
            <a:ext cx="6075224"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Slide Number Placeholder 5"/>
          <p:cNvSpPr>
            <a:spLocks noGrp="1"/>
          </p:cNvSpPr>
          <p:nvPr>
            <p:ph type="sldNum" sz="quarter" idx="4"/>
          </p:nvPr>
        </p:nvSpPr>
        <p:spPr>
          <a:xfrm>
            <a:off x="12712968" y="6356351"/>
            <a:ext cx="4050149"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A02A80-A104-426B-9779-D7499AE27B60}" type="slidenum">
              <a:rPr lang="de-DE" smtClean="0"/>
              <a:t>‹Nr.›</a:t>
            </a:fld>
            <a:endParaRPr lang="de-DE"/>
          </a:p>
        </p:txBody>
      </p:sp>
    </p:spTree>
    <p:extLst>
      <p:ext uri="{BB962C8B-B14F-4D97-AF65-F5344CB8AC3E}">
        <p14:creationId xmlns:p14="http://schemas.microsoft.com/office/powerpoint/2010/main" val="22060589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16_973288BB.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abgerundete Ecken 1">
            <a:extLst>
              <a:ext uri="{FF2B5EF4-FFF2-40B4-BE49-F238E27FC236}">
                <a16:creationId xmlns:a16="http://schemas.microsoft.com/office/drawing/2014/main" id="{39CD3B09-ACE8-D124-4C41-FE15C00157BB}"/>
              </a:ext>
            </a:extLst>
          </p:cNvPr>
          <p:cNvSpPr/>
          <p:nvPr/>
        </p:nvSpPr>
        <p:spPr>
          <a:xfrm>
            <a:off x="400050" y="352426"/>
            <a:ext cx="447675" cy="3286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50"/>
              <a:t>MO</a:t>
            </a:r>
          </a:p>
        </p:txBody>
      </p:sp>
      <p:cxnSp>
        <p:nvCxnSpPr>
          <p:cNvPr id="4" name="Gerade Verbindung mit Pfeil 3">
            <a:extLst>
              <a:ext uri="{FF2B5EF4-FFF2-40B4-BE49-F238E27FC236}">
                <a16:creationId xmlns:a16="http://schemas.microsoft.com/office/drawing/2014/main" id="{224D1142-030C-8BDE-C62A-6955AC6F6853}"/>
              </a:ext>
            </a:extLst>
          </p:cNvPr>
          <p:cNvCxnSpPr>
            <a:cxnSpLocks/>
            <a:stCxn id="2" idx="3"/>
          </p:cNvCxnSpPr>
          <p:nvPr/>
        </p:nvCxnSpPr>
        <p:spPr>
          <a:xfrm>
            <a:off x="847725" y="516732"/>
            <a:ext cx="3872862" cy="295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feld 6">
            <a:extLst>
              <a:ext uri="{FF2B5EF4-FFF2-40B4-BE49-F238E27FC236}">
                <a16:creationId xmlns:a16="http://schemas.microsoft.com/office/drawing/2014/main" id="{88739EAC-0944-7C72-1B36-B74F6A68BFA5}"/>
              </a:ext>
            </a:extLst>
          </p:cNvPr>
          <p:cNvSpPr txBox="1"/>
          <p:nvPr/>
        </p:nvSpPr>
        <p:spPr>
          <a:xfrm>
            <a:off x="2033860" y="289086"/>
            <a:ext cx="2640466" cy="246221"/>
          </a:xfrm>
          <a:prstGeom prst="rect">
            <a:avLst/>
          </a:prstGeom>
          <a:noFill/>
        </p:spPr>
        <p:txBody>
          <a:bodyPr wrap="none" rtlCol="0">
            <a:spAutoFit/>
          </a:bodyPr>
          <a:lstStyle/>
          <a:p>
            <a:r>
              <a:rPr lang="de-DE" sz="1000"/>
              <a:t>/v1/notify-me-about-new-netconf-interfaces</a:t>
            </a:r>
          </a:p>
        </p:txBody>
      </p:sp>
      <p:sp>
        <p:nvSpPr>
          <p:cNvPr id="9" name="Rechteck 8">
            <a:extLst>
              <a:ext uri="{FF2B5EF4-FFF2-40B4-BE49-F238E27FC236}">
                <a16:creationId xmlns:a16="http://schemas.microsoft.com/office/drawing/2014/main" id="{229884F1-1C12-104D-C37A-E8F9AAC43620}"/>
              </a:ext>
            </a:extLst>
          </p:cNvPr>
          <p:cNvSpPr/>
          <p:nvPr/>
        </p:nvSpPr>
        <p:spPr>
          <a:xfrm>
            <a:off x="4720590" y="412196"/>
            <a:ext cx="1571625" cy="764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de-DE" sz="800"/>
              <a:t>CONFIGfile: add MO address to forwarding of type subscription</a:t>
            </a:r>
          </a:p>
        </p:txBody>
      </p:sp>
      <p:sp>
        <p:nvSpPr>
          <p:cNvPr id="10" name="Rechteck: abgerundete Ecken 9">
            <a:extLst>
              <a:ext uri="{FF2B5EF4-FFF2-40B4-BE49-F238E27FC236}">
                <a16:creationId xmlns:a16="http://schemas.microsoft.com/office/drawing/2014/main" id="{C82E5833-4438-2189-74F2-6F0A00400E55}"/>
              </a:ext>
            </a:extLst>
          </p:cNvPr>
          <p:cNvSpPr/>
          <p:nvPr/>
        </p:nvSpPr>
        <p:spPr>
          <a:xfrm>
            <a:off x="400050" y="1736165"/>
            <a:ext cx="447675" cy="7641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50"/>
              <a:t>MO</a:t>
            </a:r>
          </a:p>
        </p:txBody>
      </p:sp>
      <p:cxnSp>
        <p:nvCxnSpPr>
          <p:cNvPr id="11" name="Gerade Verbindung mit Pfeil 10">
            <a:extLst>
              <a:ext uri="{FF2B5EF4-FFF2-40B4-BE49-F238E27FC236}">
                <a16:creationId xmlns:a16="http://schemas.microsoft.com/office/drawing/2014/main" id="{51A69868-6103-625F-02C0-18B79D5F8321}"/>
              </a:ext>
            </a:extLst>
          </p:cNvPr>
          <p:cNvCxnSpPr>
            <a:cxnSpLocks/>
          </p:cNvCxnSpPr>
          <p:nvPr/>
        </p:nvCxnSpPr>
        <p:spPr>
          <a:xfrm>
            <a:off x="847724" y="1840707"/>
            <a:ext cx="3872863" cy="204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feld 11">
            <a:extLst>
              <a:ext uri="{FF2B5EF4-FFF2-40B4-BE49-F238E27FC236}">
                <a16:creationId xmlns:a16="http://schemas.microsoft.com/office/drawing/2014/main" id="{B532003B-47C2-54BB-664F-E6480C2F5F29}"/>
              </a:ext>
            </a:extLst>
          </p:cNvPr>
          <p:cNvSpPr txBox="1"/>
          <p:nvPr/>
        </p:nvSpPr>
        <p:spPr>
          <a:xfrm>
            <a:off x="2900861" y="1633061"/>
            <a:ext cx="1819729" cy="246221"/>
          </a:xfrm>
          <a:prstGeom prst="rect">
            <a:avLst/>
          </a:prstGeom>
          <a:noFill/>
        </p:spPr>
        <p:txBody>
          <a:bodyPr wrap="none" rtlCol="0">
            <a:spAutoFit/>
          </a:bodyPr>
          <a:lstStyle/>
          <a:p>
            <a:r>
              <a:rPr lang="de-DE" sz="1000"/>
              <a:t>/v1/provide-netconf-interface</a:t>
            </a:r>
          </a:p>
        </p:txBody>
      </p:sp>
      <p:sp>
        <p:nvSpPr>
          <p:cNvPr id="13" name="Rechteck 12">
            <a:extLst>
              <a:ext uri="{FF2B5EF4-FFF2-40B4-BE49-F238E27FC236}">
                <a16:creationId xmlns:a16="http://schemas.microsoft.com/office/drawing/2014/main" id="{0870663B-C73A-4771-A211-4239452F5C6F}"/>
              </a:ext>
            </a:extLst>
          </p:cNvPr>
          <p:cNvSpPr/>
          <p:nvPr/>
        </p:nvSpPr>
        <p:spPr>
          <a:xfrm>
            <a:off x="4720590" y="1736171"/>
            <a:ext cx="1571625" cy="10832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de-DE" sz="800"/>
              <a:t>Potentially do some tests to validate the request</a:t>
            </a:r>
          </a:p>
          <a:p>
            <a:endParaRPr lang="de-DE" sz="800"/>
          </a:p>
          <a:p>
            <a:r>
              <a:rPr lang="de-DE" sz="800"/>
              <a:t>Add to queue</a:t>
            </a:r>
          </a:p>
        </p:txBody>
      </p:sp>
      <p:sp>
        <p:nvSpPr>
          <p:cNvPr id="15" name="Scrollen: vertikal 14">
            <a:extLst>
              <a:ext uri="{FF2B5EF4-FFF2-40B4-BE49-F238E27FC236}">
                <a16:creationId xmlns:a16="http://schemas.microsoft.com/office/drawing/2014/main" id="{E0D6D35F-81FE-6F08-CAD9-CEFA629499EC}"/>
              </a:ext>
            </a:extLst>
          </p:cNvPr>
          <p:cNvSpPr/>
          <p:nvPr/>
        </p:nvSpPr>
        <p:spPr>
          <a:xfrm>
            <a:off x="7036593" y="4755106"/>
            <a:ext cx="1724025" cy="1416604"/>
          </a:xfrm>
          <a:prstGeom prst="verticalScroll">
            <a:avLst/>
          </a:prstGeom>
        </p:spPr>
        <p:style>
          <a:lnRef idx="2">
            <a:schemeClr val="accent6">
              <a:shade val="15000"/>
            </a:schemeClr>
          </a:lnRef>
          <a:fillRef idx="1">
            <a:schemeClr val="accent6"/>
          </a:fillRef>
          <a:effectRef idx="0">
            <a:schemeClr val="accent6"/>
          </a:effectRef>
          <a:fontRef idx="minor">
            <a:schemeClr val="lt1"/>
          </a:fontRef>
        </p:style>
        <p:txBody>
          <a:bodyPr rtlCol="0" anchor="t"/>
          <a:lstStyle/>
          <a:p>
            <a:r>
              <a:rPr lang="de-DE" sz="800"/>
              <a:t>Queue of </a:t>
            </a:r>
            <a:r>
              <a:rPr lang="de-DE" sz="800">
                <a:solidFill>
                  <a:srgbClr val="FF0000"/>
                </a:solidFill>
              </a:rPr>
              <a:t>netconf</a:t>
            </a:r>
            <a:r>
              <a:rPr lang="de-DE" sz="800"/>
              <a:t> </a:t>
            </a:r>
            <a:r>
              <a:rPr lang="de-DE" sz="800">
                <a:solidFill>
                  <a:srgbClr val="FF0000"/>
                </a:solidFill>
              </a:rPr>
              <a:t>interfaces</a:t>
            </a:r>
            <a:r>
              <a:rPr lang="de-DE" sz="800"/>
              <a:t> to be provided</a:t>
            </a:r>
          </a:p>
        </p:txBody>
      </p:sp>
      <p:cxnSp>
        <p:nvCxnSpPr>
          <p:cNvPr id="17" name="Verbinder: gekrümmt 16">
            <a:extLst>
              <a:ext uri="{FF2B5EF4-FFF2-40B4-BE49-F238E27FC236}">
                <a16:creationId xmlns:a16="http://schemas.microsoft.com/office/drawing/2014/main" id="{2864ED64-2EE7-65DC-593B-667C0BE96ED5}"/>
              </a:ext>
            </a:extLst>
          </p:cNvPr>
          <p:cNvCxnSpPr>
            <a:cxnSpLocks/>
            <a:stCxn id="13" idx="3"/>
            <a:endCxn id="15" idx="0"/>
          </p:cNvCxnSpPr>
          <p:nvPr/>
        </p:nvCxnSpPr>
        <p:spPr>
          <a:xfrm>
            <a:off x="6292215" y="2277785"/>
            <a:ext cx="1606391" cy="2477321"/>
          </a:xfrm>
          <a:prstGeom prst="curvedConnector2">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21" name="Gerade Verbindung mit Pfeil 20">
            <a:extLst>
              <a:ext uri="{FF2B5EF4-FFF2-40B4-BE49-F238E27FC236}">
                <a16:creationId xmlns:a16="http://schemas.microsoft.com/office/drawing/2014/main" id="{FDF7E4D6-68B6-0355-CB3A-A2A0E28C931E}"/>
              </a:ext>
            </a:extLst>
          </p:cNvPr>
          <p:cNvCxnSpPr>
            <a:cxnSpLocks/>
          </p:cNvCxnSpPr>
          <p:nvPr/>
        </p:nvCxnSpPr>
        <p:spPr>
          <a:xfrm flipH="1" flipV="1">
            <a:off x="847722" y="2058112"/>
            <a:ext cx="3872865" cy="17625"/>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22" name="Textfeld 21">
            <a:extLst>
              <a:ext uri="{FF2B5EF4-FFF2-40B4-BE49-F238E27FC236}">
                <a16:creationId xmlns:a16="http://schemas.microsoft.com/office/drawing/2014/main" id="{51621379-E05A-7624-5E2B-9E656D5A037C}"/>
              </a:ext>
            </a:extLst>
          </p:cNvPr>
          <p:cNvSpPr txBox="1"/>
          <p:nvPr/>
        </p:nvSpPr>
        <p:spPr>
          <a:xfrm>
            <a:off x="932770" y="756764"/>
            <a:ext cx="1763624" cy="246221"/>
          </a:xfrm>
          <a:prstGeom prst="rect">
            <a:avLst/>
          </a:prstGeom>
          <a:noFill/>
        </p:spPr>
        <p:txBody>
          <a:bodyPr wrap="none" rtlCol="0">
            <a:spAutoFit/>
          </a:bodyPr>
          <a:lstStyle/>
          <a:p>
            <a:r>
              <a:rPr lang="de-DE" sz="1000"/>
              <a:t>/v1/regard-netconf-interface</a:t>
            </a:r>
          </a:p>
        </p:txBody>
      </p:sp>
      <p:cxnSp>
        <p:nvCxnSpPr>
          <p:cNvPr id="23" name="Gerade Verbindung mit Pfeil 22">
            <a:extLst>
              <a:ext uri="{FF2B5EF4-FFF2-40B4-BE49-F238E27FC236}">
                <a16:creationId xmlns:a16="http://schemas.microsoft.com/office/drawing/2014/main" id="{FDF6CC84-07AE-74AE-D03F-63E4D77F1828}"/>
              </a:ext>
            </a:extLst>
          </p:cNvPr>
          <p:cNvCxnSpPr>
            <a:cxnSpLocks/>
          </p:cNvCxnSpPr>
          <p:nvPr/>
        </p:nvCxnSpPr>
        <p:spPr>
          <a:xfrm flipH="1">
            <a:off x="847725" y="1040606"/>
            <a:ext cx="387286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Gerade Verbindung mit Pfeil 23">
            <a:extLst>
              <a:ext uri="{FF2B5EF4-FFF2-40B4-BE49-F238E27FC236}">
                <a16:creationId xmlns:a16="http://schemas.microsoft.com/office/drawing/2014/main" id="{15AE5EE0-6687-0B72-24E6-3E194CBFE77C}"/>
              </a:ext>
            </a:extLst>
          </p:cNvPr>
          <p:cNvCxnSpPr>
            <a:cxnSpLocks/>
          </p:cNvCxnSpPr>
          <p:nvPr/>
        </p:nvCxnSpPr>
        <p:spPr>
          <a:xfrm flipH="1" flipV="1">
            <a:off x="847725" y="1116806"/>
            <a:ext cx="3872862" cy="166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Textfeld 29">
            <a:extLst>
              <a:ext uri="{FF2B5EF4-FFF2-40B4-BE49-F238E27FC236}">
                <a16:creationId xmlns:a16="http://schemas.microsoft.com/office/drawing/2014/main" id="{843E828F-6860-C4FF-62B1-5CF8EB977F11}"/>
              </a:ext>
            </a:extLst>
          </p:cNvPr>
          <p:cNvSpPr txBox="1"/>
          <p:nvPr/>
        </p:nvSpPr>
        <p:spPr>
          <a:xfrm>
            <a:off x="866120" y="2014843"/>
            <a:ext cx="829073" cy="246221"/>
          </a:xfrm>
          <a:prstGeom prst="rect">
            <a:avLst/>
          </a:prstGeom>
          <a:noFill/>
        </p:spPr>
        <p:txBody>
          <a:bodyPr wrap="none" rtlCol="0">
            <a:spAutoFit/>
          </a:bodyPr>
          <a:lstStyle/>
          <a:p>
            <a:r>
              <a:rPr lang="de-DE" sz="1000"/>
              <a:t>204 / 500 …</a:t>
            </a:r>
          </a:p>
        </p:txBody>
      </p:sp>
      <p:cxnSp>
        <p:nvCxnSpPr>
          <p:cNvPr id="32" name="Gerade Verbindung mit Pfeil 31">
            <a:extLst>
              <a:ext uri="{FF2B5EF4-FFF2-40B4-BE49-F238E27FC236}">
                <a16:creationId xmlns:a16="http://schemas.microsoft.com/office/drawing/2014/main" id="{C9280F8D-5783-26FF-2B26-854D0A7991FA}"/>
              </a:ext>
            </a:extLst>
          </p:cNvPr>
          <p:cNvCxnSpPr>
            <a:cxnSpLocks/>
          </p:cNvCxnSpPr>
          <p:nvPr/>
        </p:nvCxnSpPr>
        <p:spPr>
          <a:xfrm flipH="1" flipV="1">
            <a:off x="847724" y="959643"/>
            <a:ext cx="3872863" cy="47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9" name="Rechteck 38">
            <a:extLst>
              <a:ext uri="{FF2B5EF4-FFF2-40B4-BE49-F238E27FC236}">
                <a16:creationId xmlns:a16="http://schemas.microsoft.com/office/drawing/2014/main" id="{0A919349-A95E-3FB9-AA37-0D6D48B0754E}"/>
              </a:ext>
            </a:extLst>
          </p:cNvPr>
          <p:cNvSpPr/>
          <p:nvPr/>
        </p:nvSpPr>
        <p:spPr>
          <a:xfrm>
            <a:off x="4720589" y="2957512"/>
            <a:ext cx="1571625" cy="22132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de-DE" sz="800"/>
          </a:p>
          <a:p>
            <a:endParaRPr lang="de-DE" sz="800"/>
          </a:p>
          <a:p>
            <a:endParaRPr lang="de-DE" sz="800"/>
          </a:p>
          <a:p>
            <a:r>
              <a:rPr lang="de-DE" sz="800"/>
              <a:t>Calculate average number of mediatorVmProcesses at mediatorVms of same mediatorVmTemplate</a:t>
            </a:r>
          </a:p>
          <a:p>
            <a:endParaRPr lang="de-DE" sz="800"/>
          </a:p>
          <a:p>
            <a:r>
              <a:rPr lang="de-DE" sz="800"/>
              <a:t>IF some mediatorVm exceeds average by more than a </a:t>
            </a:r>
            <a:r>
              <a:rPr lang="de-DE" sz="800" i="1"/>
              <a:t>[threshold]</a:t>
            </a:r>
          </a:p>
          <a:p>
            <a:r>
              <a:rPr lang="de-DE" sz="800"/>
              <a:t>THEN </a:t>
            </a:r>
          </a:p>
          <a:p>
            <a:pPr marL="171450" indent="-171450">
              <a:buFontTx/>
              <a:buChar char="-"/>
            </a:pPr>
            <a:r>
              <a:rPr lang="de-DE" sz="800"/>
              <a:t>calculate number of mediatorVmProcesses to be re-allocated</a:t>
            </a:r>
          </a:p>
          <a:p>
            <a:pPr marL="171450" indent="-171450">
              <a:buFontTx/>
              <a:buChar char="-"/>
            </a:pPr>
            <a:r>
              <a:rPr lang="de-DE" sz="800"/>
              <a:t>add to createQueue</a:t>
            </a:r>
          </a:p>
          <a:p>
            <a:pPr marL="171450" indent="-171450">
              <a:buFontTx/>
              <a:buChar char="-"/>
            </a:pPr>
            <a:r>
              <a:rPr lang="de-DE" sz="800"/>
              <a:t>add to dismantleQueue</a:t>
            </a:r>
          </a:p>
          <a:p>
            <a:pPr marL="171450" indent="-171450">
              <a:buFontTx/>
              <a:buChar char="-"/>
            </a:pPr>
            <a:endParaRPr lang="de-DE" sz="800"/>
          </a:p>
          <a:p>
            <a:endParaRPr lang="de-DE" sz="800"/>
          </a:p>
        </p:txBody>
      </p:sp>
      <p:pic>
        <p:nvPicPr>
          <p:cNvPr id="41" name="Grafik 40">
            <a:extLst>
              <a:ext uri="{FF2B5EF4-FFF2-40B4-BE49-F238E27FC236}">
                <a16:creationId xmlns:a16="http://schemas.microsoft.com/office/drawing/2014/main" id="{06E9B889-5E01-4664-FE1F-8B1AA87DF85A}"/>
              </a:ext>
            </a:extLst>
          </p:cNvPr>
          <p:cNvPicPr>
            <a:picLocks noChangeAspect="1"/>
          </p:cNvPicPr>
          <p:nvPr/>
        </p:nvPicPr>
        <p:blipFill>
          <a:blip r:embed="rId3"/>
          <a:stretch>
            <a:fillRect/>
          </a:stretch>
        </p:blipFill>
        <p:spPr>
          <a:xfrm>
            <a:off x="4804088" y="3040311"/>
            <a:ext cx="260088" cy="251271"/>
          </a:xfrm>
          <a:prstGeom prst="rect">
            <a:avLst/>
          </a:prstGeom>
        </p:spPr>
      </p:pic>
      <p:pic>
        <p:nvPicPr>
          <p:cNvPr id="48" name="Grafik 47">
            <a:extLst>
              <a:ext uri="{FF2B5EF4-FFF2-40B4-BE49-F238E27FC236}">
                <a16:creationId xmlns:a16="http://schemas.microsoft.com/office/drawing/2014/main" id="{870BE84E-95ED-1877-E390-75BBD1352DFF}"/>
              </a:ext>
            </a:extLst>
          </p:cNvPr>
          <p:cNvPicPr>
            <a:picLocks noChangeAspect="1"/>
          </p:cNvPicPr>
          <p:nvPr/>
        </p:nvPicPr>
        <p:blipFill>
          <a:blip r:embed="rId4"/>
          <a:stretch>
            <a:fillRect/>
          </a:stretch>
        </p:blipFill>
        <p:spPr>
          <a:xfrm flipH="1">
            <a:off x="418447" y="5378061"/>
            <a:ext cx="447675" cy="439333"/>
          </a:xfrm>
          <a:prstGeom prst="rect">
            <a:avLst/>
          </a:prstGeom>
        </p:spPr>
      </p:pic>
      <p:sp>
        <p:nvSpPr>
          <p:cNvPr id="56" name="Rechteck 55">
            <a:extLst>
              <a:ext uri="{FF2B5EF4-FFF2-40B4-BE49-F238E27FC236}">
                <a16:creationId xmlns:a16="http://schemas.microsoft.com/office/drawing/2014/main" id="{9EBFEA2E-B45C-8A04-7DFE-5C0D54E2AEC3}"/>
              </a:ext>
            </a:extLst>
          </p:cNvPr>
          <p:cNvSpPr/>
          <p:nvPr/>
        </p:nvSpPr>
        <p:spPr>
          <a:xfrm>
            <a:off x="4720587" y="5324475"/>
            <a:ext cx="1571625" cy="13201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de-DE" sz="800"/>
              <a:t>Potentially do some tests to validate the request and its feasibility</a:t>
            </a:r>
          </a:p>
          <a:p>
            <a:endParaRPr lang="de-DE" sz="800"/>
          </a:p>
          <a:p>
            <a:r>
              <a:rPr lang="de-DE" sz="800"/>
              <a:t>Mark affected mediatorVm to be deprecated</a:t>
            </a:r>
          </a:p>
          <a:p>
            <a:endParaRPr lang="de-DE" sz="800"/>
          </a:p>
          <a:p>
            <a:r>
              <a:rPr lang="de-DE" sz="800"/>
              <a:t>Add all mediatorVmProcesses</a:t>
            </a:r>
          </a:p>
          <a:p>
            <a:pPr marL="171450" indent="-171450">
              <a:buFontTx/>
              <a:buChar char="-"/>
            </a:pPr>
            <a:r>
              <a:rPr lang="de-DE" sz="800"/>
              <a:t>to createQueue</a:t>
            </a:r>
          </a:p>
          <a:p>
            <a:pPr marL="171450" indent="-171450">
              <a:buFontTx/>
              <a:buChar char="-"/>
            </a:pPr>
            <a:r>
              <a:rPr lang="de-DE" sz="800"/>
              <a:t>to dismantleQueue</a:t>
            </a:r>
          </a:p>
        </p:txBody>
      </p:sp>
      <p:cxnSp>
        <p:nvCxnSpPr>
          <p:cNvPr id="57" name="Gerade Verbindung mit Pfeil 56">
            <a:extLst>
              <a:ext uri="{FF2B5EF4-FFF2-40B4-BE49-F238E27FC236}">
                <a16:creationId xmlns:a16="http://schemas.microsoft.com/office/drawing/2014/main" id="{BF5A7625-9054-B71D-DE10-2CFC15E00439}"/>
              </a:ext>
            </a:extLst>
          </p:cNvPr>
          <p:cNvCxnSpPr>
            <a:cxnSpLocks/>
          </p:cNvCxnSpPr>
          <p:nvPr/>
        </p:nvCxnSpPr>
        <p:spPr>
          <a:xfrm>
            <a:off x="781050" y="5515454"/>
            <a:ext cx="3939537" cy="166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9" name="Textfeld 58">
            <a:extLst>
              <a:ext uri="{FF2B5EF4-FFF2-40B4-BE49-F238E27FC236}">
                <a16:creationId xmlns:a16="http://schemas.microsoft.com/office/drawing/2014/main" id="{DAF95710-04FD-5EBF-1EFF-2E7A8CC0D559}"/>
              </a:ext>
            </a:extLst>
          </p:cNvPr>
          <p:cNvSpPr txBox="1"/>
          <p:nvPr/>
        </p:nvSpPr>
        <p:spPr>
          <a:xfrm>
            <a:off x="2277301" y="5285901"/>
            <a:ext cx="2548404" cy="246221"/>
          </a:xfrm>
          <a:prstGeom prst="rect">
            <a:avLst/>
          </a:prstGeom>
          <a:noFill/>
        </p:spPr>
        <p:txBody>
          <a:bodyPr wrap="square" rtlCol="0">
            <a:spAutoFit/>
          </a:bodyPr>
          <a:lstStyle/>
          <a:p>
            <a:r>
              <a:rPr lang="de-DE" sz="1000"/>
              <a:t>/v1/disregard-mediator-instance-manager</a:t>
            </a:r>
          </a:p>
        </p:txBody>
      </p:sp>
      <p:cxnSp>
        <p:nvCxnSpPr>
          <p:cNvPr id="61" name="Verbinder: gekrümmt 60">
            <a:extLst>
              <a:ext uri="{FF2B5EF4-FFF2-40B4-BE49-F238E27FC236}">
                <a16:creationId xmlns:a16="http://schemas.microsoft.com/office/drawing/2014/main" id="{BB2D77CC-429A-4157-5B5F-8EF25F79FEC7}"/>
              </a:ext>
            </a:extLst>
          </p:cNvPr>
          <p:cNvCxnSpPr>
            <a:cxnSpLocks/>
            <a:stCxn id="39" idx="3"/>
            <a:endCxn id="15" idx="0"/>
          </p:cNvCxnSpPr>
          <p:nvPr/>
        </p:nvCxnSpPr>
        <p:spPr>
          <a:xfrm>
            <a:off x="6292214" y="4064137"/>
            <a:ext cx="1606392" cy="690969"/>
          </a:xfrm>
          <a:prstGeom prst="curvedConnector2">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66" name="Gerade Verbindung mit Pfeil 65">
            <a:extLst>
              <a:ext uri="{FF2B5EF4-FFF2-40B4-BE49-F238E27FC236}">
                <a16:creationId xmlns:a16="http://schemas.microsoft.com/office/drawing/2014/main" id="{4595AACB-AD7E-2212-5243-6ADB2967E746}"/>
              </a:ext>
            </a:extLst>
          </p:cNvPr>
          <p:cNvCxnSpPr>
            <a:cxnSpLocks/>
          </p:cNvCxnSpPr>
          <p:nvPr/>
        </p:nvCxnSpPr>
        <p:spPr>
          <a:xfrm flipH="1">
            <a:off x="829324" y="5741194"/>
            <a:ext cx="3891262" cy="0"/>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67" name="Textfeld 66">
            <a:extLst>
              <a:ext uri="{FF2B5EF4-FFF2-40B4-BE49-F238E27FC236}">
                <a16:creationId xmlns:a16="http://schemas.microsoft.com/office/drawing/2014/main" id="{9138EED8-4D6E-B6D0-0EEC-4B1A51F97215}"/>
              </a:ext>
            </a:extLst>
          </p:cNvPr>
          <p:cNvSpPr txBox="1"/>
          <p:nvPr/>
        </p:nvSpPr>
        <p:spPr>
          <a:xfrm>
            <a:off x="847722" y="5697925"/>
            <a:ext cx="829073" cy="246221"/>
          </a:xfrm>
          <a:prstGeom prst="rect">
            <a:avLst/>
          </a:prstGeom>
          <a:noFill/>
        </p:spPr>
        <p:txBody>
          <a:bodyPr wrap="none" rtlCol="0">
            <a:spAutoFit/>
          </a:bodyPr>
          <a:lstStyle/>
          <a:p>
            <a:r>
              <a:rPr lang="de-DE" sz="1000"/>
              <a:t>204 / 500 …</a:t>
            </a:r>
          </a:p>
        </p:txBody>
      </p:sp>
      <p:cxnSp>
        <p:nvCxnSpPr>
          <p:cNvPr id="71" name="Verbinder: gekrümmt 70">
            <a:extLst>
              <a:ext uri="{FF2B5EF4-FFF2-40B4-BE49-F238E27FC236}">
                <a16:creationId xmlns:a16="http://schemas.microsoft.com/office/drawing/2014/main" id="{7A46D94E-44A3-06EB-80F4-E03CA33A63EF}"/>
              </a:ext>
            </a:extLst>
          </p:cNvPr>
          <p:cNvCxnSpPr>
            <a:cxnSpLocks/>
            <a:stCxn id="56" idx="3"/>
            <a:endCxn id="15" idx="0"/>
          </p:cNvCxnSpPr>
          <p:nvPr/>
        </p:nvCxnSpPr>
        <p:spPr>
          <a:xfrm flipV="1">
            <a:off x="6292212" y="4755106"/>
            <a:ext cx="1606394" cy="1229452"/>
          </a:xfrm>
          <a:prstGeom prst="curvedConnector4">
            <a:avLst>
              <a:gd name="adj1" fmla="val 23169"/>
              <a:gd name="adj2" fmla="val 118594"/>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75" name="Rechteck 74">
            <a:extLst>
              <a:ext uri="{FF2B5EF4-FFF2-40B4-BE49-F238E27FC236}">
                <a16:creationId xmlns:a16="http://schemas.microsoft.com/office/drawing/2014/main" id="{20FFD60F-206D-CB5E-071D-9AF309A2C14D}"/>
              </a:ext>
            </a:extLst>
          </p:cNvPr>
          <p:cNvSpPr/>
          <p:nvPr/>
        </p:nvSpPr>
        <p:spPr>
          <a:xfrm>
            <a:off x="7036593" y="412196"/>
            <a:ext cx="1571625" cy="10832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de-DE" sz="800"/>
              <a:t>Prepare device</a:t>
            </a:r>
          </a:p>
          <a:p>
            <a:endParaRPr lang="de-DE" sz="800"/>
          </a:p>
          <a:p>
            <a:r>
              <a:rPr lang="de-DE" sz="800"/>
              <a:t>Pick mediatorVm with lowest number of mediatorVmProcess</a:t>
            </a:r>
          </a:p>
          <a:p>
            <a:endParaRPr lang="de-DE" sz="800"/>
          </a:p>
          <a:p>
            <a:r>
              <a:rPr lang="de-DE" sz="800"/>
              <a:t>Create mediatorVmProcess</a:t>
            </a:r>
          </a:p>
          <a:p>
            <a:endParaRPr lang="de-DE" sz="800"/>
          </a:p>
          <a:p>
            <a:r>
              <a:rPr lang="de-DE" sz="800"/>
              <a:t>Notify</a:t>
            </a:r>
          </a:p>
        </p:txBody>
      </p:sp>
      <p:sp>
        <p:nvSpPr>
          <p:cNvPr id="77" name="Rechteck: abgerundete Ecken 76">
            <a:extLst>
              <a:ext uri="{FF2B5EF4-FFF2-40B4-BE49-F238E27FC236}">
                <a16:creationId xmlns:a16="http://schemas.microsoft.com/office/drawing/2014/main" id="{8DFFF67D-D75C-32F2-8280-CB92247117F7}"/>
              </a:ext>
            </a:extLst>
          </p:cNvPr>
          <p:cNvSpPr/>
          <p:nvPr/>
        </p:nvSpPr>
        <p:spPr>
          <a:xfrm>
            <a:off x="10069755" y="386469"/>
            <a:ext cx="447675" cy="3286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50"/>
              <a:t>CP</a:t>
            </a:r>
          </a:p>
        </p:txBody>
      </p:sp>
      <p:cxnSp>
        <p:nvCxnSpPr>
          <p:cNvPr id="79" name="Gerade Verbindung mit Pfeil 78">
            <a:extLst>
              <a:ext uri="{FF2B5EF4-FFF2-40B4-BE49-F238E27FC236}">
                <a16:creationId xmlns:a16="http://schemas.microsoft.com/office/drawing/2014/main" id="{2ED7CAC9-19BB-BA4D-CE9B-21D483F5CB41}"/>
              </a:ext>
            </a:extLst>
          </p:cNvPr>
          <p:cNvCxnSpPr>
            <a:cxnSpLocks/>
          </p:cNvCxnSpPr>
          <p:nvPr/>
        </p:nvCxnSpPr>
        <p:spPr>
          <a:xfrm>
            <a:off x="8608217" y="546242"/>
            <a:ext cx="1461538" cy="363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4" name="Rechteck: abgerundete Ecken 83">
            <a:extLst>
              <a:ext uri="{FF2B5EF4-FFF2-40B4-BE49-F238E27FC236}">
                <a16:creationId xmlns:a16="http://schemas.microsoft.com/office/drawing/2014/main" id="{7AB70A29-DF37-2F1A-F8F8-82ECADC63218}"/>
              </a:ext>
            </a:extLst>
          </p:cNvPr>
          <p:cNvSpPr/>
          <p:nvPr/>
        </p:nvSpPr>
        <p:spPr>
          <a:xfrm>
            <a:off x="10069755" y="1133449"/>
            <a:ext cx="447675" cy="3286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a:t>MIM</a:t>
            </a:r>
          </a:p>
        </p:txBody>
      </p:sp>
      <p:cxnSp>
        <p:nvCxnSpPr>
          <p:cNvPr id="86" name="Gerade Verbindung mit Pfeil 85">
            <a:extLst>
              <a:ext uri="{FF2B5EF4-FFF2-40B4-BE49-F238E27FC236}">
                <a16:creationId xmlns:a16="http://schemas.microsoft.com/office/drawing/2014/main" id="{FB5D5C82-594D-A137-B7E0-C5EC59652ECE}"/>
              </a:ext>
            </a:extLst>
          </p:cNvPr>
          <p:cNvCxnSpPr>
            <a:cxnSpLocks/>
            <a:endCxn id="84" idx="1"/>
          </p:cNvCxnSpPr>
          <p:nvPr/>
        </p:nvCxnSpPr>
        <p:spPr>
          <a:xfrm>
            <a:off x="8608217" y="1186696"/>
            <a:ext cx="1461538" cy="1110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0" name="Verbinder: gekrümmt 89">
            <a:extLst>
              <a:ext uri="{FF2B5EF4-FFF2-40B4-BE49-F238E27FC236}">
                <a16:creationId xmlns:a16="http://schemas.microsoft.com/office/drawing/2014/main" id="{4D6640C8-1C91-CE56-09D4-B2581D76A95E}"/>
              </a:ext>
            </a:extLst>
          </p:cNvPr>
          <p:cNvCxnSpPr>
            <a:cxnSpLocks/>
            <a:stCxn id="15" idx="2"/>
            <a:endCxn id="75" idx="1"/>
          </p:cNvCxnSpPr>
          <p:nvPr/>
        </p:nvCxnSpPr>
        <p:spPr>
          <a:xfrm rot="5400000" flipH="1">
            <a:off x="4858650" y="3131754"/>
            <a:ext cx="5217900" cy="862013"/>
          </a:xfrm>
          <a:prstGeom prst="curvedConnector4">
            <a:avLst>
              <a:gd name="adj1" fmla="val -4381"/>
              <a:gd name="adj2" fmla="val 126519"/>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93" name="Verbinder: gekrümmt 92">
            <a:extLst>
              <a:ext uri="{FF2B5EF4-FFF2-40B4-BE49-F238E27FC236}">
                <a16:creationId xmlns:a16="http://schemas.microsoft.com/office/drawing/2014/main" id="{A330ADED-BEE4-6C5F-0774-5C15994C0CA8}"/>
              </a:ext>
            </a:extLst>
          </p:cNvPr>
          <p:cNvCxnSpPr>
            <a:cxnSpLocks/>
            <a:stCxn id="75" idx="2"/>
            <a:endCxn id="9" idx="3"/>
          </p:cNvCxnSpPr>
          <p:nvPr/>
        </p:nvCxnSpPr>
        <p:spPr>
          <a:xfrm rot="5400000" flipH="1">
            <a:off x="6706732" y="379751"/>
            <a:ext cx="701157" cy="1530191"/>
          </a:xfrm>
          <a:prstGeom prst="curvedConnector4">
            <a:avLst>
              <a:gd name="adj1" fmla="val -32603"/>
              <a:gd name="adj2" fmla="val 75677"/>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98" name="Textfeld 97">
            <a:extLst>
              <a:ext uri="{FF2B5EF4-FFF2-40B4-BE49-F238E27FC236}">
                <a16:creationId xmlns:a16="http://schemas.microsoft.com/office/drawing/2014/main" id="{E0527AFB-8D5C-9E49-00E4-B5E45F638F08}"/>
              </a:ext>
            </a:extLst>
          </p:cNvPr>
          <p:cNvSpPr txBox="1"/>
          <p:nvPr/>
        </p:nvSpPr>
        <p:spPr>
          <a:xfrm rot="16425882">
            <a:off x="5408167" y="2696289"/>
            <a:ext cx="2553904" cy="246221"/>
          </a:xfrm>
          <a:prstGeom prst="rect">
            <a:avLst/>
          </a:prstGeom>
          <a:noFill/>
        </p:spPr>
        <p:txBody>
          <a:bodyPr wrap="none" rtlCol="0">
            <a:spAutoFit/>
          </a:bodyPr>
          <a:lstStyle/>
          <a:p>
            <a:r>
              <a:rPr lang="de-DE" sz="1000"/>
              <a:t>(private) /p1/create-new-netconf-interface</a:t>
            </a:r>
          </a:p>
        </p:txBody>
      </p:sp>
      <p:sp>
        <p:nvSpPr>
          <p:cNvPr id="103" name="Scrollen: vertikal 102">
            <a:extLst>
              <a:ext uri="{FF2B5EF4-FFF2-40B4-BE49-F238E27FC236}">
                <a16:creationId xmlns:a16="http://schemas.microsoft.com/office/drawing/2014/main" id="{CC6A1FEE-2FD5-A0BD-9923-2B7D18953F4E}"/>
              </a:ext>
            </a:extLst>
          </p:cNvPr>
          <p:cNvSpPr/>
          <p:nvPr/>
        </p:nvSpPr>
        <p:spPr>
          <a:xfrm>
            <a:off x="9299231" y="2500308"/>
            <a:ext cx="1724025" cy="1416604"/>
          </a:xfrm>
          <a:prstGeom prst="verticalScroll">
            <a:avLst/>
          </a:prstGeom>
        </p:spPr>
        <p:style>
          <a:lnRef idx="2">
            <a:schemeClr val="accent2">
              <a:shade val="15000"/>
            </a:schemeClr>
          </a:lnRef>
          <a:fillRef idx="1">
            <a:schemeClr val="accent2"/>
          </a:fillRef>
          <a:effectRef idx="0">
            <a:schemeClr val="accent2"/>
          </a:effectRef>
          <a:fontRef idx="minor">
            <a:schemeClr val="lt1"/>
          </a:fontRef>
        </p:style>
        <p:txBody>
          <a:bodyPr rtlCol="0" anchor="t"/>
          <a:lstStyle/>
          <a:p>
            <a:r>
              <a:rPr lang="de-DE" sz="800"/>
              <a:t>Queue of </a:t>
            </a:r>
            <a:r>
              <a:rPr lang="de-DE" sz="800">
                <a:solidFill>
                  <a:schemeClr val="accent5"/>
                </a:solidFill>
              </a:rPr>
              <a:t>mediatorProcesses</a:t>
            </a:r>
            <a:r>
              <a:rPr lang="de-DE" sz="800"/>
              <a:t> to be deleted</a:t>
            </a:r>
          </a:p>
        </p:txBody>
      </p:sp>
      <p:sp>
        <p:nvSpPr>
          <p:cNvPr id="104" name="Flussdiagramm: Zusammenstellen 103">
            <a:extLst>
              <a:ext uri="{FF2B5EF4-FFF2-40B4-BE49-F238E27FC236}">
                <a16:creationId xmlns:a16="http://schemas.microsoft.com/office/drawing/2014/main" id="{6181BD8D-E00F-C65B-E014-B40604A43C3E}"/>
              </a:ext>
            </a:extLst>
          </p:cNvPr>
          <p:cNvSpPr/>
          <p:nvPr/>
        </p:nvSpPr>
        <p:spPr>
          <a:xfrm>
            <a:off x="8084821" y="2694587"/>
            <a:ext cx="369117" cy="525849"/>
          </a:xfrm>
          <a:prstGeom prst="flowChartCollate">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cxnSp>
        <p:nvCxnSpPr>
          <p:cNvPr id="106" name="Verbinder: gekrümmt 105">
            <a:extLst>
              <a:ext uri="{FF2B5EF4-FFF2-40B4-BE49-F238E27FC236}">
                <a16:creationId xmlns:a16="http://schemas.microsoft.com/office/drawing/2014/main" id="{D52FD071-631C-02F8-0686-931FA6B13A38}"/>
              </a:ext>
            </a:extLst>
          </p:cNvPr>
          <p:cNvCxnSpPr>
            <a:cxnSpLocks/>
            <a:stCxn id="104" idx="0"/>
            <a:endCxn id="103" idx="0"/>
          </p:cNvCxnSpPr>
          <p:nvPr/>
        </p:nvCxnSpPr>
        <p:spPr>
          <a:xfrm rot="5400000" flipH="1" flipV="1">
            <a:off x="9118173" y="1651516"/>
            <a:ext cx="194279" cy="1891864"/>
          </a:xfrm>
          <a:prstGeom prst="curvedConnector3">
            <a:avLst>
              <a:gd name="adj1" fmla="val 217666"/>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107" name="Verbinder: gekrümmt 106">
            <a:extLst>
              <a:ext uri="{FF2B5EF4-FFF2-40B4-BE49-F238E27FC236}">
                <a16:creationId xmlns:a16="http://schemas.microsoft.com/office/drawing/2014/main" id="{D5EE6150-51F0-0E75-4A56-1F02BD0E5818}"/>
              </a:ext>
            </a:extLst>
          </p:cNvPr>
          <p:cNvCxnSpPr>
            <a:cxnSpLocks/>
            <a:stCxn id="39" idx="3"/>
            <a:endCxn id="104" idx="2"/>
          </p:cNvCxnSpPr>
          <p:nvPr/>
        </p:nvCxnSpPr>
        <p:spPr>
          <a:xfrm flipV="1">
            <a:off x="6292214" y="3220436"/>
            <a:ext cx="1977166" cy="843701"/>
          </a:xfrm>
          <a:prstGeom prst="curvedConnector2">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111" name="Verbinder: gekrümmt 110">
            <a:extLst>
              <a:ext uri="{FF2B5EF4-FFF2-40B4-BE49-F238E27FC236}">
                <a16:creationId xmlns:a16="http://schemas.microsoft.com/office/drawing/2014/main" id="{BF8CEEB0-27E7-67FE-9CD2-F7BC154D1FF5}"/>
              </a:ext>
            </a:extLst>
          </p:cNvPr>
          <p:cNvCxnSpPr>
            <a:cxnSpLocks/>
            <a:stCxn id="56" idx="3"/>
            <a:endCxn id="104" idx="2"/>
          </p:cNvCxnSpPr>
          <p:nvPr/>
        </p:nvCxnSpPr>
        <p:spPr>
          <a:xfrm flipV="1">
            <a:off x="6292212" y="3220436"/>
            <a:ext cx="1977168" cy="2764122"/>
          </a:xfrm>
          <a:prstGeom prst="curvedConnector2">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sp>
        <p:nvSpPr>
          <p:cNvPr id="105" name="Textfeld 104">
            <a:extLst>
              <a:ext uri="{FF2B5EF4-FFF2-40B4-BE49-F238E27FC236}">
                <a16:creationId xmlns:a16="http://schemas.microsoft.com/office/drawing/2014/main" id="{CAA8C806-679B-A077-8EA7-09C210CD301E}"/>
              </a:ext>
            </a:extLst>
          </p:cNvPr>
          <p:cNvSpPr txBox="1"/>
          <p:nvPr/>
        </p:nvSpPr>
        <p:spPr>
          <a:xfrm>
            <a:off x="7863839" y="2816648"/>
            <a:ext cx="960519" cy="246221"/>
          </a:xfrm>
          <a:prstGeom prst="rect">
            <a:avLst/>
          </a:prstGeom>
          <a:noFill/>
        </p:spPr>
        <p:txBody>
          <a:bodyPr wrap="none" rtlCol="0">
            <a:spAutoFit/>
          </a:bodyPr>
          <a:lstStyle/>
          <a:p>
            <a:r>
              <a:rPr lang="de-DE" sz="1000"/>
              <a:t>DelayElement</a:t>
            </a:r>
          </a:p>
        </p:txBody>
      </p:sp>
      <p:sp>
        <p:nvSpPr>
          <p:cNvPr id="125" name="Rechteck 124">
            <a:extLst>
              <a:ext uri="{FF2B5EF4-FFF2-40B4-BE49-F238E27FC236}">
                <a16:creationId xmlns:a16="http://schemas.microsoft.com/office/drawing/2014/main" id="{1FE31B48-04FF-C298-6453-7225A40DA40D}"/>
              </a:ext>
            </a:extLst>
          </p:cNvPr>
          <p:cNvSpPr/>
          <p:nvPr/>
        </p:nvSpPr>
        <p:spPr>
          <a:xfrm>
            <a:off x="9375432" y="4617604"/>
            <a:ext cx="1571625" cy="16941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de-DE" sz="800"/>
              <a:t>IF there is </a:t>
            </a:r>
            <a:r>
              <a:rPr lang="de-DE" sz="800" u="sng"/>
              <a:t>no</a:t>
            </a:r>
            <a:r>
              <a:rPr lang="de-DE" sz="800"/>
              <a:t> mountPoint with same deviceName in MO</a:t>
            </a:r>
          </a:p>
          <a:p>
            <a:r>
              <a:rPr lang="de-DE" sz="800"/>
              <a:t>THEN dismantle mediatorProc.</a:t>
            </a:r>
          </a:p>
          <a:p>
            <a:r>
              <a:rPr lang="de-DE" sz="800"/>
              <a:t>ELSE check its TCP/IP address</a:t>
            </a:r>
          </a:p>
          <a:p>
            <a:endParaRPr lang="de-DE" sz="800"/>
          </a:p>
          <a:p>
            <a:r>
              <a:rPr lang="de-DE" sz="800"/>
              <a:t>IF different TCP/IP address</a:t>
            </a:r>
          </a:p>
          <a:p>
            <a:r>
              <a:rPr lang="de-DE" sz="800"/>
              <a:t>THEN dismantle mediatorProc.</a:t>
            </a:r>
          </a:p>
          <a:p>
            <a:r>
              <a:rPr lang="de-DE" sz="800"/>
              <a:t>ELSE check connected state</a:t>
            </a:r>
          </a:p>
          <a:p>
            <a:endParaRPr lang="de-DE" sz="800"/>
          </a:p>
          <a:p>
            <a:r>
              <a:rPr lang="de-DE" sz="800"/>
              <a:t>IF </a:t>
            </a:r>
            <a:r>
              <a:rPr lang="de-DE" sz="800" u="sng"/>
              <a:t>not</a:t>
            </a:r>
            <a:r>
              <a:rPr lang="de-DE" sz="800"/>
              <a:t> in connected state</a:t>
            </a:r>
          </a:p>
          <a:p>
            <a:r>
              <a:rPr lang="de-DE" sz="800"/>
              <a:t>THEN dismantle mediatorProc.</a:t>
            </a:r>
          </a:p>
          <a:p>
            <a:r>
              <a:rPr lang="de-DE" sz="800"/>
              <a:t>ELSE terminate without change</a:t>
            </a:r>
          </a:p>
        </p:txBody>
      </p:sp>
      <p:cxnSp>
        <p:nvCxnSpPr>
          <p:cNvPr id="134" name="Verbinder: gekrümmt 133">
            <a:extLst>
              <a:ext uri="{FF2B5EF4-FFF2-40B4-BE49-F238E27FC236}">
                <a16:creationId xmlns:a16="http://schemas.microsoft.com/office/drawing/2014/main" id="{5D7864F1-1ED2-2D1B-8095-C111EA57113A}"/>
              </a:ext>
            </a:extLst>
          </p:cNvPr>
          <p:cNvCxnSpPr>
            <a:cxnSpLocks/>
            <a:stCxn id="103" idx="2"/>
            <a:endCxn id="125" idx="0"/>
          </p:cNvCxnSpPr>
          <p:nvPr/>
        </p:nvCxnSpPr>
        <p:spPr>
          <a:xfrm rot="16200000" flipH="1">
            <a:off x="9810898" y="4267257"/>
            <a:ext cx="700692" cy="1"/>
          </a:xfrm>
          <a:prstGeom prst="curvedConnector3">
            <a:avLst>
              <a:gd name="adj1" fmla="val 50000"/>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sp>
        <p:nvSpPr>
          <p:cNvPr id="138" name="Textfeld 137">
            <a:extLst>
              <a:ext uri="{FF2B5EF4-FFF2-40B4-BE49-F238E27FC236}">
                <a16:creationId xmlns:a16="http://schemas.microsoft.com/office/drawing/2014/main" id="{5F39A88C-C8DD-8585-E481-7CA9215CE4E7}"/>
              </a:ext>
            </a:extLst>
          </p:cNvPr>
          <p:cNvSpPr txBox="1"/>
          <p:nvPr/>
        </p:nvSpPr>
        <p:spPr>
          <a:xfrm>
            <a:off x="8994856" y="4124669"/>
            <a:ext cx="2484976" cy="246221"/>
          </a:xfrm>
          <a:prstGeom prst="rect">
            <a:avLst/>
          </a:prstGeom>
          <a:noFill/>
        </p:spPr>
        <p:txBody>
          <a:bodyPr wrap="none" rtlCol="0">
            <a:spAutoFit/>
          </a:bodyPr>
          <a:lstStyle/>
          <a:p>
            <a:r>
              <a:rPr lang="de-DE" sz="1000"/>
              <a:t>(private) /p1/dismantle-mediator-process</a:t>
            </a:r>
          </a:p>
        </p:txBody>
      </p:sp>
      <p:sp>
        <p:nvSpPr>
          <p:cNvPr id="139" name="Rechteck: abgerundete Ecken 138">
            <a:extLst>
              <a:ext uri="{FF2B5EF4-FFF2-40B4-BE49-F238E27FC236}">
                <a16:creationId xmlns:a16="http://schemas.microsoft.com/office/drawing/2014/main" id="{285D310C-B755-6D1C-64A1-00BEA6F9B3C3}"/>
              </a:ext>
            </a:extLst>
          </p:cNvPr>
          <p:cNvSpPr/>
          <p:nvPr/>
        </p:nvSpPr>
        <p:spPr>
          <a:xfrm>
            <a:off x="12408595" y="4824315"/>
            <a:ext cx="447675" cy="3286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50"/>
              <a:t>MO</a:t>
            </a:r>
          </a:p>
        </p:txBody>
      </p:sp>
      <p:cxnSp>
        <p:nvCxnSpPr>
          <p:cNvPr id="140" name="Gerade Verbindung mit Pfeil 139">
            <a:extLst>
              <a:ext uri="{FF2B5EF4-FFF2-40B4-BE49-F238E27FC236}">
                <a16:creationId xmlns:a16="http://schemas.microsoft.com/office/drawing/2014/main" id="{271364D9-7F9E-79AA-C893-2822AA00732D}"/>
              </a:ext>
            </a:extLst>
          </p:cNvPr>
          <p:cNvCxnSpPr>
            <a:cxnSpLocks/>
          </p:cNvCxnSpPr>
          <p:nvPr/>
        </p:nvCxnSpPr>
        <p:spPr>
          <a:xfrm>
            <a:off x="10947057" y="4984088"/>
            <a:ext cx="1461538" cy="363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2" name="Rechteck: abgerundete Ecken 141">
            <a:extLst>
              <a:ext uri="{FF2B5EF4-FFF2-40B4-BE49-F238E27FC236}">
                <a16:creationId xmlns:a16="http://schemas.microsoft.com/office/drawing/2014/main" id="{9374E8B7-24B6-FC85-A77A-EEE5D605F984}"/>
              </a:ext>
            </a:extLst>
          </p:cNvPr>
          <p:cNvSpPr/>
          <p:nvPr/>
        </p:nvSpPr>
        <p:spPr>
          <a:xfrm>
            <a:off x="12432753" y="5444403"/>
            <a:ext cx="447675" cy="3286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a:t>MIM</a:t>
            </a:r>
          </a:p>
        </p:txBody>
      </p:sp>
      <p:cxnSp>
        <p:nvCxnSpPr>
          <p:cNvPr id="143" name="Gerade Verbindung mit Pfeil 142">
            <a:extLst>
              <a:ext uri="{FF2B5EF4-FFF2-40B4-BE49-F238E27FC236}">
                <a16:creationId xmlns:a16="http://schemas.microsoft.com/office/drawing/2014/main" id="{F2C294CF-C45A-D742-3870-3237D39F0838}"/>
              </a:ext>
            </a:extLst>
          </p:cNvPr>
          <p:cNvCxnSpPr>
            <a:cxnSpLocks/>
            <a:endCxn id="142" idx="1"/>
          </p:cNvCxnSpPr>
          <p:nvPr/>
        </p:nvCxnSpPr>
        <p:spPr>
          <a:xfrm>
            <a:off x="10971215" y="5497650"/>
            <a:ext cx="1461538" cy="11105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4" name="Textfeld 143">
            <a:extLst>
              <a:ext uri="{FF2B5EF4-FFF2-40B4-BE49-F238E27FC236}">
                <a16:creationId xmlns:a16="http://schemas.microsoft.com/office/drawing/2014/main" id="{29D2BC74-3BE7-174C-D371-53D0640E1A05}"/>
              </a:ext>
            </a:extLst>
          </p:cNvPr>
          <p:cNvSpPr txBox="1"/>
          <p:nvPr/>
        </p:nvSpPr>
        <p:spPr>
          <a:xfrm>
            <a:off x="13525320" y="571612"/>
            <a:ext cx="2548404" cy="246221"/>
          </a:xfrm>
          <a:prstGeom prst="rect">
            <a:avLst/>
          </a:prstGeom>
          <a:noFill/>
        </p:spPr>
        <p:txBody>
          <a:bodyPr wrap="square" rtlCol="0">
            <a:spAutoFit/>
          </a:bodyPr>
          <a:lstStyle/>
          <a:p>
            <a:r>
              <a:rPr lang="de-DE" sz="1000"/>
              <a:t>/v1/dismantle-netconf-interface</a:t>
            </a:r>
          </a:p>
        </p:txBody>
      </p:sp>
      <p:cxnSp>
        <p:nvCxnSpPr>
          <p:cNvPr id="146" name="Gerade Verbindung mit Pfeil 145">
            <a:extLst>
              <a:ext uri="{FF2B5EF4-FFF2-40B4-BE49-F238E27FC236}">
                <a16:creationId xmlns:a16="http://schemas.microsoft.com/office/drawing/2014/main" id="{76527FFD-A27D-C191-D636-0418D2347CF0}"/>
              </a:ext>
            </a:extLst>
          </p:cNvPr>
          <p:cNvCxnSpPr>
            <a:cxnSpLocks/>
          </p:cNvCxnSpPr>
          <p:nvPr/>
        </p:nvCxnSpPr>
        <p:spPr>
          <a:xfrm flipH="1">
            <a:off x="13537658" y="755345"/>
            <a:ext cx="338860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8" name="Gerade Verbindung mit Pfeil 147">
            <a:extLst>
              <a:ext uri="{FF2B5EF4-FFF2-40B4-BE49-F238E27FC236}">
                <a16:creationId xmlns:a16="http://schemas.microsoft.com/office/drawing/2014/main" id="{D5350EC3-81F5-928A-7AB1-C83683A18AC5}"/>
              </a:ext>
            </a:extLst>
          </p:cNvPr>
          <p:cNvCxnSpPr>
            <a:cxnSpLocks/>
          </p:cNvCxnSpPr>
          <p:nvPr/>
        </p:nvCxnSpPr>
        <p:spPr>
          <a:xfrm>
            <a:off x="13534823" y="879874"/>
            <a:ext cx="3381577" cy="11666"/>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149" name="Textfeld 148">
            <a:extLst>
              <a:ext uri="{FF2B5EF4-FFF2-40B4-BE49-F238E27FC236}">
                <a16:creationId xmlns:a16="http://schemas.microsoft.com/office/drawing/2014/main" id="{B4C32C75-C175-6476-37BE-A82F695B7FF2}"/>
              </a:ext>
            </a:extLst>
          </p:cNvPr>
          <p:cNvSpPr txBox="1"/>
          <p:nvPr/>
        </p:nvSpPr>
        <p:spPr>
          <a:xfrm flipH="1">
            <a:off x="16163217" y="868258"/>
            <a:ext cx="829073" cy="246221"/>
          </a:xfrm>
          <a:prstGeom prst="rect">
            <a:avLst/>
          </a:prstGeom>
          <a:noFill/>
        </p:spPr>
        <p:txBody>
          <a:bodyPr wrap="none" rtlCol="0">
            <a:spAutoFit/>
          </a:bodyPr>
          <a:lstStyle/>
          <a:p>
            <a:r>
              <a:rPr lang="de-DE" sz="1000"/>
              <a:t>204 / 500 …</a:t>
            </a:r>
          </a:p>
        </p:txBody>
      </p:sp>
      <p:sp>
        <p:nvSpPr>
          <p:cNvPr id="210" name="Rechteck: abgerundete Ecken 209">
            <a:extLst>
              <a:ext uri="{FF2B5EF4-FFF2-40B4-BE49-F238E27FC236}">
                <a16:creationId xmlns:a16="http://schemas.microsoft.com/office/drawing/2014/main" id="{44B2B777-E588-B36C-E091-FFDB6E04A573}"/>
              </a:ext>
            </a:extLst>
          </p:cNvPr>
          <p:cNvSpPr/>
          <p:nvPr/>
        </p:nvSpPr>
        <p:spPr>
          <a:xfrm>
            <a:off x="16929101" y="690079"/>
            <a:ext cx="447675" cy="30468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50"/>
              <a:t>MO</a:t>
            </a:r>
          </a:p>
        </p:txBody>
      </p:sp>
      <p:sp>
        <p:nvSpPr>
          <p:cNvPr id="213" name="Rechteck 212">
            <a:extLst>
              <a:ext uri="{FF2B5EF4-FFF2-40B4-BE49-F238E27FC236}">
                <a16:creationId xmlns:a16="http://schemas.microsoft.com/office/drawing/2014/main" id="{65B05C39-22C7-3BDA-ABC8-0E08C367F8F4}"/>
              </a:ext>
            </a:extLst>
          </p:cNvPr>
          <p:cNvSpPr/>
          <p:nvPr/>
        </p:nvSpPr>
        <p:spPr>
          <a:xfrm>
            <a:off x="11963198" y="410392"/>
            <a:ext cx="1571625" cy="13201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de-DE" sz="800"/>
              <a:t>Search all mediatorVms for mediatorVmProcesses for the defined deviceName</a:t>
            </a:r>
          </a:p>
          <a:p>
            <a:endParaRPr lang="de-DE" sz="800"/>
          </a:p>
          <a:p>
            <a:r>
              <a:rPr lang="de-DE" sz="800"/>
              <a:t>Add all mediatorVmProcesses</a:t>
            </a:r>
          </a:p>
          <a:p>
            <a:pPr marL="171450" indent="-171450">
              <a:buFontTx/>
              <a:buChar char="-"/>
            </a:pPr>
            <a:r>
              <a:rPr lang="de-DE" sz="800"/>
              <a:t>to dismantleQueue</a:t>
            </a:r>
          </a:p>
        </p:txBody>
      </p:sp>
      <p:cxnSp>
        <p:nvCxnSpPr>
          <p:cNvPr id="220" name="Verbinder: gekrümmt 219">
            <a:extLst>
              <a:ext uri="{FF2B5EF4-FFF2-40B4-BE49-F238E27FC236}">
                <a16:creationId xmlns:a16="http://schemas.microsoft.com/office/drawing/2014/main" id="{561F252A-8C14-74DE-20EB-D490C3D6B7B2}"/>
              </a:ext>
            </a:extLst>
          </p:cNvPr>
          <p:cNvCxnSpPr>
            <a:cxnSpLocks/>
            <a:stCxn id="213" idx="2"/>
            <a:endCxn id="103" idx="0"/>
          </p:cNvCxnSpPr>
          <p:nvPr/>
        </p:nvCxnSpPr>
        <p:spPr>
          <a:xfrm rot="5400000">
            <a:off x="11070253" y="821550"/>
            <a:ext cx="769750" cy="2587767"/>
          </a:xfrm>
          <a:prstGeom prst="curvedConnector3">
            <a:avLst>
              <a:gd name="adj1" fmla="val 50000"/>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sp>
        <p:nvSpPr>
          <p:cNvPr id="225" name="Rechteck 224">
            <a:extLst>
              <a:ext uri="{FF2B5EF4-FFF2-40B4-BE49-F238E27FC236}">
                <a16:creationId xmlns:a16="http://schemas.microsoft.com/office/drawing/2014/main" id="{8778D23D-E927-DABD-0332-D93807833FA4}"/>
              </a:ext>
            </a:extLst>
          </p:cNvPr>
          <p:cNvSpPr/>
          <p:nvPr/>
        </p:nvSpPr>
        <p:spPr>
          <a:xfrm>
            <a:off x="11944027" y="2182541"/>
            <a:ext cx="1666994" cy="230982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de-DE" sz="800"/>
          </a:p>
          <a:p>
            <a:endParaRPr lang="de-DE" sz="800"/>
          </a:p>
          <a:p>
            <a:endParaRPr lang="de-DE" sz="800"/>
          </a:p>
          <a:p>
            <a:r>
              <a:rPr lang="de-DE" sz="800"/>
              <a:t>Go slowly through all mediatorVmProcesses at all mediatorVms</a:t>
            </a:r>
          </a:p>
          <a:p>
            <a:endParaRPr lang="de-DE" sz="800"/>
          </a:p>
          <a:p>
            <a:r>
              <a:rPr lang="de-DE" sz="800"/>
              <a:t>IF mediatorVmProcess is responsive on netconf</a:t>
            </a:r>
          </a:p>
          <a:p>
            <a:r>
              <a:rPr lang="de-DE" sz="800"/>
              <a:t>THEN set firstSilenceDate=‚‘</a:t>
            </a:r>
          </a:p>
          <a:p>
            <a:r>
              <a:rPr lang="de-DE" sz="800"/>
              <a:t>ELSE check firstSilenceDate</a:t>
            </a:r>
          </a:p>
          <a:p>
            <a:endParaRPr lang="de-DE" sz="800"/>
          </a:p>
          <a:p>
            <a:r>
              <a:rPr lang="de-DE" sz="800"/>
              <a:t>IF</a:t>
            </a:r>
            <a:br>
              <a:rPr lang="de-DE" sz="800"/>
            </a:br>
            <a:r>
              <a:rPr lang="de-DE" sz="800"/>
              <a:t>currentDate – firstSilenceDate &lt;= [keepMediatorProcessPeriode]</a:t>
            </a:r>
          </a:p>
          <a:p>
            <a:r>
              <a:rPr lang="de-DE" sz="800"/>
              <a:t>THEN no change</a:t>
            </a:r>
          </a:p>
          <a:p>
            <a:r>
              <a:rPr lang="de-DE" sz="800"/>
              <a:t>ELSE add to dismantleQueue</a:t>
            </a:r>
          </a:p>
          <a:p>
            <a:endParaRPr lang="de-DE" sz="800"/>
          </a:p>
        </p:txBody>
      </p:sp>
      <p:pic>
        <p:nvPicPr>
          <p:cNvPr id="226" name="Grafik 225">
            <a:extLst>
              <a:ext uri="{FF2B5EF4-FFF2-40B4-BE49-F238E27FC236}">
                <a16:creationId xmlns:a16="http://schemas.microsoft.com/office/drawing/2014/main" id="{E590A6FC-6F27-1F52-01B4-64301CA59954}"/>
              </a:ext>
            </a:extLst>
          </p:cNvPr>
          <p:cNvPicPr>
            <a:picLocks noChangeAspect="1"/>
          </p:cNvPicPr>
          <p:nvPr/>
        </p:nvPicPr>
        <p:blipFill>
          <a:blip r:embed="rId3"/>
          <a:stretch>
            <a:fillRect/>
          </a:stretch>
        </p:blipFill>
        <p:spPr>
          <a:xfrm>
            <a:off x="11993832" y="2224233"/>
            <a:ext cx="260088" cy="251271"/>
          </a:xfrm>
          <a:prstGeom prst="rect">
            <a:avLst/>
          </a:prstGeom>
        </p:spPr>
      </p:pic>
      <p:cxnSp>
        <p:nvCxnSpPr>
          <p:cNvPr id="227" name="Verbinder: gekrümmt 226">
            <a:extLst>
              <a:ext uri="{FF2B5EF4-FFF2-40B4-BE49-F238E27FC236}">
                <a16:creationId xmlns:a16="http://schemas.microsoft.com/office/drawing/2014/main" id="{2DB9CE1C-063B-8F4A-85EB-0564067865B1}"/>
              </a:ext>
            </a:extLst>
          </p:cNvPr>
          <p:cNvCxnSpPr>
            <a:cxnSpLocks/>
            <a:stCxn id="225" idx="2"/>
            <a:endCxn id="103" idx="0"/>
          </p:cNvCxnSpPr>
          <p:nvPr/>
        </p:nvCxnSpPr>
        <p:spPr>
          <a:xfrm rot="5400000" flipH="1">
            <a:off x="10473353" y="2188199"/>
            <a:ext cx="1992061" cy="2616280"/>
          </a:xfrm>
          <a:prstGeom prst="curvedConnector5">
            <a:avLst>
              <a:gd name="adj1" fmla="val -11476"/>
              <a:gd name="adj2" fmla="val 49455"/>
              <a:gd name="adj3" fmla="val 111476"/>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6671419"/>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744600e-3e04-492e-baa1-25ec245c6f10}" enabled="0" method="" siteId="{9744600e-3e04-492e-baa1-25ec245c6f10}" removed="1"/>
</clbl:labelList>
</file>

<file path=docProps/app.xml><?xml version="1.0" encoding="utf-8"?>
<Properties xmlns="http://schemas.openxmlformats.org/officeDocument/2006/extended-properties" xmlns:vt="http://schemas.openxmlformats.org/officeDocument/2006/docPropsVTypes">
  <Template>Office Theme</Template>
  <TotalTime>0</TotalTime>
  <Words>259</Words>
  <Application>Microsoft Office PowerPoint</Application>
  <PresentationFormat>Benutzerdefiniert</PresentationFormat>
  <Paragraphs>75</Paragraphs>
  <Slides>1</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vt:i4>
      </vt:variant>
    </vt:vector>
  </HeadingPairs>
  <TitlesOfParts>
    <vt:vector size="5" baseType="lpstr">
      <vt:lpstr>Aptos</vt:lpstr>
      <vt:lpstr>Aptos Display</vt:lpstr>
      <vt:lpstr>Arial</vt:lpstr>
      <vt:lpstr>Office</vt:lpstr>
      <vt:lpstr>PowerPoint-Präsentation</vt:lpstr>
    </vt:vector>
  </TitlesOfParts>
  <Company>Telefónica Germany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Thorsten Heinze</dc:creator>
  <cp:lastModifiedBy>Thorsten Heinze</cp:lastModifiedBy>
  <cp:revision>8</cp:revision>
  <dcterms:created xsi:type="dcterms:W3CDTF">2025-01-24T13:53:29Z</dcterms:created>
  <dcterms:modified xsi:type="dcterms:W3CDTF">2025-03-07T16:57:39Z</dcterms:modified>
</cp:coreProperties>
</file>