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20" r:id="rId1"/>
  </p:sldMasterIdLst>
  <p:notesMasterIdLst>
    <p:notesMasterId r:id="rId15"/>
  </p:notesMasterIdLst>
  <p:sldIdLst>
    <p:sldId id="289" r:id="rId2"/>
    <p:sldId id="258" r:id="rId3"/>
    <p:sldId id="284" r:id="rId4"/>
    <p:sldId id="290" r:id="rId5"/>
    <p:sldId id="291" r:id="rId6"/>
    <p:sldId id="292" r:id="rId7"/>
    <p:sldId id="293" r:id="rId8"/>
    <p:sldId id="287" r:id="rId9"/>
    <p:sldId id="280" r:id="rId10"/>
    <p:sldId id="286" r:id="rId11"/>
    <p:sldId id="282" r:id="rId12"/>
    <p:sldId id="285" r:id="rId13"/>
    <p:sldId id="288" r:id="rId14"/>
  </p:sldIdLst>
  <p:sldSz cx="21599525" cy="1800066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C000"/>
    <a:srgbClr val="04243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611" autoAdjust="0"/>
    <p:restoredTop sz="96370" autoAdjust="0"/>
  </p:normalViewPr>
  <p:slideViewPr>
    <p:cSldViewPr snapToGrid="0">
      <p:cViewPr>
        <p:scale>
          <a:sx n="66" d="100"/>
          <a:sy n="66" d="100"/>
        </p:scale>
        <p:origin x="-42" y="-16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7CCF725-7468-4D3D-9E24-A16745BBBA77}" type="datetimeFigureOut">
              <a:rPr lang="de-DE" smtClean="0"/>
              <a:t>03.04.2025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1577975" y="1143000"/>
            <a:ext cx="370205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89594DA-F4C5-4E81-884D-2CC9FB11C97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0039684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1577975" y="1143000"/>
            <a:ext cx="3702050" cy="3086100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6F0BDF-D3AA-4378-A5EA-B01B2486D808}" type="slidenum">
              <a:rPr lang="de-DE" smtClean="0"/>
              <a:t>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1821273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1577975" y="1143000"/>
            <a:ext cx="3702050" cy="3086100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6F0BDF-D3AA-4378-A5EA-B01B2486D808}" type="slidenum">
              <a:rPr lang="de-DE" smtClean="0"/>
              <a:t>5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74219431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619965" y="2945943"/>
            <a:ext cx="18359596" cy="6266897"/>
          </a:xfrm>
        </p:spPr>
        <p:txBody>
          <a:bodyPr anchor="b"/>
          <a:lstStyle>
            <a:lvl1pPr algn="ctr">
              <a:defRPr sz="14173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99941" y="9454516"/>
            <a:ext cx="16199644" cy="4345992"/>
          </a:xfrm>
        </p:spPr>
        <p:txBody>
          <a:bodyPr/>
          <a:lstStyle>
            <a:lvl1pPr marL="0" indent="0" algn="ctr">
              <a:buNone/>
              <a:defRPr sz="5669"/>
            </a:lvl1pPr>
            <a:lvl2pPr marL="1079998" indent="0" algn="ctr">
              <a:buNone/>
              <a:defRPr sz="4724"/>
            </a:lvl2pPr>
            <a:lvl3pPr marL="2159996" indent="0" algn="ctr">
              <a:buNone/>
              <a:defRPr sz="4252"/>
            </a:lvl3pPr>
            <a:lvl4pPr marL="3239994" indent="0" algn="ctr">
              <a:buNone/>
              <a:defRPr sz="3780"/>
            </a:lvl4pPr>
            <a:lvl5pPr marL="4319991" indent="0" algn="ctr">
              <a:buNone/>
              <a:defRPr sz="3780"/>
            </a:lvl5pPr>
            <a:lvl6pPr marL="5399989" indent="0" algn="ctr">
              <a:buNone/>
              <a:defRPr sz="3780"/>
            </a:lvl6pPr>
            <a:lvl7pPr marL="6479987" indent="0" algn="ctr">
              <a:buNone/>
              <a:defRPr sz="3780"/>
            </a:lvl7pPr>
            <a:lvl8pPr marL="7559985" indent="0" algn="ctr">
              <a:buNone/>
              <a:defRPr sz="3780"/>
            </a:lvl8pPr>
            <a:lvl9pPr marL="8639983" indent="0" algn="ctr">
              <a:buNone/>
              <a:defRPr sz="3780"/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2764DB-E7DF-4EA7-A1AF-05A77C280FCA}" type="datetimeFigureOut">
              <a:rPr lang="de-DE" smtClean="0"/>
              <a:t>03.04.2025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A02A80-A104-426B-9779-D7499AE27B6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6101571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2764DB-E7DF-4EA7-A1AF-05A77C280FCA}" type="datetimeFigureOut">
              <a:rPr lang="de-DE" smtClean="0"/>
              <a:t>03.04.2025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A02A80-A104-426B-9779-D7499AE27B6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0968963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73719" y="4487671"/>
            <a:ext cx="18629590" cy="7487774"/>
          </a:xfrm>
        </p:spPr>
        <p:txBody>
          <a:bodyPr anchor="b"/>
          <a:lstStyle>
            <a:lvl1pPr>
              <a:defRPr sz="14173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73719" y="12046282"/>
            <a:ext cx="18629590" cy="3937644"/>
          </a:xfrm>
        </p:spPr>
        <p:txBody>
          <a:bodyPr/>
          <a:lstStyle>
            <a:lvl1pPr marL="0" indent="0">
              <a:buNone/>
              <a:defRPr sz="5669">
                <a:solidFill>
                  <a:schemeClr val="tx1">
                    <a:tint val="82000"/>
                  </a:schemeClr>
                </a:solidFill>
              </a:defRPr>
            </a:lvl1pPr>
            <a:lvl2pPr marL="1079998" indent="0">
              <a:buNone/>
              <a:defRPr sz="4724">
                <a:solidFill>
                  <a:schemeClr val="tx1">
                    <a:tint val="82000"/>
                  </a:schemeClr>
                </a:solidFill>
              </a:defRPr>
            </a:lvl2pPr>
            <a:lvl3pPr marL="2159996" indent="0">
              <a:buNone/>
              <a:defRPr sz="4252">
                <a:solidFill>
                  <a:schemeClr val="tx1">
                    <a:tint val="82000"/>
                  </a:schemeClr>
                </a:solidFill>
              </a:defRPr>
            </a:lvl3pPr>
            <a:lvl4pPr marL="3239994" indent="0">
              <a:buNone/>
              <a:defRPr sz="3780">
                <a:solidFill>
                  <a:schemeClr val="tx1">
                    <a:tint val="82000"/>
                  </a:schemeClr>
                </a:solidFill>
              </a:defRPr>
            </a:lvl4pPr>
            <a:lvl5pPr marL="4319991" indent="0">
              <a:buNone/>
              <a:defRPr sz="3780">
                <a:solidFill>
                  <a:schemeClr val="tx1">
                    <a:tint val="82000"/>
                  </a:schemeClr>
                </a:solidFill>
              </a:defRPr>
            </a:lvl5pPr>
            <a:lvl6pPr marL="5399989" indent="0">
              <a:buNone/>
              <a:defRPr sz="3780">
                <a:solidFill>
                  <a:schemeClr val="tx1">
                    <a:tint val="82000"/>
                  </a:schemeClr>
                </a:solidFill>
              </a:defRPr>
            </a:lvl6pPr>
            <a:lvl7pPr marL="6479987" indent="0">
              <a:buNone/>
              <a:defRPr sz="3780">
                <a:solidFill>
                  <a:schemeClr val="tx1">
                    <a:tint val="82000"/>
                  </a:schemeClr>
                </a:solidFill>
              </a:defRPr>
            </a:lvl7pPr>
            <a:lvl8pPr marL="7559985" indent="0">
              <a:buNone/>
              <a:defRPr sz="3780">
                <a:solidFill>
                  <a:schemeClr val="tx1">
                    <a:tint val="82000"/>
                  </a:schemeClr>
                </a:solidFill>
              </a:defRPr>
            </a:lvl8pPr>
            <a:lvl9pPr marL="8639983" indent="0">
              <a:buNone/>
              <a:defRPr sz="378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2764DB-E7DF-4EA7-A1AF-05A77C280FCA}" type="datetimeFigureOut">
              <a:rPr lang="de-DE" smtClean="0"/>
              <a:t>03.04.2025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A02A80-A104-426B-9779-D7499AE27B6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09623355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484967" y="4791843"/>
            <a:ext cx="9179798" cy="11421255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34760" y="4791843"/>
            <a:ext cx="9179798" cy="11421255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2764DB-E7DF-4EA7-A1AF-05A77C280FCA}" type="datetimeFigureOut">
              <a:rPr lang="de-DE" smtClean="0"/>
              <a:t>03.04.2025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A02A80-A104-426B-9779-D7499AE27B6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1101387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87781" y="958373"/>
            <a:ext cx="18629590" cy="3479296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87783" y="4412664"/>
            <a:ext cx="9137610" cy="2162578"/>
          </a:xfrm>
        </p:spPr>
        <p:txBody>
          <a:bodyPr anchor="b"/>
          <a:lstStyle>
            <a:lvl1pPr marL="0" indent="0">
              <a:buNone/>
              <a:defRPr sz="5669" b="1"/>
            </a:lvl1pPr>
            <a:lvl2pPr marL="1079998" indent="0">
              <a:buNone/>
              <a:defRPr sz="4724" b="1"/>
            </a:lvl2pPr>
            <a:lvl3pPr marL="2159996" indent="0">
              <a:buNone/>
              <a:defRPr sz="4252" b="1"/>
            </a:lvl3pPr>
            <a:lvl4pPr marL="3239994" indent="0">
              <a:buNone/>
              <a:defRPr sz="3780" b="1"/>
            </a:lvl4pPr>
            <a:lvl5pPr marL="4319991" indent="0">
              <a:buNone/>
              <a:defRPr sz="3780" b="1"/>
            </a:lvl5pPr>
            <a:lvl6pPr marL="5399989" indent="0">
              <a:buNone/>
              <a:defRPr sz="3780" b="1"/>
            </a:lvl6pPr>
            <a:lvl7pPr marL="6479987" indent="0">
              <a:buNone/>
              <a:defRPr sz="3780" b="1"/>
            </a:lvl7pPr>
            <a:lvl8pPr marL="7559985" indent="0">
              <a:buNone/>
              <a:defRPr sz="3780" b="1"/>
            </a:lvl8pPr>
            <a:lvl9pPr marL="8639983" indent="0">
              <a:buNone/>
              <a:defRPr sz="378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487783" y="6575242"/>
            <a:ext cx="9137610" cy="9671191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0934761" y="4412664"/>
            <a:ext cx="9182611" cy="2162578"/>
          </a:xfrm>
        </p:spPr>
        <p:txBody>
          <a:bodyPr anchor="b"/>
          <a:lstStyle>
            <a:lvl1pPr marL="0" indent="0">
              <a:buNone/>
              <a:defRPr sz="5669" b="1"/>
            </a:lvl1pPr>
            <a:lvl2pPr marL="1079998" indent="0">
              <a:buNone/>
              <a:defRPr sz="4724" b="1"/>
            </a:lvl2pPr>
            <a:lvl3pPr marL="2159996" indent="0">
              <a:buNone/>
              <a:defRPr sz="4252" b="1"/>
            </a:lvl3pPr>
            <a:lvl4pPr marL="3239994" indent="0">
              <a:buNone/>
              <a:defRPr sz="3780" b="1"/>
            </a:lvl4pPr>
            <a:lvl5pPr marL="4319991" indent="0">
              <a:buNone/>
              <a:defRPr sz="3780" b="1"/>
            </a:lvl5pPr>
            <a:lvl6pPr marL="5399989" indent="0">
              <a:buNone/>
              <a:defRPr sz="3780" b="1"/>
            </a:lvl6pPr>
            <a:lvl7pPr marL="6479987" indent="0">
              <a:buNone/>
              <a:defRPr sz="3780" b="1"/>
            </a:lvl7pPr>
            <a:lvl8pPr marL="7559985" indent="0">
              <a:buNone/>
              <a:defRPr sz="3780" b="1"/>
            </a:lvl8pPr>
            <a:lvl9pPr marL="8639983" indent="0">
              <a:buNone/>
              <a:defRPr sz="378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0934761" y="6575242"/>
            <a:ext cx="9182611" cy="9671191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2764DB-E7DF-4EA7-A1AF-05A77C280FCA}" type="datetimeFigureOut">
              <a:rPr lang="de-DE" smtClean="0"/>
              <a:t>03.04.2025</a:t>
            </a:fld>
            <a:endParaRPr lang="de-D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A02A80-A104-426B-9779-D7499AE27B6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2260439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2764DB-E7DF-4EA7-A1AF-05A77C280FCA}" type="datetimeFigureOut">
              <a:rPr lang="de-DE" smtClean="0"/>
              <a:t>03.04.2025</a:t>
            </a:fld>
            <a:endParaRPr lang="de-D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A02A80-A104-426B-9779-D7499AE27B6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00740722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2764DB-E7DF-4EA7-A1AF-05A77C280FCA}" type="datetimeFigureOut">
              <a:rPr lang="de-DE" smtClean="0"/>
              <a:t>03.04.2025</a:t>
            </a:fld>
            <a:endParaRPr lang="de-D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A02A80-A104-426B-9779-D7499AE27B6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70825460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87781" y="1200044"/>
            <a:ext cx="6966409" cy="4200155"/>
          </a:xfrm>
        </p:spPr>
        <p:txBody>
          <a:bodyPr anchor="b"/>
          <a:lstStyle>
            <a:lvl1pPr>
              <a:defRPr sz="7559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182611" y="2591766"/>
            <a:ext cx="10934760" cy="12792138"/>
          </a:xfrm>
        </p:spPr>
        <p:txBody>
          <a:bodyPr/>
          <a:lstStyle>
            <a:lvl1pPr>
              <a:defRPr sz="7559"/>
            </a:lvl1pPr>
            <a:lvl2pPr>
              <a:defRPr sz="6614"/>
            </a:lvl2pPr>
            <a:lvl3pPr>
              <a:defRPr sz="5669"/>
            </a:lvl3pPr>
            <a:lvl4pPr>
              <a:defRPr sz="4724"/>
            </a:lvl4pPr>
            <a:lvl5pPr>
              <a:defRPr sz="4724"/>
            </a:lvl5pPr>
            <a:lvl6pPr>
              <a:defRPr sz="4724"/>
            </a:lvl6pPr>
            <a:lvl7pPr>
              <a:defRPr sz="4724"/>
            </a:lvl7pPr>
            <a:lvl8pPr>
              <a:defRPr sz="4724"/>
            </a:lvl8pPr>
            <a:lvl9pPr>
              <a:defRPr sz="4724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87781" y="5400199"/>
            <a:ext cx="6966409" cy="10004536"/>
          </a:xfrm>
        </p:spPr>
        <p:txBody>
          <a:bodyPr/>
          <a:lstStyle>
            <a:lvl1pPr marL="0" indent="0">
              <a:buNone/>
              <a:defRPr sz="3780"/>
            </a:lvl1pPr>
            <a:lvl2pPr marL="1079998" indent="0">
              <a:buNone/>
              <a:defRPr sz="3307"/>
            </a:lvl2pPr>
            <a:lvl3pPr marL="2159996" indent="0">
              <a:buNone/>
              <a:defRPr sz="2835"/>
            </a:lvl3pPr>
            <a:lvl4pPr marL="3239994" indent="0">
              <a:buNone/>
              <a:defRPr sz="2362"/>
            </a:lvl4pPr>
            <a:lvl5pPr marL="4319991" indent="0">
              <a:buNone/>
              <a:defRPr sz="2362"/>
            </a:lvl5pPr>
            <a:lvl6pPr marL="5399989" indent="0">
              <a:buNone/>
              <a:defRPr sz="2362"/>
            </a:lvl6pPr>
            <a:lvl7pPr marL="6479987" indent="0">
              <a:buNone/>
              <a:defRPr sz="2362"/>
            </a:lvl7pPr>
            <a:lvl8pPr marL="7559985" indent="0">
              <a:buNone/>
              <a:defRPr sz="2362"/>
            </a:lvl8pPr>
            <a:lvl9pPr marL="8639983" indent="0">
              <a:buNone/>
              <a:defRPr sz="2362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2764DB-E7DF-4EA7-A1AF-05A77C280FCA}" type="datetimeFigureOut">
              <a:rPr lang="de-DE" smtClean="0"/>
              <a:t>03.04.2025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A02A80-A104-426B-9779-D7499AE27B6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62372422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87781" y="1200044"/>
            <a:ext cx="6966409" cy="4200155"/>
          </a:xfrm>
        </p:spPr>
        <p:txBody>
          <a:bodyPr anchor="b"/>
          <a:lstStyle>
            <a:lvl1pPr>
              <a:defRPr sz="7559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9182611" y="2591766"/>
            <a:ext cx="10934760" cy="12792138"/>
          </a:xfrm>
        </p:spPr>
        <p:txBody>
          <a:bodyPr anchor="t"/>
          <a:lstStyle>
            <a:lvl1pPr marL="0" indent="0">
              <a:buNone/>
              <a:defRPr sz="7559"/>
            </a:lvl1pPr>
            <a:lvl2pPr marL="1079998" indent="0">
              <a:buNone/>
              <a:defRPr sz="6614"/>
            </a:lvl2pPr>
            <a:lvl3pPr marL="2159996" indent="0">
              <a:buNone/>
              <a:defRPr sz="5669"/>
            </a:lvl3pPr>
            <a:lvl4pPr marL="3239994" indent="0">
              <a:buNone/>
              <a:defRPr sz="4724"/>
            </a:lvl4pPr>
            <a:lvl5pPr marL="4319991" indent="0">
              <a:buNone/>
              <a:defRPr sz="4724"/>
            </a:lvl5pPr>
            <a:lvl6pPr marL="5399989" indent="0">
              <a:buNone/>
              <a:defRPr sz="4724"/>
            </a:lvl6pPr>
            <a:lvl7pPr marL="6479987" indent="0">
              <a:buNone/>
              <a:defRPr sz="4724"/>
            </a:lvl7pPr>
            <a:lvl8pPr marL="7559985" indent="0">
              <a:buNone/>
              <a:defRPr sz="4724"/>
            </a:lvl8pPr>
            <a:lvl9pPr marL="8639983" indent="0">
              <a:buNone/>
              <a:defRPr sz="4724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87781" y="5400199"/>
            <a:ext cx="6966409" cy="10004536"/>
          </a:xfrm>
        </p:spPr>
        <p:txBody>
          <a:bodyPr/>
          <a:lstStyle>
            <a:lvl1pPr marL="0" indent="0">
              <a:buNone/>
              <a:defRPr sz="3780"/>
            </a:lvl1pPr>
            <a:lvl2pPr marL="1079998" indent="0">
              <a:buNone/>
              <a:defRPr sz="3307"/>
            </a:lvl2pPr>
            <a:lvl3pPr marL="2159996" indent="0">
              <a:buNone/>
              <a:defRPr sz="2835"/>
            </a:lvl3pPr>
            <a:lvl4pPr marL="3239994" indent="0">
              <a:buNone/>
              <a:defRPr sz="2362"/>
            </a:lvl4pPr>
            <a:lvl5pPr marL="4319991" indent="0">
              <a:buNone/>
              <a:defRPr sz="2362"/>
            </a:lvl5pPr>
            <a:lvl6pPr marL="5399989" indent="0">
              <a:buNone/>
              <a:defRPr sz="2362"/>
            </a:lvl6pPr>
            <a:lvl7pPr marL="6479987" indent="0">
              <a:buNone/>
              <a:defRPr sz="2362"/>
            </a:lvl7pPr>
            <a:lvl8pPr marL="7559985" indent="0">
              <a:buNone/>
              <a:defRPr sz="2362"/>
            </a:lvl8pPr>
            <a:lvl9pPr marL="8639983" indent="0">
              <a:buNone/>
              <a:defRPr sz="2362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2764DB-E7DF-4EA7-A1AF-05A77C280FCA}" type="datetimeFigureOut">
              <a:rPr lang="de-DE" smtClean="0"/>
              <a:t>03.04.2025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A02A80-A104-426B-9779-D7499AE27B6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6884903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2764DB-E7DF-4EA7-A1AF-05A77C280FCA}" type="datetimeFigureOut">
              <a:rPr lang="de-DE" smtClean="0"/>
              <a:t>03.04.2025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A02A80-A104-426B-9779-D7499AE27B6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5625873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5457161" y="958369"/>
            <a:ext cx="4657398" cy="15254730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484968" y="958369"/>
            <a:ext cx="13702199" cy="15254730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2764DB-E7DF-4EA7-A1AF-05A77C280FCA}" type="datetimeFigureOut">
              <a:rPr lang="de-DE" smtClean="0"/>
              <a:t>03.04.2025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A02A80-A104-426B-9779-D7499AE27B6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3637668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484968" y="958373"/>
            <a:ext cx="18629590" cy="347929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84968" y="4791843"/>
            <a:ext cx="18629590" cy="114212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484967" y="16683952"/>
            <a:ext cx="4859893" cy="95836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2835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A2764DB-E7DF-4EA7-A1AF-05A77C280FCA}" type="datetimeFigureOut">
              <a:rPr lang="de-DE" smtClean="0"/>
              <a:t>03.04.2025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7154843" y="16683952"/>
            <a:ext cx="7289840" cy="95836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2835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5254665" y="16683952"/>
            <a:ext cx="4859893" cy="95836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835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0A02A80-A104-426B-9779-D7499AE27B6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8393559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1" r:id="rId1"/>
    <p:sldLayoutId id="2147483722" r:id="rId2"/>
    <p:sldLayoutId id="2147483723" r:id="rId3"/>
    <p:sldLayoutId id="2147483724" r:id="rId4"/>
    <p:sldLayoutId id="2147483725" r:id="rId5"/>
    <p:sldLayoutId id="2147483726" r:id="rId6"/>
    <p:sldLayoutId id="2147483727" r:id="rId7"/>
    <p:sldLayoutId id="2147483728" r:id="rId8"/>
    <p:sldLayoutId id="2147483729" r:id="rId9"/>
    <p:sldLayoutId id="2147483730" r:id="rId10"/>
    <p:sldLayoutId id="2147483731" r:id="rId11"/>
  </p:sldLayoutIdLst>
  <p:txStyles>
    <p:titleStyle>
      <a:lvl1pPr algn="l" defTabSz="2159996" rtl="0" eaLnBrk="1" latinLnBrk="0" hangingPunct="1">
        <a:lnSpc>
          <a:spcPct val="90000"/>
        </a:lnSpc>
        <a:spcBef>
          <a:spcPct val="0"/>
        </a:spcBef>
        <a:buNone/>
        <a:defRPr sz="10394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539999" indent="-539999" algn="l" defTabSz="2159996" rtl="0" eaLnBrk="1" latinLnBrk="0" hangingPunct="1">
        <a:lnSpc>
          <a:spcPct val="90000"/>
        </a:lnSpc>
        <a:spcBef>
          <a:spcPts val="2362"/>
        </a:spcBef>
        <a:buFont typeface="Arial" panose="020B0604020202020204" pitchFamily="34" charset="0"/>
        <a:buChar char="•"/>
        <a:defRPr sz="6614" kern="1200">
          <a:solidFill>
            <a:schemeClr val="tx1"/>
          </a:solidFill>
          <a:latin typeface="+mn-lt"/>
          <a:ea typeface="+mn-ea"/>
          <a:cs typeface="+mn-cs"/>
        </a:defRPr>
      </a:lvl1pPr>
      <a:lvl2pPr marL="1619997" indent="-539999" algn="l" defTabSz="2159996" rtl="0" eaLnBrk="1" latinLnBrk="0" hangingPunct="1">
        <a:lnSpc>
          <a:spcPct val="90000"/>
        </a:lnSpc>
        <a:spcBef>
          <a:spcPts val="1181"/>
        </a:spcBef>
        <a:buFont typeface="Arial" panose="020B0604020202020204" pitchFamily="34" charset="0"/>
        <a:buChar char="•"/>
        <a:defRPr sz="5669" kern="1200">
          <a:solidFill>
            <a:schemeClr val="tx1"/>
          </a:solidFill>
          <a:latin typeface="+mn-lt"/>
          <a:ea typeface="+mn-ea"/>
          <a:cs typeface="+mn-cs"/>
        </a:defRPr>
      </a:lvl2pPr>
      <a:lvl3pPr marL="2699995" indent="-539999" algn="l" defTabSz="2159996" rtl="0" eaLnBrk="1" latinLnBrk="0" hangingPunct="1">
        <a:lnSpc>
          <a:spcPct val="90000"/>
        </a:lnSpc>
        <a:spcBef>
          <a:spcPts val="1181"/>
        </a:spcBef>
        <a:buFont typeface="Arial" panose="020B0604020202020204" pitchFamily="34" charset="0"/>
        <a:buChar char="•"/>
        <a:defRPr sz="4724" kern="1200">
          <a:solidFill>
            <a:schemeClr val="tx1"/>
          </a:solidFill>
          <a:latin typeface="+mn-lt"/>
          <a:ea typeface="+mn-ea"/>
          <a:cs typeface="+mn-cs"/>
        </a:defRPr>
      </a:lvl3pPr>
      <a:lvl4pPr marL="3779992" indent="-539999" algn="l" defTabSz="2159996" rtl="0" eaLnBrk="1" latinLnBrk="0" hangingPunct="1">
        <a:lnSpc>
          <a:spcPct val="90000"/>
        </a:lnSpc>
        <a:spcBef>
          <a:spcPts val="1181"/>
        </a:spcBef>
        <a:buFont typeface="Arial" panose="020B0604020202020204" pitchFamily="34" charset="0"/>
        <a:buChar char="•"/>
        <a:defRPr sz="4252" kern="1200">
          <a:solidFill>
            <a:schemeClr val="tx1"/>
          </a:solidFill>
          <a:latin typeface="+mn-lt"/>
          <a:ea typeface="+mn-ea"/>
          <a:cs typeface="+mn-cs"/>
        </a:defRPr>
      </a:lvl4pPr>
      <a:lvl5pPr marL="4859990" indent="-539999" algn="l" defTabSz="2159996" rtl="0" eaLnBrk="1" latinLnBrk="0" hangingPunct="1">
        <a:lnSpc>
          <a:spcPct val="90000"/>
        </a:lnSpc>
        <a:spcBef>
          <a:spcPts val="1181"/>
        </a:spcBef>
        <a:buFont typeface="Arial" panose="020B0604020202020204" pitchFamily="34" charset="0"/>
        <a:buChar char="•"/>
        <a:defRPr sz="4252" kern="1200">
          <a:solidFill>
            <a:schemeClr val="tx1"/>
          </a:solidFill>
          <a:latin typeface="+mn-lt"/>
          <a:ea typeface="+mn-ea"/>
          <a:cs typeface="+mn-cs"/>
        </a:defRPr>
      </a:lvl5pPr>
      <a:lvl6pPr marL="5939988" indent="-539999" algn="l" defTabSz="2159996" rtl="0" eaLnBrk="1" latinLnBrk="0" hangingPunct="1">
        <a:lnSpc>
          <a:spcPct val="90000"/>
        </a:lnSpc>
        <a:spcBef>
          <a:spcPts val="1181"/>
        </a:spcBef>
        <a:buFont typeface="Arial" panose="020B0604020202020204" pitchFamily="34" charset="0"/>
        <a:buChar char="•"/>
        <a:defRPr sz="4252" kern="1200">
          <a:solidFill>
            <a:schemeClr val="tx1"/>
          </a:solidFill>
          <a:latin typeface="+mn-lt"/>
          <a:ea typeface="+mn-ea"/>
          <a:cs typeface="+mn-cs"/>
        </a:defRPr>
      </a:lvl6pPr>
      <a:lvl7pPr marL="7019986" indent="-539999" algn="l" defTabSz="2159996" rtl="0" eaLnBrk="1" latinLnBrk="0" hangingPunct="1">
        <a:lnSpc>
          <a:spcPct val="90000"/>
        </a:lnSpc>
        <a:spcBef>
          <a:spcPts val="1181"/>
        </a:spcBef>
        <a:buFont typeface="Arial" panose="020B0604020202020204" pitchFamily="34" charset="0"/>
        <a:buChar char="•"/>
        <a:defRPr sz="4252" kern="1200">
          <a:solidFill>
            <a:schemeClr val="tx1"/>
          </a:solidFill>
          <a:latin typeface="+mn-lt"/>
          <a:ea typeface="+mn-ea"/>
          <a:cs typeface="+mn-cs"/>
        </a:defRPr>
      </a:lvl7pPr>
      <a:lvl8pPr marL="8099984" indent="-539999" algn="l" defTabSz="2159996" rtl="0" eaLnBrk="1" latinLnBrk="0" hangingPunct="1">
        <a:lnSpc>
          <a:spcPct val="90000"/>
        </a:lnSpc>
        <a:spcBef>
          <a:spcPts val="1181"/>
        </a:spcBef>
        <a:buFont typeface="Arial" panose="020B0604020202020204" pitchFamily="34" charset="0"/>
        <a:buChar char="•"/>
        <a:defRPr sz="4252" kern="1200">
          <a:solidFill>
            <a:schemeClr val="tx1"/>
          </a:solidFill>
          <a:latin typeface="+mn-lt"/>
          <a:ea typeface="+mn-ea"/>
          <a:cs typeface="+mn-cs"/>
        </a:defRPr>
      </a:lvl8pPr>
      <a:lvl9pPr marL="9179982" indent="-539999" algn="l" defTabSz="2159996" rtl="0" eaLnBrk="1" latinLnBrk="0" hangingPunct="1">
        <a:lnSpc>
          <a:spcPct val="90000"/>
        </a:lnSpc>
        <a:spcBef>
          <a:spcPts val="1181"/>
        </a:spcBef>
        <a:buFont typeface="Arial" panose="020B0604020202020204" pitchFamily="34" charset="0"/>
        <a:buChar char="•"/>
        <a:defRPr sz="4252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2159996" rtl="0" eaLnBrk="1" latinLnBrk="0" hangingPunct="1">
        <a:defRPr sz="4252" kern="1200">
          <a:solidFill>
            <a:schemeClr val="tx1"/>
          </a:solidFill>
          <a:latin typeface="+mn-lt"/>
          <a:ea typeface="+mn-ea"/>
          <a:cs typeface="+mn-cs"/>
        </a:defRPr>
      </a:lvl1pPr>
      <a:lvl2pPr marL="1079998" algn="l" defTabSz="2159996" rtl="0" eaLnBrk="1" latinLnBrk="0" hangingPunct="1">
        <a:defRPr sz="4252" kern="1200">
          <a:solidFill>
            <a:schemeClr val="tx1"/>
          </a:solidFill>
          <a:latin typeface="+mn-lt"/>
          <a:ea typeface="+mn-ea"/>
          <a:cs typeface="+mn-cs"/>
        </a:defRPr>
      </a:lvl2pPr>
      <a:lvl3pPr marL="2159996" algn="l" defTabSz="2159996" rtl="0" eaLnBrk="1" latinLnBrk="0" hangingPunct="1">
        <a:defRPr sz="4252" kern="1200">
          <a:solidFill>
            <a:schemeClr val="tx1"/>
          </a:solidFill>
          <a:latin typeface="+mn-lt"/>
          <a:ea typeface="+mn-ea"/>
          <a:cs typeface="+mn-cs"/>
        </a:defRPr>
      </a:lvl3pPr>
      <a:lvl4pPr marL="3239994" algn="l" defTabSz="2159996" rtl="0" eaLnBrk="1" latinLnBrk="0" hangingPunct="1">
        <a:defRPr sz="4252" kern="1200">
          <a:solidFill>
            <a:schemeClr val="tx1"/>
          </a:solidFill>
          <a:latin typeface="+mn-lt"/>
          <a:ea typeface="+mn-ea"/>
          <a:cs typeface="+mn-cs"/>
        </a:defRPr>
      </a:lvl4pPr>
      <a:lvl5pPr marL="4319991" algn="l" defTabSz="2159996" rtl="0" eaLnBrk="1" latinLnBrk="0" hangingPunct="1">
        <a:defRPr sz="4252" kern="1200">
          <a:solidFill>
            <a:schemeClr val="tx1"/>
          </a:solidFill>
          <a:latin typeface="+mn-lt"/>
          <a:ea typeface="+mn-ea"/>
          <a:cs typeface="+mn-cs"/>
        </a:defRPr>
      </a:lvl5pPr>
      <a:lvl6pPr marL="5399989" algn="l" defTabSz="2159996" rtl="0" eaLnBrk="1" latinLnBrk="0" hangingPunct="1">
        <a:defRPr sz="4252" kern="1200">
          <a:solidFill>
            <a:schemeClr val="tx1"/>
          </a:solidFill>
          <a:latin typeface="+mn-lt"/>
          <a:ea typeface="+mn-ea"/>
          <a:cs typeface="+mn-cs"/>
        </a:defRPr>
      </a:lvl6pPr>
      <a:lvl7pPr marL="6479987" algn="l" defTabSz="2159996" rtl="0" eaLnBrk="1" latinLnBrk="0" hangingPunct="1">
        <a:defRPr sz="4252" kern="1200">
          <a:solidFill>
            <a:schemeClr val="tx1"/>
          </a:solidFill>
          <a:latin typeface="+mn-lt"/>
          <a:ea typeface="+mn-ea"/>
          <a:cs typeface="+mn-cs"/>
        </a:defRPr>
      </a:lvl7pPr>
      <a:lvl8pPr marL="7559985" algn="l" defTabSz="2159996" rtl="0" eaLnBrk="1" latinLnBrk="0" hangingPunct="1">
        <a:defRPr sz="4252" kern="1200">
          <a:solidFill>
            <a:schemeClr val="tx1"/>
          </a:solidFill>
          <a:latin typeface="+mn-lt"/>
          <a:ea typeface="+mn-ea"/>
          <a:cs typeface="+mn-cs"/>
        </a:defRPr>
      </a:lvl8pPr>
      <a:lvl9pPr marL="8639983" algn="l" defTabSz="2159996" rtl="0" eaLnBrk="1" latinLnBrk="0" hangingPunct="1">
        <a:defRPr sz="4252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3478109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hteck 24">
            <a:extLst>
              <a:ext uri="{FF2B5EF4-FFF2-40B4-BE49-F238E27FC236}">
                <a16:creationId xmlns:a16="http://schemas.microsoft.com/office/drawing/2014/main" id="{94075D25-CDA8-F234-39C9-86E1C2A49D1B}"/>
              </a:ext>
            </a:extLst>
          </p:cNvPr>
          <p:cNvSpPr/>
          <p:nvPr/>
        </p:nvSpPr>
        <p:spPr>
          <a:xfrm>
            <a:off x="5410063" y="7349418"/>
            <a:ext cx="1676301" cy="1005781"/>
          </a:xfrm>
          <a:prstGeom prst="rect">
            <a:avLst/>
          </a:prstGeom>
          <a:solidFill>
            <a:schemeClr val="accent1">
              <a:alpha val="28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160">
                <a:solidFill>
                  <a:schemeClr val="tx1">
                    <a:lumMod val="75000"/>
                    <a:lumOff val="25000"/>
                  </a:schemeClr>
                </a:solidFill>
              </a:rPr>
              <a:t>mediatorVM</a:t>
            </a:r>
          </a:p>
          <a:p>
            <a:r>
              <a:rPr lang="de-DE" sz="1320">
                <a:solidFill>
                  <a:schemeClr val="tx1">
                    <a:lumMod val="75000"/>
                    <a:lumOff val="25000"/>
                  </a:schemeClr>
                </a:solidFill>
              </a:rPr>
              <a:t>mediatorProcess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57C349C4-9D91-1431-A139-33AEE673A522}"/>
              </a:ext>
            </a:extLst>
          </p:cNvPr>
          <p:cNvSpPr/>
          <p:nvPr/>
        </p:nvSpPr>
        <p:spPr>
          <a:xfrm>
            <a:off x="1519009" y="7349419"/>
            <a:ext cx="1676301" cy="1005781"/>
          </a:xfrm>
          <a:prstGeom prst="rect">
            <a:avLst/>
          </a:prstGeom>
          <a:solidFill>
            <a:schemeClr val="accent1">
              <a:alpha val="28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160">
                <a:solidFill>
                  <a:schemeClr val="tx1">
                    <a:lumMod val="75000"/>
                    <a:lumOff val="25000"/>
                  </a:schemeClr>
                </a:solidFill>
              </a:rPr>
              <a:t>mediatorVM</a:t>
            </a:r>
          </a:p>
          <a:p>
            <a:r>
              <a:rPr lang="de-DE" sz="1320">
                <a:solidFill>
                  <a:schemeClr val="tx1">
                    <a:lumMod val="75000"/>
                    <a:lumOff val="25000"/>
                  </a:schemeClr>
                </a:solidFill>
              </a:rPr>
              <a:t>mediatorProcess</a:t>
            </a:r>
          </a:p>
        </p:txBody>
      </p:sp>
      <p:sp>
        <p:nvSpPr>
          <p:cNvPr id="5" name="Ellipse 4">
            <a:extLst>
              <a:ext uri="{FF2B5EF4-FFF2-40B4-BE49-F238E27FC236}">
                <a16:creationId xmlns:a16="http://schemas.microsoft.com/office/drawing/2014/main" id="{7F6D26E3-0A36-6BB9-CF33-F53D492067FF}"/>
              </a:ext>
            </a:extLst>
          </p:cNvPr>
          <p:cNvSpPr/>
          <p:nvPr/>
        </p:nvSpPr>
        <p:spPr>
          <a:xfrm>
            <a:off x="2937276" y="8032640"/>
            <a:ext cx="284464" cy="264144"/>
          </a:xfrm>
          <a:prstGeom prst="ellipse">
            <a:avLst/>
          </a:prstGeom>
          <a:solidFill>
            <a:schemeClr val="accent1">
              <a:alpha val="28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216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B93278D7-67C4-F0B3-F6BF-FFCCB4978F19}"/>
              </a:ext>
            </a:extLst>
          </p:cNvPr>
          <p:cNvSpPr/>
          <p:nvPr/>
        </p:nvSpPr>
        <p:spPr>
          <a:xfrm>
            <a:off x="1519009" y="5858525"/>
            <a:ext cx="1676301" cy="1005781"/>
          </a:xfrm>
          <a:prstGeom prst="rect">
            <a:avLst/>
          </a:prstGeom>
          <a:solidFill>
            <a:schemeClr val="accent1">
              <a:alpha val="28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160">
                <a:solidFill>
                  <a:schemeClr val="tx1">
                    <a:lumMod val="75000"/>
                    <a:lumOff val="25000"/>
                  </a:schemeClr>
                </a:solidFill>
              </a:rPr>
              <a:t>Controller</a:t>
            </a:r>
          </a:p>
          <a:p>
            <a:pPr algn="ctr"/>
            <a:endParaRPr lang="de-DE" sz="216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r>
              <a:rPr lang="de-DE" sz="1260">
                <a:solidFill>
                  <a:schemeClr val="tx1">
                    <a:lumMod val="75000"/>
                    <a:lumOff val="25000"/>
                  </a:schemeClr>
                </a:solidFill>
              </a:rPr>
              <a:t>mountPoint</a:t>
            </a:r>
          </a:p>
        </p:txBody>
      </p:sp>
      <p:sp>
        <p:nvSpPr>
          <p:cNvPr id="7" name="Ellipse 6">
            <a:extLst>
              <a:ext uri="{FF2B5EF4-FFF2-40B4-BE49-F238E27FC236}">
                <a16:creationId xmlns:a16="http://schemas.microsoft.com/office/drawing/2014/main" id="{2B2D5C2F-E116-89BE-29E4-4B519C2CF449}"/>
              </a:ext>
            </a:extLst>
          </p:cNvPr>
          <p:cNvSpPr/>
          <p:nvPr/>
        </p:nvSpPr>
        <p:spPr>
          <a:xfrm>
            <a:off x="2839730" y="6490948"/>
            <a:ext cx="284464" cy="264144"/>
          </a:xfrm>
          <a:prstGeom prst="ellipse">
            <a:avLst/>
          </a:prstGeom>
          <a:solidFill>
            <a:schemeClr val="accent1">
              <a:alpha val="28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216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8" name="Zylinder 7">
            <a:extLst>
              <a:ext uri="{FF2B5EF4-FFF2-40B4-BE49-F238E27FC236}">
                <a16:creationId xmlns:a16="http://schemas.microsoft.com/office/drawing/2014/main" id="{D161311A-2E17-E871-FE81-80AA99818B20}"/>
              </a:ext>
            </a:extLst>
          </p:cNvPr>
          <p:cNvSpPr/>
          <p:nvPr/>
        </p:nvSpPr>
        <p:spPr>
          <a:xfrm>
            <a:off x="1610441" y="8995244"/>
            <a:ext cx="1493432" cy="497810"/>
          </a:xfrm>
          <a:prstGeom prst="can">
            <a:avLst/>
          </a:prstGeom>
          <a:solidFill>
            <a:schemeClr val="accent1">
              <a:alpha val="28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160">
                <a:solidFill>
                  <a:schemeClr val="tx1">
                    <a:lumMod val="75000"/>
                    <a:lumOff val="25000"/>
                  </a:schemeClr>
                </a:solidFill>
              </a:rPr>
              <a:t>Device</a:t>
            </a:r>
          </a:p>
        </p:txBody>
      </p:sp>
      <p:cxnSp>
        <p:nvCxnSpPr>
          <p:cNvPr id="10" name="Gerade Verbindung mit Pfeil 9">
            <a:extLst>
              <a:ext uri="{FF2B5EF4-FFF2-40B4-BE49-F238E27FC236}">
                <a16:creationId xmlns:a16="http://schemas.microsoft.com/office/drawing/2014/main" id="{CAE96537-E936-312C-60B5-FE43AD1A2FC6}"/>
              </a:ext>
            </a:extLst>
          </p:cNvPr>
          <p:cNvCxnSpPr>
            <a:stCxn id="7" idx="4"/>
            <a:endCxn id="5" idx="0"/>
          </p:cNvCxnSpPr>
          <p:nvPr/>
        </p:nvCxnSpPr>
        <p:spPr>
          <a:xfrm>
            <a:off x="2981962" y="6755090"/>
            <a:ext cx="97546" cy="1277548"/>
          </a:xfrm>
          <a:prstGeom prst="straightConnector1">
            <a:avLst/>
          </a:prstGeom>
          <a:ln>
            <a:tailEnd type="non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11" name="Gerade Verbindung mit Pfeil 10">
            <a:extLst>
              <a:ext uri="{FF2B5EF4-FFF2-40B4-BE49-F238E27FC236}">
                <a16:creationId xmlns:a16="http://schemas.microsoft.com/office/drawing/2014/main" id="{F1800BDA-43AD-0104-65C4-D6CFC3B1562D}"/>
              </a:ext>
            </a:extLst>
          </p:cNvPr>
          <p:cNvCxnSpPr>
            <a:cxnSpLocks/>
            <a:endCxn id="8" idx="1"/>
          </p:cNvCxnSpPr>
          <p:nvPr/>
        </p:nvCxnSpPr>
        <p:spPr>
          <a:xfrm flipH="1">
            <a:off x="2357159" y="8302540"/>
            <a:ext cx="761787" cy="692704"/>
          </a:xfrm>
          <a:prstGeom prst="straightConnector1">
            <a:avLst/>
          </a:prstGeom>
          <a:ln>
            <a:tailEnd type="non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16" name="Rechteck 15">
            <a:extLst>
              <a:ext uri="{FF2B5EF4-FFF2-40B4-BE49-F238E27FC236}">
                <a16:creationId xmlns:a16="http://schemas.microsoft.com/office/drawing/2014/main" id="{3A05DC17-DAE3-78F9-5748-64AE45B31731}"/>
              </a:ext>
            </a:extLst>
          </p:cNvPr>
          <p:cNvSpPr/>
          <p:nvPr/>
        </p:nvSpPr>
        <p:spPr>
          <a:xfrm>
            <a:off x="3434059" y="7349419"/>
            <a:ext cx="1676301" cy="1005781"/>
          </a:xfrm>
          <a:prstGeom prst="rect">
            <a:avLst/>
          </a:prstGeom>
          <a:solidFill>
            <a:schemeClr val="accent1">
              <a:alpha val="28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160">
                <a:solidFill>
                  <a:schemeClr val="tx1">
                    <a:lumMod val="75000"/>
                    <a:lumOff val="25000"/>
                  </a:schemeClr>
                </a:solidFill>
              </a:rPr>
              <a:t>mediatorVM</a:t>
            </a:r>
          </a:p>
          <a:p>
            <a:r>
              <a:rPr lang="de-DE" sz="1320">
                <a:solidFill>
                  <a:schemeClr val="tx1">
                    <a:lumMod val="75000"/>
                    <a:lumOff val="25000"/>
                  </a:schemeClr>
                </a:solidFill>
              </a:rPr>
              <a:t>mediatorProcess</a:t>
            </a:r>
          </a:p>
        </p:txBody>
      </p:sp>
      <p:sp>
        <p:nvSpPr>
          <p:cNvPr id="17" name="Ellipse 16">
            <a:extLst>
              <a:ext uri="{FF2B5EF4-FFF2-40B4-BE49-F238E27FC236}">
                <a16:creationId xmlns:a16="http://schemas.microsoft.com/office/drawing/2014/main" id="{4EF28868-5936-866F-7C3F-0E410A50F686}"/>
              </a:ext>
            </a:extLst>
          </p:cNvPr>
          <p:cNvSpPr/>
          <p:nvPr/>
        </p:nvSpPr>
        <p:spPr>
          <a:xfrm>
            <a:off x="4864442" y="7991462"/>
            <a:ext cx="284464" cy="264144"/>
          </a:xfrm>
          <a:prstGeom prst="ellipse">
            <a:avLst/>
          </a:prstGeom>
          <a:solidFill>
            <a:schemeClr val="accent1">
              <a:alpha val="28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216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id="{E224F990-E855-9514-65F0-543CB1D3B36A}"/>
              </a:ext>
            </a:extLst>
          </p:cNvPr>
          <p:cNvSpPr/>
          <p:nvPr/>
        </p:nvSpPr>
        <p:spPr>
          <a:xfrm>
            <a:off x="3434059" y="5858525"/>
            <a:ext cx="1676301" cy="1005781"/>
          </a:xfrm>
          <a:prstGeom prst="rect">
            <a:avLst/>
          </a:prstGeom>
          <a:solidFill>
            <a:schemeClr val="accent1">
              <a:alpha val="28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160">
                <a:solidFill>
                  <a:schemeClr val="tx1">
                    <a:lumMod val="75000"/>
                    <a:lumOff val="25000"/>
                  </a:schemeClr>
                </a:solidFill>
              </a:rPr>
              <a:t>Controller</a:t>
            </a:r>
          </a:p>
          <a:p>
            <a:pPr algn="ctr"/>
            <a:endParaRPr lang="de-DE" sz="216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r>
              <a:rPr lang="de-DE" sz="1260">
                <a:solidFill>
                  <a:schemeClr val="tx1">
                    <a:lumMod val="75000"/>
                    <a:lumOff val="25000"/>
                  </a:schemeClr>
                </a:solidFill>
              </a:rPr>
              <a:t>mountPoint</a:t>
            </a:r>
          </a:p>
        </p:txBody>
      </p:sp>
      <p:sp>
        <p:nvSpPr>
          <p:cNvPr id="19" name="Ellipse 18">
            <a:extLst>
              <a:ext uri="{FF2B5EF4-FFF2-40B4-BE49-F238E27FC236}">
                <a16:creationId xmlns:a16="http://schemas.microsoft.com/office/drawing/2014/main" id="{352F294C-EC06-861E-F435-8E1EEF0B5924}"/>
              </a:ext>
            </a:extLst>
          </p:cNvPr>
          <p:cNvSpPr/>
          <p:nvPr/>
        </p:nvSpPr>
        <p:spPr>
          <a:xfrm>
            <a:off x="4775100" y="6559819"/>
            <a:ext cx="284464" cy="264144"/>
          </a:xfrm>
          <a:prstGeom prst="ellipse">
            <a:avLst/>
          </a:prstGeom>
          <a:solidFill>
            <a:schemeClr val="accent1">
              <a:alpha val="28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216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20" name="Zylinder 19">
            <a:extLst>
              <a:ext uri="{FF2B5EF4-FFF2-40B4-BE49-F238E27FC236}">
                <a16:creationId xmlns:a16="http://schemas.microsoft.com/office/drawing/2014/main" id="{19AA76ED-7D66-4FA0-0A22-04EE5B4EB5E7}"/>
              </a:ext>
            </a:extLst>
          </p:cNvPr>
          <p:cNvSpPr/>
          <p:nvPr/>
        </p:nvSpPr>
        <p:spPr>
          <a:xfrm>
            <a:off x="4075126" y="9040960"/>
            <a:ext cx="1493432" cy="497810"/>
          </a:xfrm>
          <a:prstGeom prst="can">
            <a:avLst/>
          </a:prstGeom>
          <a:solidFill>
            <a:schemeClr val="accent1">
              <a:alpha val="28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160">
                <a:solidFill>
                  <a:schemeClr val="tx1">
                    <a:lumMod val="75000"/>
                    <a:lumOff val="25000"/>
                  </a:schemeClr>
                </a:solidFill>
              </a:rPr>
              <a:t>Device</a:t>
            </a:r>
          </a:p>
        </p:txBody>
      </p:sp>
      <p:cxnSp>
        <p:nvCxnSpPr>
          <p:cNvPr id="21" name="Gerade Verbindung mit Pfeil 20">
            <a:extLst>
              <a:ext uri="{FF2B5EF4-FFF2-40B4-BE49-F238E27FC236}">
                <a16:creationId xmlns:a16="http://schemas.microsoft.com/office/drawing/2014/main" id="{E28C82D3-6157-62FF-5BC4-2C8D8C11AD9F}"/>
              </a:ext>
            </a:extLst>
          </p:cNvPr>
          <p:cNvCxnSpPr>
            <a:cxnSpLocks/>
            <a:stCxn id="19" idx="4"/>
            <a:endCxn id="17" idx="0"/>
          </p:cNvCxnSpPr>
          <p:nvPr/>
        </p:nvCxnSpPr>
        <p:spPr>
          <a:xfrm>
            <a:off x="4917332" y="6823965"/>
            <a:ext cx="89342" cy="1167499"/>
          </a:xfrm>
          <a:prstGeom prst="straightConnector1">
            <a:avLst/>
          </a:prstGeom>
          <a:ln>
            <a:tailEnd type="non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22" name="Gerade Verbindung mit Pfeil 21">
            <a:extLst>
              <a:ext uri="{FF2B5EF4-FFF2-40B4-BE49-F238E27FC236}">
                <a16:creationId xmlns:a16="http://schemas.microsoft.com/office/drawing/2014/main" id="{B5706053-3CA9-33BC-F1AF-03A1A31229D2}"/>
              </a:ext>
            </a:extLst>
          </p:cNvPr>
          <p:cNvCxnSpPr>
            <a:cxnSpLocks/>
            <a:stCxn id="17" idx="4"/>
            <a:endCxn id="20" idx="1"/>
          </p:cNvCxnSpPr>
          <p:nvPr/>
        </p:nvCxnSpPr>
        <p:spPr>
          <a:xfrm flipH="1">
            <a:off x="4821842" y="8255604"/>
            <a:ext cx="184830" cy="785356"/>
          </a:xfrm>
          <a:prstGeom prst="straightConnector1">
            <a:avLst/>
          </a:prstGeom>
          <a:ln>
            <a:tailEnd type="non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26" name="Ellipse 25">
            <a:extLst>
              <a:ext uri="{FF2B5EF4-FFF2-40B4-BE49-F238E27FC236}">
                <a16:creationId xmlns:a16="http://schemas.microsoft.com/office/drawing/2014/main" id="{B87B4BB5-AC70-B25B-DDF9-EF790103BC1F}"/>
              </a:ext>
            </a:extLst>
          </p:cNvPr>
          <p:cNvSpPr/>
          <p:nvPr/>
        </p:nvSpPr>
        <p:spPr>
          <a:xfrm>
            <a:off x="6816660" y="7991462"/>
            <a:ext cx="284464" cy="264144"/>
          </a:xfrm>
          <a:prstGeom prst="ellipse">
            <a:avLst/>
          </a:prstGeom>
          <a:solidFill>
            <a:schemeClr val="accent1">
              <a:alpha val="28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216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27" name="Gerade Verbindung mit Pfeil 26">
            <a:extLst>
              <a:ext uri="{FF2B5EF4-FFF2-40B4-BE49-F238E27FC236}">
                <a16:creationId xmlns:a16="http://schemas.microsoft.com/office/drawing/2014/main" id="{2042BB0D-49EF-61D5-8DCF-4632CF1E0EC2}"/>
              </a:ext>
            </a:extLst>
          </p:cNvPr>
          <p:cNvCxnSpPr>
            <a:cxnSpLocks/>
            <a:stCxn id="26" idx="4"/>
            <a:endCxn id="20" idx="1"/>
          </p:cNvCxnSpPr>
          <p:nvPr/>
        </p:nvCxnSpPr>
        <p:spPr>
          <a:xfrm flipH="1">
            <a:off x="4821842" y="8255606"/>
            <a:ext cx="2137050" cy="785354"/>
          </a:xfrm>
          <a:prstGeom prst="straightConnector1">
            <a:avLst/>
          </a:prstGeom>
          <a:ln>
            <a:tailEnd type="non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38" name="Rechteck 37">
            <a:extLst>
              <a:ext uri="{FF2B5EF4-FFF2-40B4-BE49-F238E27FC236}">
                <a16:creationId xmlns:a16="http://schemas.microsoft.com/office/drawing/2014/main" id="{E93C0B71-E0BF-D97B-B0EE-B313C364AC2E}"/>
              </a:ext>
            </a:extLst>
          </p:cNvPr>
          <p:cNvSpPr/>
          <p:nvPr/>
        </p:nvSpPr>
        <p:spPr>
          <a:xfrm>
            <a:off x="7330194" y="7349419"/>
            <a:ext cx="1676301" cy="1005781"/>
          </a:xfrm>
          <a:prstGeom prst="rect">
            <a:avLst/>
          </a:prstGeom>
          <a:solidFill>
            <a:schemeClr val="accent1">
              <a:alpha val="28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160">
                <a:solidFill>
                  <a:schemeClr val="tx1">
                    <a:lumMod val="75000"/>
                    <a:lumOff val="25000"/>
                  </a:schemeClr>
                </a:solidFill>
              </a:rPr>
              <a:t>mediatorVM</a:t>
            </a:r>
          </a:p>
          <a:p>
            <a:r>
              <a:rPr lang="de-DE" sz="1320">
                <a:solidFill>
                  <a:schemeClr val="tx1">
                    <a:lumMod val="75000"/>
                    <a:lumOff val="25000"/>
                  </a:schemeClr>
                </a:solidFill>
              </a:rPr>
              <a:t>mediatorProcess</a:t>
            </a:r>
          </a:p>
        </p:txBody>
      </p:sp>
      <p:sp>
        <p:nvSpPr>
          <p:cNvPr id="39" name="Ellipse 38">
            <a:extLst>
              <a:ext uri="{FF2B5EF4-FFF2-40B4-BE49-F238E27FC236}">
                <a16:creationId xmlns:a16="http://schemas.microsoft.com/office/drawing/2014/main" id="{A18DF9C9-1030-8F4C-1A21-64AC0FFBDCD5}"/>
              </a:ext>
            </a:extLst>
          </p:cNvPr>
          <p:cNvSpPr/>
          <p:nvPr/>
        </p:nvSpPr>
        <p:spPr>
          <a:xfrm>
            <a:off x="8724057" y="7952712"/>
            <a:ext cx="284464" cy="264144"/>
          </a:xfrm>
          <a:prstGeom prst="ellipse">
            <a:avLst/>
          </a:prstGeom>
          <a:solidFill>
            <a:schemeClr val="accent1">
              <a:alpha val="28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216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40" name="Rechteck 39">
            <a:extLst>
              <a:ext uri="{FF2B5EF4-FFF2-40B4-BE49-F238E27FC236}">
                <a16:creationId xmlns:a16="http://schemas.microsoft.com/office/drawing/2014/main" id="{AEE19B6F-403D-1598-718B-9BBA177643B9}"/>
              </a:ext>
            </a:extLst>
          </p:cNvPr>
          <p:cNvSpPr/>
          <p:nvPr/>
        </p:nvSpPr>
        <p:spPr>
          <a:xfrm>
            <a:off x="7330194" y="5858525"/>
            <a:ext cx="1676301" cy="1005781"/>
          </a:xfrm>
          <a:prstGeom prst="rect">
            <a:avLst/>
          </a:prstGeom>
          <a:solidFill>
            <a:schemeClr val="accent1">
              <a:alpha val="28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160">
                <a:solidFill>
                  <a:schemeClr val="tx1">
                    <a:lumMod val="75000"/>
                    <a:lumOff val="25000"/>
                  </a:schemeClr>
                </a:solidFill>
              </a:rPr>
              <a:t>Controller</a:t>
            </a:r>
          </a:p>
          <a:p>
            <a:pPr algn="ctr"/>
            <a:endParaRPr lang="de-DE" sz="216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r>
              <a:rPr lang="de-DE" sz="1260">
                <a:solidFill>
                  <a:schemeClr val="tx1">
                    <a:lumMod val="75000"/>
                    <a:lumOff val="25000"/>
                  </a:schemeClr>
                </a:solidFill>
              </a:rPr>
              <a:t>mountPoint</a:t>
            </a:r>
          </a:p>
        </p:txBody>
      </p:sp>
      <p:sp>
        <p:nvSpPr>
          <p:cNvPr id="41" name="Ellipse 40">
            <a:extLst>
              <a:ext uri="{FF2B5EF4-FFF2-40B4-BE49-F238E27FC236}">
                <a16:creationId xmlns:a16="http://schemas.microsoft.com/office/drawing/2014/main" id="{E7C64477-9CE2-C926-A0C1-67AB78210D07}"/>
              </a:ext>
            </a:extLst>
          </p:cNvPr>
          <p:cNvSpPr/>
          <p:nvPr/>
        </p:nvSpPr>
        <p:spPr>
          <a:xfrm>
            <a:off x="8671434" y="6579424"/>
            <a:ext cx="284464" cy="264144"/>
          </a:xfrm>
          <a:prstGeom prst="ellipse">
            <a:avLst/>
          </a:prstGeom>
          <a:solidFill>
            <a:schemeClr val="accent1">
              <a:alpha val="28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216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42" name="Zylinder 41">
            <a:extLst>
              <a:ext uri="{FF2B5EF4-FFF2-40B4-BE49-F238E27FC236}">
                <a16:creationId xmlns:a16="http://schemas.microsoft.com/office/drawing/2014/main" id="{7CFD1A68-A4B8-1784-05D5-10C1CB2E49DD}"/>
              </a:ext>
            </a:extLst>
          </p:cNvPr>
          <p:cNvSpPr/>
          <p:nvPr/>
        </p:nvSpPr>
        <p:spPr>
          <a:xfrm>
            <a:off x="8038363" y="9071437"/>
            <a:ext cx="1493432" cy="497810"/>
          </a:xfrm>
          <a:prstGeom prst="can">
            <a:avLst/>
          </a:prstGeom>
          <a:solidFill>
            <a:schemeClr val="accent1">
              <a:alpha val="28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160">
                <a:solidFill>
                  <a:schemeClr val="tx1">
                    <a:lumMod val="75000"/>
                    <a:lumOff val="25000"/>
                  </a:schemeClr>
                </a:solidFill>
              </a:rPr>
              <a:t>Device</a:t>
            </a:r>
          </a:p>
        </p:txBody>
      </p:sp>
      <p:cxnSp>
        <p:nvCxnSpPr>
          <p:cNvPr id="44" name="Gerade Verbindung mit Pfeil 43">
            <a:extLst>
              <a:ext uri="{FF2B5EF4-FFF2-40B4-BE49-F238E27FC236}">
                <a16:creationId xmlns:a16="http://schemas.microsoft.com/office/drawing/2014/main" id="{413A8BC9-CE02-780A-C1DA-91D909D2FA52}"/>
              </a:ext>
            </a:extLst>
          </p:cNvPr>
          <p:cNvCxnSpPr>
            <a:cxnSpLocks/>
            <a:stCxn id="39" idx="4"/>
            <a:endCxn id="42" idx="1"/>
          </p:cNvCxnSpPr>
          <p:nvPr/>
        </p:nvCxnSpPr>
        <p:spPr>
          <a:xfrm flipH="1">
            <a:off x="8785080" y="8216856"/>
            <a:ext cx="81209" cy="854583"/>
          </a:xfrm>
          <a:prstGeom prst="straightConnector1">
            <a:avLst/>
          </a:prstGeom>
          <a:ln>
            <a:tailEnd type="non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45" name="Rechteck 44">
            <a:extLst>
              <a:ext uri="{FF2B5EF4-FFF2-40B4-BE49-F238E27FC236}">
                <a16:creationId xmlns:a16="http://schemas.microsoft.com/office/drawing/2014/main" id="{DC9D3973-C0FB-B4D9-78CA-126B6555F912}"/>
              </a:ext>
            </a:extLst>
          </p:cNvPr>
          <p:cNvSpPr/>
          <p:nvPr/>
        </p:nvSpPr>
        <p:spPr>
          <a:xfrm>
            <a:off x="9306198" y="7349418"/>
            <a:ext cx="1676301" cy="1005781"/>
          </a:xfrm>
          <a:prstGeom prst="rect">
            <a:avLst/>
          </a:prstGeom>
          <a:solidFill>
            <a:schemeClr val="accent1">
              <a:alpha val="28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160">
                <a:solidFill>
                  <a:schemeClr val="tx1">
                    <a:lumMod val="75000"/>
                    <a:lumOff val="25000"/>
                  </a:schemeClr>
                </a:solidFill>
              </a:rPr>
              <a:t>mediatorVM</a:t>
            </a:r>
          </a:p>
          <a:p>
            <a:r>
              <a:rPr lang="de-DE" sz="1320">
                <a:solidFill>
                  <a:schemeClr val="tx1">
                    <a:lumMod val="75000"/>
                    <a:lumOff val="25000"/>
                  </a:schemeClr>
                </a:solidFill>
              </a:rPr>
              <a:t>mediatorProcess</a:t>
            </a:r>
          </a:p>
        </p:txBody>
      </p:sp>
      <p:sp>
        <p:nvSpPr>
          <p:cNvPr id="46" name="Ellipse 45">
            <a:extLst>
              <a:ext uri="{FF2B5EF4-FFF2-40B4-BE49-F238E27FC236}">
                <a16:creationId xmlns:a16="http://schemas.microsoft.com/office/drawing/2014/main" id="{46DFFB4E-977E-9DC9-A3B7-B6EC25621D5A}"/>
              </a:ext>
            </a:extLst>
          </p:cNvPr>
          <p:cNvSpPr/>
          <p:nvPr/>
        </p:nvSpPr>
        <p:spPr>
          <a:xfrm>
            <a:off x="10718890" y="8091055"/>
            <a:ext cx="284464" cy="264144"/>
          </a:xfrm>
          <a:prstGeom prst="ellipse">
            <a:avLst/>
          </a:prstGeom>
          <a:solidFill>
            <a:schemeClr val="accent1">
              <a:alpha val="28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216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47" name="Gerade Verbindung mit Pfeil 46">
            <a:extLst>
              <a:ext uri="{FF2B5EF4-FFF2-40B4-BE49-F238E27FC236}">
                <a16:creationId xmlns:a16="http://schemas.microsoft.com/office/drawing/2014/main" id="{F062F8D0-B3DD-E184-09B4-16CC109D8EB0}"/>
              </a:ext>
            </a:extLst>
          </p:cNvPr>
          <p:cNvCxnSpPr>
            <a:cxnSpLocks/>
            <a:stCxn id="46" idx="2"/>
            <a:endCxn id="42" idx="1"/>
          </p:cNvCxnSpPr>
          <p:nvPr/>
        </p:nvCxnSpPr>
        <p:spPr>
          <a:xfrm flipH="1">
            <a:off x="8785081" y="8223127"/>
            <a:ext cx="1933811" cy="848310"/>
          </a:xfrm>
          <a:prstGeom prst="straightConnector1">
            <a:avLst/>
          </a:prstGeom>
          <a:ln>
            <a:tailEnd type="non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43" name="Gerade Verbindung mit Pfeil 42">
            <a:extLst>
              <a:ext uri="{FF2B5EF4-FFF2-40B4-BE49-F238E27FC236}">
                <a16:creationId xmlns:a16="http://schemas.microsoft.com/office/drawing/2014/main" id="{3F506CE4-9050-3E1A-7709-FA037DC2D9BA}"/>
              </a:ext>
            </a:extLst>
          </p:cNvPr>
          <p:cNvCxnSpPr>
            <a:cxnSpLocks/>
            <a:stCxn id="41" idx="4"/>
          </p:cNvCxnSpPr>
          <p:nvPr/>
        </p:nvCxnSpPr>
        <p:spPr>
          <a:xfrm>
            <a:off x="8813668" y="6843568"/>
            <a:ext cx="1055917" cy="1147894"/>
          </a:xfrm>
          <a:prstGeom prst="straightConnector1">
            <a:avLst/>
          </a:prstGeom>
          <a:ln>
            <a:tailEnd type="non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73" name="Gerader Verbinder 72">
            <a:extLst>
              <a:ext uri="{FF2B5EF4-FFF2-40B4-BE49-F238E27FC236}">
                <a16:creationId xmlns:a16="http://schemas.microsoft.com/office/drawing/2014/main" id="{18189E7C-C9B6-7EC8-C814-44E1E84D7C4E}"/>
              </a:ext>
            </a:extLst>
          </p:cNvPr>
          <p:cNvCxnSpPr/>
          <p:nvPr/>
        </p:nvCxnSpPr>
        <p:spPr>
          <a:xfrm>
            <a:off x="3322301" y="5097843"/>
            <a:ext cx="0" cy="4898105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Gerader Verbinder 73">
            <a:extLst>
              <a:ext uri="{FF2B5EF4-FFF2-40B4-BE49-F238E27FC236}">
                <a16:creationId xmlns:a16="http://schemas.microsoft.com/office/drawing/2014/main" id="{76985AFB-6F05-C92E-F1A7-C2E049F6C3D0}"/>
              </a:ext>
            </a:extLst>
          </p:cNvPr>
          <p:cNvCxnSpPr/>
          <p:nvPr/>
        </p:nvCxnSpPr>
        <p:spPr>
          <a:xfrm>
            <a:off x="7213359" y="5102926"/>
            <a:ext cx="0" cy="4898105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Textfeld 75">
            <a:extLst>
              <a:ext uri="{FF2B5EF4-FFF2-40B4-BE49-F238E27FC236}">
                <a16:creationId xmlns:a16="http://schemas.microsoft.com/office/drawing/2014/main" id="{189D6A6E-DA6D-0D05-8121-CD49CA608112}"/>
              </a:ext>
            </a:extLst>
          </p:cNvPr>
          <p:cNvSpPr txBox="1"/>
          <p:nvPr/>
        </p:nvSpPr>
        <p:spPr>
          <a:xfrm>
            <a:off x="1519010" y="5080092"/>
            <a:ext cx="868571" cy="4247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160"/>
              <a:t>Sate1</a:t>
            </a:r>
          </a:p>
        </p:txBody>
      </p:sp>
      <p:sp>
        <p:nvSpPr>
          <p:cNvPr id="102" name="Textfeld 101">
            <a:extLst>
              <a:ext uri="{FF2B5EF4-FFF2-40B4-BE49-F238E27FC236}">
                <a16:creationId xmlns:a16="http://schemas.microsoft.com/office/drawing/2014/main" id="{7B2C5807-4978-BFC4-0C9B-52EB3A1BD31F}"/>
              </a:ext>
            </a:extLst>
          </p:cNvPr>
          <p:cNvSpPr txBox="1"/>
          <p:nvPr/>
        </p:nvSpPr>
        <p:spPr>
          <a:xfrm>
            <a:off x="3622008" y="5072470"/>
            <a:ext cx="1013354" cy="4247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160"/>
              <a:t>State 2</a:t>
            </a:r>
          </a:p>
        </p:txBody>
      </p:sp>
      <p:sp>
        <p:nvSpPr>
          <p:cNvPr id="103" name="Textfeld 102">
            <a:extLst>
              <a:ext uri="{FF2B5EF4-FFF2-40B4-BE49-F238E27FC236}">
                <a16:creationId xmlns:a16="http://schemas.microsoft.com/office/drawing/2014/main" id="{9BC017A0-BBF2-3218-075F-C49555D27F7C}"/>
              </a:ext>
            </a:extLst>
          </p:cNvPr>
          <p:cNvSpPr txBox="1"/>
          <p:nvPr/>
        </p:nvSpPr>
        <p:spPr>
          <a:xfrm>
            <a:off x="7462271" y="5082631"/>
            <a:ext cx="420308" cy="4247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160"/>
              <a:t>…</a:t>
            </a:r>
          </a:p>
        </p:txBody>
      </p:sp>
      <p:sp>
        <p:nvSpPr>
          <p:cNvPr id="28" name="Rechteck 27">
            <a:extLst>
              <a:ext uri="{FF2B5EF4-FFF2-40B4-BE49-F238E27FC236}">
                <a16:creationId xmlns:a16="http://schemas.microsoft.com/office/drawing/2014/main" id="{ECFA04D4-8464-CFF4-EF11-00806DD1F0E6}"/>
              </a:ext>
            </a:extLst>
          </p:cNvPr>
          <p:cNvSpPr/>
          <p:nvPr/>
        </p:nvSpPr>
        <p:spPr>
          <a:xfrm>
            <a:off x="11241794" y="7349419"/>
            <a:ext cx="1676301" cy="1005781"/>
          </a:xfrm>
          <a:prstGeom prst="rect">
            <a:avLst/>
          </a:prstGeom>
          <a:solidFill>
            <a:schemeClr val="accent1">
              <a:alpha val="28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160">
                <a:solidFill>
                  <a:schemeClr val="tx1">
                    <a:lumMod val="75000"/>
                    <a:lumOff val="25000"/>
                  </a:schemeClr>
                </a:solidFill>
              </a:rPr>
              <a:t>mediatorVM</a:t>
            </a:r>
          </a:p>
          <a:p>
            <a:r>
              <a:rPr lang="de-DE" sz="1320">
                <a:solidFill>
                  <a:schemeClr val="tx1">
                    <a:lumMod val="75000"/>
                    <a:lumOff val="25000"/>
                  </a:schemeClr>
                </a:solidFill>
              </a:rPr>
              <a:t>mediatorProcess</a:t>
            </a:r>
          </a:p>
        </p:txBody>
      </p:sp>
      <p:sp>
        <p:nvSpPr>
          <p:cNvPr id="29" name="Ellipse 28">
            <a:extLst>
              <a:ext uri="{FF2B5EF4-FFF2-40B4-BE49-F238E27FC236}">
                <a16:creationId xmlns:a16="http://schemas.microsoft.com/office/drawing/2014/main" id="{FA8063DB-0350-14BA-00A7-1A33D8DD68D1}"/>
              </a:ext>
            </a:extLst>
          </p:cNvPr>
          <p:cNvSpPr/>
          <p:nvPr/>
        </p:nvSpPr>
        <p:spPr>
          <a:xfrm>
            <a:off x="12635657" y="7952712"/>
            <a:ext cx="284464" cy="264144"/>
          </a:xfrm>
          <a:prstGeom prst="ellipse">
            <a:avLst/>
          </a:prstGeom>
          <a:solidFill>
            <a:schemeClr val="accent1">
              <a:alpha val="28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216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30" name="Rechteck 29">
            <a:extLst>
              <a:ext uri="{FF2B5EF4-FFF2-40B4-BE49-F238E27FC236}">
                <a16:creationId xmlns:a16="http://schemas.microsoft.com/office/drawing/2014/main" id="{B86B998D-D668-245F-D642-BF661032B272}"/>
              </a:ext>
            </a:extLst>
          </p:cNvPr>
          <p:cNvSpPr/>
          <p:nvPr/>
        </p:nvSpPr>
        <p:spPr>
          <a:xfrm>
            <a:off x="11241794" y="5858525"/>
            <a:ext cx="1676301" cy="1005781"/>
          </a:xfrm>
          <a:prstGeom prst="rect">
            <a:avLst/>
          </a:prstGeom>
          <a:solidFill>
            <a:schemeClr val="accent1">
              <a:alpha val="28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160">
                <a:solidFill>
                  <a:schemeClr val="tx1">
                    <a:lumMod val="75000"/>
                    <a:lumOff val="25000"/>
                  </a:schemeClr>
                </a:solidFill>
              </a:rPr>
              <a:t>Controller</a:t>
            </a:r>
          </a:p>
          <a:p>
            <a:pPr algn="ctr"/>
            <a:endParaRPr lang="de-DE" sz="216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r>
              <a:rPr lang="de-DE" sz="1260">
                <a:solidFill>
                  <a:schemeClr val="tx1">
                    <a:lumMod val="75000"/>
                    <a:lumOff val="25000"/>
                  </a:schemeClr>
                </a:solidFill>
              </a:rPr>
              <a:t>mountPoint</a:t>
            </a:r>
          </a:p>
        </p:txBody>
      </p:sp>
      <p:sp>
        <p:nvSpPr>
          <p:cNvPr id="31" name="Ellipse 30">
            <a:extLst>
              <a:ext uri="{FF2B5EF4-FFF2-40B4-BE49-F238E27FC236}">
                <a16:creationId xmlns:a16="http://schemas.microsoft.com/office/drawing/2014/main" id="{98E40CAA-E109-688B-D101-83643A48623F}"/>
              </a:ext>
            </a:extLst>
          </p:cNvPr>
          <p:cNvSpPr/>
          <p:nvPr/>
        </p:nvSpPr>
        <p:spPr>
          <a:xfrm>
            <a:off x="12583034" y="6579424"/>
            <a:ext cx="284464" cy="264144"/>
          </a:xfrm>
          <a:prstGeom prst="ellipse">
            <a:avLst/>
          </a:prstGeom>
          <a:solidFill>
            <a:schemeClr val="accent1">
              <a:alpha val="28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216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32" name="Zylinder 31">
            <a:extLst>
              <a:ext uri="{FF2B5EF4-FFF2-40B4-BE49-F238E27FC236}">
                <a16:creationId xmlns:a16="http://schemas.microsoft.com/office/drawing/2014/main" id="{08C5657F-733F-CF27-87B6-B4CD926E6DBA}"/>
              </a:ext>
            </a:extLst>
          </p:cNvPr>
          <p:cNvSpPr/>
          <p:nvPr/>
        </p:nvSpPr>
        <p:spPr>
          <a:xfrm>
            <a:off x="11949963" y="9071437"/>
            <a:ext cx="1493432" cy="497810"/>
          </a:xfrm>
          <a:prstGeom prst="can">
            <a:avLst/>
          </a:prstGeom>
          <a:solidFill>
            <a:schemeClr val="accent1">
              <a:alpha val="28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160">
                <a:solidFill>
                  <a:schemeClr val="tx1">
                    <a:lumMod val="75000"/>
                    <a:lumOff val="25000"/>
                  </a:schemeClr>
                </a:solidFill>
              </a:rPr>
              <a:t>Device</a:t>
            </a:r>
          </a:p>
        </p:txBody>
      </p:sp>
      <p:cxnSp>
        <p:nvCxnSpPr>
          <p:cNvPr id="33" name="Gerade Verbindung mit Pfeil 32">
            <a:extLst>
              <a:ext uri="{FF2B5EF4-FFF2-40B4-BE49-F238E27FC236}">
                <a16:creationId xmlns:a16="http://schemas.microsoft.com/office/drawing/2014/main" id="{E18F2D3E-B85D-85A7-6F69-4DEE2599B3F0}"/>
              </a:ext>
            </a:extLst>
          </p:cNvPr>
          <p:cNvCxnSpPr>
            <a:cxnSpLocks/>
            <a:stCxn id="29" idx="4"/>
            <a:endCxn id="32" idx="1"/>
          </p:cNvCxnSpPr>
          <p:nvPr/>
        </p:nvCxnSpPr>
        <p:spPr>
          <a:xfrm flipH="1">
            <a:off x="12696680" y="8216856"/>
            <a:ext cx="81209" cy="854583"/>
          </a:xfrm>
          <a:prstGeom prst="straightConnector1">
            <a:avLst/>
          </a:prstGeom>
          <a:ln>
            <a:tailEnd type="non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34" name="Rechteck 33">
            <a:extLst>
              <a:ext uri="{FF2B5EF4-FFF2-40B4-BE49-F238E27FC236}">
                <a16:creationId xmlns:a16="http://schemas.microsoft.com/office/drawing/2014/main" id="{65927F4D-6693-3B1A-72AA-47667F1B3C6D}"/>
              </a:ext>
            </a:extLst>
          </p:cNvPr>
          <p:cNvSpPr/>
          <p:nvPr/>
        </p:nvSpPr>
        <p:spPr>
          <a:xfrm>
            <a:off x="13217798" y="7349418"/>
            <a:ext cx="1676301" cy="1005781"/>
          </a:xfrm>
          <a:prstGeom prst="rect">
            <a:avLst/>
          </a:prstGeom>
          <a:solidFill>
            <a:schemeClr val="accent1">
              <a:alpha val="28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160">
                <a:solidFill>
                  <a:schemeClr val="tx1">
                    <a:lumMod val="75000"/>
                    <a:lumOff val="25000"/>
                  </a:schemeClr>
                </a:solidFill>
              </a:rPr>
              <a:t>mediatorVM</a:t>
            </a:r>
          </a:p>
          <a:p>
            <a:r>
              <a:rPr lang="de-DE" sz="1320">
                <a:solidFill>
                  <a:schemeClr val="tx1">
                    <a:lumMod val="75000"/>
                    <a:lumOff val="25000"/>
                  </a:schemeClr>
                </a:solidFill>
              </a:rPr>
              <a:t>mediatorProcess</a:t>
            </a:r>
          </a:p>
        </p:txBody>
      </p:sp>
      <p:sp>
        <p:nvSpPr>
          <p:cNvPr id="35" name="Ellipse 34">
            <a:extLst>
              <a:ext uri="{FF2B5EF4-FFF2-40B4-BE49-F238E27FC236}">
                <a16:creationId xmlns:a16="http://schemas.microsoft.com/office/drawing/2014/main" id="{CD45C68A-5907-B2C9-7E47-D80D1AF79BA0}"/>
              </a:ext>
            </a:extLst>
          </p:cNvPr>
          <p:cNvSpPr/>
          <p:nvPr/>
        </p:nvSpPr>
        <p:spPr>
          <a:xfrm>
            <a:off x="14630490" y="8091055"/>
            <a:ext cx="284464" cy="264144"/>
          </a:xfrm>
          <a:prstGeom prst="ellipse">
            <a:avLst/>
          </a:prstGeom>
          <a:solidFill>
            <a:schemeClr val="accent1">
              <a:alpha val="28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216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36" name="Gerade Verbindung mit Pfeil 35">
            <a:extLst>
              <a:ext uri="{FF2B5EF4-FFF2-40B4-BE49-F238E27FC236}">
                <a16:creationId xmlns:a16="http://schemas.microsoft.com/office/drawing/2014/main" id="{5AC32AE9-C35E-662B-CE04-AF25FE7E44AF}"/>
              </a:ext>
            </a:extLst>
          </p:cNvPr>
          <p:cNvCxnSpPr>
            <a:cxnSpLocks/>
            <a:stCxn id="35" idx="2"/>
            <a:endCxn id="32" idx="1"/>
          </p:cNvCxnSpPr>
          <p:nvPr/>
        </p:nvCxnSpPr>
        <p:spPr>
          <a:xfrm flipH="1">
            <a:off x="12696681" y="8223127"/>
            <a:ext cx="1933811" cy="848310"/>
          </a:xfrm>
          <a:prstGeom prst="straightConnector1">
            <a:avLst/>
          </a:prstGeom>
          <a:ln>
            <a:tailEnd type="non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37" name="Gerade Verbindung mit Pfeil 36">
            <a:extLst>
              <a:ext uri="{FF2B5EF4-FFF2-40B4-BE49-F238E27FC236}">
                <a16:creationId xmlns:a16="http://schemas.microsoft.com/office/drawing/2014/main" id="{77F51B4D-B23E-98A7-A78C-E7FE1E615931}"/>
              </a:ext>
            </a:extLst>
          </p:cNvPr>
          <p:cNvCxnSpPr>
            <a:cxnSpLocks/>
            <a:stCxn id="31" idx="4"/>
            <a:endCxn id="35" idx="1"/>
          </p:cNvCxnSpPr>
          <p:nvPr/>
        </p:nvCxnSpPr>
        <p:spPr>
          <a:xfrm>
            <a:off x="12725268" y="6843568"/>
            <a:ext cx="1946883" cy="1286170"/>
          </a:xfrm>
          <a:prstGeom prst="straightConnector1">
            <a:avLst/>
          </a:prstGeom>
          <a:ln>
            <a:tailEnd type="non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48" name="Rechteck 47">
            <a:extLst>
              <a:ext uri="{FF2B5EF4-FFF2-40B4-BE49-F238E27FC236}">
                <a16:creationId xmlns:a16="http://schemas.microsoft.com/office/drawing/2014/main" id="{3FB701FB-6985-6C08-2EF4-B83C5A03B45F}"/>
              </a:ext>
            </a:extLst>
          </p:cNvPr>
          <p:cNvSpPr/>
          <p:nvPr/>
        </p:nvSpPr>
        <p:spPr>
          <a:xfrm>
            <a:off x="15087133" y="7349419"/>
            <a:ext cx="1676301" cy="1005781"/>
          </a:xfrm>
          <a:prstGeom prst="rect">
            <a:avLst/>
          </a:prstGeom>
          <a:solidFill>
            <a:schemeClr val="accent1">
              <a:alpha val="28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160">
                <a:solidFill>
                  <a:schemeClr val="tx1">
                    <a:lumMod val="75000"/>
                    <a:lumOff val="25000"/>
                  </a:schemeClr>
                </a:solidFill>
              </a:rPr>
              <a:t>mediatorVM</a:t>
            </a:r>
          </a:p>
          <a:p>
            <a:endParaRPr lang="de-DE" sz="132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50" name="Rechteck 49">
            <a:extLst>
              <a:ext uri="{FF2B5EF4-FFF2-40B4-BE49-F238E27FC236}">
                <a16:creationId xmlns:a16="http://schemas.microsoft.com/office/drawing/2014/main" id="{0F1571F3-7F52-8FC2-83B8-7F3582351EFE}"/>
              </a:ext>
            </a:extLst>
          </p:cNvPr>
          <p:cNvSpPr/>
          <p:nvPr/>
        </p:nvSpPr>
        <p:spPr>
          <a:xfrm>
            <a:off x="15087133" y="5858525"/>
            <a:ext cx="1676301" cy="1005781"/>
          </a:xfrm>
          <a:prstGeom prst="rect">
            <a:avLst/>
          </a:prstGeom>
          <a:solidFill>
            <a:schemeClr val="accent1">
              <a:alpha val="28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160">
                <a:solidFill>
                  <a:schemeClr val="tx1">
                    <a:lumMod val="75000"/>
                    <a:lumOff val="25000"/>
                  </a:schemeClr>
                </a:solidFill>
              </a:rPr>
              <a:t>Controller</a:t>
            </a:r>
          </a:p>
          <a:p>
            <a:pPr algn="ctr"/>
            <a:endParaRPr lang="de-DE" sz="216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r>
              <a:rPr lang="de-DE" sz="1260">
                <a:solidFill>
                  <a:schemeClr val="tx1">
                    <a:lumMod val="75000"/>
                    <a:lumOff val="25000"/>
                  </a:schemeClr>
                </a:solidFill>
              </a:rPr>
              <a:t>mountPoint</a:t>
            </a:r>
          </a:p>
        </p:txBody>
      </p:sp>
      <p:sp>
        <p:nvSpPr>
          <p:cNvPr id="54" name="Ellipse 53">
            <a:extLst>
              <a:ext uri="{FF2B5EF4-FFF2-40B4-BE49-F238E27FC236}">
                <a16:creationId xmlns:a16="http://schemas.microsoft.com/office/drawing/2014/main" id="{B4F67C50-22D3-3DD0-1B70-E21AA58E383E}"/>
              </a:ext>
            </a:extLst>
          </p:cNvPr>
          <p:cNvSpPr/>
          <p:nvPr/>
        </p:nvSpPr>
        <p:spPr>
          <a:xfrm>
            <a:off x="16397696" y="6531584"/>
            <a:ext cx="284464" cy="264144"/>
          </a:xfrm>
          <a:prstGeom prst="ellipse">
            <a:avLst/>
          </a:prstGeom>
          <a:solidFill>
            <a:schemeClr val="accent1">
              <a:alpha val="28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216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59" name="Zylinder 58">
            <a:extLst>
              <a:ext uri="{FF2B5EF4-FFF2-40B4-BE49-F238E27FC236}">
                <a16:creationId xmlns:a16="http://schemas.microsoft.com/office/drawing/2014/main" id="{296D4B84-45FB-F326-0011-A9722BE5F162}"/>
              </a:ext>
            </a:extLst>
          </p:cNvPr>
          <p:cNvSpPr/>
          <p:nvPr/>
        </p:nvSpPr>
        <p:spPr>
          <a:xfrm>
            <a:off x="15762734" y="9040960"/>
            <a:ext cx="1493432" cy="497810"/>
          </a:xfrm>
          <a:prstGeom prst="can">
            <a:avLst/>
          </a:prstGeom>
          <a:solidFill>
            <a:schemeClr val="accent1">
              <a:alpha val="28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160">
                <a:solidFill>
                  <a:schemeClr val="tx1">
                    <a:lumMod val="75000"/>
                    <a:lumOff val="25000"/>
                  </a:schemeClr>
                </a:solidFill>
              </a:rPr>
              <a:t>Device</a:t>
            </a:r>
          </a:p>
        </p:txBody>
      </p:sp>
      <p:sp>
        <p:nvSpPr>
          <p:cNvPr id="60" name="Rechteck 59">
            <a:extLst>
              <a:ext uri="{FF2B5EF4-FFF2-40B4-BE49-F238E27FC236}">
                <a16:creationId xmlns:a16="http://schemas.microsoft.com/office/drawing/2014/main" id="{6B8D4334-24BE-63F6-0351-BBC1E4026722}"/>
              </a:ext>
            </a:extLst>
          </p:cNvPr>
          <p:cNvSpPr/>
          <p:nvPr/>
        </p:nvSpPr>
        <p:spPr>
          <a:xfrm>
            <a:off x="17063138" y="7349418"/>
            <a:ext cx="1676301" cy="1005781"/>
          </a:xfrm>
          <a:prstGeom prst="rect">
            <a:avLst/>
          </a:prstGeom>
          <a:solidFill>
            <a:schemeClr val="accent1">
              <a:alpha val="28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160">
                <a:solidFill>
                  <a:schemeClr val="tx1">
                    <a:lumMod val="75000"/>
                    <a:lumOff val="25000"/>
                  </a:schemeClr>
                </a:solidFill>
              </a:rPr>
              <a:t>mediatorVM</a:t>
            </a:r>
          </a:p>
          <a:p>
            <a:r>
              <a:rPr lang="de-DE" sz="1320">
                <a:solidFill>
                  <a:schemeClr val="tx1">
                    <a:lumMod val="75000"/>
                    <a:lumOff val="25000"/>
                  </a:schemeClr>
                </a:solidFill>
              </a:rPr>
              <a:t>mediatorProcess</a:t>
            </a:r>
          </a:p>
        </p:txBody>
      </p:sp>
      <p:sp>
        <p:nvSpPr>
          <p:cNvPr id="61" name="Ellipse 60">
            <a:extLst>
              <a:ext uri="{FF2B5EF4-FFF2-40B4-BE49-F238E27FC236}">
                <a16:creationId xmlns:a16="http://schemas.microsoft.com/office/drawing/2014/main" id="{9575412C-609D-E06C-40F6-04AAE4BABA67}"/>
              </a:ext>
            </a:extLst>
          </p:cNvPr>
          <p:cNvSpPr/>
          <p:nvPr/>
        </p:nvSpPr>
        <p:spPr>
          <a:xfrm>
            <a:off x="18427495" y="8061948"/>
            <a:ext cx="284464" cy="264144"/>
          </a:xfrm>
          <a:prstGeom prst="ellipse">
            <a:avLst/>
          </a:prstGeom>
          <a:solidFill>
            <a:schemeClr val="accent1">
              <a:alpha val="28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216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62" name="Gerade Verbindung mit Pfeil 61">
            <a:extLst>
              <a:ext uri="{FF2B5EF4-FFF2-40B4-BE49-F238E27FC236}">
                <a16:creationId xmlns:a16="http://schemas.microsoft.com/office/drawing/2014/main" id="{0FA22D83-E249-D68C-C407-44DE9F9DEDB5}"/>
              </a:ext>
            </a:extLst>
          </p:cNvPr>
          <p:cNvCxnSpPr>
            <a:cxnSpLocks/>
            <a:stCxn id="61" idx="2"/>
            <a:endCxn id="59" idx="1"/>
          </p:cNvCxnSpPr>
          <p:nvPr/>
        </p:nvCxnSpPr>
        <p:spPr>
          <a:xfrm flipH="1">
            <a:off x="16509452" y="8194020"/>
            <a:ext cx="1918045" cy="846940"/>
          </a:xfrm>
          <a:prstGeom prst="straightConnector1">
            <a:avLst/>
          </a:prstGeom>
          <a:ln>
            <a:tailEnd type="non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63" name="Gerade Verbindung mit Pfeil 62">
            <a:extLst>
              <a:ext uri="{FF2B5EF4-FFF2-40B4-BE49-F238E27FC236}">
                <a16:creationId xmlns:a16="http://schemas.microsoft.com/office/drawing/2014/main" id="{49B3D795-1BD8-E0FC-B7B9-0E6BAC54303F}"/>
              </a:ext>
            </a:extLst>
          </p:cNvPr>
          <p:cNvCxnSpPr>
            <a:cxnSpLocks/>
            <a:stCxn id="54" idx="4"/>
            <a:endCxn id="61" idx="1"/>
          </p:cNvCxnSpPr>
          <p:nvPr/>
        </p:nvCxnSpPr>
        <p:spPr>
          <a:xfrm>
            <a:off x="16539928" y="6795730"/>
            <a:ext cx="1929226" cy="1304903"/>
          </a:xfrm>
          <a:prstGeom prst="straightConnector1">
            <a:avLst/>
          </a:prstGeom>
          <a:ln>
            <a:tailEnd type="non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64" name="Gerader Verbinder 63">
            <a:extLst>
              <a:ext uri="{FF2B5EF4-FFF2-40B4-BE49-F238E27FC236}">
                <a16:creationId xmlns:a16="http://schemas.microsoft.com/office/drawing/2014/main" id="{DBBE4409-667C-9E2E-3880-75471AAEDFE4}"/>
              </a:ext>
            </a:extLst>
          </p:cNvPr>
          <p:cNvCxnSpPr/>
          <p:nvPr/>
        </p:nvCxnSpPr>
        <p:spPr>
          <a:xfrm>
            <a:off x="11124959" y="5102926"/>
            <a:ext cx="0" cy="4898105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Gerader Verbinder 64">
            <a:extLst>
              <a:ext uri="{FF2B5EF4-FFF2-40B4-BE49-F238E27FC236}">
                <a16:creationId xmlns:a16="http://schemas.microsoft.com/office/drawing/2014/main" id="{7870ED2E-2366-F9BF-70EC-96AA5E0DCEF9}"/>
              </a:ext>
            </a:extLst>
          </p:cNvPr>
          <p:cNvCxnSpPr/>
          <p:nvPr/>
        </p:nvCxnSpPr>
        <p:spPr>
          <a:xfrm>
            <a:off x="14985532" y="5108001"/>
            <a:ext cx="0" cy="4898105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Textfeld 65">
            <a:extLst>
              <a:ext uri="{FF2B5EF4-FFF2-40B4-BE49-F238E27FC236}">
                <a16:creationId xmlns:a16="http://schemas.microsoft.com/office/drawing/2014/main" id="{B760A0B0-C77F-4115-9648-6048E0863E44}"/>
              </a:ext>
            </a:extLst>
          </p:cNvPr>
          <p:cNvSpPr txBox="1"/>
          <p:nvPr/>
        </p:nvSpPr>
        <p:spPr>
          <a:xfrm>
            <a:off x="11373871" y="5082631"/>
            <a:ext cx="1013354" cy="4247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160"/>
              <a:t>State 3</a:t>
            </a:r>
          </a:p>
        </p:txBody>
      </p:sp>
      <p:sp>
        <p:nvSpPr>
          <p:cNvPr id="67" name="Textfeld 66">
            <a:extLst>
              <a:ext uri="{FF2B5EF4-FFF2-40B4-BE49-F238E27FC236}">
                <a16:creationId xmlns:a16="http://schemas.microsoft.com/office/drawing/2014/main" id="{B0048E22-0A2D-74E6-3D21-0181016AD3B6}"/>
              </a:ext>
            </a:extLst>
          </p:cNvPr>
          <p:cNvSpPr txBox="1"/>
          <p:nvPr/>
        </p:nvSpPr>
        <p:spPr>
          <a:xfrm>
            <a:off x="15261348" y="5072470"/>
            <a:ext cx="1013354" cy="4247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160"/>
              <a:t>State 4</a:t>
            </a:r>
          </a:p>
        </p:txBody>
      </p:sp>
      <p:sp>
        <p:nvSpPr>
          <p:cNvPr id="69" name="Pfeil: nach oben 68">
            <a:extLst>
              <a:ext uri="{FF2B5EF4-FFF2-40B4-BE49-F238E27FC236}">
                <a16:creationId xmlns:a16="http://schemas.microsoft.com/office/drawing/2014/main" id="{8E659198-4832-FABD-6FC4-4C5B4FCBADCD}"/>
              </a:ext>
            </a:extLst>
          </p:cNvPr>
          <p:cNvSpPr/>
          <p:nvPr/>
        </p:nvSpPr>
        <p:spPr>
          <a:xfrm>
            <a:off x="8480229" y="5142286"/>
            <a:ext cx="326297" cy="695503"/>
          </a:xfrm>
          <a:prstGeom prst="upArrow">
            <a:avLst/>
          </a:prstGeom>
          <a:ln/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sp>
        <p:nvSpPr>
          <p:cNvPr id="70" name="Textfeld 69">
            <a:extLst>
              <a:ext uri="{FF2B5EF4-FFF2-40B4-BE49-F238E27FC236}">
                <a16:creationId xmlns:a16="http://schemas.microsoft.com/office/drawing/2014/main" id="{CB18D3D7-84D4-4E6E-CA57-BA4CC28D4132}"/>
              </a:ext>
            </a:extLst>
          </p:cNvPr>
          <p:cNvSpPr txBox="1"/>
          <p:nvPr/>
        </p:nvSpPr>
        <p:spPr>
          <a:xfrm>
            <a:off x="8742098" y="5277669"/>
            <a:ext cx="1586460" cy="4247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160"/>
              <a:t>Notification</a:t>
            </a:r>
          </a:p>
        </p:txBody>
      </p:sp>
      <p:sp>
        <p:nvSpPr>
          <p:cNvPr id="71" name="Gewitterblitz 70">
            <a:extLst>
              <a:ext uri="{FF2B5EF4-FFF2-40B4-BE49-F238E27FC236}">
                <a16:creationId xmlns:a16="http://schemas.microsoft.com/office/drawing/2014/main" id="{A357F203-11EC-F0F7-7992-A76C6B4D1C1F}"/>
              </a:ext>
            </a:extLst>
          </p:cNvPr>
          <p:cNvSpPr/>
          <p:nvPr/>
        </p:nvSpPr>
        <p:spPr>
          <a:xfrm>
            <a:off x="7967824" y="5417477"/>
            <a:ext cx="585738" cy="778431"/>
          </a:xfrm>
          <a:prstGeom prst="lightningBolt">
            <a:avLst/>
          </a:prstGeom>
          <a:solidFill>
            <a:srgbClr val="FFFF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00" b="1">
              <a:ln w="22225">
                <a:solidFill>
                  <a:schemeClr val="accent2"/>
                </a:solidFill>
                <a:prstDash val="solid"/>
              </a:ln>
              <a:solidFill>
                <a:schemeClr val="accent2">
                  <a:lumMod val="40000"/>
                  <a:lumOff val="6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4108355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Ellipse 26">
            <a:extLst>
              <a:ext uri="{FF2B5EF4-FFF2-40B4-BE49-F238E27FC236}">
                <a16:creationId xmlns:a16="http://schemas.microsoft.com/office/drawing/2014/main" id="{15DF8775-8456-3A39-C387-9A6912D056E9}"/>
              </a:ext>
            </a:extLst>
          </p:cNvPr>
          <p:cNvSpPr/>
          <p:nvPr/>
        </p:nvSpPr>
        <p:spPr>
          <a:xfrm>
            <a:off x="1867250" y="7437195"/>
            <a:ext cx="3902904" cy="1380008"/>
          </a:xfrm>
          <a:prstGeom prst="ellipse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160"/>
              <a:t>RCM</a:t>
            </a:r>
          </a:p>
        </p:txBody>
      </p:sp>
      <p:sp>
        <p:nvSpPr>
          <p:cNvPr id="16" name="Ellipse 15">
            <a:extLst>
              <a:ext uri="{FF2B5EF4-FFF2-40B4-BE49-F238E27FC236}">
                <a16:creationId xmlns:a16="http://schemas.microsoft.com/office/drawing/2014/main" id="{A1DB8D6E-402C-EB8D-8333-321294923059}"/>
              </a:ext>
            </a:extLst>
          </p:cNvPr>
          <p:cNvSpPr/>
          <p:nvPr/>
        </p:nvSpPr>
        <p:spPr>
          <a:xfrm>
            <a:off x="5770154" y="7437200"/>
            <a:ext cx="4388644" cy="1380004"/>
          </a:xfrm>
          <a:prstGeom prst="ellipse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160"/>
              <a:t>NCM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6AD05EB0-1C43-D322-A732-261066A2DF0F}"/>
              </a:ext>
            </a:extLst>
          </p:cNvPr>
          <p:cNvSpPr/>
          <p:nvPr/>
        </p:nvSpPr>
        <p:spPr>
          <a:xfrm>
            <a:off x="13291865" y="5887531"/>
            <a:ext cx="1255576" cy="45246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Device</a:t>
            </a:r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D93D79AF-9840-B4AF-DF86-97495DC7E728}"/>
              </a:ext>
            </a:extLst>
          </p:cNvPr>
          <p:cNvSpPr/>
          <p:nvPr/>
        </p:nvSpPr>
        <p:spPr>
          <a:xfrm>
            <a:off x="8903223" y="5887531"/>
            <a:ext cx="1255576" cy="452460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Mediator</a:t>
            </a: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BEA288BE-768B-B7C7-C6FD-32DC2F9FB279}"/>
              </a:ext>
            </a:extLst>
          </p:cNvPr>
          <p:cNvSpPr/>
          <p:nvPr/>
        </p:nvSpPr>
        <p:spPr>
          <a:xfrm>
            <a:off x="4514580" y="5887531"/>
            <a:ext cx="1255576" cy="452460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Controller</a:t>
            </a:r>
          </a:p>
        </p:txBody>
      </p:sp>
      <p:sp>
        <p:nvSpPr>
          <p:cNvPr id="15" name="Ellipse 14">
            <a:extLst>
              <a:ext uri="{FF2B5EF4-FFF2-40B4-BE49-F238E27FC236}">
                <a16:creationId xmlns:a16="http://schemas.microsoft.com/office/drawing/2014/main" id="{24C9DB80-0CD6-A6AD-430E-B7FE5BE7CF10}"/>
              </a:ext>
            </a:extLst>
          </p:cNvPr>
          <p:cNvSpPr/>
          <p:nvPr/>
        </p:nvSpPr>
        <p:spPr>
          <a:xfrm>
            <a:off x="10158798" y="7437205"/>
            <a:ext cx="4388644" cy="1380004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160"/>
              <a:t>SCM</a:t>
            </a:r>
          </a:p>
        </p:txBody>
      </p:sp>
      <p:cxnSp>
        <p:nvCxnSpPr>
          <p:cNvPr id="20" name="Gerader Verbinder 19">
            <a:extLst>
              <a:ext uri="{FF2B5EF4-FFF2-40B4-BE49-F238E27FC236}">
                <a16:creationId xmlns:a16="http://schemas.microsoft.com/office/drawing/2014/main" id="{F9CD254C-5DC3-5E2F-29F4-F6DDF5F28423}"/>
              </a:ext>
            </a:extLst>
          </p:cNvPr>
          <p:cNvCxnSpPr>
            <a:stCxn id="12" idx="3"/>
            <a:endCxn id="11" idx="1"/>
          </p:cNvCxnSpPr>
          <p:nvPr/>
        </p:nvCxnSpPr>
        <p:spPr>
          <a:xfrm>
            <a:off x="5770156" y="6113761"/>
            <a:ext cx="3133066" cy="0"/>
          </a:xfrm>
          <a:prstGeom prst="line">
            <a:avLst/>
          </a:prstGeom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</p:cxnSp>
      <p:cxnSp>
        <p:nvCxnSpPr>
          <p:cNvPr id="24" name="Gerader Verbinder 23">
            <a:extLst>
              <a:ext uri="{FF2B5EF4-FFF2-40B4-BE49-F238E27FC236}">
                <a16:creationId xmlns:a16="http://schemas.microsoft.com/office/drawing/2014/main" id="{B9345A38-7290-FBD7-F3A7-C9F883A43FFC}"/>
              </a:ext>
            </a:extLst>
          </p:cNvPr>
          <p:cNvCxnSpPr>
            <a:stCxn id="11" idx="3"/>
            <a:endCxn id="7" idx="1"/>
          </p:cNvCxnSpPr>
          <p:nvPr/>
        </p:nvCxnSpPr>
        <p:spPr>
          <a:xfrm>
            <a:off x="10158798" y="6113761"/>
            <a:ext cx="313306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hteck 28">
            <a:extLst>
              <a:ext uri="{FF2B5EF4-FFF2-40B4-BE49-F238E27FC236}">
                <a16:creationId xmlns:a16="http://schemas.microsoft.com/office/drawing/2014/main" id="{583442E4-EFB5-9008-7E1D-1468FAE5EA69}"/>
              </a:ext>
            </a:extLst>
          </p:cNvPr>
          <p:cNvSpPr/>
          <p:nvPr/>
        </p:nvSpPr>
        <p:spPr>
          <a:xfrm>
            <a:off x="611675" y="5887531"/>
            <a:ext cx="1255576" cy="452460"/>
          </a:xfrm>
          <a:prstGeom prst="rect">
            <a:avLst/>
          </a:prstGeom>
          <a:solidFill>
            <a:schemeClr val="bg1">
              <a:lumMod val="50000"/>
            </a:schemeClr>
          </a:solidFill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MWDI</a:t>
            </a:r>
          </a:p>
        </p:txBody>
      </p:sp>
      <p:cxnSp>
        <p:nvCxnSpPr>
          <p:cNvPr id="31" name="Gerader Verbinder 30">
            <a:extLst>
              <a:ext uri="{FF2B5EF4-FFF2-40B4-BE49-F238E27FC236}">
                <a16:creationId xmlns:a16="http://schemas.microsoft.com/office/drawing/2014/main" id="{C3641E5C-EF3C-B0EE-624D-188F5F10047A}"/>
              </a:ext>
            </a:extLst>
          </p:cNvPr>
          <p:cNvCxnSpPr>
            <a:cxnSpLocks/>
            <a:stCxn id="29" idx="3"/>
            <a:endCxn id="12" idx="1"/>
          </p:cNvCxnSpPr>
          <p:nvPr/>
        </p:nvCxnSpPr>
        <p:spPr>
          <a:xfrm>
            <a:off x="1867253" y="6113761"/>
            <a:ext cx="2647329" cy="0"/>
          </a:xfrm>
          <a:prstGeom prst="line">
            <a:avLst/>
          </a:prstGeom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sp>
        <p:nvSpPr>
          <p:cNvPr id="3" name="Rechteck 2">
            <a:extLst>
              <a:ext uri="{FF2B5EF4-FFF2-40B4-BE49-F238E27FC236}">
                <a16:creationId xmlns:a16="http://schemas.microsoft.com/office/drawing/2014/main" id="{294E5044-37A3-930B-5093-B91957397826}"/>
              </a:ext>
            </a:extLst>
          </p:cNvPr>
          <p:cNvSpPr/>
          <p:nvPr/>
        </p:nvSpPr>
        <p:spPr>
          <a:xfrm>
            <a:off x="3360697" y="4962817"/>
            <a:ext cx="1255576" cy="452460"/>
          </a:xfrm>
          <a:prstGeom prst="rect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ALT</a:t>
            </a:r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87FDBE0D-9BAE-71BB-0399-953CABAEAA46}"/>
              </a:ext>
            </a:extLst>
          </p:cNvPr>
          <p:cNvCxnSpPr>
            <a:cxnSpLocks/>
            <a:stCxn id="8" idx="3"/>
            <a:endCxn id="10" idx="1"/>
          </p:cNvCxnSpPr>
          <p:nvPr/>
        </p:nvCxnSpPr>
        <p:spPr>
          <a:xfrm>
            <a:off x="1867251" y="4592361"/>
            <a:ext cx="11424615" cy="0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8" name="Rechteck 7">
            <a:extLst>
              <a:ext uri="{FF2B5EF4-FFF2-40B4-BE49-F238E27FC236}">
                <a16:creationId xmlns:a16="http://schemas.microsoft.com/office/drawing/2014/main" id="{109D0C59-D120-76CC-3E13-2E8B044E2645}"/>
              </a:ext>
            </a:extLst>
          </p:cNvPr>
          <p:cNvSpPr/>
          <p:nvPr/>
        </p:nvSpPr>
        <p:spPr>
          <a:xfrm>
            <a:off x="611674" y="4366131"/>
            <a:ext cx="1255576" cy="452460"/>
          </a:xfrm>
          <a:prstGeom prst="rect">
            <a:avLst/>
          </a:prstGeom>
          <a:solidFill>
            <a:schemeClr val="bg1">
              <a:lumMod val="50000"/>
            </a:schemeClr>
          </a:solidFill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MWDI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F4216C26-482B-3A23-53D0-0AC91F2E3317}"/>
              </a:ext>
            </a:extLst>
          </p:cNvPr>
          <p:cNvSpPr/>
          <p:nvPr/>
        </p:nvSpPr>
        <p:spPr>
          <a:xfrm>
            <a:off x="13291865" y="4366131"/>
            <a:ext cx="1255576" cy="45246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Device</a:t>
            </a:r>
          </a:p>
        </p:txBody>
      </p:sp>
      <p:sp>
        <p:nvSpPr>
          <p:cNvPr id="47" name="Pfeil: nach unten 46">
            <a:extLst>
              <a:ext uri="{FF2B5EF4-FFF2-40B4-BE49-F238E27FC236}">
                <a16:creationId xmlns:a16="http://schemas.microsoft.com/office/drawing/2014/main" id="{9D742086-4DBE-B082-B3CE-0288C173FD75}"/>
              </a:ext>
            </a:extLst>
          </p:cNvPr>
          <p:cNvSpPr/>
          <p:nvPr/>
        </p:nvSpPr>
        <p:spPr>
          <a:xfrm rot="3827547">
            <a:off x="2416758" y="4950819"/>
            <a:ext cx="271476" cy="1289509"/>
          </a:xfrm>
          <a:prstGeom prst="downArrow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40"/>
          </a:p>
        </p:txBody>
      </p:sp>
      <p:sp>
        <p:nvSpPr>
          <p:cNvPr id="48" name="Pfeil: nach unten 47">
            <a:extLst>
              <a:ext uri="{FF2B5EF4-FFF2-40B4-BE49-F238E27FC236}">
                <a16:creationId xmlns:a16="http://schemas.microsoft.com/office/drawing/2014/main" id="{4EBDD885-493F-898D-D26C-99811B575D4C}"/>
              </a:ext>
            </a:extLst>
          </p:cNvPr>
          <p:cNvSpPr/>
          <p:nvPr/>
        </p:nvSpPr>
        <p:spPr>
          <a:xfrm rot="7559866">
            <a:off x="4891723" y="5388268"/>
            <a:ext cx="271476" cy="414609"/>
          </a:xfrm>
          <a:prstGeom prst="downArrow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2160"/>
          </a:p>
        </p:txBody>
      </p:sp>
      <p:sp>
        <p:nvSpPr>
          <p:cNvPr id="49" name="Pfeil: nach unten 48">
            <a:extLst>
              <a:ext uri="{FF2B5EF4-FFF2-40B4-BE49-F238E27FC236}">
                <a16:creationId xmlns:a16="http://schemas.microsoft.com/office/drawing/2014/main" id="{FFDC376D-DA84-9C09-0ACA-F3EE0533B57A}"/>
              </a:ext>
            </a:extLst>
          </p:cNvPr>
          <p:cNvSpPr/>
          <p:nvPr/>
        </p:nvSpPr>
        <p:spPr>
          <a:xfrm rot="6185524">
            <a:off x="7859693" y="4997413"/>
            <a:ext cx="271476" cy="1289509"/>
          </a:xfrm>
          <a:prstGeom prst="downArrow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40"/>
          </a:p>
        </p:txBody>
      </p:sp>
      <p:sp>
        <p:nvSpPr>
          <p:cNvPr id="50" name="Pfeil: nach unten 49">
            <a:extLst>
              <a:ext uri="{FF2B5EF4-FFF2-40B4-BE49-F238E27FC236}">
                <a16:creationId xmlns:a16="http://schemas.microsoft.com/office/drawing/2014/main" id="{F021EF66-4508-1535-7488-E4DA1386F000}"/>
              </a:ext>
            </a:extLst>
          </p:cNvPr>
          <p:cNvSpPr/>
          <p:nvPr/>
        </p:nvSpPr>
        <p:spPr>
          <a:xfrm rot="5816212">
            <a:off x="12307930" y="5067643"/>
            <a:ext cx="271476" cy="1289509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40"/>
          </a:p>
        </p:txBody>
      </p:sp>
    </p:spTree>
    <p:extLst>
      <p:ext uri="{BB962C8B-B14F-4D97-AF65-F5344CB8AC3E}">
        <p14:creationId xmlns:p14="http://schemas.microsoft.com/office/powerpoint/2010/main" val="270839723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Ellipse 26">
            <a:extLst>
              <a:ext uri="{FF2B5EF4-FFF2-40B4-BE49-F238E27FC236}">
                <a16:creationId xmlns:a16="http://schemas.microsoft.com/office/drawing/2014/main" id="{15DF8775-8456-3A39-C387-9A6912D056E9}"/>
              </a:ext>
            </a:extLst>
          </p:cNvPr>
          <p:cNvSpPr/>
          <p:nvPr/>
        </p:nvSpPr>
        <p:spPr>
          <a:xfrm>
            <a:off x="2050543" y="5633624"/>
            <a:ext cx="12680190" cy="2307546"/>
          </a:xfrm>
          <a:prstGeom prst="ellipse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2160"/>
              <a:t>RCM</a:t>
            </a:r>
          </a:p>
        </p:txBody>
      </p:sp>
      <p:sp>
        <p:nvSpPr>
          <p:cNvPr id="16" name="Ellipse 15">
            <a:extLst>
              <a:ext uri="{FF2B5EF4-FFF2-40B4-BE49-F238E27FC236}">
                <a16:creationId xmlns:a16="http://schemas.microsoft.com/office/drawing/2014/main" id="{A1DB8D6E-402C-EB8D-8333-321294923059}"/>
              </a:ext>
            </a:extLst>
          </p:cNvPr>
          <p:cNvSpPr/>
          <p:nvPr/>
        </p:nvSpPr>
        <p:spPr>
          <a:xfrm>
            <a:off x="5953450" y="5871167"/>
            <a:ext cx="8777285" cy="1843774"/>
          </a:xfrm>
          <a:prstGeom prst="ellipse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2160"/>
              <a:t>NCM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6AD05EB0-1C43-D322-A732-261066A2DF0F}"/>
              </a:ext>
            </a:extLst>
          </p:cNvPr>
          <p:cNvSpPr/>
          <p:nvPr/>
        </p:nvSpPr>
        <p:spPr>
          <a:xfrm>
            <a:off x="13475156" y="4581656"/>
            <a:ext cx="1255576" cy="45246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Device</a:t>
            </a:r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D93D79AF-9840-B4AF-DF86-97495DC7E728}"/>
              </a:ext>
            </a:extLst>
          </p:cNvPr>
          <p:cNvSpPr/>
          <p:nvPr/>
        </p:nvSpPr>
        <p:spPr>
          <a:xfrm>
            <a:off x="9086514" y="4581656"/>
            <a:ext cx="1255576" cy="452460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Mediator</a:t>
            </a: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BEA288BE-768B-B7C7-C6FD-32DC2F9FB279}"/>
              </a:ext>
            </a:extLst>
          </p:cNvPr>
          <p:cNvSpPr/>
          <p:nvPr/>
        </p:nvSpPr>
        <p:spPr>
          <a:xfrm>
            <a:off x="4697872" y="4581656"/>
            <a:ext cx="1255576" cy="452460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Controller</a:t>
            </a:r>
          </a:p>
        </p:txBody>
      </p:sp>
      <p:sp>
        <p:nvSpPr>
          <p:cNvPr id="15" name="Ellipse 14">
            <a:extLst>
              <a:ext uri="{FF2B5EF4-FFF2-40B4-BE49-F238E27FC236}">
                <a16:creationId xmlns:a16="http://schemas.microsoft.com/office/drawing/2014/main" id="{24C9DB80-0CD6-A6AD-430E-B7FE5BE7CF10}"/>
              </a:ext>
            </a:extLst>
          </p:cNvPr>
          <p:cNvSpPr/>
          <p:nvPr/>
        </p:nvSpPr>
        <p:spPr>
          <a:xfrm>
            <a:off x="10342090" y="6097395"/>
            <a:ext cx="4388642" cy="1380004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160"/>
              <a:t>SCM</a:t>
            </a:r>
          </a:p>
        </p:txBody>
      </p:sp>
      <p:cxnSp>
        <p:nvCxnSpPr>
          <p:cNvPr id="20" name="Gerader Verbinder 19">
            <a:extLst>
              <a:ext uri="{FF2B5EF4-FFF2-40B4-BE49-F238E27FC236}">
                <a16:creationId xmlns:a16="http://schemas.microsoft.com/office/drawing/2014/main" id="{F9CD254C-5DC3-5E2F-29F4-F6DDF5F28423}"/>
              </a:ext>
            </a:extLst>
          </p:cNvPr>
          <p:cNvCxnSpPr>
            <a:stCxn id="12" idx="3"/>
            <a:endCxn id="11" idx="1"/>
          </p:cNvCxnSpPr>
          <p:nvPr/>
        </p:nvCxnSpPr>
        <p:spPr>
          <a:xfrm>
            <a:off x="5953447" y="4807886"/>
            <a:ext cx="3133066" cy="0"/>
          </a:xfrm>
          <a:prstGeom prst="line">
            <a:avLst/>
          </a:prstGeom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</p:cxnSp>
      <p:cxnSp>
        <p:nvCxnSpPr>
          <p:cNvPr id="21" name="Gerader Verbinder 20">
            <a:extLst>
              <a:ext uri="{FF2B5EF4-FFF2-40B4-BE49-F238E27FC236}">
                <a16:creationId xmlns:a16="http://schemas.microsoft.com/office/drawing/2014/main" id="{F28F21F5-25F3-46E8-72DF-B86253890F6D}"/>
              </a:ext>
            </a:extLst>
          </p:cNvPr>
          <p:cNvCxnSpPr>
            <a:cxnSpLocks/>
          </p:cNvCxnSpPr>
          <p:nvPr/>
        </p:nvCxnSpPr>
        <p:spPr>
          <a:xfrm>
            <a:off x="5953450" y="4445917"/>
            <a:ext cx="7521709" cy="0"/>
          </a:xfrm>
          <a:prstGeom prst="line">
            <a:avLst/>
          </a:prstGeom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</p:cxnSp>
      <p:cxnSp>
        <p:nvCxnSpPr>
          <p:cNvPr id="24" name="Gerader Verbinder 23">
            <a:extLst>
              <a:ext uri="{FF2B5EF4-FFF2-40B4-BE49-F238E27FC236}">
                <a16:creationId xmlns:a16="http://schemas.microsoft.com/office/drawing/2014/main" id="{B9345A38-7290-FBD7-F3A7-C9F883A43FFC}"/>
              </a:ext>
            </a:extLst>
          </p:cNvPr>
          <p:cNvCxnSpPr>
            <a:stCxn id="11" idx="3"/>
            <a:endCxn id="7" idx="1"/>
          </p:cNvCxnSpPr>
          <p:nvPr/>
        </p:nvCxnSpPr>
        <p:spPr>
          <a:xfrm>
            <a:off x="10342090" y="4807886"/>
            <a:ext cx="313306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hteck 28">
            <a:extLst>
              <a:ext uri="{FF2B5EF4-FFF2-40B4-BE49-F238E27FC236}">
                <a16:creationId xmlns:a16="http://schemas.microsoft.com/office/drawing/2014/main" id="{583442E4-EFB5-9008-7E1D-1468FAE5EA69}"/>
              </a:ext>
            </a:extLst>
          </p:cNvPr>
          <p:cNvSpPr/>
          <p:nvPr/>
        </p:nvSpPr>
        <p:spPr>
          <a:xfrm>
            <a:off x="794967" y="4581656"/>
            <a:ext cx="1255576" cy="452460"/>
          </a:xfrm>
          <a:prstGeom prst="rect">
            <a:avLst/>
          </a:prstGeom>
          <a:solidFill>
            <a:schemeClr val="bg1">
              <a:lumMod val="50000"/>
            </a:schemeClr>
          </a:solidFill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MWDI</a:t>
            </a:r>
          </a:p>
        </p:txBody>
      </p:sp>
      <p:cxnSp>
        <p:nvCxnSpPr>
          <p:cNvPr id="31" name="Gerader Verbinder 30">
            <a:extLst>
              <a:ext uri="{FF2B5EF4-FFF2-40B4-BE49-F238E27FC236}">
                <a16:creationId xmlns:a16="http://schemas.microsoft.com/office/drawing/2014/main" id="{C3641E5C-EF3C-B0EE-624D-188F5F10047A}"/>
              </a:ext>
            </a:extLst>
          </p:cNvPr>
          <p:cNvCxnSpPr>
            <a:cxnSpLocks/>
            <a:stCxn id="29" idx="3"/>
            <a:endCxn id="12" idx="1"/>
          </p:cNvCxnSpPr>
          <p:nvPr/>
        </p:nvCxnSpPr>
        <p:spPr>
          <a:xfrm>
            <a:off x="2050545" y="4807886"/>
            <a:ext cx="2647329" cy="0"/>
          </a:xfrm>
          <a:prstGeom prst="line">
            <a:avLst/>
          </a:prstGeom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34" name="Gerader Verbinder 33">
            <a:extLst>
              <a:ext uri="{FF2B5EF4-FFF2-40B4-BE49-F238E27FC236}">
                <a16:creationId xmlns:a16="http://schemas.microsoft.com/office/drawing/2014/main" id="{547BF424-02D0-BE40-B2F0-3B7D48CA8BE1}"/>
              </a:ext>
            </a:extLst>
          </p:cNvPr>
          <p:cNvCxnSpPr>
            <a:cxnSpLocks/>
          </p:cNvCxnSpPr>
          <p:nvPr/>
        </p:nvCxnSpPr>
        <p:spPr>
          <a:xfrm>
            <a:off x="2050545" y="4148991"/>
            <a:ext cx="11424613" cy="0"/>
          </a:xfrm>
          <a:prstGeom prst="line">
            <a:avLst/>
          </a:prstGeom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sp>
        <p:nvSpPr>
          <p:cNvPr id="2" name="Pfeil: nach unten 1">
            <a:extLst>
              <a:ext uri="{FF2B5EF4-FFF2-40B4-BE49-F238E27FC236}">
                <a16:creationId xmlns:a16="http://schemas.microsoft.com/office/drawing/2014/main" id="{26F7696D-1511-D4FA-1BB0-E519AF1163D3}"/>
              </a:ext>
            </a:extLst>
          </p:cNvPr>
          <p:cNvSpPr/>
          <p:nvPr/>
        </p:nvSpPr>
        <p:spPr>
          <a:xfrm rot="5018347">
            <a:off x="2939530" y="3843684"/>
            <a:ext cx="271476" cy="1289509"/>
          </a:xfrm>
          <a:prstGeom prst="downArrow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2160"/>
          </a:p>
        </p:txBody>
      </p:sp>
    </p:spTree>
    <p:extLst>
      <p:ext uri="{BB962C8B-B14F-4D97-AF65-F5344CB8AC3E}">
        <p14:creationId xmlns:p14="http://schemas.microsoft.com/office/powerpoint/2010/main" val="259712647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Ellipse 26">
            <a:extLst>
              <a:ext uri="{FF2B5EF4-FFF2-40B4-BE49-F238E27FC236}">
                <a16:creationId xmlns:a16="http://schemas.microsoft.com/office/drawing/2014/main" id="{15DF8775-8456-3A39-C387-9A6912D056E9}"/>
              </a:ext>
            </a:extLst>
          </p:cNvPr>
          <p:cNvSpPr/>
          <p:nvPr/>
        </p:nvSpPr>
        <p:spPr>
          <a:xfrm>
            <a:off x="5317270" y="6913065"/>
            <a:ext cx="3902904" cy="1380008"/>
          </a:xfrm>
          <a:prstGeom prst="ellipse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160"/>
              <a:t>ControllerDomainManager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6AD05EB0-1C43-D322-A732-261066A2DF0F}"/>
              </a:ext>
            </a:extLst>
          </p:cNvPr>
          <p:cNvSpPr/>
          <p:nvPr/>
        </p:nvSpPr>
        <p:spPr>
          <a:xfrm>
            <a:off x="16741885" y="8778630"/>
            <a:ext cx="1255576" cy="45246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Device</a:t>
            </a:r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D93D79AF-9840-B4AF-DF86-97495DC7E728}"/>
              </a:ext>
            </a:extLst>
          </p:cNvPr>
          <p:cNvSpPr/>
          <p:nvPr/>
        </p:nvSpPr>
        <p:spPr>
          <a:xfrm>
            <a:off x="12353243" y="8778630"/>
            <a:ext cx="1255576" cy="452460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Mediator</a:t>
            </a: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BEA288BE-768B-B7C7-C6FD-32DC2F9FB279}"/>
              </a:ext>
            </a:extLst>
          </p:cNvPr>
          <p:cNvSpPr/>
          <p:nvPr/>
        </p:nvSpPr>
        <p:spPr>
          <a:xfrm>
            <a:off x="7964600" y="8778630"/>
            <a:ext cx="1255576" cy="452460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Controller</a:t>
            </a:r>
          </a:p>
        </p:txBody>
      </p:sp>
      <p:cxnSp>
        <p:nvCxnSpPr>
          <p:cNvPr id="20" name="Gerader Verbinder 19">
            <a:extLst>
              <a:ext uri="{FF2B5EF4-FFF2-40B4-BE49-F238E27FC236}">
                <a16:creationId xmlns:a16="http://schemas.microsoft.com/office/drawing/2014/main" id="{F9CD254C-5DC3-5E2F-29F4-F6DDF5F28423}"/>
              </a:ext>
            </a:extLst>
          </p:cNvPr>
          <p:cNvCxnSpPr>
            <a:stCxn id="12" idx="3"/>
            <a:endCxn id="11" idx="1"/>
          </p:cNvCxnSpPr>
          <p:nvPr/>
        </p:nvCxnSpPr>
        <p:spPr>
          <a:xfrm>
            <a:off x="9220176" y="9004860"/>
            <a:ext cx="3133066" cy="0"/>
          </a:xfrm>
          <a:prstGeom prst="line">
            <a:avLst/>
          </a:prstGeom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</p:cxnSp>
      <p:cxnSp>
        <p:nvCxnSpPr>
          <p:cNvPr id="24" name="Gerader Verbinder 23">
            <a:extLst>
              <a:ext uri="{FF2B5EF4-FFF2-40B4-BE49-F238E27FC236}">
                <a16:creationId xmlns:a16="http://schemas.microsoft.com/office/drawing/2014/main" id="{B9345A38-7290-FBD7-F3A7-C9F883A43FFC}"/>
              </a:ext>
            </a:extLst>
          </p:cNvPr>
          <p:cNvCxnSpPr>
            <a:stCxn id="11" idx="3"/>
            <a:endCxn id="7" idx="1"/>
          </p:cNvCxnSpPr>
          <p:nvPr/>
        </p:nvCxnSpPr>
        <p:spPr>
          <a:xfrm>
            <a:off x="13608818" y="9004860"/>
            <a:ext cx="313306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hteck 28">
            <a:extLst>
              <a:ext uri="{FF2B5EF4-FFF2-40B4-BE49-F238E27FC236}">
                <a16:creationId xmlns:a16="http://schemas.microsoft.com/office/drawing/2014/main" id="{583442E4-EFB5-9008-7E1D-1468FAE5EA69}"/>
              </a:ext>
            </a:extLst>
          </p:cNvPr>
          <p:cNvSpPr/>
          <p:nvPr/>
        </p:nvSpPr>
        <p:spPr>
          <a:xfrm>
            <a:off x="4061695" y="8778630"/>
            <a:ext cx="1255576" cy="452460"/>
          </a:xfrm>
          <a:prstGeom prst="rect">
            <a:avLst/>
          </a:prstGeom>
          <a:solidFill>
            <a:schemeClr val="bg1">
              <a:lumMod val="50000"/>
            </a:schemeClr>
          </a:solidFill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MWDI</a:t>
            </a:r>
          </a:p>
        </p:txBody>
      </p:sp>
      <p:cxnSp>
        <p:nvCxnSpPr>
          <p:cNvPr id="31" name="Gerader Verbinder 30">
            <a:extLst>
              <a:ext uri="{FF2B5EF4-FFF2-40B4-BE49-F238E27FC236}">
                <a16:creationId xmlns:a16="http://schemas.microsoft.com/office/drawing/2014/main" id="{C3641E5C-EF3C-B0EE-624D-188F5F10047A}"/>
              </a:ext>
            </a:extLst>
          </p:cNvPr>
          <p:cNvCxnSpPr>
            <a:cxnSpLocks/>
            <a:stCxn id="29" idx="3"/>
            <a:endCxn id="12" idx="1"/>
          </p:cNvCxnSpPr>
          <p:nvPr/>
        </p:nvCxnSpPr>
        <p:spPr>
          <a:xfrm>
            <a:off x="5317273" y="9004860"/>
            <a:ext cx="2647329" cy="0"/>
          </a:xfrm>
          <a:prstGeom prst="line">
            <a:avLst/>
          </a:prstGeom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sp>
        <p:nvSpPr>
          <p:cNvPr id="3" name="Rechteck 2">
            <a:extLst>
              <a:ext uri="{FF2B5EF4-FFF2-40B4-BE49-F238E27FC236}">
                <a16:creationId xmlns:a16="http://schemas.microsoft.com/office/drawing/2014/main" id="{294E5044-37A3-930B-5093-B91957397826}"/>
              </a:ext>
            </a:extLst>
          </p:cNvPr>
          <p:cNvSpPr/>
          <p:nvPr/>
        </p:nvSpPr>
        <p:spPr>
          <a:xfrm>
            <a:off x="9772240" y="4868689"/>
            <a:ext cx="1255576" cy="452460"/>
          </a:xfrm>
          <a:prstGeom prst="rect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LiveDomainManager</a:t>
            </a:r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87FDBE0D-9BAE-71BB-0399-953CABAEAA46}"/>
              </a:ext>
            </a:extLst>
          </p:cNvPr>
          <p:cNvCxnSpPr>
            <a:cxnSpLocks/>
            <a:stCxn id="8" idx="3"/>
            <a:endCxn id="10" idx="1"/>
          </p:cNvCxnSpPr>
          <p:nvPr/>
        </p:nvCxnSpPr>
        <p:spPr>
          <a:xfrm>
            <a:off x="5317272" y="3920575"/>
            <a:ext cx="11424615" cy="0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8" name="Rechteck 7">
            <a:extLst>
              <a:ext uri="{FF2B5EF4-FFF2-40B4-BE49-F238E27FC236}">
                <a16:creationId xmlns:a16="http://schemas.microsoft.com/office/drawing/2014/main" id="{109D0C59-D120-76CC-3E13-2E8B044E2645}"/>
              </a:ext>
            </a:extLst>
          </p:cNvPr>
          <p:cNvSpPr/>
          <p:nvPr/>
        </p:nvSpPr>
        <p:spPr>
          <a:xfrm>
            <a:off x="4061694" y="3694345"/>
            <a:ext cx="1255576" cy="452460"/>
          </a:xfrm>
          <a:prstGeom prst="rect">
            <a:avLst/>
          </a:prstGeom>
          <a:solidFill>
            <a:schemeClr val="bg1">
              <a:lumMod val="50000"/>
            </a:schemeClr>
          </a:solidFill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MWDI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F4216C26-482B-3A23-53D0-0AC91F2E3317}"/>
              </a:ext>
            </a:extLst>
          </p:cNvPr>
          <p:cNvSpPr/>
          <p:nvPr/>
        </p:nvSpPr>
        <p:spPr>
          <a:xfrm>
            <a:off x="16741885" y="3694345"/>
            <a:ext cx="1255576" cy="45246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Device</a:t>
            </a:r>
          </a:p>
        </p:txBody>
      </p:sp>
      <p:sp>
        <p:nvSpPr>
          <p:cNvPr id="47" name="Pfeil: nach unten 46">
            <a:extLst>
              <a:ext uri="{FF2B5EF4-FFF2-40B4-BE49-F238E27FC236}">
                <a16:creationId xmlns:a16="http://schemas.microsoft.com/office/drawing/2014/main" id="{9D742086-4DBE-B082-B3CE-0288C173FD75}"/>
              </a:ext>
            </a:extLst>
          </p:cNvPr>
          <p:cNvSpPr/>
          <p:nvPr/>
        </p:nvSpPr>
        <p:spPr>
          <a:xfrm rot="11161196">
            <a:off x="10264289" y="4200135"/>
            <a:ext cx="271476" cy="408147"/>
          </a:xfrm>
          <a:prstGeom prst="downArrow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40"/>
          </a:p>
        </p:txBody>
      </p:sp>
      <p:sp>
        <p:nvSpPr>
          <p:cNvPr id="48" name="Pfeil: nach unten 47">
            <a:extLst>
              <a:ext uri="{FF2B5EF4-FFF2-40B4-BE49-F238E27FC236}">
                <a16:creationId xmlns:a16="http://schemas.microsoft.com/office/drawing/2014/main" id="{4EBDD885-493F-898D-D26C-99811B575D4C}"/>
              </a:ext>
            </a:extLst>
          </p:cNvPr>
          <p:cNvSpPr/>
          <p:nvPr/>
        </p:nvSpPr>
        <p:spPr>
          <a:xfrm rot="13604950">
            <a:off x="7397769" y="5695574"/>
            <a:ext cx="271476" cy="414609"/>
          </a:xfrm>
          <a:prstGeom prst="downArrow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2160"/>
          </a:p>
        </p:txBody>
      </p:sp>
      <p:sp>
        <p:nvSpPr>
          <p:cNvPr id="49" name="Pfeil: nach unten 48">
            <a:extLst>
              <a:ext uri="{FF2B5EF4-FFF2-40B4-BE49-F238E27FC236}">
                <a16:creationId xmlns:a16="http://schemas.microsoft.com/office/drawing/2014/main" id="{FFDC376D-DA84-9C09-0ACA-F3EE0533B57A}"/>
              </a:ext>
            </a:extLst>
          </p:cNvPr>
          <p:cNvSpPr/>
          <p:nvPr/>
        </p:nvSpPr>
        <p:spPr>
          <a:xfrm rot="6592321">
            <a:off x="12820576" y="5176374"/>
            <a:ext cx="271476" cy="1289509"/>
          </a:xfrm>
          <a:prstGeom prst="downArrow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40"/>
          </a:p>
        </p:txBody>
      </p:sp>
      <p:sp>
        <p:nvSpPr>
          <p:cNvPr id="4" name="Ellipse 3">
            <a:extLst>
              <a:ext uri="{FF2B5EF4-FFF2-40B4-BE49-F238E27FC236}">
                <a16:creationId xmlns:a16="http://schemas.microsoft.com/office/drawing/2014/main" id="{9ED5A9BD-057D-5BD6-D147-09920CB2582A}"/>
              </a:ext>
            </a:extLst>
          </p:cNvPr>
          <p:cNvSpPr/>
          <p:nvPr/>
        </p:nvSpPr>
        <p:spPr>
          <a:xfrm>
            <a:off x="9220176" y="6691462"/>
            <a:ext cx="8777285" cy="1843774"/>
          </a:xfrm>
          <a:prstGeom prst="ellipse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t"/>
          <a:lstStyle/>
          <a:p>
            <a:endParaRPr lang="de-DE" sz="2160"/>
          </a:p>
          <a:p>
            <a:r>
              <a:rPr lang="de-DE" sz="2160"/>
              <a:t>DeviceDomainManager</a:t>
            </a:r>
          </a:p>
        </p:txBody>
      </p:sp>
      <p:sp>
        <p:nvSpPr>
          <p:cNvPr id="6" name="Ellipse 5">
            <a:extLst>
              <a:ext uri="{FF2B5EF4-FFF2-40B4-BE49-F238E27FC236}">
                <a16:creationId xmlns:a16="http://schemas.microsoft.com/office/drawing/2014/main" id="{954E655E-2B34-B04D-3363-A302E7369520}"/>
              </a:ext>
            </a:extLst>
          </p:cNvPr>
          <p:cNvSpPr/>
          <p:nvPr/>
        </p:nvSpPr>
        <p:spPr>
          <a:xfrm>
            <a:off x="13608816" y="6917690"/>
            <a:ext cx="4388642" cy="1380004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160"/>
              <a:t>MIM</a:t>
            </a:r>
          </a:p>
        </p:txBody>
      </p:sp>
      <p:cxnSp>
        <p:nvCxnSpPr>
          <p:cNvPr id="9" name="Gerader Verbinder 8">
            <a:extLst>
              <a:ext uri="{FF2B5EF4-FFF2-40B4-BE49-F238E27FC236}">
                <a16:creationId xmlns:a16="http://schemas.microsoft.com/office/drawing/2014/main" id="{2630BD30-CC38-FB1F-F6DE-5513D494C452}"/>
              </a:ext>
            </a:extLst>
          </p:cNvPr>
          <p:cNvCxnSpPr>
            <a:cxnSpLocks/>
          </p:cNvCxnSpPr>
          <p:nvPr/>
        </p:nvCxnSpPr>
        <p:spPr>
          <a:xfrm>
            <a:off x="5317273" y="6395331"/>
            <a:ext cx="2647329" cy="0"/>
          </a:xfrm>
          <a:prstGeom prst="line">
            <a:avLst/>
          </a:prstGeom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13" name="Gerader Verbinder 12">
            <a:extLst>
              <a:ext uri="{FF2B5EF4-FFF2-40B4-BE49-F238E27FC236}">
                <a16:creationId xmlns:a16="http://schemas.microsoft.com/office/drawing/2014/main" id="{4843FC30-AB65-AA48-C611-856241EA0340}"/>
              </a:ext>
            </a:extLst>
          </p:cNvPr>
          <p:cNvCxnSpPr>
            <a:cxnSpLocks/>
          </p:cNvCxnSpPr>
          <p:nvPr/>
        </p:nvCxnSpPr>
        <p:spPr>
          <a:xfrm>
            <a:off x="7964600" y="6484231"/>
            <a:ext cx="1255574" cy="0"/>
          </a:xfrm>
          <a:prstGeom prst="line">
            <a:avLst/>
          </a:prstGeom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17" name="Gerader Verbinder 16">
            <a:extLst>
              <a:ext uri="{FF2B5EF4-FFF2-40B4-BE49-F238E27FC236}">
                <a16:creationId xmlns:a16="http://schemas.microsoft.com/office/drawing/2014/main" id="{6DB98520-FB80-D721-EFDC-E78AEAA20F2D}"/>
              </a:ext>
            </a:extLst>
          </p:cNvPr>
          <p:cNvCxnSpPr>
            <a:cxnSpLocks/>
          </p:cNvCxnSpPr>
          <p:nvPr/>
        </p:nvCxnSpPr>
        <p:spPr>
          <a:xfrm>
            <a:off x="9228873" y="6357231"/>
            <a:ext cx="3124371" cy="0"/>
          </a:xfrm>
          <a:prstGeom prst="line">
            <a:avLst/>
          </a:prstGeom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</p:cxnSp>
      <p:cxnSp>
        <p:nvCxnSpPr>
          <p:cNvPr id="18" name="Gerader Verbinder 17">
            <a:extLst>
              <a:ext uri="{FF2B5EF4-FFF2-40B4-BE49-F238E27FC236}">
                <a16:creationId xmlns:a16="http://schemas.microsoft.com/office/drawing/2014/main" id="{61E99FEE-C895-7B80-6777-65CF92E93E2D}"/>
              </a:ext>
            </a:extLst>
          </p:cNvPr>
          <p:cNvCxnSpPr>
            <a:cxnSpLocks/>
          </p:cNvCxnSpPr>
          <p:nvPr/>
        </p:nvCxnSpPr>
        <p:spPr>
          <a:xfrm>
            <a:off x="12353242" y="6427126"/>
            <a:ext cx="1255574" cy="0"/>
          </a:xfrm>
          <a:prstGeom prst="line">
            <a:avLst/>
          </a:prstGeom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</p:cxnSp>
      <p:cxnSp>
        <p:nvCxnSpPr>
          <p:cNvPr id="21" name="Gerader Verbinder 20">
            <a:extLst>
              <a:ext uri="{FF2B5EF4-FFF2-40B4-BE49-F238E27FC236}">
                <a16:creationId xmlns:a16="http://schemas.microsoft.com/office/drawing/2014/main" id="{55F5A1B8-2C7E-E1CC-CB12-952679A680F9}"/>
              </a:ext>
            </a:extLst>
          </p:cNvPr>
          <p:cNvCxnSpPr>
            <a:cxnSpLocks/>
          </p:cNvCxnSpPr>
          <p:nvPr/>
        </p:nvCxnSpPr>
        <p:spPr>
          <a:xfrm>
            <a:off x="13617515" y="6350926"/>
            <a:ext cx="3124371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Geschweifte Klammer rechts 22">
            <a:extLst>
              <a:ext uri="{FF2B5EF4-FFF2-40B4-BE49-F238E27FC236}">
                <a16:creationId xmlns:a16="http://schemas.microsoft.com/office/drawing/2014/main" id="{466EF11B-29FD-7A77-EA0E-BEDFB2BD0DC6}"/>
              </a:ext>
            </a:extLst>
          </p:cNvPr>
          <p:cNvSpPr/>
          <p:nvPr/>
        </p:nvSpPr>
        <p:spPr>
          <a:xfrm rot="16200000">
            <a:off x="13551620" y="1781193"/>
            <a:ext cx="159086" cy="8732590"/>
          </a:xfrm>
          <a:prstGeom prst="rightBrace">
            <a:avLst/>
          </a:prstGeom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5" name="Textfeld 24">
            <a:extLst>
              <a:ext uri="{FF2B5EF4-FFF2-40B4-BE49-F238E27FC236}">
                <a16:creationId xmlns:a16="http://schemas.microsoft.com/office/drawing/2014/main" id="{3CA5F0B8-F8DB-F7F2-6934-CC36BE107716}"/>
              </a:ext>
            </a:extLst>
          </p:cNvPr>
          <p:cNvSpPr txBox="1"/>
          <p:nvPr/>
        </p:nvSpPr>
        <p:spPr>
          <a:xfrm>
            <a:off x="6236078" y="6375008"/>
            <a:ext cx="105343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/>
              <a:t>RestconfLink</a:t>
            </a:r>
          </a:p>
        </p:txBody>
      </p:sp>
      <p:sp>
        <p:nvSpPr>
          <p:cNvPr id="26" name="Textfeld 25">
            <a:extLst>
              <a:ext uri="{FF2B5EF4-FFF2-40B4-BE49-F238E27FC236}">
                <a16:creationId xmlns:a16="http://schemas.microsoft.com/office/drawing/2014/main" id="{0D74D6ED-A6F6-5A0A-6F12-F48F51B20136}"/>
              </a:ext>
            </a:extLst>
          </p:cNvPr>
          <p:cNvSpPr txBox="1"/>
          <p:nvPr/>
        </p:nvSpPr>
        <p:spPr>
          <a:xfrm>
            <a:off x="8032830" y="6256833"/>
            <a:ext cx="111184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/>
              <a:t>MountPointFc</a:t>
            </a:r>
          </a:p>
        </p:txBody>
      </p:sp>
      <p:sp>
        <p:nvSpPr>
          <p:cNvPr id="28" name="Textfeld 27">
            <a:extLst>
              <a:ext uri="{FF2B5EF4-FFF2-40B4-BE49-F238E27FC236}">
                <a16:creationId xmlns:a16="http://schemas.microsoft.com/office/drawing/2014/main" id="{764BABF6-7539-6951-AFB3-FC1CA3AF26E0}"/>
              </a:ext>
            </a:extLst>
          </p:cNvPr>
          <p:cNvSpPr txBox="1"/>
          <p:nvPr/>
        </p:nvSpPr>
        <p:spPr>
          <a:xfrm>
            <a:off x="12254089" y="6202574"/>
            <a:ext cx="14709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/>
              <a:t>MediatorProcessFc</a:t>
            </a:r>
          </a:p>
        </p:txBody>
      </p:sp>
      <p:sp>
        <p:nvSpPr>
          <p:cNvPr id="30" name="Textfeld 29">
            <a:extLst>
              <a:ext uri="{FF2B5EF4-FFF2-40B4-BE49-F238E27FC236}">
                <a16:creationId xmlns:a16="http://schemas.microsoft.com/office/drawing/2014/main" id="{5FBDA780-C7A0-2D26-705D-90AF4FB2D538}"/>
              </a:ext>
            </a:extLst>
          </p:cNvPr>
          <p:cNvSpPr txBox="1"/>
          <p:nvPr/>
        </p:nvSpPr>
        <p:spPr>
          <a:xfrm>
            <a:off x="10400028" y="6341073"/>
            <a:ext cx="99501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/>
              <a:t>NetconfLink</a:t>
            </a:r>
          </a:p>
        </p:txBody>
      </p:sp>
      <p:sp>
        <p:nvSpPr>
          <p:cNvPr id="32" name="Textfeld 31">
            <a:extLst>
              <a:ext uri="{FF2B5EF4-FFF2-40B4-BE49-F238E27FC236}">
                <a16:creationId xmlns:a16="http://schemas.microsoft.com/office/drawing/2014/main" id="{D67830D5-9585-F8F1-C047-028467F57783}"/>
              </a:ext>
            </a:extLst>
          </p:cNvPr>
          <p:cNvSpPr txBox="1"/>
          <p:nvPr/>
        </p:nvSpPr>
        <p:spPr>
          <a:xfrm>
            <a:off x="14723644" y="6338762"/>
            <a:ext cx="84830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/>
              <a:t>SnmpLink</a:t>
            </a:r>
          </a:p>
        </p:txBody>
      </p:sp>
      <p:sp>
        <p:nvSpPr>
          <p:cNvPr id="33" name="Geschweifte Klammer rechts 32">
            <a:extLst>
              <a:ext uri="{FF2B5EF4-FFF2-40B4-BE49-F238E27FC236}">
                <a16:creationId xmlns:a16="http://schemas.microsoft.com/office/drawing/2014/main" id="{5A82855C-6FF6-0C22-BC7A-A3E94E9CD8FA}"/>
              </a:ext>
            </a:extLst>
          </p:cNvPr>
          <p:cNvSpPr/>
          <p:nvPr/>
        </p:nvSpPr>
        <p:spPr>
          <a:xfrm rot="16200000">
            <a:off x="7193527" y="4192989"/>
            <a:ext cx="159086" cy="3911602"/>
          </a:xfrm>
          <a:prstGeom prst="rightBrace">
            <a:avLst/>
          </a:prstGeom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4" name="Textfeld 33">
            <a:extLst>
              <a:ext uri="{FF2B5EF4-FFF2-40B4-BE49-F238E27FC236}">
                <a16:creationId xmlns:a16="http://schemas.microsoft.com/office/drawing/2014/main" id="{2DC5D979-CBD6-E279-D7FA-93569BEB60DF}"/>
              </a:ext>
            </a:extLst>
          </p:cNvPr>
          <p:cNvSpPr txBox="1"/>
          <p:nvPr/>
        </p:nvSpPr>
        <p:spPr>
          <a:xfrm>
            <a:off x="9945833" y="3918324"/>
            <a:ext cx="289842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/>
              <a:t>Transport of Read from Live – Operation ?</a:t>
            </a:r>
          </a:p>
        </p:txBody>
      </p:sp>
      <p:cxnSp>
        <p:nvCxnSpPr>
          <p:cNvPr id="35" name="Gerader Verbinder 34">
            <a:extLst>
              <a:ext uri="{FF2B5EF4-FFF2-40B4-BE49-F238E27FC236}">
                <a16:creationId xmlns:a16="http://schemas.microsoft.com/office/drawing/2014/main" id="{93F67427-C9F9-534A-8E80-5DEB5C266EC6}"/>
              </a:ext>
            </a:extLst>
          </p:cNvPr>
          <p:cNvCxnSpPr>
            <a:cxnSpLocks/>
          </p:cNvCxnSpPr>
          <p:nvPr/>
        </p:nvCxnSpPr>
        <p:spPr>
          <a:xfrm>
            <a:off x="4032630" y="3421911"/>
            <a:ext cx="12680190" cy="0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38" name="Textfeld 37">
            <a:extLst>
              <a:ext uri="{FF2B5EF4-FFF2-40B4-BE49-F238E27FC236}">
                <a16:creationId xmlns:a16="http://schemas.microsoft.com/office/drawing/2014/main" id="{F1C87441-A171-4006-4456-3437467DD47E}"/>
              </a:ext>
            </a:extLst>
          </p:cNvPr>
          <p:cNvSpPr txBox="1"/>
          <p:nvPr/>
        </p:nvSpPr>
        <p:spPr>
          <a:xfrm>
            <a:off x="9489989" y="3426630"/>
            <a:ext cx="207473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/>
              <a:t>Read from Live – Operation ?</a:t>
            </a:r>
          </a:p>
        </p:txBody>
      </p:sp>
      <p:sp>
        <p:nvSpPr>
          <p:cNvPr id="39" name="Textfeld 38">
            <a:extLst>
              <a:ext uri="{FF2B5EF4-FFF2-40B4-BE49-F238E27FC236}">
                <a16:creationId xmlns:a16="http://schemas.microsoft.com/office/drawing/2014/main" id="{816922BC-64F9-D223-69A6-7109BF41F9BA}"/>
              </a:ext>
            </a:extLst>
          </p:cNvPr>
          <p:cNvSpPr txBox="1"/>
          <p:nvPr/>
        </p:nvSpPr>
        <p:spPr>
          <a:xfrm>
            <a:off x="9180670" y="6124161"/>
            <a:ext cx="101431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/>
              <a:t>&lt;get-config&gt;</a:t>
            </a:r>
          </a:p>
        </p:txBody>
      </p:sp>
      <p:sp>
        <p:nvSpPr>
          <p:cNvPr id="40" name="Textfeld 39">
            <a:extLst>
              <a:ext uri="{FF2B5EF4-FFF2-40B4-BE49-F238E27FC236}">
                <a16:creationId xmlns:a16="http://schemas.microsoft.com/office/drawing/2014/main" id="{F03B1639-50D8-D533-33CA-648284718463}"/>
              </a:ext>
            </a:extLst>
          </p:cNvPr>
          <p:cNvSpPr txBox="1"/>
          <p:nvPr/>
        </p:nvSpPr>
        <p:spPr>
          <a:xfrm>
            <a:off x="5249043" y="6177567"/>
            <a:ext cx="45236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/>
              <a:t>GET</a:t>
            </a:r>
          </a:p>
        </p:txBody>
      </p:sp>
      <p:cxnSp>
        <p:nvCxnSpPr>
          <p:cNvPr id="52" name="Gerader Verbinder 51">
            <a:extLst>
              <a:ext uri="{FF2B5EF4-FFF2-40B4-BE49-F238E27FC236}">
                <a16:creationId xmlns:a16="http://schemas.microsoft.com/office/drawing/2014/main" id="{615F57D7-5599-DFC3-B6E9-DA8E26F58329}"/>
              </a:ext>
            </a:extLst>
          </p:cNvPr>
          <p:cNvCxnSpPr>
            <a:cxnSpLocks/>
          </p:cNvCxnSpPr>
          <p:nvPr/>
        </p:nvCxnSpPr>
        <p:spPr>
          <a:xfrm>
            <a:off x="9199809" y="10141002"/>
            <a:ext cx="7513013" cy="0"/>
          </a:xfrm>
          <a:prstGeom prst="line">
            <a:avLst/>
          </a:prstGeom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cxnSp>
        <p:nvCxnSpPr>
          <p:cNvPr id="55" name="Gerader Verbinder 54">
            <a:extLst>
              <a:ext uri="{FF2B5EF4-FFF2-40B4-BE49-F238E27FC236}">
                <a16:creationId xmlns:a16="http://schemas.microsoft.com/office/drawing/2014/main" id="{5EE58D74-87E6-4A14-9122-102D98610CDC}"/>
              </a:ext>
            </a:extLst>
          </p:cNvPr>
          <p:cNvCxnSpPr>
            <a:cxnSpLocks/>
          </p:cNvCxnSpPr>
          <p:nvPr/>
        </p:nvCxnSpPr>
        <p:spPr>
          <a:xfrm>
            <a:off x="12274749" y="10522798"/>
            <a:ext cx="4438073" cy="0"/>
          </a:xfrm>
          <a:prstGeom prst="line">
            <a:avLst/>
          </a:prstGeom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sp>
        <p:nvSpPr>
          <p:cNvPr id="63" name="Textfeld 62">
            <a:extLst>
              <a:ext uri="{FF2B5EF4-FFF2-40B4-BE49-F238E27FC236}">
                <a16:creationId xmlns:a16="http://schemas.microsoft.com/office/drawing/2014/main" id="{AA52B7F9-F012-88DE-87BF-2C8D2910D710}"/>
              </a:ext>
            </a:extLst>
          </p:cNvPr>
          <p:cNvSpPr txBox="1"/>
          <p:nvPr/>
        </p:nvSpPr>
        <p:spPr>
          <a:xfrm>
            <a:off x="12125216" y="9916404"/>
            <a:ext cx="202882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/>
              <a:t>Connected state at the ODL</a:t>
            </a:r>
          </a:p>
        </p:txBody>
      </p:sp>
      <p:sp>
        <p:nvSpPr>
          <p:cNvPr id="64" name="Textfeld 63">
            <a:extLst>
              <a:ext uri="{FF2B5EF4-FFF2-40B4-BE49-F238E27FC236}">
                <a16:creationId xmlns:a16="http://schemas.microsoft.com/office/drawing/2014/main" id="{C1B0018D-7D20-0014-257D-BAF1E45FF92C}"/>
              </a:ext>
            </a:extLst>
          </p:cNvPr>
          <p:cNvSpPr txBox="1"/>
          <p:nvPr/>
        </p:nvSpPr>
        <p:spPr>
          <a:xfrm>
            <a:off x="12467917" y="10304018"/>
            <a:ext cx="414312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/>
              <a:t>Addressing an attribute with an NCM-internal NetconfClient</a:t>
            </a:r>
          </a:p>
        </p:txBody>
      </p:sp>
      <p:sp>
        <p:nvSpPr>
          <p:cNvPr id="65" name="Textfeld 64">
            <a:extLst>
              <a:ext uri="{FF2B5EF4-FFF2-40B4-BE49-F238E27FC236}">
                <a16:creationId xmlns:a16="http://schemas.microsoft.com/office/drawing/2014/main" id="{2CEB087D-6A36-0216-6770-BEDF1124CA9F}"/>
              </a:ext>
            </a:extLst>
          </p:cNvPr>
          <p:cNvSpPr txBox="1"/>
          <p:nvPr/>
        </p:nvSpPr>
        <p:spPr>
          <a:xfrm>
            <a:off x="928630" y="8866362"/>
            <a:ext cx="81406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/>
              <a:t>Elements</a:t>
            </a:r>
          </a:p>
        </p:txBody>
      </p:sp>
      <p:sp>
        <p:nvSpPr>
          <p:cNvPr id="66" name="Textfeld 65">
            <a:extLst>
              <a:ext uri="{FF2B5EF4-FFF2-40B4-BE49-F238E27FC236}">
                <a16:creationId xmlns:a16="http://schemas.microsoft.com/office/drawing/2014/main" id="{668C06B6-6A0F-B5CA-F0D2-EEEC1DB4791F}"/>
              </a:ext>
            </a:extLst>
          </p:cNvPr>
          <p:cNvSpPr txBox="1"/>
          <p:nvPr/>
        </p:nvSpPr>
        <p:spPr>
          <a:xfrm>
            <a:off x="928630" y="7336352"/>
            <a:ext cx="7857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/>
              <a:t>Domains</a:t>
            </a:r>
          </a:p>
        </p:txBody>
      </p:sp>
      <p:sp>
        <p:nvSpPr>
          <p:cNvPr id="67" name="Textfeld 66">
            <a:extLst>
              <a:ext uri="{FF2B5EF4-FFF2-40B4-BE49-F238E27FC236}">
                <a16:creationId xmlns:a16="http://schemas.microsoft.com/office/drawing/2014/main" id="{0C262B0E-D458-CB62-691D-F98F7C5FD237}"/>
              </a:ext>
            </a:extLst>
          </p:cNvPr>
          <p:cNvSpPr txBox="1"/>
          <p:nvPr/>
        </p:nvSpPr>
        <p:spPr>
          <a:xfrm>
            <a:off x="928629" y="6337980"/>
            <a:ext cx="103906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/>
              <a:t>Connections</a:t>
            </a:r>
          </a:p>
        </p:txBody>
      </p:sp>
      <p:sp>
        <p:nvSpPr>
          <p:cNvPr id="68" name="Textfeld 67">
            <a:extLst>
              <a:ext uri="{FF2B5EF4-FFF2-40B4-BE49-F238E27FC236}">
                <a16:creationId xmlns:a16="http://schemas.microsoft.com/office/drawing/2014/main" id="{80E54012-F6A5-2CBA-AF56-9ED147C2C8EB}"/>
              </a:ext>
            </a:extLst>
          </p:cNvPr>
          <p:cNvSpPr txBox="1"/>
          <p:nvPr/>
        </p:nvSpPr>
        <p:spPr>
          <a:xfrm>
            <a:off x="928629" y="4956421"/>
            <a:ext cx="271420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/>
              <a:t>Element holding higher layer Domain ?</a:t>
            </a:r>
          </a:p>
        </p:txBody>
      </p:sp>
      <p:sp>
        <p:nvSpPr>
          <p:cNvPr id="69" name="Textfeld 68">
            <a:extLst>
              <a:ext uri="{FF2B5EF4-FFF2-40B4-BE49-F238E27FC236}">
                <a16:creationId xmlns:a16="http://schemas.microsoft.com/office/drawing/2014/main" id="{CBEB432B-CDB6-9FB5-306F-E45DCFE0523F}"/>
              </a:ext>
            </a:extLst>
          </p:cNvPr>
          <p:cNvSpPr txBox="1"/>
          <p:nvPr/>
        </p:nvSpPr>
        <p:spPr>
          <a:xfrm>
            <a:off x="928629" y="3553730"/>
            <a:ext cx="197361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/>
              <a:t>Higher layer Connections ?</a:t>
            </a:r>
          </a:p>
        </p:txBody>
      </p:sp>
      <p:sp>
        <p:nvSpPr>
          <p:cNvPr id="70" name="Textfeld 69">
            <a:extLst>
              <a:ext uri="{FF2B5EF4-FFF2-40B4-BE49-F238E27FC236}">
                <a16:creationId xmlns:a16="http://schemas.microsoft.com/office/drawing/2014/main" id="{1F4F316C-ACA9-5A1A-70BB-DE6AB61CB4BC}"/>
              </a:ext>
            </a:extLst>
          </p:cNvPr>
          <p:cNvSpPr txBox="1"/>
          <p:nvPr/>
        </p:nvSpPr>
        <p:spPr>
          <a:xfrm>
            <a:off x="928630" y="10165518"/>
            <a:ext cx="226613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/>
              <a:t>Potential status measurements</a:t>
            </a:r>
          </a:p>
        </p:txBody>
      </p:sp>
    </p:spTree>
    <p:extLst>
      <p:ext uri="{BB962C8B-B14F-4D97-AF65-F5344CB8AC3E}">
        <p14:creationId xmlns:p14="http://schemas.microsoft.com/office/powerpoint/2010/main" val="381945006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Ellipse 125">
            <a:extLst>
              <a:ext uri="{FF2B5EF4-FFF2-40B4-BE49-F238E27FC236}">
                <a16:creationId xmlns:a16="http://schemas.microsoft.com/office/drawing/2014/main" id="{8433F276-58B1-8611-F513-917A26BDA823}"/>
              </a:ext>
            </a:extLst>
          </p:cNvPr>
          <p:cNvSpPr/>
          <p:nvPr/>
        </p:nvSpPr>
        <p:spPr>
          <a:xfrm>
            <a:off x="1383512" y="9153433"/>
            <a:ext cx="17889875" cy="3579764"/>
          </a:xfrm>
          <a:prstGeom prst="ellipse">
            <a:avLst/>
          </a:prstGeom>
          <a:solidFill>
            <a:schemeClr val="bg1">
              <a:lumMod val="50000"/>
            </a:schemeClr>
          </a:solidFill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t"/>
          <a:lstStyle/>
          <a:p>
            <a:endParaRPr lang="de-DE" sz="2160"/>
          </a:p>
          <a:p>
            <a:r>
              <a:rPr lang="de-DE" sz="2160"/>
              <a:t>MW SDN</a:t>
            </a:r>
          </a:p>
        </p:txBody>
      </p:sp>
      <p:sp>
        <p:nvSpPr>
          <p:cNvPr id="127" name="Ellipse 126">
            <a:extLst>
              <a:ext uri="{FF2B5EF4-FFF2-40B4-BE49-F238E27FC236}">
                <a16:creationId xmlns:a16="http://schemas.microsoft.com/office/drawing/2014/main" id="{D1E65784-8FD9-B02F-A1D5-5343CD6554A3}"/>
              </a:ext>
            </a:extLst>
          </p:cNvPr>
          <p:cNvSpPr/>
          <p:nvPr/>
        </p:nvSpPr>
        <p:spPr>
          <a:xfrm>
            <a:off x="6520441" y="9986242"/>
            <a:ext cx="12706164" cy="1843774"/>
          </a:xfrm>
          <a:prstGeom prst="ellipse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de-DE" sz="2160"/>
          </a:p>
        </p:txBody>
      </p:sp>
      <p:sp>
        <p:nvSpPr>
          <p:cNvPr id="123" name="Ellipse 122">
            <a:extLst>
              <a:ext uri="{FF2B5EF4-FFF2-40B4-BE49-F238E27FC236}">
                <a16:creationId xmlns:a16="http://schemas.microsoft.com/office/drawing/2014/main" id="{5B1A2157-6724-A43D-0B35-9160EA316445}"/>
              </a:ext>
            </a:extLst>
          </p:cNvPr>
          <p:cNvSpPr/>
          <p:nvPr/>
        </p:nvSpPr>
        <p:spPr>
          <a:xfrm>
            <a:off x="1383512" y="5420567"/>
            <a:ext cx="17889875" cy="3579764"/>
          </a:xfrm>
          <a:prstGeom prst="ellipse">
            <a:avLst/>
          </a:prstGeom>
          <a:solidFill>
            <a:schemeClr val="bg1">
              <a:lumMod val="50000"/>
            </a:schemeClr>
          </a:solidFill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t"/>
          <a:lstStyle/>
          <a:p>
            <a:endParaRPr lang="de-DE" sz="2160"/>
          </a:p>
          <a:p>
            <a:r>
              <a:rPr lang="de-DE" sz="2160"/>
              <a:t>MW SDN</a:t>
            </a:r>
          </a:p>
        </p:txBody>
      </p:sp>
      <p:sp>
        <p:nvSpPr>
          <p:cNvPr id="121" name="Ellipse 120">
            <a:extLst>
              <a:ext uri="{FF2B5EF4-FFF2-40B4-BE49-F238E27FC236}">
                <a16:creationId xmlns:a16="http://schemas.microsoft.com/office/drawing/2014/main" id="{0B17F57F-53EB-18D9-E3D6-4AFE0C884ADC}"/>
              </a:ext>
            </a:extLst>
          </p:cNvPr>
          <p:cNvSpPr/>
          <p:nvPr/>
        </p:nvSpPr>
        <p:spPr>
          <a:xfrm>
            <a:off x="6520441" y="6253376"/>
            <a:ext cx="12706164" cy="1843774"/>
          </a:xfrm>
          <a:prstGeom prst="ellipse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2160"/>
              <a:t>Live</a:t>
            </a:r>
          </a:p>
        </p:txBody>
      </p:sp>
      <p:cxnSp>
        <p:nvCxnSpPr>
          <p:cNvPr id="8" name="Gerader Verbinder 7">
            <a:extLst>
              <a:ext uri="{FF2B5EF4-FFF2-40B4-BE49-F238E27FC236}">
                <a16:creationId xmlns:a16="http://schemas.microsoft.com/office/drawing/2014/main" id="{0AAB3C92-1309-21F9-5A2A-D5B19E58CC97}"/>
              </a:ext>
            </a:extLst>
          </p:cNvPr>
          <p:cNvCxnSpPr>
            <a:cxnSpLocks/>
            <a:stCxn id="23" idx="6"/>
            <a:endCxn id="33" idx="2"/>
          </p:cNvCxnSpPr>
          <p:nvPr/>
        </p:nvCxnSpPr>
        <p:spPr>
          <a:xfrm>
            <a:off x="6616054" y="3830711"/>
            <a:ext cx="2594684" cy="0"/>
          </a:xfrm>
          <a:prstGeom prst="line">
            <a:avLst/>
          </a:prstGeom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10" name="Gerader Verbinder 9">
            <a:extLst>
              <a:ext uri="{FF2B5EF4-FFF2-40B4-BE49-F238E27FC236}">
                <a16:creationId xmlns:a16="http://schemas.microsoft.com/office/drawing/2014/main" id="{BFC42089-4FAE-409E-7490-894A8A151E87}"/>
              </a:ext>
            </a:extLst>
          </p:cNvPr>
          <p:cNvCxnSpPr>
            <a:cxnSpLocks/>
            <a:stCxn id="17" idx="6"/>
            <a:endCxn id="20" idx="2"/>
          </p:cNvCxnSpPr>
          <p:nvPr/>
        </p:nvCxnSpPr>
        <p:spPr>
          <a:xfrm>
            <a:off x="2711257" y="3830711"/>
            <a:ext cx="2596576" cy="0"/>
          </a:xfrm>
          <a:prstGeom prst="line">
            <a:avLst/>
          </a:prstGeom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grpSp>
        <p:nvGrpSpPr>
          <p:cNvPr id="50" name="Gruppieren 49">
            <a:extLst>
              <a:ext uri="{FF2B5EF4-FFF2-40B4-BE49-F238E27FC236}">
                <a16:creationId xmlns:a16="http://schemas.microsoft.com/office/drawing/2014/main" id="{AE8FF5DD-0F69-94CD-E5C6-BF4111366C68}"/>
              </a:ext>
            </a:extLst>
          </p:cNvPr>
          <p:cNvGrpSpPr/>
          <p:nvPr/>
        </p:nvGrpSpPr>
        <p:grpSpPr>
          <a:xfrm>
            <a:off x="1430292" y="2874281"/>
            <a:ext cx="1280967" cy="1260000"/>
            <a:chOff x="1398758" y="3673888"/>
            <a:chExt cx="1280967" cy="1260000"/>
          </a:xfrm>
        </p:grpSpPr>
        <p:sp>
          <p:nvSpPr>
            <p:cNvPr id="9" name="Rechteck 8">
              <a:extLst>
                <a:ext uri="{FF2B5EF4-FFF2-40B4-BE49-F238E27FC236}">
                  <a16:creationId xmlns:a16="http://schemas.microsoft.com/office/drawing/2014/main" id="{8F729F81-6911-53C6-716D-0E24554FC6A4}"/>
                </a:ext>
              </a:extLst>
            </p:cNvPr>
            <p:cNvSpPr/>
            <p:nvPr/>
          </p:nvSpPr>
          <p:spPr>
            <a:xfrm>
              <a:off x="1398758" y="3673888"/>
              <a:ext cx="1260000" cy="1260000"/>
            </a:xfrm>
            <a:prstGeom prst="rect">
              <a:avLst/>
            </a:prstGeom>
            <a:solidFill>
              <a:schemeClr val="bg1">
                <a:lumMod val="50000"/>
              </a:schemeClr>
            </a:solidFill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1440"/>
                <a:t>App</a:t>
              </a:r>
            </a:p>
          </p:txBody>
        </p:sp>
        <p:sp>
          <p:nvSpPr>
            <p:cNvPr id="15" name="Ellipse 14">
              <a:extLst>
                <a:ext uri="{FF2B5EF4-FFF2-40B4-BE49-F238E27FC236}">
                  <a16:creationId xmlns:a16="http://schemas.microsoft.com/office/drawing/2014/main" id="{29968352-5BC7-5AD3-37C3-C7EC1A2DCA48}"/>
                </a:ext>
              </a:extLst>
            </p:cNvPr>
            <p:cNvSpPr/>
            <p:nvPr/>
          </p:nvSpPr>
          <p:spPr>
            <a:xfrm>
              <a:off x="2633396" y="3954599"/>
              <a:ext cx="45719" cy="45719"/>
            </a:xfrm>
            <a:prstGeom prst="ellipse">
              <a:avLst/>
            </a:prstGeom>
            <a:ln/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 sz="800">
                <a:solidFill>
                  <a:schemeClr val="tx1"/>
                </a:solidFill>
              </a:endParaRPr>
            </a:p>
          </p:txBody>
        </p:sp>
        <p:sp>
          <p:nvSpPr>
            <p:cNvPr id="16" name="Ellipse 15">
              <a:extLst>
                <a:ext uri="{FF2B5EF4-FFF2-40B4-BE49-F238E27FC236}">
                  <a16:creationId xmlns:a16="http://schemas.microsoft.com/office/drawing/2014/main" id="{032BD62B-69A4-8E99-1CBB-A0B36211BB4E}"/>
                </a:ext>
              </a:extLst>
            </p:cNvPr>
            <p:cNvSpPr/>
            <p:nvPr/>
          </p:nvSpPr>
          <p:spPr>
            <a:xfrm>
              <a:off x="2634006" y="4281028"/>
              <a:ext cx="45719" cy="45719"/>
            </a:xfrm>
            <a:prstGeom prst="ellipse">
              <a:avLst/>
            </a:prstGeom>
            <a:ln/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 sz="800">
                <a:solidFill>
                  <a:schemeClr val="tx1"/>
                </a:solidFill>
              </a:endParaRPr>
            </a:p>
          </p:txBody>
        </p:sp>
        <p:sp>
          <p:nvSpPr>
            <p:cNvPr id="17" name="Ellipse 16">
              <a:extLst>
                <a:ext uri="{FF2B5EF4-FFF2-40B4-BE49-F238E27FC236}">
                  <a16:creationId xmlns:a16="http://schemas.microsoft.com/office/drawing/2014/main" id="{A8C6AA90-00CD-9995-68BF-D14927F49C25}"/>
                </a:ext>
              </a:extLst>
            </p:cNvPr>
            <p:cNvSpPr/>
            <p:nvPr/>
          </p:nvSpPr>
          <p:spPr>
            <a:xfrm>
              <a:off x="2634006" y="4607458"/>
              <a:ext cx="45719" cy="45719"/>
            </a:xfrm>
            <a:prstGeom prst="ellipse">
              <a:avLst/>
            </a:prstGeom>
            <a:ln/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 sz="800">
                <a:solidFill>
                  <a:schemeClr val="tx1"/>
                </a:solidFill>
              </a:endParaRPr>
            </a:p>
          </p:txBody>
        </p:sp>
      </p:grpSp>
      <p:grpSp>
        <p:nvGrpSpPr>
          <p:cNvPr id="49" name="Gruppieren 48">
            <a:extLst>
              <a:ext uri="{FF2B5EF4-FFF2-40B4-BE49-F238E27FC236}">
                <a16:creationId xmlns:a16="http://schemas.microsoft.com/office/drawing/2014/main" id="{64A51F24-01B7-0D2F-EE94-0784C47DB1FD}"/>
              </a:ext>
            </a:extLst>
          </p:cNvPr>
          <p:cNvGrpSpPr/>
          <p:nvPr/>
        </p:nvGrpSpPr>
        <p:grpSpPr>
          <a:xfrm>
            <a:off x="5307225" y="2874281"/>
            <a:ext cx="1308831" cy="1260000"/>
            <a:chOff x="5275691" y="3673888"/>
            <a:chExt cx="1308831" cy="1260000"/>
          </a:xfrm>
        </p:grpSpPr>
        <p:sp>
          <p:nvSpPr>
            <p:cNvPr id="7" name="Rechteck 6">
              <a:extLst>
                <a:ext uri="{FF2B5EF4-FFF2-40B4-BE49-F238E27FC236}">
                  <a16:creationId xmlns:a16="http://schemas.microsoft.com/office/drawing/2014/main" id="{D9ACD396-053F-098F-6E39-579A071B2680}"/>
                </a:ext>
              </a:extLst>
            </p:cNvPr>
            <p:cNvSpPr/>
            <p:nvPr/>
          </p:nvSpPr>
          <p:spPr>
            <a:xfrm>
              <a:off x="5301663" y="3673888"/>
              <a:ext cx="1260000" cy="1260000"/>
            </a:xfrm>
            <a:prstGeom prst="rect">
              <a:avLst/>
            </a:prstGeom>
            <a:solidFill>
              <a:schemeClr val="bg1">
                <a:lumMod val="50000"/>
              </a:schemeClr>
            </a:solidFill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1440"/>
                <a:t>MWDI</a:t>
              </a:r>
            </a:p>
          </p:txBody>
        </p:sp>
        <p:sp>
          <p:nvSpPr>
            <p:cNvPr id="18" name="Ellipse 17">
              <a:extLst>
                <a:ext uri="{FF2B5EF4-FFF2-40B4-BE49-F238E27FC236}">
                  <a16:creationId xmlns:a16="http://schemas.microsoft.com/office/drawing/2014/main" id="{76C8B7B3-4DB8-7758-7D3B-4733C3103382}"/>
                </a:ext>
              </a:extLst>
            </p:cNvPr>
            <p:cNvSpPr/>
            <p:nvPr/>
          </p:nvSpPr>
          <p:spPr>
            <a:xfrm>
              <a:off x="5275691" y="3954599"/>
              <a:ext cx="45719" cy="45719"/>
            </a:xfrm>
            <a:prstGeom prst="ellipse">
              <a:avLst/>
            </a:prstGeom>
            <a:ln/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 sz="800">
                <a:solidFill>
                  <a:schemeClr val="tx1"/>
                </a:solidFill>
              </a:endParaRPr>
            </a:p>
          </p:txBody>
        </p:sp>
        <p:sp>
          <p:nvSpPr>
            <p:cNvPr id="19" name="Ellipse 18">
              <a:extLst>
                <a:ext uri="{FF2B5EF4-FFF2-40B4-BE49-F238E27FC236}">
                  <a16:creationId xmlns:a16="http://schemas.microsoft.com/office/drawing/2014/main" id="{B55D626B-9E23-1A5B-2E00-E5EDDDF2DC31}"/>
                </a:ext>
              </a:extLst>
            </p:cNvPr>
            <p:cNvSpPr/>
            <p:nvPr/>
          </p:nvSpPr>
          <p:spPr>
            <a:xfrm>
              <a:off x="5276301" y="4281028"/>
              <a:ext cx="45719" cy="45719"/>
            </a:xfrm>
            <a:prstGeom prst="ellipse">
              <a:avLst/>
            </a:prstGeom>
            <a:ln/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 sz="800">
                <a:solidFill>
                  <a:schemeClr val="tx1"/>
                </a:solidFill>
              </a:endParaRPr>
            </a:p>
          </p:txBody>
        </p:sp>
        <p:sp>
          <p:nvSpPr>
            <p:cNvPr id="20" name="Ellipse 19">
              <a:extLst>
                <a:ext uri="{FF2B5EF4-FFF2-40B4-BE49-F238E27FC236}">
                  <a16:creationId xmlns:a16="http://schemas.microsoft.com/office/drawing/2014/main" id="{35B14177-28C3-5A1E-CD0F-588C785F14DB}"/>
                </a:ext>
              </a:extLst>
            </p:cNvPr>
            <p:cNvSpPr/>
            <p:nvPr/>
          </p:nvSpPr>
          <p:spPr>
            <a:xfrm>
              <a:off x="5276301" y="4607458"/>
              <a:ext cx="45719" cy="45719"/>
            </a:xfrm>
            <a:prstGeom prst="ellipse">
              <a:avLst/>
            </a:prstGeom>
            <a:ln/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 sz="800">
                <a:solidFill>
                  <a:schemeClr val="tx1"/>
                </a:solidFill>
              </a:endParaRPr>
            </a:p>
          </p:txBody>
        </p:sp>
        <p:sp>
          <p:nvSpPr>
            <p:cNvPr id="21" name="Ellipse 20">
              <a:extLst>
                <a:ext uri="{FF2B5EF4-FFF2-40B4-BE49-F238E27FC236}">
                  <a16:creationId xmlns:a16="http://schemas.microsoft.com/office/drawing/2014/main" id="{ADE4D244-E117-810E-FE87-3CCDF7FC1B8C}"/>
                </a:ext>
              </a:extLst>
            </p:cNvPr>
            <p:cNvSpPr/>
            <p:nvPr/>
          </p:nvSpPr>
          <p:spPr>
            <a:xfrm>
              <a:off x="6538193" y="3954599"/>
              <a:ext cx="45719" cy="45719"/>
            </a:xfrm>
            <a:prstGeom prst="ellipse">
              <a:avLst/>
            </a:prstGeom>
            <a:ln/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 sz="800">
                <a:solidFill>
                  <a:schemeClr val="tx1"/>
                </a:solidFill>
              </a:endParaRPr>
            </a:p>
          </p:txBody>
        </p:sp>
        <p:sp>
          <p:nvSpPr>
            <p:cNvPr id="22" name="Ellipse 21">
              <a:extLst>
                <a:ext uri="{FF2B5EF4-FFF2-40B4-BE49-F238E27FC236}">
                  <a16:creationId xmlns:a16="http://schemas.microsoft.com/office/drawing/2014/main" id="{D0D0DCA3-8707-D186-05E8-6917AAF9187B}"/>
                </a:ext>
              </a:extLst>
            </p:cNvPr>
            <p:cNvSpPr/>
            <p:nvPr/>
          </p:nvSpPr>
          <p:spPr>
            <a:xfrm>
              <a:off x="6538803" y="4281028"/>
              <a:ext cx="45719" cy="45719"/>
            </a:xfrm>
            <a:prstGeom prst="ellipse">
              <a:avLst/>
            </a:prstGeom>
            <a:ln/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 sz="800">
                <a:solidFill>
                  <a:schemeClr val="tx1"/>
                </a:solidFill>
              </a:endParaRPr>
            </a:p>
          </p:txBody>
        </p:sp>
        <p:sp>
          <p:nvSpPr>
            <p:cNvPr id="23" name="Ellipse 22">
              <a:extLst>
                <a:ext uri="{FF2B5EF4-FFF2-40B4-BE49-F238E27FC236}">
                  <a16:creationId xmlns:a16="http://schemas.microsoft.com/office/drawing/2014/main" id="{012ABAB0-185A-7992-9793-D8DD22CF49D2}"/>
                </a:ext>
              </a:extLst>
            </p:cNvPr>
            <p:cNvSpPr/>
            <p:nvPr/>
          </p:nvSpPr>
          <p:spPr>
            <a:xfrm>
              <a:off x="6538803" y="4607458"/>
              <a:ext cx="45719" cy="45719"/>
            </a:xfrm>
            <a:prstGeom prst="ellipse">
              <a:avLst/>
            </a:prstGeom>
            <a:ln/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 sz="800">
                <a:solidFill>
                  <a:schemeClr val="tx1"/>
                </a:solidFill>
              </a:endParaRPr>
            </a:p>
          </p:txBody>
        </p:sp>
      </p:grpSp>
      <p:grpSp>
        <p:nvGrpSpPr>
          <p:cNvPr id="48" name="Gruppieren 47">
            <a:extLst>
              <a:ext uri="{FF2B5EF4-FFF2-40B4-BE49-F238E27FC236}">
                <a16:creationId xmlns:a16="http://schemas.microsoft.com/office/drawing/2014/main" id="{44E9702C-51E2-AFC6-3951-EF8A032F76C9}"/>
              </a:ext>
            </a:extLst>
          </p:cNvPr>
          <p:cNvGrpSpPr/>
          <p:nvPr/>
        </p:nvGrpSpPr>
        <p:grpSpPr>
          <a:xfrm>
            <a:off x="9210130" y="2874281"/>
            <a:ext cx="1308831" cy="1260000"/>
            <a:chOff x="9178596" y="3673888"/>
            <a:chExt cx="1308831" cy="1260000"/>
          </a:xfrm>
        </p:grpSpPr>
        <p:sp>
          <p:nvSpPr>
            <p:cNvPr id="4" name="Rechteck 3">
              <a:extLst>
                <a:ext uri="{FF2B5EF4-FFF2-40B4-BE49-F238E27FC236}">
                  <a16:creationId xmlns:a16="http://schemas.microsoft.com/office/drawing/2014/main" id="{A1B07028-9DDA-7F66-B27B-353CE67D042F}"/>
                </a:ext>
              </a:extLst>
            </p:cNvPr>
            <p:cNvSpPr/>
            <p:nvPr/>
          </p:nvSpPr>
          <p:spPr>
            <a:xfrm>
              <a:off x="9204568" y="3673888"/>
              <a:ext cx="1260000" cy="1260000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1440"/>
                <a:t>Controller</a:t>
              </a:r>
            </a:p>
          </p:txBody>
        </p:sp>
        <p:sp>
          <p:nvSpPr>
            <p:cNvPr id="31" name="Ellipse 30">
              <a:extLst>
                <a:ext uri="{FF2B5EF4-FFF2-40B4-BE49-F238E27FC236}">
                  <a16:creationId xmlns:a16="http://schemas.microsoft.com/office/drawing/2014/main" id="{6CDAE638-E460-9348-B48C-6379641A7504}"/>
                </a:ext>
              </a:extLst>
            </p:cNvPr>
            <p:cNvSpPr/>
            <p:nvPr/>
          </p:nvSpPr>
          <p:spPr>
            <a:xfrm>
              <a:off x="9178596" y="3954599"/>
              <a:ext cx="45719" cy="45719"/>
            </a:xfrm>
            <a:prstGeom prst="ellipse">
              <a:avLst/>
            </a:prstGeom>
            <a:ln/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 sz="800">
                <a:solidFill>
                  <a:schemeClr val="tx1"/>
                </a:solidFill>
              </a:endParaRPr>
            </a:p>
          </p:txBody>
        </p:sp>
        <p:sp>
          <p:nvSpPr>
            <p:cNvPr id="32" name="Ellipse 31">
              <a:extLst>
                <a:ext uri="{FF2B5EF4-FFF2-40B4-BE49-F238E27FC236}">
                  <a16:creationId xmlns:a16="http://schemas.microsoft.com/office/drawing/2014/main" id="{BE6D7D4B-E6A1-7A5C-1919-1066E23704E4}"/>
                </a:ext>
              </a:extLst>
            </p:cNvPr>
            <p:cNvSpPr/>
            <p:nvPr/>
          </p:nvSpPr>
          <p:spPr>
            <a:xfrm>
              <a:off x="9179206" y="4281028"/>
              <a:ext cx="45719" cy="45719"/>
            </a:xfrm>
            <a:prstGeom prst="ellipse">
              <a:avLst/>
            </a:prstGeom>
            <a:ln/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 sz="800">
                <a:solidFill>
                  <a:schemeClr val="tx1"/>
                </a:solidFill>
              </a:endParaRPr>
            </a:p>
          </p:txBody>
        </p:sp>
        <p:sp>
          <p:nvSpPr>
            <p:cNvPr id="33" name="Ellipse 32">
              <a:extLst>
                <a:ext uri="{FF2B5EF4-FFF2-40B4-BE49-F238E27FC236}">
                  <a16:creationId xmlns:a16="http://schemas.microsoft.com/office/drawing/2014/main" id="{2A7E4F72-7D1F-0E44-030B-E6F687D122D1}"/>
                </a:ext>
              </a:extLst>
            </p:cNvPr>
            <p:cNvSpPr/>
            <p:nvPr/>
          </p:nvSpPr>
          <p:spPr>
            <a:xfrm>
              <a:off x="9179206" y="4607458"/>
              <a:ext cx="45719" cy="45719"/>
            </a:xfrm>
            <a:prstGeom prst="ellipse">
              <a:avLst/>
            </a:prstGeom>
            <a:ln/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 sz="800">
                <a:solidFill>
                  <a:schemeClr val="tx1"/>
                </a:solidFill>
              </a:endParaRPr>
            </a:p>
          </p:txBody>
        </p:sp>
        <p:sp>
          <p:nvSpPr>
            <p:cNvPr id="34" name="Ellipse 33">
              <a:extLst>
                <a:ext uri="{FF2B5EF4-FFF2-40B4-BE49-F238E27FC236}">
                  <a16:creationId xmlns:a16="http://schemas.microsoft.com/office/drawing/2014/main" id="{206407B4-8ECE-021E-1A03-AF47F7B9E83E}"/>
                </a:ext>
              </a:extLst>
            </p:cNvPr>
            <p:cNvSpPr/>
            <p:nvPr/>
          </p:nvSpPr>
          <p:spPr>
            <a:xfrm>
              <a:off x="10441098" y="3954599"/>
              <a:ext cx="45719" cy="45719"/>
            </a:xfrm>
            <a:prstGeom prst="ellipse">
              <a:avLst/>
            </a:prstGeom>
            <a:ln/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 sz="800">
                <a:solidFill>
                  <a:schemeClr val="tx1"/>
                </a:solidFill>
              </a:endParaRPr>
            </a:p>
          </p:txBody>
        </p:sp>
        <p:sp>
          <p:nvSpPr>
            <p:cNvPr id="35" name="Ellipse 34">
              <a:extLst>
                <a:ext uri="{FF2B5EF4-FFF2-40B4-BE49-F238E27FC236}">
                  <a16:creationId xmlns:a16="http://schemas.microsoft.com/office/drawing/2014/main" id="{33187CE9-B892-2AFD-AB38-BB8958DD03BA}"/>
                </a:ext>
              </a:extLst>
            </p:cNvPr>
            <p:cNvSpPr/>
            <p:nvPr/>
          </p:nvSpPr>
          <p:spPr>
            <a:xfrm>
              <a:off x="10441708" y="4281028"/>
              <a:ext cx="45719" cy="45719"/>
            </a:xfrm>
            <a:prstGeom prst="ellipse">
              <a:avLst/>
            </a:prstGeom>
            <a:ln/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 sz="800">
                <a:solidFill>
                  <a:schemeClr val="tx1"/>
                </a:solidFill>
              </a:endParaRPr>
            </a:p>
          </p:txBody>
        </p:sp>
        <p:sp>
          <p:nvSpPr>
            <p:cNvPr id="36" name="Ellipse 35">
              <a:extLst>
                <a:ext uri="{FF2B5EF4-FFF2-40B4-BE49-F238E27FC236}">
                  <a16:creationId xmlns:a16="http://schemas.microsoft.com/office/drawing/2014/main" id="{20CD0AB2-DE58-BA48-54DE-8FCE795DC626}"/>
                </a:ext>
              </a:extLst>
            </p:cNvPr>
            <p:cNvSpPr/>
            <p:nvPr/>
          </p:nvSpPr>
          <p:spPr>
            <a:xfrm>
              <a:off x="10441708" y="4607458"/>
              <a:ext cx="45719" cy="45719"/>
            </a:xfrm>
            <a:prstGeom prst="ellipse">
              <a:avLst/>
            </a:prstGeom>
            <a:ln/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 sz="800">
                <a:solidFill>
                  <a:schemeClr val="tx1"/>
                </a:solidFill>
              </a:endParaRPr>
            </a:p>
          </p:txBody>
        </p:sp>
      </p:grpSp>
      <p:grpSp>
        <p:nvGrpSpPr>
          <p:cNvPr id="47" name="Gruppieren 46">
            <a:extLst>
              <a:ext uri="{FF2B5EF4-FFF2-40B4-BE49-F238E27FC236}">
                <a16:creationId xmlns:a16="http://schemas.microsoft.com/office/drawing/2014/main" id="{ACDB93A0-2E20-EAB5-5E77-E14468EEC040}"/>
              </a:ext>
            </a:extLst>
          </p:cNvPr>
          <p:cNvGrpSpPr/>
          <p:nvPr/>
        </p:nvGrpSpPr>
        <p:grpSpPr>
          <a:xfrm>
            <a:off x="13596662" y="2874281"/>
            <a:ext cx="1308831" cy="1260000"/>
            <a:chOff x="13565128" y="3673888"/>
            <a:chExt cx="1308831" cy="1260000"/>
          </a:xfrm>
        </p:grpSpPr>
        <p:sp>
          <p:nvSpPr>
            <p:cNvPr id="3" name="Rechteck 2">
              <a:extLst>
                <a:ext uri="{FF2B5EF4-FFF2-40B4-BE49-F238E27FC236}">
                  <a16:creationId xmlns:a16="http://schemas.microsoft.com/office/drawing/2014/main" id="{A0D90752-E600-F455-0214-43CAB7E7F87E}"/>
                </a:ext>
              </a:extLst>
            </p:cNvPr>
            <p:cNvSpPr/>
            <p:nvPr/>
          </p:nvSpPr>
          <p:spPr>
            <a:xfrm>
              <a:off x="13593211" y="3673888"/>
              <a:ext cx="1260000" cy="1260000"/>
            </a:xfrm>
            <a:prstGeom prst="rect">
              <a:avLst/>
            </a:prstGeom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1440"/>
                <a:t>Mediator</a:t>
              </a:r>
            </a:p>
          </p:txBody>
        </p:sp>
        <p:sp>
          <p:nvSpPr>
            <p:cNvPr id="37" name="Ellipse 36">
              <a:extLst>
                <a:ext uri="{FF2B5EF4-FFF2-40B4-BE49-F238E27FC236}">
                  <a16:creationId xmlns:a16="http://schemas.microsoft.com/office/drawing/2014/main" id="{B99D0CC0-05DA-53A5-C8E1-9D45E66A83C5}"/>
                </a:ext>
              </a:extLst>
            </p:cNvPr>
            <p:cNvSpPr/>
            <p:nvPr/>
          </p:nvSpPr>
          <p:spPr>
            <a:xfrm>
              <a:off x="13565128" y="3954599"/>
              <a:ext cx="45719" cy="45719"/>
            </a:xfrm>
            <a:prstGeom prst="ellipse">
              <a:avLst/>
            </a:prstGeom>
            <a:ln/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 sz="800">
                <a:solidFill>
                  <a:schemeClr val="tx1"/>
                </a:solidFill>
              </a:endParaRPr>
            </a:p>
          </p:txBody>
        </p:sp>
        <p:sp>
          <p:nvSpPr>
            <p:cNvPr id="38" name="Ellipse 37">
              <a:extLst>
                <a:ext uri="{FF2B5EF4-FFF2-40B4-BE49-F238E27FC236}">
                  <a16:creationId xmlns:a16="http://schemas.microsoft.com/office/drawing/2014/main" id="{30BC7643-AB67-AD60-6073-601A5A85AB72}"/>
                </a:ext>
              </a:extLst>
            </p:cNvPr>
            <p:cNvSpPr/>
            <p:nvPr/>
          </p:nvSpPr>
          <p:spPr>
            <a:xfrm>
              <a:off x="13565738" y="4281028"/>
              <a:ext cx="45719" cy="45719"/>
            </a:xfrm>
            <a:prstGeom prst="ellipse">
              <a:avLst/>
            </a:prstGeom>
            <a:ln/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 sz="800">
                <a:solidFill>
                  <a:schemeClr val="tx1"/>
                </a:solidFill>
              </a:endParaRPr>
            </a:p>
          </p:txBody>
        </p:sp>
        <p:sp>
          <p:nvSpPr>
            <p:cNvPr id="39" name="Ellipse 38">
              <a:extLst>
                <a:ext uri="{FF2B5EF4-FFF2-40B4-BE49-F238E27FC236}">
                  <a16:creationId xmlns:a16="http://schemas.microsoft.com/office/drawing/2014/main" id="{9C3D91A7-CF9E-7F00-0067-0C4FF862A152}"/>
                </a:ext>
              </a:extLst>
            </p:cNvPr>
            <p:cNvSpPr/>
            <p:nvPr/>
          </p:nvSpPr>
          <p:spPr>
            <a:xfrm>
              <a:off x="13565738" y="4607458"/>
              <a:ext cx="45719" cy="45719"/>
            </a:xfrm>
            <a:prstGeom prst="ellipse">
              <a:avLst/>
            </a:prstGeom>
            <a:ln/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 sz="800">
                <a:solidFill>
                  <a:schemeClr val="tx1"/>
                </a:solidFill>
              </a:endParaRPr>
            </a:p>
          </p:txBody>
        </p:sp>
        <p:sp>
          <p:nvSpPr>
            <p:cNvPr id="40" name="Ellipse 39">
              <a:extLst>
                <a:ext uri="{FF2B5EF4-FFF2-40B4-BE49-F238E27FC236}">
                  <a16:creationId xmlns:a16="http://schemas.microsoft.com/office/drawing/2014/main" id="{6B6F7CCB-1D34-AEC2-A285-88D28C4C759E}"/>
                </a:ext>
              </a:extLst>
            </p:cNvPr>
            <p:cNvSpPr/>
            <p:nvPr/>
          </p:nvSpPr>
          <p:spPr>
            <a:xfrm>
              <a:off x="14827630" y="3954599"/>
              <a:ext cx="45719" cy="45719"/>
            </a:xfrm>
            <a:prstGeom prst="ellipse">
              <a:avLst/>
            </a:prstGeom>
            <a:ln/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 sz="800">
                <a:solidFill>
                  <a:schemeClr val="tx1"/>
                </a:solidFill>
              </a:endParaRPr>
            </a:p>
          </p:txBody>
        </p:sp>
        <p:sp>
          <p:nvSpPr>
            <p:cNvPr id="41" name="Ellipse 40">
              <a:extLst>
                <a:ext uri="{FF2B5EF4-FFF2-40B4-BE49-F238E27FC236}">
                  <a16:creationId xmlns:a16="http://schemas.microsoft.com/office/drawing/2014/main" id="{F8EE7A2A-2AAA-62D3-EFD0-12A741008F83}"/>
                </a:ext>
              </a:extLst>
            </p:cNvPr>
            <p:cNvSpPr/>
            <p:nvPr/>
          </p:nvSpPr>
          <p:spPr>
            <a:xfrm>
              <a:off x="14828240" y="4281028"/>
              <a:ext cx="45719" cy="45719"/>
            </a:xfrm>
            <a:prstGeom prst="ellipse">
              <a:avLst/>
            </a:prstGeom>
            <a:ln/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 sz="800">
                <a:solidFill>
                  <a:schemeClr val="tx1"/>
                </a:solidFill>
              </a:endParaRPr>
            </a:p>
          </p:txBody>
        </p:sp>
        <p:sp>
          <p:nvSpPr>
            <p:cNvPr id="42" name="Ellipse 41">
              <a:extLst>
                <a:ext uri="{FF2B5EF4-FFF2-40B4-BE49-F238E27FC236}">
                  <a16:creationId xmlns:a16="http://schemas.microsoft.com/office/drawing/2014/main" id="{8BC01D64-4360-C779-329D-53F4E34B73C8}"/>
                </a:ext>
              </a:extLst>
            </p:cNvPr>
            <p:cNvSpPr/>
            <p:nvPr/>
          </p:nvSpPr>
          <p:spPr>
            <a:xfrm>
              <a:off x="14828240" y="4607458"/>
              <a:ext cx="45719" cy="45719"/>
            </a:xfrm>
            <a:prstGeom prst="ellipse">
              <a:avLst/>
            </a:prstGeom>
            <a:ln/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 sz="800">
                <a:solidFill>
                  <a:schemeClr val="tx1"/>
                </a:solidFill>
              </a:endParaRPr>
            </a:p>
          </p:txBody>
        </p:sp>
      </p:grpSp>
      <p:grpSp>
        <p:nvGrpSpPr>
          <p:cNvPr id="46" name="Gruppieren 45">
            <a:extLst>
              <a:ext uri="{FF2B5EF4-FFF2-40B4-BE49-F238E27FC236}">
                <a16:creationId xmlns:a16="http://schemas.microsoft.com/office/drawing/2014/main" id="{083FE96D-5BFD-BE19-9D31-9BCA0E038D76}"/>
              </a:ext>
            </a:extLst>
          </p:cNvPr>
          <p:cNvGrpSpPr/>
          <p:nvPr/>
        </p:nvGrpSpPr>
        <p:grpSpPr>
          <a:xfrm>
            <a:off x="17984399" y="2874281"/>
            <a:ext cx="1288986" cy="1260000"/>
            <a:chOff x="17952867" y="3673888"/>
            <a:chExt cx="1288986" cy="1260000"/>
          </a:xfrm>
        </p:grpSpPr>
        <p:sp>
          <p:nvSpPr>
            <p:cNvPr id="2" name="Rechteck 1">
              <a:extLst>
                <a:ext uri="{FF2B5EF4-FFF2-40B4-BE49-F238E27FC236}">
                  <a16:creationId xmlns:a16="http://schemas.microsoft.com/office/drawing/2014/main" id="{0BB5D594-F1DB-B50A-6F3D-508ABF55786F}"/>
                </a:ext>
              </a:extLst>
            </p:cNvPr>
            <p:cNvSpPr/>
            <p:nvPr/>
          </p:nvSpPr>
          <p:spPr>
            <a:xfrm>
              <a:off x="17981853" y="3673888"/>
              <a:ext cx="1260000" cy="126000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1440"/>
                <a:t>Device</a:t>
              </a:r>
            </a:p>
          </p:txBody>
        </p:sp>
        <p:sp>
          <p:nvSpPr>
            <p:cNvPr id="43" name="Ellipse 42">
              <a:extLst>
                <a:ext uri="{FF2B5EF4-FFF2-40B4-BE49-F238E27FC236}">
                  <a16:creationId xmlns:a16="http://schemas.microsoft.com/office/drawing/2014/main" id="{5787C7D1-BC29-2037-C7E6-1111E88F43A2}"/>
                </a:ext>
              </a:extLst>
            </p:cNvPr>
            <p:cNvSpPr/>
            <p:nvPr/>
          </p:nvSpPr>
          <p:spPr>
            <a:xfrm>
              <a:off x="17952867" y="3954599"/>
              <a:ext cx="45719" cy="45719"/>
            </a:xfrm>
            <a:prstGeom prst="ellipse">
              <a:avLst/>
            </a:prstGeom>
            <a:ln/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 sz="800">
                <a:solidFill>
                  <a:schemeClr val="tx1"/>
                </a:solidFill>
              </a:endParaRPr>
            </a:p>
          </p:txBody>
        </p:sp>
        <p:sp>
          <p:nvSpPr>
            <p:cNvPr id="44" name="Ellipse 43">
              <a:extLst>
                <a:ext uri="{FF2B5EF4-FFF2-40B4-BE49-F238E27FC236}">
                  <a16:creationId xmlns:a16="http://schemas.microsoft.com/office/drawing/2014/main" id="{7FF33434-68A4-4083-BCDB-F616C66FA7FF}"/>
                </a:ext>
              </a:extLst>
            </p:cNvPr>
            <p:cNvSpPr/>
            <p:nvPr/>
          </p:nvSpPr>
          <p:spPr>
            <a:xfrm>
              <a:off x="17953477" y="4281028"/>
              <a:ext cx="45719" cy="45719"/>
            </a:xfrm>
            <a:prstGeom prst="ellipse">
              <a:avLst/>
            </a:prstGeom>
            <a:ln/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 sz="800">
                <a:solidFill>
                  <a:schemeClr val="tx1"/>
                </a:solidFill>
              </a:endParaRPr>
            </a:p>
          </p:txBody>
        </p:sp>
        <p:sp>
          <p:nvSpPr>
            <p:cNvPr id="45" name="Ellipse 44">
              <a:extLst>
                <a:ext uri="{FF2B5EF4-FFF2-40B4-BE49-F238E27FC236}">
                  <a16:creationId xmlns:a16="http://schemas.microsoft.com/office/drawing/2014/main" id="{D4D61CF3-37D7-0039-79B0-B9C56150DD73}"/>
                </a:ext>
              </a:extLst>
            </p:cNvPr>
            <p:cNvSpPr/>
            <p:nvPr/>
          </p:nvSpPr>
          <p:spPr>
            <a:xfrm>
              <a:off x="17953477" y="4607458"/>
              <a:ext cx="45719" cy="45719"/>
            </a:xfrm>
            <a:prstGeom prst="ellipse">
              <a:avLst/>
            </a:prstGeom>
            <a:ln/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 sz="800">
                <a:solidFill>
                  <a:schemeClr val="tx1"/>
                </a:solidFill>
              </a:endParaRPr>
            </a:p>
          </p:txBody>
        </p:sp>
      </p:grpSp>
      <p:cxnSp>
        <p:nvCxnSpPr>
          <p:cNvPr id="56" name="Gerader Verbinder 55">
            <a:extLst>
              <a:ext uri="{FF2B5EF4-FFF2-40B4-BE49-F238E27FC236}">
                <a16:creationId xmlns:a16="http://schemas.microsoft.com/office/drawing/2014/main" id="{ED99F935-BC1C-7FB5-AA10-C25DB56C26BA}"/>
              </a:ext>
            </a:extLst>
          </p:cNvPr>
          <p:cNvCxnSpPr>
            <a:cxnSpLocks/>
            <a:stCxn id="36" idx="6"/>
            <a:endCxn id="39" idx="2"/>
          </p:cNvCxnSpPr>
          <p:nvPr/>
        </p:nvCxnSpPr>
        <p:spPr>
          <a:xfrm>
            <a:off x="10518961" y="3830711"/>
            <a:ext cx="3078311" cy="0"/>
          </a:xfrm>
          <a:prstGeom prst="line">
            <a:avLst/>
          </a:prstGeom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59" name="Gerader Verbinder 58">
            <a:extLst>
              <a:ext uri="{FF2B5EF4-FFF2-40B4-BE49-F238E27FC236}">
                <a16:creationId xmlns:a16="http://schemas.microsoft.com/office/drawing/2014/main" id="{FF8B944E-61B3-5541-4813-24A7010A3273}"/>
              </a:ext>
            </a:extLst>
          </p:cNvPr>
          <p:cNvCxnSpPr>
            <a:cxnSpLocks/>
            <a:stCxn id="42" idx="6"/>
            <a:endCxn id="45" idx="2"/>
          </p:cNvCxnSpPr>
          <p:nvPr/>
        </p:nvCxnSpPr>
        <p:spPr>
          <a:xfrm>
            <a:off x="14905491" y="3830711"/>
            <a:ext cx="3079518" cy="0"/>
          </a:xfrm>
          <a:prstGeom prst="line">
            <a:avLst/>
          </a:prstGeom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sp>
        <p:nvSpPr>
          <p:cNvPr id="62" name="Textfeld 61">
            <a:extLst>
              <a:ext uri="{FF2B5EF4-FFF2-40B4-BE49-F238E27FC236}">
                <a16:creationId xmlns:a16="http://schemas.microsoft.com/office/drawing/2014/main" id="{BCDF4640-A923-C50A-D33F-C95DCE08E5DF}"/>
              </a:ext>
            </a:extLst>
          </p:cNvPr>
          <p:cNvSpPr txBox="1"/>
          <p:nvPr/>
        </p:nvSpPr>
        <p:spPr>
          <a:xfrm>
            <a:off x="16137746" y="3606872"/>
            <a:ext cx="60305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200"/>
              <a:t>42ooo</a:t>
            </a:r>
          </a:p>
        </p:txBody>
      </p:sp>
      <p:sp>
        <p:nvSpPr>
          <p:cNvPr id="63" name="Textfeld 62">
            <a:extLst>
              <a:ext uri="{FF2B5EF4-FFF2-40B4-BE49-F238E27FC236}">
                <a16:creationId xmlns:a16="http://schemas.microsoft.com/office/drawing/2014/main" id="{10976B8C-D8E4-9C83-78A0-E39C05AC7017}"/>
              </a:ext>
            </a:extLst>
          </p:cNvPr>
          <p:cNvSpPr txBox="1"/>
          <p:nvPr/>
        </p:nvSpPr>
        <p:spPr>
          <a:xfrm>
            <a:off x="11651601" y="3606872"/>
            <a:ext cx="60305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200"/>
              <a:t>42ooo</a:t>
            </a:r>
          </a:p>
        </p:txBody>
      </p:sp>
      <p:sp>
        <p:nvSpPr>
          <p:cNvPr id="73" name="Textfeld 72">
            <a:extLst>
              <a:ext uri="{FF2B5EF4-FFF2-40B4-BE49-F238E27FC236}">
                <a16:creationId xmlns:a16="http://schemas.microsoft.com/office/drawing/2014/main" id="{8B2B3BEB-4ABD-3B35-BFD8-E9EC20B947F6}"/>
              </a:ext>
            </a:extLst>
          </p:cNvPr>
          <p:cNvSpPr txBox="1"/>
          <p:nvPr/>
        </p:nvSpPr>
        <p:spPr>
          <a:xfrm>
            <a:off x="7800197" y="3606872"/>
            <a:ext cx="26642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200"/>
              <a:t>1</a:t>
            </a:r>
          </a:p>
        </p:txBody>
      </p:sp>
      <p:sp>
        <p:nvSpPr>
          <p:cNvPr id="74" name="Textfeld 73">
            <a:extLst>
              <a:ext uri="{FF2B5EF4-FFF2-40B4-BE49-F238E27FC236}">
                <a16:creationId xmlns:a16="http://schemas.microsoft.com/office/drawing/2014/main" id="{E88919C4-04D4-F788-2D5F-5F9BD515EBC1}"/>
              </a:ext>
            </a:extLst>
          </p:cNvPr>
          <p:cNvSpPr txBox="1"/>
          <p:nvPr/>
        </p:nvSpPr>
        <p:spPr>
          <a:xfrm>
            <a:off x="3878329" y="3606872"/>
            <a:ext cx="26642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200"/>
              <a:t>1</a:t>
            </a:r>
          </a:p>
        </p:txBody>
      </p:sp>
      <p:cxnSp>
        <p:nvCxnSpPr>
          <p:cNvPr id="79" name="Gerader Verbinder 78">
            <a:extLst>
              <a:ext uri="{FF2B5EF4-FFF2-40B4-BE49-F238E27FC236}">
                <a16:creationId xmlns:a16="http://schemas.microsoft.com/office/drawing/2014/main" id="{8885771B-7D60-4D67-1DC8-58927B546288}"/>
              </a:ext>
            </a:extLst>
          </p:cNvPr>
          <p:cNvCxnSpPr>
            <a:cxnSpLocks/>
            <a:stCxn id="22" idx="6"/>
            <a:endCxn id="32" idx="2"/>
          </p:cNvCxnSpPr>
          <p:nvPr/>
        </p:nvCxnSpPr>
        <p:spPr>
          <a:xfrm>
            <a:off x="6616054" y="3504281"/>
            <a:ext cx="2594684" cy="0"/>
          </a:xfrm>
          <a:prstGeom prst="line">
            <a:avLst/>
          </a:prstGeom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cxnSp>
        <p:nvCxnSpPr>
          <p:cNvPr id="80" name="Gerader Verbinder 79">
            <a:extLst>
              <a:ext uri="{FF2B5EF4-FFF2-40B4-BE49-F238E27FC236}">
                <a16:creationId xmlns:a16="http://schemas.microsoft.com/office/drawing/2014/main" id="{52E4B6B1-5F47-45D4-F97F-5497D49E3D10}"/>
              </a:ext>
            </a:extLst>
          </p:cNvPr>
          <p:cNvCxnSpPr>
            <a:cxnSpLocks/>
            <a:stCxn id="16" idx="6"/>
            <a:endCxn id="19" idx="2"/>
          </p:cNvCxnSpPr>
          <p:nvPr/>
        </p:nvCxnSpPr>
        <p:spPr>
          <a:xfrm>
            <a:off x="2711257" y="3504281"/>
            <a:ext cx="2596576" cy="0"/>
          </a:xfrm>
          <a:prstGeom prst="line">
            <a:avLst/>
          </a:prstGeom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cxnSp>
        <p:nvCxnSpPr>
          <p:cNvPr id="81" name="Gerader Verbinder 80">
            <a:extLst>
              <a:ext uri="{FF2B5EF4-FFF2-40B4-BE49-F238E27FC236}">
                <a16:creationId xmlns:a16="http://schemas.microsoft.com/office/drawing/2014/main" id="{BC29E72E-8D36-95B1-1907-CDE61FE7D64F}"/>
              </a:ext>
            </a:extLst>
          </p:cNvPr>
          <p:cNvCxnSpPr>
            <a:cxnSpLocks/>
            <a:stCxn id="35" idx="6"/>
            <a:endCxn id="38" idx="2"/>
          </p:cNvCxnSpPr>
          <p:nvPr/>
        </p:nvCxnSpPr>
        <p:spPr>
          <a:xfrm>
            <a:off x="10518961" y="3504281"/>
            <a:ext cx="3078311" cy="0"/>
          </a:xfrm>
          <a:prstGeom prst="line">
            <a:avLst/>
          </a:prstGeom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cxnSp>
        <p:nvCxnSpPr>
          <p:cNvPr id="82" name="Gerader Verbinder 81">
            <a:extLst>
              <a:ext uri="{FF2B5EF4-FFF2-40B4-BE49-F238E27FC236}">
                <a16:creationId xmlns:a16="http://schemas.microsoft.com/office/drawing/2014/main" id="{E601EBED-2241-F91D-096B-94B6BFABEB7D}"/>
              </a:ext>
            </a:extLst>
          </p:cNvPr>
          <p:cNvCxnSpPr>
            <a:cxnSpLocks/>
            <a:stCxn id="41" idx="6"/>
            <a:endCxn id="44" idx="2"/>
          </p:cNvCxnSpPr>
          <p:nvPr/>
        </p:nvCxnSpPr>
        <p:spPr>
          <a:xfrm>
            <a:off x="14905491" y="3504281"/>
            <a:ext cx="3079518" cy="0"/>
          </a:xfrm>
          <a:prstGeom prst="line">
            <a:avLst/>
          </a:prstGeom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sp>
        <p:nvSpPr>
          <p:cNvPr id="83" name="Textfeld 82">
            <a:extLst>
              <a:ext uri="{FF2B5EF4-FFF2-40B4-BE49-F238E27FC236}">
                <a16:creationId xmlns:a16="http://schemas.microsoft.com/office/drawing/2014/main" id="{D7F48A95-951D-7F41-BAAF-E8A53492969E}"/>
              </a:ext>
            </a:extLst>
          </p:cNvPr>
          <p:cNvSpPr txBox="1"/>
          <p:nvPr/>
        </p:nvSpPr>
        <p:spPr>
          <a:xfrm>
            <a:off x="16137746" y="3277961"/>
            <a:ext cx="60305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200"/>
              <a:t>42ooo</a:t>
            </a:r>
          </a:p>
        </p:txBody>
      </p:sp>
      <p:sp>
        <p:nvSpPr>
          <p:cNvPr id="84" name="Textfeld 83">
            <a:extLst>
              <a:ext uri="{FF2B5EF4-FFF2-40B4-BE49-F238E27FC236}">
                <a16:creationId xmlns:a16="http://schemas.microsoft.com/office/drawing/2014/main" id="{43B7A890-9072-1201-E3D8-951559C79B92}"/>
              </a:ext>
            </a:extLst>
          </p:cNvPr>
          <p:cNvSpPr txBox="1"/>
          <p:nvPr/>
        </p:nvSpPr>
        <p:spPr>
          <a:xfrm>
            <a:off x="11651601" y="3277961"/>
            <a:ext cx="60305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200"/>
              <a:t>42ooo</a:t>
            </a:r>
          </a:p>
        </p:txBody>
      </p:sp>
      <p:sp>
        <p:nvSpPr>
          <p:cNvPr id="85" name="Textfeld 84">
            <a:extLst>
              <a:ext uri="{FF2B5EF4-FFF2-40B4-BE49-F238E27FC236}">
                <a16:creationId xmlns:a16="http://schemas.microsoft.com/office/drawing/2014/main" id="{EF7C5B4D-87FD-393D-33BE-08FC530AD93F}"/>
              </a:ext>
            </a:extLst>
          </p:cNvPr>
          <p:cNvSpPr txBox="1"/>
          <p:nvPr/>
        </p:nvSpPr>
        <p:spPr>
          <a:xfrm>
            <a:off x="7800197" y="3277961"/>
            <a:ext cx="26642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200"/>
              <a:t>1</a:t>
            </a:r>
          </a:p>
        </p:txBody>
      </p:sp>
      <p:sp>
        <p:nvSpPr>
          <p:cNvPr id="86" name="Textfeld 85">
            <a:extLst>
              <a:ext uri="{FF2B5EF4-FFF2-40B4-BE49-F238E27FC236}">
                <a16:creationId xmlns:a16="http://schemas.microsoft.com/office/drawing/2014/main" id="{759EB66E-2779-F3D3-CFB5-59B0954FB901}"/>
              </a:ext>
            </a:extLst>
          </p:cNvPr>
          <p:cNvSpPr txBox="1"/>
          <p:nvPr/>
        </p:nvSpPr>
        <p:spPr>
          <a:xfrm>
            <a:off x="3878329" y="3277961"/>
            <a:ext cx="26642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200"/>
              <a:t>1</a:t>
            </a:r>
          </a:p>
        </p:txBody>
      </p:sp>
      <p:cxnSp>
        <p:nvCxnSpPr>
          <p:cNvPr id="95" name="Gerader Verbinder 94">
            <a:extLst>
              <a:ext uri="{FF2B5EF4-FFF2-40B4-BE49-F238E27FC236}">
                <a16:creationId xmlns:a16="http://schemas.microsoft.com/office/drawing/2014/main" id="{CA3EBB93-7CD2-AACC-5EBB-7D31CDA4CFA0}"/>
              </a:ext>
            </a:extLst>
          </p:cNvPr>
          <p:cNvCxnSpPr>
            <a:cxnSpLocks/>
            <a:stCxn id="21" idx="6"/>
            <a:endCxn id="31" idx="2"/>
          </p:cNvCxnSpPr>
          <p:nvPr/>
        </p:nvCxnSpPr>
        <p:spPr>
          <a:xfrm>
            <a:off x="6615444" y="3177852"/>
            <a:ext cx="2594684" cy="0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96" name="Gerader Verbinder 95">
            <a:extLst>
              <a:ext uri="{FF2B5EF4-FFF2-40B4-BE49-F238E27FC236}">
                <a16:creationId xmlns:a16="http://schemas.microsoft.com/office/drawing/2014/main" id="{B144BA72-D2A1-464F-BC3B-A2F67BF9DA23}"/>
              </a:ext>
            </a:extLst>
          </p:cNvPr>
          <p:cNvCxnSpPr>
            <a:cxnSpLocks/>
            <a:stCxn id="15" idx="6"/>
            <a:endCxn id="18" idx="2"/>
          </p:cNvCxnSpPr>
          <p:nvPr/>
        </p:nvCxnSpPr>
        <p:spPr>
          <a:xfrm>
            <a:off x="2710647" y="3177852"/>
            <a:ext cx="2596576" cy="0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97" name="Gerader Verbinder 96">
            <a:extLst>
              <a:ext uri="{FF2B5EF4-FFF2-40B4-BE49-F238E27FC236}">
                <a16:creationId xmlns:a16="http://schemas.microsoft.com/office/drawing/2014/main" id="{7CE98A98-9BDB-7C66-5508-98080A443ADD}"/>
              </a:ext>
            </a:extLst>
          </p:cNvPr>
          <p:cNvCxnSpPr>
            <a:cxnSpLocks/>
            <a:stCxn id="34" idx="6"/>
            <a:endCxn id="37" idx="2"/>
          </p:cNvCxnSpPr>
          <p:nvPr/>
        </p:nvCxnSpPr>
        <p:spPr>
          <a:xfrm>
            <a:off x="10518351" y="3177852"/>
            <a:ext cx="3078311" cy="0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98" name="Gerader Verbinder 97">
            <a:extLst>
              <a:ext uri="{FF2B5EF4-FFF2-40B4-BE49-F238E27FC236}">
                <a16:creationId xmlns:a16="http://schemas.microsoft.com/office/drawing/2014/main" id="{6282EA90-F799-C253-8E43-89E00032E84F}"/>
              </a:ext>
            </a:extLst>
          </p:cNvPr>
          <p:cNvCxnSpPr>
            <a:cxnSpLocks/>
            <a:stCxn id="40" idx="6"/>
            <a:endCxn id="43" idx="2"/>
          </p:cNvCxnSpPr>
          <p:nvPr/>
        </p:nvCxnSpPr>
        <p:spPr>
          <a:xfrm>
            <a:off x="14904881" y="3177852"/>
            <a:ext cx="3079518" cy="0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99" name="Textfeld 98">
            <a:extLst>
              <a:ext uri="{FF2B5EF4-FFF2-40B4-BE49-F238E27FC236}">
                <a16:creationId xmlns:a16="http://schemas.microsoft.com/office/drawing/2014/main" id="{1CE85E13-D3E1-CDE4-FA8A-7B4CB9781801}"/>
              </a:ext>
            </a:extLst>
          </p:cNvPr>
          <p:cNvSpPr txBox="1"/>
          <p:nvPr/>
        </p:nvSpPr>
        <p:spPr>
          <a:xfrm>
            <a:off x="16264577" y="2957861"/>
            <a:ext cx="34817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200"/>
              <a:t>64</a:t>
            </a:r>
          </a:p>
        </p:txBody>
      </p:sp>
      <p:sp>
        <p:nvSpPr>
          <p:cNvPr id="100" name="Textfeld 99">
            <a:extLst>
              <a:ext uri="{FF2B5EF4-FFF2-40B4-BE49-F238E27FC236}">
                <a16:creationId xmlns:a16="http://schemas.microsoft.com/office/drawing/2014/main" id="{BBF2B485-0227-7BD9-6033-C4315B506AE6}"/>
              </a:ext>
            </a:extLst>
          </p:cNvPr>
          <p:cNvSpPr txBox="1"/>
          <p:nvPr/>
        </p:nvSpPr>
        <p:spPr>
          <a:xfrm>
            <a:off x="11778432" y="2957861"/>
            <a:ext cx="34817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200"/>
              <a:t>64</a:t>
            </a:r>
          </a:p>
        </p:txBody>
      </p:sp>
      <p:sp>
        <p:nvSpPr>
          <p:cNvPr id="101" name="Textfeld 100">
            <a:extLst>
              <a:ext uri="{FF2B5EF4-FFF2-40B4-BE49-F238E27FC236}">
                <a16:creationId xmlns:a16="http://schemas.microsoft.com/office/drawing/2014/main" id="{C815FC97-AD4D-0C80-F066-35BB0B840AC8}"/>
              </a:ext>
            </a:extLst>
          </p:cNvPr>
          <p:cNvSpPr txBox="1"/>
          <p:nvPr/>
        </p:nvSpPr>
        <p:spPr>
          <a:xfrm>
            <a:off x="7483796" y="2957861"/>
            <a:ext cx="89800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200"/>
              <a:t>64 x 42ooo</a:t>
            </a:r>
          </a:p>
        </p:txBody>
      </p:sp>
      <p:sp>
        <p:nvSpPr>
          <p:cNvPr id="102" name="Textfeld 101">
            <a:extLst>
              <a:ext uri="{FF2B5EF4-FFF2-40B4-BE49-F238E27FC236}">
                <a16:creationId xmlns:a16="http://schemas.microsoft.com/office/drawing/2014/main" id="{308F75B1-D1B4-38E1-CF26-C30BA04F2A8A}"/>
              </a:ext>
            </a:extLst>
          </p:cNvPr>
          <p:cNvSpPr txBox="1"/>
          <p:nvPr/>
        </p:nvSpPr>
        <p:spPr>
          <a:xfrm>
            <a:off x="3455330" y="2957861"/>
            <a:ext cx="111120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200"/>
              <a:t>2 x 64 x 42ooo</a:t>
            </a:r>
          </a:p>
        </p:txBody>
      </p:sp>
      <p:sp>
        <p:nvSpPr>
          <p:cNvPr id="111" name="Zylinder 110">
            <a:extLst>
              <a:ext uri="{FF2B5EF4-FFF2-40B4-BE49-F238E27FC236}">
                <a16:creationId xmlns:a16="http://schemas.microsoft.com/office/drawing/2014/main" id="{EEAF48E4-E9A4-2D4B-7617-7D8C20BAC087}"/>
              </a:ext>
            </a:extLst>
          </p:cNvPr>
          <p:cNvSpPr/>
          <p:nvPr/>
        </p:nvSpPr>
        <p:spPr>
          <a:xfrm>
            <a:off x="5333195" y="4630799"/>
            <a:ext cx="1260000" cy="646383"/>
          </a:xfrm>
          <a:prstGeom prst="can">
            <a:avLst/>
          </a:prstGeom>
          <a:solidFill>
            <a:schemeClr val="bg1">
              <a:lumMod val="50000"/>
            </a:schemeClr>
          </a:solidFill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ES</a:t>
            </a:r>
          </a:p>
        </p:txBody>
      </p:sp>
      <p:cxnSp>
        <p:nvCxnSpPr>
          <p:cNvPr id="112" name="Gerader Verbinder 111">
            <a:extLst>
              <a:ext uri="{FF2B5EF4-FFF2-40B4-BE49-F238E27FC236}">
                <a16:creationId xmlns:a16="http://schemas.microsoft.com/office/drawing/2014/main" id="{4FD7D465-6D31-BFEF-B46D-1454ADFAA9B3}"/>
              </a:ext>
            </a:extLst>
          </p:cNvPr>
          <p:cNvCxnSpPr>
            <a:cxnSpLocks/>
            <a:stCxn id="7" idx="2"/>
            <a:endCxn id="111" idx="1"/>
          </p:cNvCxnSpPr>
          <p:nvPr/>
        </p:nvCxnSpPr>
        <p:spPr>
          <a:xfrm>
            <a:off x="5963195" y="4134281"/>
            <a:ext cx="0" cy="496516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116" name="Textfeld 115">
            <a:extLst>
              <a:ext uri="{FF2B5EF4-FFF2-40B4-BE49-F238E27FC236}">
                <a16:creationId xmlns:a16="http://schemas.microsoft.com/office/drawing/2014/main" id="{3DF136E3-FD31-8918-9947-5F2C1C7D86FD}"/>
              </a:ext>
            </a:extLst>
          </p:cNvPr>
          <p:cNvSpPr txBox="1"/>
          <p:nvPr/>
        </p:nvSpPr>
        <p:spPr>
          <a:xfrm>
            <a:off x="5963195" y="4254855"/>
            <a:ext cx="89800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200"/>
              <a:t>64 x 42ooo</a:t>
            </a:r>
          </a:p>
        </p:txBody>
      </p:sp>
      <p:sp>
        <p:nvSpPr>
          <p:cNvPr id="117" name="Ellipse 116">
            <a:extLst>
              <a:ext uri="{FF2B5EF4-FFF2-40B4-BE49-F238E27FC236}">
                <a16:creationId xmlns:a16="http://schemas.microsoft.com/office/drawing/2014/main" id="{A6214C1A-00CB-38C4-E48D-E4041FFB9D28}"/>
              </a:ext>
            </a:extLst>
          </p:cNvPr>
          <p:cNvSpPr/>
          <p:nvPr/>
        </p:nvSpPr>
        <p:spPr>
          <a:xfrm>
            <a:off x="10449322" y="7175263"/>
            <a:ext cx="8611707" cy="390992"/>
          </a:xfrm>
          <a:prstGeom prst="ellipse">
            <a:avLst/>
          </a:prstGeom>
          <a:solidFill>
            <a:schemeClr val="accent4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305251234</a:t>
            </a:r>
          </a:p>
        </p:txBody>
      </p:sp>
      <p:sp>
        <p:nvSpPr>
          <p:cNvPr id="118" name="Ellipse 117">
            <a:extLst>
              <a:ext uri="{FF2B5EF4-FFF2-40B4-BE49-F238E27FC236}">
                <a16:creationId xmlns:a16="http://schemas.microsoft.com/office/drawing/2014/main" id="{C085F62A-119E-7200-7A6A-22973EC1DAC0}"/>
              </a:ext>
            </a:extLst>
          </p:cNvPr>
          <p:cNvSpPr/>
          <p:nvPr/>
        </p:nvSpPr>
        <p:spPr>
          <a:xfrm>
            <a:off x="10449322" y="7064982"/>
            <a:ext cx="8611707" cy="390992"/>
          </a:xfrm>
          <a:prstGeom prst="ellipse">
            <a:avLst/>
          </a:prstGeom>
          <a:solidFill>
            <a:schemeClr val="accent4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305251234</a:t>
            </a:r>
          </a:p>
        </p:txBody>
      </p:sp>
      <p:sp>
        <p:nvSpPr>
          <p:cNvPr id="119" name="Ellipse 118">
            <a:extLst>
              <a:ext uri="{FF2B5EF4-FFF2-40B4-BE49-F238E27FC236}">
                <a16:creationId xmlns:a16="http://schemas.microsoft.com/office/drawing/2014/main" id="{501C3D70-C860-9451-D948-575F8C49F169}"/>
              </a:ext>
            </a:extLst>
          </p:cNvPr>
          <p:cNvSpPr/>
          <p:nvPr/>
        </p:nvSpPr>
        <p:spPr>
          <a:xfrm>
            <a:off x="10449322" y="6931317"/>
            <a:ext cx="8611707" cy="390992"/>
          </a:xfrm>
          <a:prstGeom prst="ellipse">
            <a:avLst/>
          </a:prstGeom>
          <a:solidFill>
            <a:schemeClr val="accent4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305251234</a:t>
            </a:r>
          </a:p>
        </p:txBody>
      </p:sp>
      <p:sp>
        <p:nvSpPr>
          <p:cNvPr id="120" name="Ellipse 119">
            <a:extLst>
              <a:ext uri="{FF2B5EF4-FFF2-40B4-BE49-F238E27FC236}">
                <a16:creationId xmlns:a16="http://schemas.microsoft.com/office/drawing/2014/main" id="{36E1CA6E-4E8C-B872-7092-F763D320DFBC}"/>
              </a:ext>
            </a:extLst>
          </p:cNvPr>
          <p:cNvSpPr/>
          <p:nvPr/>
        </p:nvSpPr>
        <p:spPr>
          <a:xfrm>
            <a:off x="10449322" y="6788978"/>
            <a:ext cx="8611707" cy="390992"/>
          </a:xfrm>
          <a:prstGeom prst="ellipse">
            <a:avLst/>
          </a:prstGeom>
          <a:solidFill>
            <a:schemeClr val="accent4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305251234</a:t>
            </a:r>
          </a:p>
        </p:txBody>
      </p:sp>
      <p:sp>
        <p:nvSpPr>
          <p:cNvPr id="124" name="Rechteck 123">
            <a:extLst>
              <a:ext uri="{FF2B5EF4-FFF2-40B4-BE49-F238E27FC236}">
                <a16:creationId xmlns:a16="http://schemas.microsoft.com/office/drawing/2014/main" id="{972E8878-090E-BD88-49B5-278906ACB9F8}"/>
              </a:ext>
            </a:extLst>
          </p:cNvPr>
          <p:cNvSpPr/>
          <p:nvPr/>
        </p:nvSpPr>
        <p:spPr>
          <a:xfrm>
            <a:off x="5260441" y="6949033"/>
            <a:ext cx="1255576" cy="452460"/>
          </a:xfrm>
          <a:prstGeom prst="rect">
            <a:avLst/>
          </a:prstGeom>
          <a:noFill/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MWDI</a:t>
            </a:r>
          </a:p>
        </p:txBody>
      </p:sp>
      <p:sp>
        <p:nvSpPr>
          <p:cNvPr id="122" name="Ellipse 121">
            <a:extLst>
              <a:ext uri="{FF2B5EF4-FFF2-40B4-BE49-F238E27FC236}">
                <a16:creationId xmlns:a16="http://schemas.microsoft.com/office/drawing/2014/main" id="{13A933C6-6F51-820D-1884-D22E261B735C}"/>
              </a:ext>
            </a:extLst>
          </p:cNvPr>
          <p:cNvSpPr>
            <a:spLocks noChangeAspect="1"/>
          </p:cNvSpPr>
          <p:nvPr/>
        </p:nvSpPr>
        <p:spPr>
          <a:xfrm rot="5400000">
            <a:off x="5228172" y="7739068"/>
            <a:ext cx="1324539" cy="649392"/>
          </a:xfrm>
          <a:prstGeom prst="ellipse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2160"/>
              <a:t>Cache</a:t>
            </a:r>
          </a:p>
        </p:txBody>
      </p:sp>
      <p:sp>
        <p:nvSpPr>
          <p:cNvPr id="128" name="Ellipse 127">
            <a:extLst>
              <a:ext uri="{FF2B5EF4-FFF2-40B4-BE49-F238E27FC236}">
                <a16:creationId xmlns:a16="http://schemas.microsoft.com/office/drawing/2014/main" id="{759780D8-753C-B87D-4B60-A1C63064CC00}"/>
              </a:ext>
            </a:extLst>
          </p:cNvPr>
          <p:cNvSpPr/>
          <p:nvPr/>
        </p:nvSpPr>
        <p:spPr>
          <a:xfrm>
            <a:off x="10449322" y="10908129"/>
            <a:ext cx="8611707" cy="390992"/>
          </a:xfrm>
          <a:prstGeom prst="ellipse">
            <a:avLst/>
          </a:prstGeom>
          <a:solidFill>
            <a:schemeClr val="accent4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305251234</a:t>
            </a:r>
          </a:p>
        </p:txBody>
      </p:sp>
      <p:sp>
        <p:nvSpPr>
          <p:cNvPr id="129" name="Ellipse 128">
            <a:extLst>
              <a:ext uri="{FF2B5EF4-FFF2-40B4-BE49-F238E27FC236}">
                <a16:creationId xmlns:a16="http://schemas.microsoft.com/office/drawing/2014/main" id="{408DD293-C6B5-A4EB-D7A1-EC8BA573C54A}"/>
              </a:ext>
            </a:extLst>
          </p:cNvPr>
          <p:cNvSpPr/>
          <p:nvPr/>
        </p:nvSpPr>
        <p:spPr>
          <a:xfrm>
            <a:off x="10449322" y="10797848"/>
            <a:ext cx="8611707" cy="390992"/>
          </a:xfrm>
          <a:prstGeom prst="ellipse">
            <a:avLst/>
          </a:prstGeom>
          <a:solidFill>
            <a:schemeClr val="accent4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305251234</a:t>
            </a:r>
          </a:p>
        </p:txBody>
      </p:sp>
      <p:sp>
        <p:nvSpPr>
          <p:cNvPr id="130" name="Ellipse 129">
            <a:extLst>
              <a:ext uri="{FF2B5EF4-FFF2-40B4-BE49-F238E27FC236}">
                <a16:creationId xmlns:a16="http://schemas.microsoft.com/office/drawing/2014/main" id="{CADEDB5F-2929-CB20-07BC-6A95CEBA98E0}"/>
              </a:ext>
            </a:extLst>
          </p:cNvPr>
          <p:cNvSpPr/>
          <p:nvPr/>
        </p:nvSpPr>
        <p:spPr>
          <a:xfrm>
            <a:off x="10449322" y="10664183"/>
            <a:ext cx="8611707" cy="390992"/>
          </a:xfrm>
          <a:prstGeom prst="ellipse">
            <a:avLst/>
          </a:prstGeom>
          <a:solidFill>
            <a:schemeClr val="accent4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305251234</a:t>
            </a:r>
          </a:p>
        </p:txBody>
      </p:sp>
      <p:sp>
        <p:nvSpPr>
          <p:cNvPr id="131" name="Ellipse 130">
            <a:extLst>
              <a:ext uri="{FF2B5EF4-FFF2-40B4-BE49-F238E27FC236}">
                <a16:creationId xmlns:a16="http://schemas.microsoft.com/office/drawing/2014/main" id="{9CC590DC-D93B-10DA-730C-23217E4A1688}"/>
              </a:ext>
            </a:extLst>
          </p:cNvPr>
          <p:cNvSpPr/>
          <p:nvPr/>
        </p:nvSpPr>
        <p:spPr>
          <a:xfrm>
            <a:off x="10449322" y="10521844"/>
            <a:ext cx="8611707" cy="390992"/>
          </a:xfrm>
          <a:prstGeom prst="ellipse">
            <a:avLst/>
          </a:prstGeom>
          <a:solidFill>
            <a:schemeClr val="accent4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305251234</a:t>
            </a:r>
          </a:p>
        </p:txBody>
      </p:sp>
      <p:sp>
        <p:nvSpPr>
          <p:cNvPr id="132" name="Rechteck 131">
            <a:extLst>
              <a:ext uri="{FF2B5EF4-FFF2-40B4-BE49-F238E27FC236}">
                <a16:creationId xmlns:a16="http://schemas.microsoft.com/office/drawing/2014/main" id="{781149D7-2160-45B2-8188-F8ACB853B399}"/>
              </a:ext>
            </a:extLst>
          </p:cNvPr>
          <p:cNvSpPr/>
          <p:nvPr/>
        </p:nvSpPr>
        <p:spPr>
          <a:xfrm>
            <a:off x="5260441" y="10681899"/>
            <a:ext cx="1255576" cy="452460"/>
          </a:xfrm>
          <a:prstGeom prst="rect">
            <a:avLst/>
          </a:prstGeom>
          <a:noFill/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MWDI</a:t>
            </a:r>
          </a:p>
        </p:txBody>
      </p:sp>
      <p:sp>
        <p:nvSpPr>
          <p:cNvPr id="133" name="Ellipse 132">
            <a:extLst>
              <a:ext uri="{FF2B5EF4-FFF2-40B4-BE49-F238E27FC236}">
                <a16:creationId xmlns:a16="http://schemas.microsoft.com/office/drawing/2014/main" id="{C1C48BAA-5BA7-2C9B-F00F-27C0F59C6004}"/>
              </a:ext>
            </a:extLst>
          </p:cNvPr>
          <p:cNvSpPr>
            <a:spLocks noChangeAspect="1"/>
          </p:cNvSpPr>
          <p:nvPr/>
        </p:nvSpPr>
        <p:spPr>
          <a:xfrm rot="5400000">
            <a:off x="5228172" y="11471934"/>
            <a:ext cx="1324539" cy="649392"/>
          </a:xfrm>
          <a:prstGeom prst="ellipse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2160"/>
              <a:t>Cache</a:t>
            </a:r>
          </a:p>
        </p:txBody>
      </p:sp>
      <p:sp>
        <p:nvSpPr>
          <p:cNvPr id="136" name="Ellipse 135">
            <a:extLst>
              <a:ext uri="{FF2B5EF4-FFF2-40B4-BE49-F238E27FC236}">
                <a16:creationId xmlns:a16="http://schemas.microsoft.com/office/drawing/2014/main" id="{3F153420-288D-2E18-E137-2B9D78F13334}"/>
              </a:ext>
            </a:extLst>
          </p:cNvPr>
          <p:cNvSpPr/>
          <p:nvPr/>
        </p:nvSpPr>
        <p:spPr>
          <a:xfrm>
            <a:off x="6569726" y="10528797"/>
            <a:ext cx="3662612" cy="725190"/>
          </a:xfrm>
          <a:prstGeom prst="ellipse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160"/>
              <a:t>Controller</a:t>
            </a:r>
          </a:p>
        </p:txBody>
      </p:sp>
      <p:sp>
        <p:nvSpPr>
          <p:cNvPr id="138" name="Rechteck 137">
            <a:extLst>
              <a:ext uri="{FF2B5EF4-FFF2-40B4-BE49-F238E27FC236}">
                <a16:creationId xmlns:a16="http://schemas.microsoft.com/office/drawing/2014/main" id="{F173FF4D-59E6-382E-1D1F-90DC01878C36}"/>
              </a:ext>
            </a:extLst>
          </p:cNvPr>
          <p:cNvSpPr/>
          <p:nvPr/>
        </p:nvSpPr>
        <p:spPr>
          <a:xfrm>
            <a:off x="9217055" y="6952165"/>
            <a:ext cx="1255576" cy="452460"/>
          </a:xfrm>
          <a:prstGeom prst="rect">
            <a:avLst/>
          </a:prstGeom>
          <a:noFill/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Controller</a:t>
            </a:r>
          </a:p>
        </p:txBody>
      </p:sp>
      <p:sp>
        <p:nvSpPr>
          <p:cNvPr id="142" name="Ellipse 141">
            <a:extLst>
              <a:ext uri="{FF2B5EF4-FFF2-40B4-BE49-F238E27FC236}">
                <a16:creationId xmlns:a16="http://schemas.microsoft.com/office/drawing/2014/main" id="{CBF71B95-F797-6985-D861-450C3FCE119B}"/>
              </a:ext>
            </a:extLst>
          </p:cNvPr>
          <p:cNvSpPr/>
          <p:nvPr/>
        </p:nvSpPr>
        <p:spPr>
          <a:xfrm>
            <a:off x="1383511" y="13032929"/>
            <a:ext cx="17889875" cy="3579764"/>
          </a:xfrm>
          <a:prstGeom prst="ellipse">
            <a:avLst/>
          </a:prstGeom>
          <a:solidFill>
            <a:schemeClr val="bg1">
              <a:lumMod val="50000"/>
            </a:schemeClr>
          </a:solidFill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t"/>
          <a:lstStyle/>
          <a:p>
            <a:endParaRPr lang="de-DE" sz="2160"/>
          </a:p>
          <a:p>
            <a:r>
              <a:rPr lang="de-DE" sz="2160"/>
              <a:t>MW SDN</a:t>
            </a:r>
          </a:p>
        </p:txBody>
      </p:sp>
      <p:sp>
        <p:nvSpPr>
          <p:cNvPr id="143" name="Ellipse 142">
            <a:extLst>
              <a:ext uri="{FF2B5EF4-FFF2-40B4-BE49-F238E27FC236}">
                <a16:creationId xmlns:a16="http://schemas.microsoft.com/office/drawing/2014/main" id="{8B15E994-ABDA-E4DD-63D0-99D6838DFF13}"/>
              </a:ext>
            </a:extLst>
          </p:cNvPr>
          <p:cNvSpPr/>
          <p:nvPr/>
        </p:nvSpPr>
        <p:spPr>
          <a:xfrm>
            <a:off x="6520440" y="13865738"/>
            <a:ext cx="12706164" cy="1843774"/>
          </a:xfrm>
          <a:prstGeom prst="ellipse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2160"/>
              <a:t>                          Live</a:t>
            </a:r>
          </a:p>
        </p:txBody>
      </p:sp>
      <p:sp>
        <p:nvSpPr>
          <p:cNvPr id="144" name="Ellipse 143">
            <a:extLst>
              <a:ext uri="{FF2B5EF4-FFF2-40B4-BE49-F238E27FC236}">
                <a16:creationId xmlns:a16="http://schemas.microsoft.com/office/drawing/2014/main" id="{5A7E11B2-3E42-130D-1D88-E325860CD6F4}"/>
              </a:ext>
            </a:extLst>
          </p:cNvPr>
          <p:cNvSpPr/>
          <p:nvPr/>
        </p:nvSpPr>
        <p:spPr>
          <a:xfrm>
            <a:off x="10449321" y="14787625"/>
            <a:ext cx="8611707" cy="390992"/>
          </a:xfrm>
          <a:prstGeom prst="ellipse">
            <a:avLst/>
          </a:prstGeom>
          <a:solidFill>
            <a:schemeClr val="accent4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305251234</a:t>
            </a:r>
          </a:p>
        </p:txBody>
      </p:sp>
      <p:sp>
        <p:nvSpPr>
          <p:cNvPr id="145" name="Ellipse 144">
            <a:extLst>
              <a:ext uri="{FF2B5EF4-FFF2-40B4-BE49-F238E27FC236}">
                <a16:creationId xmlns:a16="http://schemas.microsoft.com/office/drawing/2014/main" id="{94CD7E54-8AC0-1221-73EB-CB8FBC9B51C4}"/>
              </a:ext>
            </a:extLst>
          </p:cNvPr>
          <p:cNvSpPr/>
          <p:nvPr/>
        </p:nvSpPr>
        <p:spPr>
          <a:xfrm>
            <a:off x="10449321" y="14677344"/>
            <a:ext cx="8611707" cy="390992"/>
          </a:xfrm>
          <a:prstGeom prst="ellipse">
            <a:avLst/>
          </a:prstGeom>
          <a:solidFill>
            <a:schemeClr val="accent4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305251234</a:t>
            </a:r>
          </a:p>
        </p:txBody>
      </p:sp>
      <p:sp>
        <p:nvSpPr>
          <p:cNvPr id="146" name="Ellipse 145">
            <a:extLst>
              <a:ext uri="{FF2B5EF4-FFF2-40B4-BE49-F238E27FC236}">
                <a16:creationId xmlns:a16="http://schemas.microsoft.com/office/drawing/2014/main" id="{A8160536-70B1-B254-504C-5879F86B2FEF}"/>
              </a:ext>
            </a:extLst>
          </p:cNvPr>
          <p:cNvSpPr/>
          <p:nvPr/>
        </p:nvSpPr>
        <p:spPr>
          <a:xfrm>
            <a:off x="10449321" y="14543679"/>
            <a:ext cx="8611707" cy="390992"/>
          </a:xfrm>
          <a:prstGeom prst="ellipse">
            <a:avLst/>
          </a:prstGeom>
          <a:solidFill>
            <a:schemeClr val="accent4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305251234</a:t>
            </a:r>
          </a:p>
        </p:txBody>
      </p:sp>
      <p:sp>
        <p:nvSpPr>
          <p:cNvPr id="147" name="Ellipse 146">
            <a:extLst>
              <a:ext uri="{FF2B5EF4-FFF2-40B4-BE49-F238E27FC236}">
                <a16:creationId xmlns:a16="http://schemas.microsoft.com/office/drawing/2014/main" id="{06A94292-D571-661B-EAA7-4B51BED0A0F5}"/>
              </a:ext>
            </a:extLst>
          </p:cNvPr>
          <p:cNvSpPr/>
          <p:nvPr/>
        </p:nvSpPr>
        <p:spPr>
          <a:xfrm>
            <a:off x="10449321" y="14401340"/>
            <a:ext cx="8611707" cy="390992"/>
          </a:xfrm>
          <a:prstGeom prst="ellipse">
            <a:avLst/>
          </a:prstGeom>
          <a:solidFill>
            <a:schemeClr val="accent4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40"/>
          </a:p>
        </p:txBody>
      </p:sp>
      <p:sp>
        <p:nvSpPr>
          <p:cNvPr id="148" name="Rechteck 147">
            <a:extLst>
              <a:ext uri="{FF2B5EF4-FFF2-40B4-BE49-F238E27FC236}">
                <a16:creationId xmlns:a16="http://schemas.microsoft.com/office/drawing/2014/main" id="{0D4D40BA-5BA6-7300-5D00-1BB2B9B6D511}"/>
              </a:ext>
            </a:extLst>
          </p:cNvPr>
          <p:cNvSpPr/>
          <p:nvPr/>
        </p:nvSpPr>
        <p:spPr>
          <a:xfrm>
            <a:off x="5260440" y="14561395"/>
            <a:ext cx="1255576" cy="452460"/>
          </a:xfrm>
          <a:prstGeom prst="rect">
            <a:avLst/>
          </a:prstGeom>
          <a:noFill/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MWDI</a:t>
            </a:r>
          </a:p>
        </p:txBody>
      </p:sp>
      <p:sp>
        <p:nvSpPr>
          <p:cNvPr id="149" name="Ellipse 148">
            <a:extLst>
              <a:ext uri="{FF2B5EF4-FFF2-40B4-BE49-F238E27FC236}">
                <a16:creationId xmlns:a16="http://schemas.microsoft.com/office/drawing/2014/main" id="{80127BE7-834A-4BEE-D713-DE407A278C9B}"/>
              </a:ext>
            </a:extLst>
          </p:cNvPr>
          <p:cNvSpPr>
            <a:spLocks noChangeAspect="1"/>
          </p:cNvSpPr>
          <p:nvPr/>
        </p:nvSpPr>
        <p:spPr>
          <a:xfrm rot="5400000">
            <a:off x="5228171" y="15351430"/>
            <a:ext cx="1324539" cy="649392"/>
          </a:xfrm>
          <a:prstGeom prst="ellipse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2160"/>
              <a:t>Cache</a:t>
            </a:r>
          </a:p>
        </p:txBody>
      </p:sp>
      <p:sp>
        <p:nvSpPr>
          <p:cNvPr id="150" name="Ellipse 149">
            <a:extLst>
              <a:ext uri="{FF2B5EF4-FFF2-40B4-BE49-F238E27FC236}">
                <a16:creationId xmlns:a16="http://schemas.microsoft.com/office/drawing/2014/main" id="{02D36E97-D75E-541C-E4D6-00FF1E5C7833}"/>
              </a:ext>
            </a:extLst>
          </p:cNvPr>
          <p:cNvSpPr/>
          <p:nvPr/>
        </p:nvSpPr>
        <p:spPr>
          <a:xfrm>
            <a:off x="6569725" y="14408293"/>
            <a:ext cx="3662612" cy="725190"/>
          </a:xfrm>
          <a:prstGeom prst="ellipse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160"/>
              <a:t>Controller</a:t>
            </a:r>
          </a:p>
        </p:txBody>
      </p:sp>
      <p:sp>
        <p:nvSpPr>
          <p:cNvPr id="151" name="Ellipse 150">
            <a:extLst>
              <a:ext uri="{FF2B5EF4-FFF2-40B4-BE49-F238E27FC236}">
                <a16:creationId xmlns:a16="http://schemas.microsoft.com/office/drawing/2014/main" id="{8A5667DE-8B86-E2A0-67DA-E46B5ECA3718}"/>
              </a:ext>
            </a:extLst>
          </p:cNvPr>
          <p:cNvSpPr/>
          <p:nvPr/>
        </p:nvSpPr>
        <p:spPr>
          <a:xfrm>
            <a:off x="10279118" y="14134583"/>
            <a:ext cx="8947487" cy="1337003"/>
          </a:xfrm>
          <a:prstGeom prst="ellipse">
            <a:avLst/>
          </a:prstGeom>
          <a:solidFill>
            <a:schemeClr val="accent5">
              <a:alpha val="74000"/>
            </a:schemeClr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tIns="0" rIns="0" bIns="0" rtlCol="0" anchor="t"/>
          <a:lstStyle/>
          <a:p>
            <a:pPr algn="ctr"/>
            <a:r>
              <a:rPr lang="de-DE" sz="2160"/>
              <a:t>Device</a:t>
            </a:r>
          </a:p>
        </p:txBody>
      </p:sp>
      <p:cxnSp>
        <p:nvCxnSpPr>
          <p:cNvPr id="153" name="Gerader Verbinder 152">
            <a:extLst>
              <a:ext uri="{FF2B5EF4-FFF2-40B4-BE49-F238E27FC236}">
                <a16:creationId xmlns:a16="http://schemas.microsoft.com/office/drawing/2014/main" id="{C6CD39DF-AFCF-4284-6807-DCEF77710727}"/>
              </a:ext>
            </a:extLst>
          </p:cNvPr>
          <p:cNvCxnSpPr/>
          <p:nvPr/>
        </p:nvCxnSpPr>
        <p:spPr>
          <a:xfrm>
            <a:off x="1180310" y="5277181"/>
            <a:ext cx="0" cy="1079784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0378388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Rechteck 29">
            <a:extLst>
              <a:ext uri="{FF2B5EF4-FFF2-40B4-BE49-F238E27FC236}">
                <a16:creationId xmlns:a16="http://schemas.microsoft.com/office/drawing/2014/main" id="{A759E68E-FC52-CDA9-26E1-2A750D430DDD}"/>
              </a:ext>
            </a:extLst>
          </p:cNvPr>
          <p:cNvSpPr/>
          <p:nvPr/>
        </p:nvSpPr>
        <p:spPr>
          <a:xfrm>
            <a:off x="6290115" y="4957339"/>
            <a:ext cx="12710588" cy="1597494"/>
          </a:xfrm>
          <a:prstGeom prst="rect">
            <a:avLst/>
          </a:prstGeom>
          <a:solidFill>
            <a:schemeClr val="accent2">
              <a:lumMod val="75000"/>
              <a:alpha val="20000"/>
            </a:schemeClr>
          </a:solidFill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LiveDomain</a:t>
            </a:r>
          </a:p>
        </p:txBody>
      </p:sp>
      <p:sp>
        <p:nvSpPr>
          <p:cNvPr id="24" name="Rechteck 23">
            <a:extLst>
              <a:ext uri="{FF2B5EF4-FFF2-40B4-BE49-F238E27FC236}">
                <a16:creationId xmlns:a16="http://schemas.microsoft.com/office/drawing/2014/main" id="{84464D08-EF53-AD08-F9BE-58657BE6EDF6}"/>
              </a:ext>
            </a:extLst>
          </p:cNvPr>
          <p:cNvSpPr/>
          <p:nvPr/>
        </p:nvSpPr>
        <p:spPr>
          <a:xfrm>
            <a:off x="10246120" y="8424346"/>
            <a:ext cx="8754583" cy="2236396"/>
          </a:xfrm>
          <a:prstGeom prst="rect">
            <a:avLst/>
          </a:prstGeom>
          <a:solidFill>
            <a:schemeClr val="accent5">
              <a:alpha val="20000"/>
            </a:schemeClr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DeviceDomain</a:t>
            </a: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5919688F-DE37-08C1-118D-7D350AFE0CD0}"/>
              </a:ext>
            </a:extLst>
          </p:cNvPr>
          <p:cNvSpPr/>
          <p:nvPr/>
        </p:nvSpPr>
        <p:spPr>
          <a:xfrm>
            <a:off x="6290115" y="8424346"/>
            <a:ext cx="3948624" cy="2236396"/>
          </a:xfrm>
          <a:prstGeom prst="rect">
            <a:avLst/>
          </a:prstGeom>
          <a:solidFill>
            <a:schemeClr val="accent6">
              <a:alpha val="20000"/>
            </a:schemeClr>
          </a:solidFill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ControllerDomain</a:t>
            </a:r>
          </a:p>
        </p:txBody>
      </p:sp>
      <p:cxnSp>
        <p:nvCxnSpPr>
          <p:cNvPr id="8" name="Gerader Verbinder 7">
            <a:extLst>
              <a:ext uri="{FF2B5EF4-FFF2-40B4-BE49-F238E27FC236}">
                <a16:creationId xmlns:a16="http://schemas.microsoft.com/office/drawing/2014/main" id="{0AAB3C92-1309-21F9-5A2A-D5B19E58CC97}"/>
              </a:ext>
            </a:extLst>
          </p:cNvPr>
          <p:cNvCxnSpPr>
            <a:cxnSpLocks/>
            <a:stCxn id="23" idx="6"/>
            <a:endCxn id="33" idx="2"/>
          </p:cNvCxnSpPr>
          <p:nvPr/>
        </p:nvCxnSpPr>
        <p:spPr>
          <a:xfrm>
            <a:off x="6343824" y="10134860"/>
            <a:ext cx="2594684" cy="0"/>
          </a:xfrm>
          <a:prstGeom prst="line">
            <a:avLst/>
          </a:prstGeom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10" name="Gerader Verbinder 9">
            <a:extLst>
              <a:ext uri="{FF2B5EF4-FFF2-40B4-BE49-F238E27FC236}">
                <a16:creationId xmlns:a16="http://schemas.microsoft.com/office/drawing/2014/main" id="{BFC42089-4FAE-409E-7490-894A8A151E87}"/>
              </a:ext>
            </a:extLst>
          </p:cNvPr>
          <p:cNvCxnSpPr>
            <a:cxnSpLocks/>
            <a:stCxn id="17" idx="6"/>
            <a:endCxn id="20" idx="2"/>
          </p:cNvCxnSpPr>
          <p:nvPr/>
        </p:nvCxnSpPr>
        <p:spPr>
          <a:xfrm>
            <a:off x="2439027" y="10134860"/>
            <a:ext cx="2596576" cy="0"/>
          </a:xfrm>
          <a:prstGeom prst="line">
            <a:avLst/>
          </a:prstGeom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grpSp>
        <p:nvGrpSpPr>
          <p:cNvPr id="50" name="Gruppieren 49">
            <a:extLst>
              <a:ext uri="{FF2B5EF4-FFF2-40B4-BE49-F238E27FC236}">
                <a16:creationId xmlns:a16="http://schemas.microsoft.com/office/drawing/2014/main" id="{AE8FF5DD-0F69-94CD-E5C6-BF4111366C68}"/>
              </a:ext>
            </a:extLst>
          </p:cNvPr>
          <p:cNvGrpSpPr/>
          <p:nvPr/>
        </p:nvGrpSpPr>
        <p:grpSpPr>
          <a:xfrm>
            <a:off x="1158062" y="9178430"/>
            <a:ext cx="1280967" cy="1260000"/>
            <a:chOff x="1398758" y="3673888"/>
            <a:chExt cx="1280967" cy="1260000"/>
          </a:xfrm>
        </p:grpSpPr>
        <p:sp>
          <p:nvSpPr>
            <p:cNvPr id="9" name="Rechteck 8">
              <a:extLst>
                <a:ext uri="{FF2B5EF4-FFF2-40B4-BE49-F238E27FC236}">
                  <a16:creationId xmlns:a16="http://schemas.microsoft.com/office/drawing/2014/main" id="{8F729F81-6911-53C6-716D-0E24554FC6A4}"/>
                </a:ext>
              </a:extLst>
            </p:cNvPr>
            <p:cNvSpPr/>
            <p:nvPr/>
          </p:nvSpPr>
          <p:spPr>
            <a:xfrm>
              <a:off x="1398758" y="3673888"/>
              <a:ext cx="1260000" cy="1260000"/>
            </a:xfrm>
            <a:prstGeom prst="rect">
              <a:avLst/>
            </a:prstGeom>
            <a:solidFill>
              <a:schemeClr val="bg1">
                <a:lumMod val="50000"/>
              </a:schemeClr>
            </a:solidFill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1440"/>
                <a:t>App</a:t>
              </a:r>
            </a:p>
          </p:txBody>
        </p:sp>
        <p:sp>
          <p:nvSpPr>
            <p:cNvPr id="15" name="Ellipse 14">
              <a:extLst>
                <a:ext uri="{FF2B5EF4-FFF2-40B4-BE49-F238E27FC236}">
                  <a16:creationId xmlns:a16="http://schemas.microsoft.com/office/drawing/2014/main" id="{29968352-5BC7-5AD3-37C3-C7EC1A2DCA48}"/>
                </a:ext>
              </a:extLst>
            </p:cNvPr>
            <p:cNvSpPr/>
            <p:nvPr/>
          </p:nvSpPr>
          <p:spPr>
            <a:xfrm>
              <a:off x="2633396" y="3954599"/>
              <a:ext cx="45719" cy="45719"/>
            </a:xfrm>
            <a:prstGeom prst="ellipse">
              <a:avLst/>
            </a:prstGeom>
            <a:ln/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 sz="800">
                <a:solidFill>
                  <a:schemeClr val="tx1"/>
                </a:solidFill>
              </a:endParaRPr>
            </a:p>
          </p:txBody>
        </p:sp>
        <p:sp>
          <p:nvSpPr>
            <p:cNvPr id="16" name="Ellipse 15">
              <a:extLst>
                <a:ext uri="{FF2B5EF4-FFF2-40B4-BE49-F238E27FC236}">
                  <a16:creationId xmlns:a16="http://schemas.microsoft.com/office/drawing/2014/main" id="{032BD62B-69A4-8E99-1CBB-A0B36211BB4E}"/>
                </a:ext>
              </a:extLst>
            </p:cNvPr>
            <p:cNvSpPr/>
            <p:nvPr/>
          </p:nvSpPr>
          <p:spPr>
            <a:xfrm>
              <a:off x="2634006" y="4281028"/>
              <a:ext cx="45719" cy="45719"/>
            </a:xfrm>
            <a:prstGeom prst="ellipse">
              <a:avLst/>
            </a:prstGeom>
            <a:ln/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 sz="800">
                <a:solidFill>
                  <a:schemeClr val="tx1"/>
                </a:solidFill>
              </a:endParaRPr>
            </a:p>
          </p:txBody>
        </p:sp>
        <p:sp>
          <p:nvSpPr>
            <p:cNvPr id="17" name="Ellipse 16">
              <a:extLst>
                <a:ext uri="{FF2B5EF4-FFF2-40B4-BE49-F238E27FC236}">
                  <a16:creationId xmlns:a16="http://schemas.microsoft.com/office/drawing/2014/main" id="{A8C6AA90-00CD-9995-68BF-D14927F49C25}"/>
                </a:ext>
              </a:extLst>
            </p:cNvPr>
            <p:cNvSpPr/>
            <p:nvPr/>
          </p:nvSpPr>
          <p:spPr>
            <a:xfrm>
              <a:off x="2634006" y="4607458"/>
              <a:ext cx="45719" cy="45719"/>
            </a:xfrm>
            <a:prstGeom prst="ellipse">
              <a:avLst/>
            </a:prstGeom>
            <a:ln/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 sz="800">
                <a:solidFill>
                  <a:schemeClr val="tx1"/>
                </a:solidFill>
              </a:endParaRPr>
            </a:p>
          </p:txBody>
        </p:sp>
      </p:grpSp>
      <p:grpSp>
        <p:nvGrpSpPr>
          <p:cNvPr id="49" name="Gruppieren 48">
            <a:extLst>
              <a:ext uri="{FF2B5EF4-FFF2-40B4-BE49-F238E27FC236}">
                <a16:creationId xmlns:a16="http://schemas.microsoft.com/office/drawing/2014/main" id="{64A51F24-01B7-0D2F-EE94-0784C47DB1FD}"/>
              </a:ext>
            </a:extLst>
          </p:cNvPr>
          <p:cNvGrpSpPr/>
          <p:nvPr/>
        </p:nvGrpSpPr>
        <p:grpSpPr>
          <a:xfrm>
            <a:off x="5034995" y="9178430"/>
            <a:ext cx="1308831" cy="1260000"/>
            <a:chOff x="5275691" y="3673888"/>
            <a:chExt cx="1308831" cy="1260000"/>
          </a:xfrm>
        </p:grpSpPr>
        <p:sp>
          <p:nvSpPr>
            <p:cNvPr id="7" name="Rechteck 6">
              <a:extLst>
                <a:ext uri="{FF2B5EF4-FFF2-40B4-BE49-F238E27FC236}">
                  <a16:creationId xmlns:a16="http://schemas.microsoft.com/office/drawing/2014/main" id="{D9ACD396-053F-098F-6E39-579A071B2680}"/>
                </a:ext>
              </a:extLst>
            </p:cNvPr>
            <p:cNvSpPr/>
            <p:nvPr/>
          </p:nvSpPr>
          <p:spPr>
            <a:xfrm>
              <a:off x="5301663" y="3673888"/>
              <a:ext cx="1260000" cy="1260000"/>
            </a:xfrm>
            <a:prstGeom prst="rect">
              <a:avLst/>
            </a:prstGeom>
            <a:solidFill>
              <a:schemeClr val="bg1">
                <a:lumMod val="50000"/>
              </a:schemeClr>
            </a:solidFill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1440"/>
                <a:t>MWDI</a:t>
              </a:r>
            </a:p>
          </p:txBody>
        </p:sp>
        <p:sp>
          <p:nvSpPr>
            <p:cNvPr id="18" name="Ellipse 17">
              <a:extLst>
                <a:ext uri="{FF2B5EF4-FFF2-40B4-BE49-F238E27FC236}">
                  <a16:creationId xmlns:a16="http://schemas.microsoft.com/office/drawing/2014/main" id="{76C8B7B3-4DB8-7758-7D3B-4733C3103382}"/>
                </a:ext>
              </a:extLst>
            </p:cNvPr>
            <p:cNvSpPr/>
            <p:nvPr/>
          </p:nvSpPr>
          <p:spPr>
            <a:xfrm>
              <a:off x="5275691" y="3954599"/>
              <a:ext cx="45719" cy="45719"/>
            </a:xfrm>
            <a:prstGeom prst="ellipse">
              <a:avLst/>
            </a:prstGeom>
            <a:ln/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 sz="800">
                <a:solidFill>
                  <a:schemeClr val="tx1"/>
                </a:solidFill>
              </a:endParaRPr>
            </a:p>
          </p:txBody>
        </p:sp>
        <p:sp>
          <p:nvSpPr>
            <p:cNvPr id="19" name="Ellipse 18">
              <a:extLst>
                <a:ext uri="{FF2B5EF4-FFF2-40B4-BE49-F238E27FC236}">
                  <a16:creationId xmlns:a16="http://schemas.microsoft.com/office/drawing/2014/main" id="{B55D626B-9E23-1A5B-2E00-E5EDDDF2DC31}"/>
                </a:ext>
              </a:extLst>
            </p:cNvPr>
            <p:cNvSpPr/>
            <p:nvPr/>
          </p:nvSpPr>
          <p:spPr>
            <a:xfrm>
              <a:off x="5276301" y="4281028"/>
              <a:ext cx="45719" cy="45719"/>
            </a:xfrm>
            <a:prstGeom prst="ellipse">
              <a:avLst/>
            </a:prstGeom>
            <a:ln/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 sz="800">
                <a:solidFill>
                  <a:schemeClr val="tx1"/>
                </a:solidFill>
              </a:endParaRPr>
            </a:p>
          </p:txBody>
        </p:sp>
        <p:sp>
          <p:nvSpPr>
            <p:cNvPr id="20" name="Ellipse 19">
              <a:extLst>
                <a:ext uri="{FF2B5EF4-FFF2-40B4-BE49-F238E27FC236}">
                  <a16:creationId xmlns:a16="http://schemas.microsoft.com/office/drawing/2014/main" id="{35B14177-28C3-5A1E-CD0F-588C785F14DB}"/>
                </a:ext>
              </a:extLst>
            </p:cNvPr>
            <p:cNvSpPr/>
            <p:nvPr/>
          </p:nvSpPr>
          <p:spPr>
            <a:xfrm>
              <a:off x="5276301" y="4607458"/>
              <a:ext cx="45719" cy="45719"/>
            </a:xfrm>
            <a:prstGeom prst="ellipse">
              <a:avLst/>
            </a:prstGeom>
            <a:ln/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 sz="800">
                <a:solidFill>
                  <a:schemeClr val="tx1"/>
                </a:solidFill>
              </a:endParaRPr>
            </a:p>
          </p:txBody>
        </p:sp>
        <p:sp>
          <p:nvSpPr>
            <p:cNvPr id="21" name="Ellipse 20">
              <a:extLst>
                <a:ext uri="{FF2B5EF4-FFF2-40B4-BE49-F238E27FC236}">
                  <a16:creationId xmlns:a16="http://schemas.microsoft.com/office/drawing/2014/main" id="{ADE4D244-E117-810E-FE87-3CCDF7FC1B8C}"/>
                </a:ext>
              </a:extLst>
            </p:cNvPr>
            <p:cNvSpPr/>
            <p:nvPr/>
          </p:nvSpPr>
          <p:spPr>
            <a:xfrm>
              <a:off x="6538193" y="3954599"/>
              <a:ext cx="45719" cy="45719"/>
            </a:xfrm>
            <a:prstGeom prst="ellipse">
              <a:avLst/>
            </a:prstGeom>
            <a:ln/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 sz="800">
                <a:solidFill>
                  <a:schemeClr val="tx1"/>
                </a:solidFill>
              </a:endParaRPr>
            </a:p>
          </p:txBody>
        </p:sp>
        <p:sp>
          <p:nvSpPr>
            <p:cNvPr id="22" name="Ellipse 21">
              <a:extLst>
                <a:ext uri="{FF2B5EF4-FFF2-40B4-BE49-F238E27FC236}">
                  <a16:creationId xmlns:a16="http://schemas.microsoft.com/office/drawing/2014/main" id="{D0D0DCA3-8707-D186-05E8-6917AAF9187B}"/>
                </a:ext>
              </a:extLst>
            </p:cNvPr>
            <p:cNvSpPr/>
            <p:nvPr/>
          </p:nvSpPr>
          <p:spPr>
            <a:xfrm>
              <a:off x="6538803" y="4281028"/>
              <a:ext cx="45719" cy="45719"/>
            </a:xfrm>
            <a:prstGeom prst="ellipse">
              <a:avLst/>
            </a:prstGeom>
            <a:ln/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 sz="800">
                <a:solidFill>
                  <a:schemeClr val="tx1"/>
                </a:solidFill>
              </a:endParaRPr>
            </a:p>
          </p:txBody>
        </p:sp>
        <p:sp>
          <p:nvSpPr>
            <p:cNvPr id="23" name="Ellipse 22">
              <a:extLst>
                <a:ext uri="{FF2B5EF4-FFF2-40B4-BE49-F238E27FC236}">
                  <a16:creationId xmlns:a16="http://schemas.microsoft.com/office/drawing/2014/main" id="{012ABAB0-185A-7992-9793-D8DD22CF49D2}"/>
                </a:ext>
              </a:extLst>
            </p:cNvPr>
            <p:cNvSpPr/>
            <p:nvPr/>
          </p:nvSpPr>
          <p:spPr>
            <a:xfrm>
              <a:off x="6538803" y="4607458"/>
              <a:ext cx="45719" cy="45719"/>
            </a:xfrm>
            <a:prstGeom prst="ellipse">
              <a:avLst/>
            </a:prstGeom>
            <a:ln/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 sz="800">
                <a:solidFill>
                  <a:schemeClr val="tx1"/>
                </a:solidFill>
              </a:endParaRPr>
            </a:p>
          </p:txBody>
        </p:sp>
      </p:grpSp>
      <p:grpSp>
        <p:nvGrpSpPr>
          <p:cNvPr id="48" name="Gruppieren 47">
            <a:extLst>
              <a:ext uri="{FF2B5EF4-FFF2-40B4-BE49-F238E27FC236}">
                <a16:creationId xmlns:a16="http://schemas.microsoft.com/office/drawing/2014/main" id="{44E9702C-51E2-AFC6-3951-EF8A032F76C9}"/>
              </a:ext>
            </a:extLst>
          </p:cNvPr>
          <p:cNvGrpSpPr/>
          <p:nvPr/>
        </p:nvGrpSpPr>
        <p:grpSpPr>
          <a:xfrm>
            <a:off x="8937900" y="9178430"/>
            <a:ext cx="1308831" cy="1260000"/>
            <a:chOff x="9178596" y="3673888"/>
            <a:chExt cx="1308831" cy="1260000"/>
          </a:xfrm>
        </p:grpSpPr>
        <p:sp>
          <p:nvSpPr>
            <p:cNvPr id="4" name="Rechteck 3">
              <a:extLst>
                <a:ext uri="{FF2B5EF4-FFF2-40B4-BE49-F238E27FC236}">
                  <a16:creationId xmlns:a16="http://schemas.microsoft.com/office/drawing/2014/main" id="{A1B07028-9DDA-7F66-B27B-353CE67D042F}"/>
                </a:ext>
              </a:extLst>
            </p:cNvPr>
            <p:cNvSpPr/>
            <p:nvPr/>
          </p:nvSpPr>
          <p:spPr>
            <a:xfrm>
              <a:off x="9204568" y="3673888"/>
              <a:ext cx="1260000" cy="1260000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1440"/>
                <a:t>Controller</a:t>
              </a:r>
            </a:p>
          </p:txBody>
        </p:sp>
        <p:sp>
          <p:nvSpPr>
            <p:cNvPr id="31" name="Ellipse 30">
              <a:extLst>
                <a:ext uri="{FF2B5EF4-FFF2-40B4-BE49-F238E27FC236}">
                  <a16:creationId xmlns:a16="http://schemas.microsoft.com/office/drawing/2014/main" id="{6CDAE638-E460-9348-B48C-6379641A7504}"/>
                </a:ext>
              </a:extLst>
            </p:cNvPr>
            <p:cNvSpPr/>
            <p:nvPr/>
          </p:nvSpPr>
          <p:spPr>
            <a:xfrm>
              <a:off x="9178596" y="3954599"/>
              <a:ext cx="45719" cy="45719"/>
            </a:xfrm>
            <a:prstGeom prst="ellipse">
              <a:avLst/>
            </a:prstGeom>
            <a:ln/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 sz="800">
                <a:solidFill>
                  <a:schemeClr val="tx1"/>
                </a:solidFill>
              </a:endParaRPr>
            </a:p>
          </p:txBody>
        </p:sp>
        <p:sp>
          <p:nvSpPr>
            <p:cNvPr id="32" name="Ellipse 31">
              <a:extLst>
                <a:ext uri="{FF2B5EF4-FFF2-40B4-BE49-F238E27FC236}">
                  <a16:creationId xmlns:a16="http://schemas.microsoft.com/office/drawing/2014/main" id="{BE6D7D4B-E6A1-7A5C-1919-1066E23704E4}"/>
                </a:ext>
              </a:extLst>
            </p:cNvPr>
            <p:cNvSpPr/>
            <p:nvPr/>
          </p:nvSpPr>
          <p:spPr>
            <a:xfrm>
              <a:off x="9179206" y="4281028"/>
              <a:ext cx="45719" cy="45719"/>
            </a:xfrm>
            <a:prstGeom prst="ellipse">
              <a:avLst/>
            </a:prstGeom>
            <a:ln/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 sz="800">
                <a:solidFill>
                  <a:schemeClr val="tx1"/>
                </a:solidFill>
              </a:endParaRPr>
            </a:p>
          </p:txBody>
        </p:sp>
        <p:sp>
          <p:nvSpPr>
            <p:cNvPr id="33" name="Ellipse 32">
              <a:extLst>
                <a:ext uri="{FF2B5EF4-FFF2-40B4-BE49-F238E27FC236}">
                  <a16:creationId xmlns:a16="http://schemas.microsoft.com/office/drawing/2014/main" id="{2A7E4F72-7D1F-0E44-030B-E6F687D122D1}"/>
                </a:ext>
              </a:extLst>
            </p:cNvPr>
            <p:cNvSpPr/>
            <p:nvPr/>
          </p:nvSpPr>
          <p:spPr>
            <a:xfrm>
              <a:off x="9179206" y="4607458"/>
              <a:ext cx="45719" cy="45719"/>
            </a:xfrm>
            <a:prstGeom prst="ellipse">
              <a:avLst/>
            </a:prstGeom>
            <a:ln/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 sz="800">
                <a:solidFill>
                  <a:schemeClr val="tx1"/>
                </a:solidFill>
              </a:endParaRPr>
            </a:p>
          </p:txBody>
        </p:sp>
        <p:sp>
          <p:nvSpPr>
            <p:cNvPr id="34" name="Ellipse 33">
              <a:extLst>
                <a:ext uri="{FF2B5EF4-FFF2-40B4-BE49-F238E27FC236}">
                  <a16:creationId xmlns:a16="http://schemas.microsoft.com/office/drawing/2014/main" id="{206407B4-8ECE-021E-1A03-AF47F7B9E83E}"/>
                </a:ext>
              </a:extLst>
            </p:cNvPr>
            <p:cNvSpPr/>
            <p:nvPr/>
          </p:nvSpPr>
          <p:spPr>
            <a:xfrm>
              <a:off x="10441098" y="3954599"/>
              <a:ext cx="45719" cy="45719"/>
            </a:xfrm>
            <a:prstGeom prst="ellipse">
              <a:avLst/>
            </a:prstGeom>
            <a:ln/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 sz="800">
                <a:solidFill>
                  <a:schemeClr val="tx1"/>
                </a:solidFill>
              </a:endParaRPr>
            </a:p>
          </p:txBody>
        </p:sp>
        <p:sp>
          <p:nvSpPr>
            <p:cNvPr id="35" name="Ellipse 34">
              <a:extLst>
                <a:ext uri="{FF2B5EF4-FFF2-40B4-BE49-F238E27FC236}">
                  <a16:creationId xmlns:a16="http://schemas.microsoft.com/office/drawing/2014/main" id="{33187CE9-B892-2AFD-AB38-BB8958DD03BA}"/>
                </a:ext>
              </a:extLst>
            </p:cNvPr>
            <p:cNvSpPr/>
            <p:nvPr/>
          </p:nvSpPr>
          <p:spPr>
            <a:xfrm>
              <a:off x="10441708" y="4281028"/>
              <a:ext cx="45719" cy="45719"/>
            </a:xfrm>
            <a:prstGeom prst="ellipse">
              <a:avLst/>
            </a:prstGeom>
            <a:ln/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 sz="800">
                <a:solidFill>
                  <a:schemeClr val="tx1"/>
                </a:solidFill>
              </a:endParaRPr>
            </a:p>
          </p:txBody>
        </p:sp>
        <p:sp>
          <p:nvSpPr>
            <p:cNvPr id="36" name="Ellipse 35">
              <a:extLst>
                <a:ext uri="{FF2B5EF4-FFF2-40B4-BE49-F238E27FC236}">
                  <a16:creationId xmlns:a16="http://schemas.microsoft.com/office/drawing/2014/main" id="{20CD0AB2-DE58-BA48-54DE-8FCE795DC626}"/>
                </a:ext>
              </a:extLst>
            </p:cNvPr>
            <p:cNvSpPr/>
            <p:nvPr/>
          </p:nvSpPr>
          <p:spPr>
            <a:xfrm>
              <a:off x="10441708" y="4607458"/>
              <a:ext cx="45719" cy="45719"/>
            </a:xfrm>
            <a:prstGeom prst="ellipse">
              <a:avLst/>
            </a:prstGeom>
            <a:ln/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 sz="800">
                <a:solidFill>
                  <a:schemeClr val="tx1"/>
                </a:solidFill>
              </a:endParaRPr>
            </a:p>
          </p:txBody>
        </p:sp>
      </p:grpSp>
      <p:grpSp>
        <p:nvGrpSpPr>
          <p:cNvPr id="47" name="Gruppieren 46">
            <a:extLst>
              <a:ext uri="{FF2B5EF4-FFF2-40B4-BE49-F238E27FC236}">
                <a16:creationId xmlns:a16="http://schemas.microsoft.com/office/drawing/2014/main" id="{ACDB93A0-2E20-EAB5-5E77-E14468EEC040}"/>
              </a:ext>
            </a:extLst>
          </p:cNvPr>
          <p:cNvGrpSpPr/>
          <p:nvPr/>
        </p:nvGrpSpPr>
        <p:grpSpPr>
          <a:xfrm>
            <a:off x="13324432" y="9178430"/>
            <a:ext cx="1308831" cy="1260000"/>
            <a:chOff x="13565128" y="3673888"/>
            <a:chExt cx="1308831" cy="1260000"/>
          </a:xfrm>
        </p:grpSpPr>
        <p:sp>
          <p:nvSpPr>
            <p:cNvPr id="3" name="Rechteck 2">
              <a:extLst>
                <a:ext uri="{FF2B5EF4-FFF2-40B4-BE49-F238E27FC236}">
                  <a16:creationId xmlns:a16="http://schemas.microsoft.com/office/drawing/2014/main" id="{A0D90752-E600-F455-0214-43CAB7E7F87E}"/>
                </a:ext>
              </a:extLst>
            </p:cNvPr>
            <p:cNvSpPr/>
            <p:nvPr/>
          </p:nvSpPr>
          <p:spPr>
            <a:xfrm>
              <a:off x="13593211" y="3673888"/>
              <a:ext cx="1260000" cy="1260000"/>
            </a:xfrm>
            <a:prstGeom prst="rect">
              <a:avLst/>
            </a:prstGeom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1440"/>
                <a:t>Mediator</a:t>
              </a:r>
            </a:p>
          </p:txBody>
        </p:sp>
        <p:sp>
          <p:nvSpPr>
            <p:cNvPr id="37" name="Ellipse 36">
              <a:extLst>
                <a:ext uri="{FF2B5EF4-FFF2-40B4-BE49-F238E27FC236}">
                  <a16:creationId xmlns:a16="http://schemas.microsoft.com/office/drawing/2014/main" id="{B99D0CC0-05DA-53A5-C8E1-9D45E66A83C5}"/>
                </a:ext>
              </a:extLst>
            </p:cNvPr>
            <p:cNvSpPr/>
            <p:nvPr/>
          </p:nvSpPr>
          <p:spPr>
            <a:xfrm>
              <a:off x="13565128" y="3954599"/>
              <a:ext cx="45719" cy="45719"/>
            </a:xfrm>
            <a:prstGeom prst="ellipse">
              <a:avLst/>
            </a:prstGeom>
            <a:ln/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 sz="800">
                <a:solidFill>
                  <a:schemeClr val="tx1"/>
                </a:solidFill>
              </a:endParaRPr>
            </a:p>
          </p:txBody>
        </p:sp>
        <p:sp>
          <p:nvSpPr>
            <p:cNvPr id="38" name="Ellipse 37">
              <a:extLst>
                <a:ext uri="{FF2B5EF4-FFF2-40B4-BE49-F238E27FC236}">
                  <a16:creationId xmlns:a16="http://schemas.microsoft.com/office/drawing/2014/main" id="{30BC7643-AB67-AD60-6073-601A5A85AB72}"/>
                </a:ext>
              </a:extLst>
            </p:cNvPr>
            <p:cNvSpPr/>
            <p:nvPr/>
          </p:nvSpPr>
          <p:spPr>
            <a:xfrm>
              <a:off x="13565738" y="4281028"/>
              <a:ext cx="45719" cy="45719"/>
            </a:xfrm>
            <a:prstGeom prst="ellipse">
              <a:avLst/>
            </a:prstGeom>
            <a:ln/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 sz="800">
                <a:solidFill>
                  <a:schemeClr val="tx1"/>
                </a:solidFill>
              </a:endParaRPr>
            </a:p>
          </p:txBody>
        </p:sp>
        <p:sp>
          <p:nvSpPr>
            <p:cNvPr id="39" name="Ellipse 38">
              <a:extLst>
                <a:ext uri="{FF2B5EF4-FFF2-40B4-BE49-F238E27FC236}">
                  <a16:creationId xmlns:a16="http://schemas.microsoft.com/office/drawing/2014/main" id="{9C3D91A7-CF9E-7F00-0067-0C4FF862A152}"/>
                </a:ext>
              </a:extLst>
            </p:cNvPr>
            <p:cNvSpPr/>
            <p:nvPr/>
          </p:nvSpPr>
          <p:spPr>
            <a:xfrm>
              <a:off x="13565738" y="4607458"/>
              <a:ext cx="45719" cy="45719"/>
            </a:xfrm>
            <a:prstGeom prst="ellipse">
              <a:avLst/>
            </a:prstGeom>
            <a:ln/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 sz="800">
                <a:solidFill>
                  <a:schemeClr val="tx1"/>
                </a:solidFill>
              </a:endParaRPr>
            </a:p>
          </p:txBody>
        </p:sp>
        <p:sp>
          <p:nvSpPr>
            <p:cNvPr id="40" name="Ellipse 39">
              <a:extLst>
                <a:ext uri="{FF2B5EF4-FFF2-40B4-BE49-F238E27FC236}">
                  <a16:creationId xmlns:a16="http://schemas.microsoft.com/office/drawing/2014/main" id="{6B6F7CCB-1D34-AEC2-A285-88D28C4C759E}"/>
                </a:ext>
              </a:extLst>
            </p:cNvPr>
            <p:cNvSpPr/>
            <p:nvPr/>
          </p:nvSpPr>
          <p:spPr>
            <a:xfrm>
              <a:off x="14827630" y="3954599"/>
              <a:ext cx="45719" cy="45719"/>
            </a:xfrm>
            <a:prstGeom prst="ellipse">
              <a:avLst/>
            </a:prstGeom>
            <a:ln/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 sz="800">
                <a:solidFill>
                  <a:schemeClr val="tx1"/>
                </a:solidFill>
              </a:endParaRPr>
            </a:p>
          </p:txBody>
        </p:sp>
        <p:sp>
          <p:nvSpPr>
            <p:cNvPr id="41" name="Ellipse 40">
              <a:extLst>
                <a:ext uri="{FF2B5EF4-FFF2-40B4-BE49-F238E27FC236}">
                  <a16:creationId xmlns:a16="http://schemas.microsoft.com/office/drawing/2014/main" id="{F8EE7A2A-2AAA-62D3-EFD0-12A741008F83}"/>
                </a:ext>
              </a:extLst>
            </p:cNvPr>
            <p:cNvSpPr/>
            <p:nvPr/>
          </p:nvSpPr>
          <p:spPr>
            <a:xfrm>
              <a:off x="14828240" y="4281028"/>
              <a:ext cx="45719" cy="45719"/>
            </a:xfrm>
            <a:prstGeom prst="ellipse">
              <a:avLst/>
            </a:prstGeom>
            <a:ln/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 sz="800">
                <a:solidFill>
                  <a:schemeClr val="tx1"/>
                </a:solidFill>
              </a:endParaRPr>
            </a:p>
          </p:txBody>
        </p:sp>
        <p:sp>
          <p:nvSpPr>
            <p:cNvPr id="42" name="Ellipse 41">
              <a:extLst>
                <a:ext uri="{FF2B5EF4-FFF2-40B4-BE49-F238E27FC236}">
                  <a16:creationId xmlns:a16="http://schemas.microsoft.com/office/drawing/2014/main" id="{8BC01D64-4360-C779-329D-53F4E34B73C8}"/>
                </a:ext>
              </a:extLst>
            </p:cNvPr>
            <p:cNvSpPr/>
            <p:nvPr/>
          </p:nvSpPr>
          <p:spPr>
            <a:xfrm>
              <a:off x="14828240" y="4607458"/>
              <a:ext cx="45719" cy="45719"/>
            </a:xfrm>
            <a:prstGeom prst="ellipse">
              <a:avLst/>
            </a:prstGeom>
            <a:ln/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 sz="800">
                <a:solidFill>
                  <a:schemeClr val="tx1"/>
                </a:solidFill>
              </a:endParaRPr>
            </a:p>
          </p:txBody>
        </p:sp>
      </p:grpSp>
      <p:grpSp>
        <p:nvGrpSpPr>
          <p:cNvPr id="46" name="Gruppieren 45">
            <a:extLst>
              <a:ext uri="{FF2B5EF4-FFF2-40B4-BE49-F238E27FC236}">
                <a16:creationId xmlns:a16="http://schemas.microsoft.com/office/drawing/2014/main" id="{083FE96D-5BFD-BE19-9D31-9BCA0E038D76}"/>
              </a:ext>
            </a:extLst>
          </p:cNvPr>
          <p:cNvGrpSpPr/>
          <p:nvPr/>
        </p:nvGrpSpPr>
        <p:grpSpPr>
          <a:xfrm>
            <a:off x="17712169" y="9178430"/>
            <a:ext cx="1288986" cy="1260000"/>
            <a:chOff x="17952867" y="3673888"/>
            <a:chExt cx="1288986" cy="1260000"/>
          </a:xfrm>
        </p:grpSpPr>
        <p:sp>
          <p:nvSpPr>
            <p:cNvPr id="2" name="Rechteck 1">
              <a:extLst>
                <a:ext uri="{FF2B5EF4-FFF2-40B4-BE49-F238E27FC236}">
                  <a16:creationId xmlns:a16="http://schemas.microsoft.com/office/drawing/2014/main" id="{0BB5D594-F1DB-B50A-6F3D-508ABF55786F}"/>
                </a:ext>
              </a:extLst>
            </p:cNvPr>
            <p:cNvSpPr/>
            <p:nvPr/>
          </p:nvSpPr>
          <p:spPr>
            <a:xfrm>
              <a:off x="17981853" y="3673888"/>
              <a:ext cx="1260000" cy="126000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1440"/>
                <a:t>Device</a:t>
              </a:r>
            </a:p>
          </p:txBody>
        </p:sp>
        <p:sp>
          <p:nvSpPr>
            <p:cNvPr id="43" name="Ellipse 42">
              <a:extLst>
                <a:ext uri="{FF2B5EF4-FFF2-40B4-BE49-F238E27FC236}">
                  <a16:creationId xmlns:a16="http://schemas.microsoft.com/office/drawing/2014/main" id="{5787C7D1-BC29-2037-C7E6-1111E88F43A2}"/>
                </a:ext>
              </a:extLst>
            </p:cNvPr>
            <p:cNvSpPr/>
            <p:nvPr/>
          </p:nvSpPr>
          <p:spPr>
            <a:xfrm>
              <a:off x="17952867" y="3954599"/>
              <a:ext cx="45719" cy="45719"/>
            </a:xfrm>
            <a:prstGeom prst="ellipse">
              <a:avLst/>
            </a:prstGeom>
            <a:ln/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 sz="800">
                <a:solidFill>
                  <a:schemeClr val="tx1"/>
                </a:solidFill>
              </a:endParaRPr>
            </a:p>
          </p:txBody>
        </p:sp>
        <p:sp>
          <p:nvSpPr>
            <p:cNvPr id="44" name="Ellipse 43">
              <a:extLst>
                <a:ext uri="{FF2B5EF4-FFF2-40B4-BE49-F238E27FC236}">
                  <a16:creationId xmlns:a16="http://schemas.microsoft.com/office/drawing/2014/main" id="{7FF33434-68A4-4083-BCDB-F616C66FA7FF}"/>
                </a:ext>
              </a:extLst>
            </p:cNvPr>
            <p:cNvSpPr/>
            <p:nvPr/>
          </p:nvSpPr>
          <p:spPr>
            <a:xfrm>
              <a:off x="17953477" y="4281028"/>
              <a:ext cx="45719" cy="45719"/>
            </a:xfrm>
            <a:prstGeom prst="ellipse">
              <a:avLst/>
            </a:prstGeom>
            <a:ln/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 sz="800">
                <a:solidFill>
                  <a:schemeClr val="tx1"/>
                </a:solidFill>
              </a:endParaRPr>
            </a:p>
          </p:txBody>
        </p:sp>
        <p:sp>
          <p:nvSpPr>
            <p:cNvPr id="45" name="Ellipse 44">
              <a:extLst>
                <a:ext uri="{FF2B5EF4-FFF2-40B4-BE49-F238E27FC236}">
                  <a16:creationId xmlns:a16="http://schemas.microsoft.com/office/drawing/2014/main" id="{D4D61CF3-37D7-0039-79B0-B9C56150DD73}"/>
                </a:ext>
              </a:extLst>
            </p:cNvPr>
            <p:cNvSpPr/>
            <p:nvPr/>
          </p:nvSpPr>
          <p:spPr>
            <a:xfrm>
              <a:off x="17953477" y="4607458"/>
              <a:ext cx="45719" cy="45719"/>
            </a:xfrm>
            <a:prstGeom prst="ellipse">
              <a:avLst/>
            </a:prstGeom>
            <a:ln/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 sz="800">
                <a:solidFill>
                  <a:schemeClr val="tx1"/>
                </a:solidFill>
              </a:endParaRPr>
            </a:p>
          </p:txBody>
        </p:sp>
      </p:grpSp>
      <p:cxnSp>
        <p:nvCxnSpPr>
          <p:cNvPr id="56" name="Gerader Verbinder 55">
            <a:extLst>
              <a:ext uri="{FF2B5EF4-FFF2-40B4-BE49-F238E27FC236}">
                <a16:creationId xmlns:a16="http://schemas.microsoft.com/office/drawing/2014/main" id="{ED99F935-BC1C-7FB5-AA10-C25DB56C26BA}"/>
              </a:ext>
            </a:extLst>
          </p:cNvPr>
          <p:cNvCxnSpPr>
            <a:cxnSpLocks/>
            <a:stCxn id="36" idx="6"/>
            <a:endCxn id="39" idx="2"/>
          </p:cNvCxnSpPr>
          <p:nvPr/>
        </p:nvCxnSpPr>
        <p:spPr>
          <a:xfrm>
            <a:off x="10246731" y="10134860"/>
            <a:ext cx="3078311" cy="0"/>
          </a:xfrm>
          <a:prstGeom prst="line">
            <a:avLst/>
          </a:prstGeom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59" name="Gerader Verbinder 58">
            <a:extLst>
              <a:ext uri="{FF2B5EF4-FFF2-40B4-BE49-F238E27FC236}">
                <a16:creationId xmlns:a16="http://schemas.microsoft.com/office/drawing/2014/main" id="{FF8B944E-61B3-5541-4813-24A7010A3273}"/>
              </a:ext>
            </a:extLst>
          </p:cNvPr>
          <p:cNvCxnSpPr>
            <a:cxnSpLocks/>
            <a:stCxn id="42" idx="6"/>
            <a:endCxn id="45" idx="2"/>
          </p:cNvCxnSpPr>
          <p:nvPr/>
        </p:nvCxnSpPr>
        <p:spPr>
          <a:xfrm>
            <a:off x="14633261" y="10134860"/>
            <a:ext cx="3079518" cy="0"/>
          </a:xfrm>
          <a:prstGeom prst="line">
            <a:avLst/>
          </a:prstGeom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sp>
        <p:nvSpPr>
          <p:cNvPr id="62" name="Textfeld 61">
            <a:extLst>
              <a:ext uri="{FF2B5EF4-FFF2-40B4-BE49-F238E27FC236}">
                <a16:creationId xmlns:a16="http://schemas.microsoft.com/office/drawing/2014/main" id="{BCDF4640-A923-C50A-D33F-C95DCE08E5DF}"/>
              </a:ext>
            </a:extLst>
          </p:cNvPr>
          <p:cNvSpPr txBox="1"/>
          <p:nvPr/>
        </p:nvSpPr>
        <p:spPr>
          <a:xfrm>
            <a:off x="16033831" y="9911021"/>
            <a:ext cx="26642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200"/>
              <a:t>1</a:t>
            </a:r>
          </a:p>
        </p:txBody>
      </p:sp>
      <p:sp>
        <p:nvSpPr>
          <p:cNvPr id="63" name="Textfeld 62">
            <a:extLst>
              <a:ext uri="{FF2B5EF4-FFF2-40B4-BE49-F238E27FC236}">
                <a16:creationId xmlns:a16="http://schemas.microsoft.com/office/drawing/2014/main" id="{10976B8C-D8E4-9C83-78A0-E39C05AC7017}"/>
              </a:ext>
            </a:extLst>
          </p:cNvPr>
          <p:cNvSpPr txBox="1"/>
          <p:nvPr/>
        </p:nvSpPr>
        <p:spPr>
          <a:xfrm>
            <a:off x="11547686" y="9911021"/>
            <a:ext cx="26642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200"/>
              <a:t>1</a:t>
            </a:r>
          </a:p>
        </p:txBody>
      </p:sp>
      <p:sp>
        <p:nvSpPr>
          <p:cNvPr id="73" name="Textfeld 72">
            <a:extLst>
              <a:ext uri="{FF2B5EF4-FFF2-40B4-BE49-F238E27FC236}">
                <a16:creationId xmlns:a16="http://schemas.microsoft.com/office/drawing/2014/main" id="{8B2B3BEB-4ABD-3B35-BFD8-E9EC20B947F6}"/>
              </a:ext>
            </a:extLst>
          </p:cNvPr>
          <p:cNvSpPr txBox="1"/>
          <p:nvPr/>
        </p:nvSpPr>
        <p:spPr>
          <a:xfrm>
            <a:off x="7527967" y="9911021"/>
            <a:ext cx="26642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200"/>
              <a:t>1</a:t>
            </a:r>
          </a:p>
        </p:txBody>
      </p:sp>
      <p:sp>
        <p:nvSpPr>
          <p:cNvPr id="74" name="Textfeld 73">
            <a:extLst>
              <a:ext uri="{FF2B5EF4-FFF2-40B4-BE49-F238E27FC236}">
                <a16:creationId xmlns:a16="http://schemas.microsoft.com/office/drawing/2014/main" id="{E88919C4-04D4-F788-2D5F-5F9BD515EBC1}"/>
              </a:ext>
            </a:extLst>
          </p:cNvPr>
          <p:cNvSpPr txBox="1"/>
          <p:nvPr/>
        </p:nvSpPr>
        <p:spPr>
          <a:xfrm>
            <a:off x="3606099" y="9911021"/>
            <a:ext cx="26642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200"/>
              <a:t>1</a:t>
            </a:r>
          </a:p>
        </p:txBody>
      </p:sp>
      <p:cxnSp>
        <p:nvCxnSpPr>
          <p:cNvPr id="79" name="Gerader Verbinder 78">
            <a:extLst>
              <a:ext uri="{FF2B5EF4-FFF2-40B4-BE49-F238E27FC236}">
                <a16:creationId xmlns:a16="http://schemas.microsoft.com/office/drawing/2014/main" id="{8885771B-7D60-4D67-1DC8-58927B546288}"/>
              </a:ext>
            </a:extLst>
          </p:cNvPr>
          <p:cNvCxnSpPr>
            <a:cxnSpLocks/>
            <a:stCxn id="22" idx="6"/>
            <a:endCxn id="32" idx="2"/>
          </p:cNvCxnSpPr>
          <p:nvPr/>
        </p:nvCxnSpPr>
        <p:spPr>
          <a:xfrm>
            <a:off x="6343824" y="9808430"/>
            <a:ext cx="2594684" cy="0"/>
          </a:xfrm>
          <a:prstGeom prst="line">
            <a:avLst/>
          </a:prstGeom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cxnSp>
        <p:nvCxnSpPr>
          <p:cNvPr id="80" name="Gerader Verbinder 79">
            <a:extLst>
              <a:ext uri="{FF2B5EF4-FFF2-40B4-BE49-F238E27FC236}">
                <a16:creationId xmlns:a16="http://schemas.microsoft.com/office/drawing/2014/main" id="{52E4B6B1-5F47-45D4-F97F-5497D49E3D10}"/>
              </a:ext>
            </a:extLst>
          </p:cNvPr>
          <p:cNvCxnSpPr>
            <a:cxnSpLocks/>
            <a:stCxn id="16" idx="6"/>
            <a:endCxn id="19" idx="2"/>
          </p:cNvCxnSpPr>
          <p:nvPr/>
        </p:nvCxnSpPr>
        <p:spPr>
          <a:xfrm>
            <a:off x="2439027" y="9808430"/>
            <a:ext cx="2596576" cy="0"/>
          </a:xfrm>
          <a:prstGeom prst="line">
            <a:avLst/>
          </a:prstGeom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cxnSp>
        <p:nvCxnSpPr>
          <p:cNvPr id="81" name="Gerader Verbinder 80">
            <a:extLst>
              <a:ext uri="{FF2B5EF4-FFF2-40B4-BE49-F238E27FC236}">
                <a16:creationId xmlns:a16="http://schemas.microsoft.com/office/drawing/2014/main" id="{BC29E72E-8D36-95B1-1907-CDE61FE7D64F}"/>
              </a:ext>
            </a:extLst>
          </p:cNvPr>
          <p:cNvCxnSpPr>
            <a:cxnSpLocks/>
            <a:stCxn id="35" idx="6"/>
            <a:endCxn id="38" idx="2"/>
          </p:cNvCxnSpPr>
          <p:nvPr/>
        </p:nvCxnSpPr>
        <p:spPr>
          <a:xfrm>
            <a:off x="10246731" y="9808430"/>
            <a:ext cx="3078311" cy="0"/>
          </a:xfrm>
          <a:prstGeom prst="line">
            <a:avLst/>
          </a:prstGeom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cxnSp>
        <p:nvCxnSpPr>
          <p:cNvPr id="82" name="Gerader Verbinder 81">
            <a:extLst>
              <a:ext uri="{FF2B5EF4-FFF2-40B4-BE49-F238E27FC236}">
                <a16:creationId xmlns:a16="http://schemas.microsoft.com/office/drawing/2014/main" id="{E601EBED-2241-F91D-096B-94B6BFABEB7D}"/>
              </a:ext>
            </a:extLst>
          </p:cNvPr>
          <p:cNvCxnSpPr>
            <a:cxnSpLocks/>
            <a:stCxn id="41" idx="6"/>
            <a:endCxn id="44" idx="2"/>
          </p:cNvCxnSpPr>
          <p:nvPr/>
        </p:nvCxnSpPr>
        <p:spPr>
          <a:xfrm>
            <a:off x="14633261" y="9808430"/>
            <a:ext cx="3079518" cy="0"/>
          </a:xfrm>
          <a:prstGeom prst="line">
            <a:avLst/>
          </a:prstGeom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sp>
        <p:nvSpPr>
          <p:cNvPr id="83" name="Textfeld 82">
            <a:extLst>
              <a:ext uri="{FF2B5EF4-FFF2-40B4-BE49-F238E27FC236}">
                <a16:creationId xmlns:a16="http://schemas.microsoft.com/office/drawing/2014/main" id="{D7F48A95-951D-7F41-BAAF-E8A53492969E}"/>
              </a:ext>
            </a:extLst>
          </p:cNvPr>
          <p:cNvSpPr txBox="1"/>
          <p:nvPr/>
        </p:nvSpPr>
        <p:spPr>
          <a:xfrm>
            <a:off x="16033831" y="9582110"/>
            <a:ext cx="26642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200"/>
              <a:t>1</a:t>
            </a:r>
          </a:p>
        </p:txBody>
      </p:sp>
      <p:sp>
        <p:nvSpPr>
          <p:cNvPr id="84" name="Textfeld 83">
            <a:extLst>
              <a:ext uri="{FF2B5EF4-FFF2-40B4-BE49-F238E27FC236}">
                <a16:creationId xmlns:a16="http://schemas.microsoft.com/office/drawing/2014/main" id="{43B7A890-9072-1201-E3D8-951559C79B92}"/>
              </a:ext>
            </a:extLst>
          </p:cNvPr>
          <p:cNvSpPr txBox="1"/>
          <p:nvPr/>
        </p:nvSpPr>
        <p:spPr>
          <a:xfrm>
            <a:off x="11547686" y="9582110"/>
            <a:ext cx="26642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200"/>
              <a:t>1</a:t>
            </a:r>
          </a:p>
        </p:txBody>
      </p:sp>
      <p:sp>
        <p:nvSpPr>
          <p:cNvPr id="85" name="Textfeld 84">
            <a:extLst>
              <a:ext uri="{FF2B5EF4-FFF2-40B4-BE49-F238E27FC236}">
                <a16:creationId xmlns:a16="http://schemas.microsoft.com/office/drawing/2014/main" id="{EF7C5B4D-87FD-393D-33BE-08FC530AD93F}"/>
              </a:ext>
            </a:extLst>
          </p:cNvPr>
          <p:cNvSpPr txBox="1"/>
          <p:nvPr/>
        </p:nvSpPr>
        <p:spPr>
          <a:xfrm>
            <a:off x="7527967" y="9582110"/>
            <a:ext cx="26642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200"/>
              <a:t>1</a:t>
            </a:r>
          </a:p>
        </p:txBody>
      </p:sp>
      <p:sp>
        <p:nvSpPr>
          <p:cNvPr id="86" name="Textfeld 85">
            <a:extLst>
              <a:ext uri="{FF2B5EF4-FFF2-40B4-BE49-F238E27FC236}">
                <a16:creationId xmlns:a16="http://schemas.microsoft.com/office/drawing/2014/main" id="{759EB66E-2779-F3D3-CFB5-59B0954FB901}"/>
              </a:ext>
            </a:extLst>
          </p:cNvPr>
          <p:cNvSpPr txBox="1"/>
          <p:nvPr/>
        </p:nvSpPr>
        <p:spPr>
          <a:xfrm>
            <a:off x="3606099" y="9582110"/>
            <a:ext cx="26642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200"/>
              <a:t>1</a:t>
            </a:r>
          </a:p>
        </p:txBody>
      </p:sp>
      <p:cxnSp>
        <p:nvCxnSpPr>
          <p:cNvPr id="96" name="Gerader Verbinder 95">
            <a:extLst>
              <a:ext uri="{FF2B5EF4-FFF2-40B4-BE49-F238E27FC236}">
                <a16:creationId xmlns:a16="http://schemas.microsoft.com/office/drawing/2014/main" id="{B144BA72-D2A1-464F-BC3B-A2F67BF9DA23}"/>
              </a:ext>
            </a:extLst>
          </p:cNvPr>
          <p:cNvCxnSpPr>
            <a:cxnSpLocks/>
            <a:stCxn id="15" idx="6"/>
            <a:endCxn id="18" idx="2"/>
          </p:cNvCxnSpPr>
          <p:nvPr/>
        </p:nvCxnSpPr>
        <p:spPr>
          <a:xfrm>
            <a:off x="2438417" y="9482001"/>
            <a:ext cx="2596576" cy="0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102" name="Textfeld 101">
            <a:extLst>
              <a:ext uri="{FF2B5EF4-FFF2-40B4-BE49-F238E27FC236}">
                <a16:creationId xmlns:a16="http://schemas.microsoft.com/office/drawing/2014/main" id="{308F75B1-D1B4-38E1-CF26-C30BA04F2A8A}"/>
              </a:ext>
            </a:extLst>
          </p:cNvPr>
          <p:cNvSpPr txBox="1"/>
          <p:nvPr/>
        </p:nvSpPr>
        <p:spPr>
          <a:xfrm>
            <a:off x="3183100" y="9262010"/>
            <a:ext cx="111120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200"/>
              <a:t>2 x 64 x 42ooo</a:t>
            </a:r>
          </a:p>
        </p:txBody>
      </p:sp>
      <p:sp>
        <p:nvSpPr>
          <p:cNvPr id="111" name="Zylinder 110">
            <a:extLst>
              <a:ext uri="{FF2B5EF4-FFF2-40B4-BE49-F238E27FC236}">
                <a16:creationId xmlns:a16="http://schemas.microsoft.com/office/drawing/2014/main" id="{EEAF48E4-E9A4-2D4B-7617-7D8C20BAC087}"/>
              </a:ext>
            </a:extLst>
          </p:cNvPr>
          <p:cNvSpPr/>
          <p:nvPr/>
        </p:nvSpPr>
        <p:spPr>
          <a:xfrm>
            <a:off x="5060965" y="10934948"/>
            <a:ext cx="1260000" cy="646383"/>
          </a:xfrm>
          <a:prstGeom prst="can">
            <a:avLst/>
          </a:prstGeom>
          <a:solidFill>
            <a:schemeClr val="bg1">
              <a:lumMod val="50000"/>
            </a:schemeClr>
          </a:solidFill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ES</a:t>
            </a:r>
          </a:p>
        </p:txBody>
      </p:sp>
      <p:cxnSp>
        <p:nvCxnSpPr>
          <p:cNvPr id="112" name="Gerader Verbinder 111">
            <a:extLst>
              <a:ext uri="{FF2B5EF4-FFF2-40B4-BE49-F238E27FC236}">
                <a16:creationId xmlns:a16="http://schemas.microsoft.com/office/drawing/2014/main" id="{4FD7D465-6D31-BFEF-B46D-1454ADFAA9B3}"/>
              </a:ext>
            </a:extLst>
          </p:cNvPr>
          <p:cNvCxnSpPr>
            <a:cxnSpLocks/>
            <a:stCxn id="7" idx="2"/>
            <a:endCxn id="111" idx="1"/>
          </p:cNvCxnSpPr>
          <p:nvPr/>
        </p:nvCxnSpPr>
        <p:spPr>
          <a:xfrm>
            <a:off x="5690965" y="10438430"/>
            <a:ext cx="0" cy="496516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116" name="Textfeld 115">
            <a:extLst>
              <a:ext uri="{FF2B5EF4-FFF2-40B4-BE49-F238E27FC236}">
                <a16:creationId xmlns:a16="http://schemas.microsoft.com/office/drawing/2014/main" id="{3DF136E3-FD31-8918-9947-5F2C1C7D86FD}"/>
              </a:ext>
            </a:extLst>
          </p:cNvPr>
          <p:cNvSpPr txBox="1"/>
          <p:nvPr/>
        </p:nvSpPr>
        <p:spPr>
          <a:xfrm>
            <a:off x="5690965" y="10559004"/>
            <a:ext cx="89800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200"/>
              <a:t>64 x 42ooo</a:t>
            </a:r>
          </a:p>
        </p:txBody>
      </p:sp>
      <p:sp>
        <p:nvSpPr>
          <p:cNvPr id="142" name="Ellipse 141">
            <a:extLst>
              <a:ext uri="{FF2B5EF4-FFF2-40B4-BE49-F238E27FC236}">
                <a16:creationId xmlns:a16="http://schemas.microsoft.com/office/drawing/2014/main" id="{CBF71B95-F797-6985-D861-450C3FCE119B}"/>
              </a:ext>
            </a:extLst>
          </p:cNvPr>
          <p:cNvSpPr/>
          <p:nvPr/>
        </p:nvSpPr>
        <p:spPr>
          <a:xfrm>
            <a:off x="1180310" y="135756"/>
            <a:ext cx="17889875" cy="3579764"/>
          </a:xfrm>
          <a:prstGeom prst="ellipse">
            <a:avLst/>
          </a:prstGeom>
          <a:solidFill>
            <a:schemeClr val="bg1">
              <a:lumMod val="50000"/>
            </a:schemeClr>
          </a:solidFill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t"/>
          <a:lstStyle/>
          <a:p>
            <a:endParaRPr lang="de-DE" sz="2160"/>
          </a:p>
          <a:p>
            <a:r>
              <a:rPr lang="de-DE" sz="2160"/>
              <a:t>MW SDN</a:t>
            </a:r>
          </a:p>
        </p:txBody>
      </p:sp>
      <p:sp>
        <p:nvSpPr>
          <p:cNvPr id="143" name="Ellipse 142">
            <a:extLst>
              <a:ext uri="{FF2B5EF4-FFF2-40B4-BE49-F238E27FC236}">
                <a16:creationId xmlns:a16="http://schemas.microsoft.com/office/drawing/2014/main" id="{8B15E994-ABDA-E4DD-63D0-99D6838DFF13}"/>
              </a:ext>
            </a:extLst>
          </p:cNvPr>
          <p:cNvSpPr/>
          <p:nvPr/>
        </p:nvSpPr>
        <p:spPr>
          <a:xfrm>
            <a:off x="6317239" y="968565"/>
            <a:ext cx="12706164" cy="1843774"/>
          </a:xfrm>
          <a:prstGeom prst="ellipse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2160"/>
              <a:t>                          Live</a:t>
            </a:r>
          </a:p>
        </p:txBody>
      </p:sp>
      <p:sp>
        <p:nvSpPr>
          <p:cNvPr id="144" name="Ellipse 143">
            <a:extLst>
              <a:ext uri="{FF2B5EF4-FFF2-40B4-BE49-F238E27FC236}">
                <a16:creationId xmlns:a16="http://schemas.microsoft.com/office/drawing/2014/main" id="{5A7E11B2-3E42-130D-1D88-E325860CD6F4}"/>
              </a:ext>
            </a:extLst>
          </p:cNvPr>
          <p:cNvSpPr/>
          <p:nvPr/>
        </p:nvSpPr>
        <p:spPr>
          <a:xfrm>
            <a:off x="10246120" y="1890452"/>
            <a:ext cx="8611707" cy="390992"/>
          </a:xfrm>
          <a:prstGeom prst="ellipse">
            <a:avLst/>
          </a:prstGeom>
          <a:solidFill>
            <a:schemeClr val="accent4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305251234</a:t>
            </a:r>
          </a:p>
        </p:txBody>
      </p:sp>
      <p:sp>
        <p:nvSpPr>
          <p:cNvPr id="145" name="Ellipse 144">
            <a:extLst>
              <a:ext uri="{FF2B5EF4-FFF2-40B4-BE49-F238E27FC236}">
                <a16:creationId xmlns:a16="http://schemas.microsoft.com/office/drawing/2014/main" id="{94CD7E54-8AC0-1221-73EB-CB8FBC9B51C4}"/>
              </a:ext>
            </a:extLst>
          </p:cNvPr>
          <p:cNvSpPr/>
          <p:nvPr/>
        </p:nvSpPr>
        <p:spPr>
          <a:xfrm>
            <a:off x="10246120" y="1780171"/>
            <a:ext cx="8611707" cy="390992"/>
          </a:xfrm>
          <a:prstGeom prst="ellipse">
            <a:avLst/>
          </a:prstGeom>
          <a:solidFill>
            <a:schemeClr val="accent4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305251234</a:t>
            </a:r>
          </a:p>
        </p:txBody>
      </p:sp>
      <p:sp>
        <p:nvSpPr>
          <p:cNvPr id="146" name="Ellipse 145">
            <a:extLst>
              <a:ext uri="{FF2B5EF4-FFF2-40B4-BE49-F238E27FC236}">
                <a16:creationId xmlns:a16="http://schemas.microsoft.com/office/drawing/2014/main" id="{A8160536-70B1-B254-504C-5879F86B2FEF}"/>
              </a:ext>
            </a:extLst>
          </p:cNvPr>
          <p:cNvSpPr/>
          <p:nvPr/>
        </p:nvSpPr>
        <p:spPr>
          <a:xfrm>
            <a:off x="10246120" y="1646506"/>
            <a:ext cx="8611707" cy="390992"/>
          </a:xfrm>
          <a:prstGeom prst="ellipse">
            <a:avLst/>
          </a:prstGeom>
          <a:solidFill>
            <a:schemeClr val="accent4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305251234</a:t>
            </a:r>
          </a:p>
        </p:txBody>
      </p:sp>
      <p:sp>
        <p:nvSpPr>
          <p:cNvPr id="147" name="Ellipse 146">
            <a:extLst>
              <a:ext uri="{FF2B5EF4-FFF2-40B4-BE49-F238E27FC236}">
                <a16:creationId xmlns:a16="http://schemas.microsoft.com/office/drawing/2014/main" id="{06A94292-D571-661B-EAA7-4B51BED0A0F5}"/>
              </a:ext>
            </a:extLst>
          </p:cNvPr>
          <p:cNvSpPr/>
          <p:nvPr/>
        </p:nvSpPr>
        <p:spPr>
          <a:xfrm>
            <a:off x="10246120" y="1504167"/>
            <a:ext cx="8611707" cy="390992"/>
          </a:xfrm>
          <a:prstGeom prst="ellipse">
            <a:avLst/>
          </a:prstGeom>
          <a:solidFill>
            <a:schemeClr val="accent4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40"/>
          </a:p>
        </p:txBody>
      </p:sp>
      <p:sp>
        <p:nvSpPr>
          <p:cNvPr id="148" name="Rechteck 147">
            <a:extLst>
              <a:ext uri="{FF2B5EF4-FFF2-40B4-BE49-F238E27FC236}">
                <a16:creationId xmlns:a16="http://schemas.microsoft.com/office/drawing/2014/main" id="{0D4D40BA-5BA6-7300-5D00-1BB2B9B6D511}"/>
              </a:ext>
            </a:extLst>
          </p:cNvPr>
          <p:cNvSpPr/>
          <p:nvPr/>
        </p:nvSpPr>
        <p:spPr>
          <a:xfrm>
            <a:off x="5057239" y="1664222"/>
            <a:ext cx="1255576" cy="452460"/>
          </a:xfrm>
          <a:prstGeom prst="rect">
            <a:avLst/>
          </a:prstGeom>
          <a:noFill/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MWDI</a:t>
            </a:r>
          </a:p>
        </p:txBody>
      </p:sp>
      <p:sp>
        <p:nvSpPr>
          <p:cNvPr id="149" name="Ellipse 148">
            <a:extLst>
              <a:ext uri="{FF2B5EF4-FFF2-40B4-BE49-F238E27FC236}">
                <a16:creationId xmlns:a16="http://schemas.microsoft.com/office/drawing/2014/main" id="{80127BE7-834A-4BEE-D713-DE407A278C9B}"/>
              </a:ext>
            </a:extLst>
          </p:cNvPr>
          <p:cNvSpPr>
            <a:spLocks noChangeAspect="1"/>
          </p:cNvSpPr>
          <p:nvPr/>
        </p:nvSpPr>
        <p:spPr>
          <a:xfrm rot="5400000">
            <a:off x="5024970" y="2454257"/>
            <a:ext cx="1324539" cy="649392"/>
          </a:xfrm>
          <a:prstGeom prst="ellipse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2160"/>
              <a:t>Cache</a:t>
            </a:r>
          </a:p>
        </p:txBody>
      </p:sp>
      <p:sp>
        <p:nvSpPr>
          <p:cNvPr id="150" name="Ellipse 149">
            <a:extLst>
              <a:ext uri="{FF2B5EF4-FFF2-40B4-BE49-F238E27FC236}">
                <a16:creationId xmlns:a16="http://schemas.microsoft.com/office/drawing/2014/main" id="{02D36E97-D75E-541C-E4D6-00FF1E5C7833}"/>
              </a:ext>
            </a:extLst>
          </p:cNvPr>
          <p:cNvSpPr/>
          <p:nvPr/>
        </p:nvSpPr>
        <p:spPr>
          <a:xfrm>
            <a:off x="6366524" y="1511120"/>
            <a:ext cx="3662612" cy="725190"/>
          </a:xfrm>
          <a:prstGeom prst="ellipse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160"/>
              <a:t>Controller</a:t>
            </a:r>
          </a:p>
        </p:txBody>
      </p:sp>
      <p:sp>
        <p:nvSpPr>
          <p:cNvPr id="151" name="Ellipse 150">
            <a:extLst>
              <a:ext uri="{FF2B5EF4-FFF2-40B4-BE49-F238E27FC236}">
                <a16:creationId xmlns:a16="http://schemas.microsoft.com/office/drawing/2014/main" id="{8A5667DE-8B86-E2A0-67DA-E46B5ECA3718}"/>
              </a:ext>
            </a:extLst>
          </p:cNvPr>
          <p:cNvSpPr/>
          <p:nvPr/>
        </p:nvSpPr>
        <p:spPr>
          <a:xfrm>
            <a:off x="10075917" y="1237410"/>
            <a:ext cx="8947487" cy="1337003"/>
          </a:xfrm>
          <a:prstGeom prst="ellipse">
            <a:avLst/>
          </a:prstGeom>
          <a:solidFill>
            <a:schemeClr val="accent5">
              <a:alpha val="74000"/>
            </a:schemeClr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tIns="0" rIns="0" bIns="0" rtlCol="0" anchor="t"/>
          <a:lstStyle/>
          <a:p>
            <a:pPr algn="ctr"/>
            <a:r>
              <a:rPr lang="de-DE" sz="2160"/>
              <a:t>Device</a:t>
            </a:r>
          </a:p>
        </p:txBody>
      </p:sp>
      <p:cxnSp>
        <p:nvCxnSpPr>
          <p:cNvPr id="6" name="Gerader Verbinder 5">
            <a:extLst>
              <a:ext uri="{FF2B5EF4-FFF2-40B4-BE49-F238E27FC236}">
                <a16:creationId xmlns:a16="http://schemas.microsoft.com/office/drawing/2014/main" id="{784CA366-28F1-C25B-757A-C46EC1D4400F}"/>
              </a:ext>
            </a:extLst>
          </p:cNvPr>
          <p:cNvCxnSpPr>
            <a:cxnSpLocks/>
          </p:cNvCxnSpPr>
          <p:nvPr/>
        </p:nvCxnSpPr>
        <p:spPr>
          <a:xfrm flipV="1">
            <a:off x="6290115" y="8806542"/>
            <a:ext cx="3956006" cy="15008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11" name="Textfeld 10">
            <a:extLst>
              <a:ext uri="{FF2B5EF4-FFF2-40B4-BE49-F238E27FC236}">
                <a16:creationId xmlns:a16="http://schemas.microsoft.com/office/drawing/2014/main" id="{B4BCD004-1121-6524-C7D5-F21DDF747ABA}"/>
              </a:ext>
            </a:extLst>
          </p:cNvPr>
          <p:cNvSpPr txBox="1"/>
          <p:nvPr/>
        </p:nvSpPr>
        <p:spPr>
          <a:xfrm>
            <a:off x="7941863" y="8590846"/>
            <a:ext cx="60305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200"/>
              <a:t>42ooo</a:t>
            </a:r>
          </a:p>
        </p:txBody>
      </p:sp>
      <p:cxnSp>
        <p:nvCxnSpPr>
          <p:cNvPr id="25" name="Gerader Verbinder 24">
            <a:extLst>
              <a:ext uri="{FF2B5EF4-FFF2-40B4-BE49-F238E27FC236}">
                <a16:creationId xmlns:a16="http://schemas.microsoft.com/office/drawing/2014/main" id="{4283A065-EFDC-D4DE-E66D-64FF372380E4}"/>
              </a:ext>
            </a:extLst>
          </p:cNvPr>
          <p:cNvCxnSpPr>
            <a:cxnSpLocks/>
          </p:cNvCxnSpPr>
          <p:nvPr/>
        </p:nvCxnSpPr>
        <p:spPr>
          <a:xfrm>
            <a:off x="10253501" y="8878704"/>
            <a:ext cx="7487044" cy="1"/>
          </a:xfrm>
          <a:prstGeom prst="line">
            <a:avLst/>
          </a:prstGeom>
          <a:ln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26" name="Textfeld 25">
            <a:extLst>
              <a:ext uri="{FF2B5EF4-FFF2-40B4-BE49-F238E27FC236}">
                <a16:creationId xmlns:a16="http://schemas.microsoft.com/office/drawing/2014/main" id="{BC323A48-6CC7-3B53-AB86-D381F5467C22}"/>
              </a:ext>
            </a:extLst>
          </p:cNvPr>
          <p:cNvSpPr txBox="1"/>
          <p:nvPr/>
        </p:nvSpPr>
        <p:spPr>
          <a:xfrm>
            <a:off x="12647621" y="8643855"/>
            <a:ext cx="89800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200"/>
              <a:t>1</a:t>
            </a:r>
          </a:p>
        </p:txBody>
      </p:sp>
      <p:sp>
        <p:nvSpPr>
          <p:cNvPr id="29" name="Textfeld 28">
            <a:extLst>
              <a:ext uri="{FF2B5EF4-FFF2-40B4-BE49-F238E27FC236}">
                <a16:creationId xmlns:a16="http://schemas.microsoft.com/office/drawing/2014/main" id="{8EE26BEE-DA65-743C-4E18-9DBADEDD465A}"/>
              </a:ext>
            </a:extLst>
          </p:cNvPr>
          <p:cNvSpPr txBox="1"/>
          <p:nvPr/>
        </p:nvSpPr>
        <p:spPr>
          <a:xfrm>
            <a:off x="18193627" y="8187656"/>
            <a:ext cx="89800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200"/>
              <a:t>42ooo</a:t>
            </a:r>
          </a:p>
        </p:txBody>
      </p:sp>
      <p:cxnSp>
        <p:nvCxnSpPr>
          <p:cNvPr id="52" name="Gerader Verbinder 51">
            <a:extLst>
              <a:ext uri="{FF2B5EF4-FFF2-40B4-BE49-F238E27FC236}">
                <a16:creationId xmlns:a16="http://schemas.microsoft.com/office/drawing/2014/main" id="{0DE3C1C8-C579-D0F0-92CB-5CCB5318330E}"/>
              </a:ext>
            </a:extLst>
          </p:cNvPr>
          <p:cNvCxnSpPr>
            <a:cxnSpLocks/>
          </p:cNvCxnSpPr>
          <p:nvPr/>
        </p:nvCxnSpPr>
        <p:spPr>
          <a:xfrm>
            <a:off x="6277565" y="5566804"/>
            <a:ext cx="1146298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3" name="Textfeld 52">
            <a:extLst>
              <a:ext uri="{FF2B5EF4-FFF2-40B4-BE49-F238E27FC236}">
                <a16:creationId xmlns:a16="http://schemas.microsoft.com/office/drawing/2014/main" id="{6E63747B-722D-B5B3-C62D-05734C6E8D7E}"/>
              </a:ext>
            </a:extLst>
          </p:cNvPr>
          <p:cNvSpPr txBox="1"/>
          <p:nvPr/>
        </p:nvSpPr>
        <p:spPr>
          <a:xfrm>
            <a:off x="11969871" y="5341133"/>
            <a:ext cx="89800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200"/>
              <a:t>42ooo</a:t>
            </a:r>
          </a:p>
        </p:txBody>
      </p:sp>
      <p:sp>
        <p:nvSpPr>
          <p:cNvPr id="57" name="Rechteck 56">
            <a:extLst>
              <a:ext uri="{FF2B5EF4-FFF2-40B4-BE49-F238E27FC236}">
                <a16:creationId xmlns:a16="http://schemas.microsoft.com/office/drawing/2014/main" id="{E087717E-97C2-CC8A-86D0-A0AD28F8E8F3}"/>
              </a:ext>
            </a:extLst>
          </p:cNvPr>
          <p:cNvSpPr/>
          <p:nvPr/>
        </p:nvSpPr>
        <p:spPr>
          <a:xfrm>
            <a:off x="5060357" y="5341134"/>
            <a:ext cx="1260000" cy="1065692"/>
          </a:xfrm>
          <a:prstGeom prst="rect">
            <a:avLst/>
          </a:prstGeom>
          <a:solidFill>
            <a:schemeClr val="bg1">
              <a:lumMod val="50000"/>
              <a:alpha val="50000"/>
            </a:schemeClr>
          </a:solidFill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MWDI</a:t>
            </a:r>
          </a:p>
        </p:txBody>
      </p:sp>
      <p:sp>
        <p:nvSpPr>
          <p:cNvPr id="68" name="Rechteck 67">
            <a:extLst>
              <a:ext uri="{FF2B5EF4-FFF2-40B4-BE49-F238E27FC236}">
                <a16:creationId xmlns:a16="http://schemas.microsoft.com/office/drawing/2014/main" id="{1BB23D9F-6730-9632-59F9-D87C79136B20}"/>
              </a:ext>
            </a:extLst>
          </p:cNvPr>
          <p:cNvSpPr/>
          <p:nvPr/>
        </p:nvSpPr>
        <p:spPr>
          <a:xfrm>
            <a:off x="8963262" y="5942832"/>
            <a:ext cx="1260000" cy="463994"/>
          </a:xfrm>
          <a:prstGeom prst="rect">
            <a:avLst/>
          </a:prstGeom>
          <a:solidFill>
            <a:schemeClr val="accent6">
              <a:alpha val="50000"/>
            </a:schemeClr>
          </a:solidFill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Controller</a:t>
            </a:r>
          </a:p>
        </p:txBody>
      </p:sp>
      <p:sp>
        <p:nvSpPr>
          <p:cNvPr id="94" name="Rechteck 93">
            <a:extLst>
              <a:ext uri="{FF2B5EF4-FFF2-40B4-BE49-F238E27FC236}">
                <a16:creationId xmlns:a16="http://schemas.microsoft.com/office/drawing/2014/main" id="{7A35A77E-C566-F7DD-8261-C4264E949765}"/>
              </a:ext>
            </a:extLst>
          </p:cNvPr>
          <p:cNvSpPr/>
          <p:nvPr/>
        </p:nvSpPr>
        <p:spPr>
          <a:xfrm>
            <a:off x="17740545" y="5341133"/>
            <a:ext cx="1260000" cy="1065693"/>
          </a:xfrm>
          <a:prstGeom prst="rect">
            <a:avLst/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Device</a:t>
            </a:r>
          </a:p>
        </p:txBody>
      </p:sp>
      <p:cxnSp>
        <p:nvCxnSpPr>
          <p:cNvPr id="155" name="Gerader Verbinder 154">
            <a:extLst>
              <a:ext uri="{FF2B5EF4-FFF2-40B4-BE49-F238E27FC236}">
                <a16:creationId xmlns:a16="http://schemas.microsoft.com/office/drawing/2014/main" id="{1E568CB8-CFC1-2854-CA1F-DF16C3ED20D4}"/>
              </a:ext>
            </a:extLst>
          </p:cNvPr>
          <p:cNvCxnSpPr>
            <a:cxnSpLocks/>
            <a:stCxn id="57" idx="2"/>
          </p:cNvCxnSpPr>
          <p:nvPr/>
        </p:nvCxnSpPr>
        <p:spPr>
          <a:xfrm flipH="1">
            <a:off x="5690355" y="6406826"/>
            <a:ext cx="2" cy="496516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156" name="Textfeld 155">
            <a:extLst>
              <a:ext uri="{FF2B5EF4-FFF2-40B4-BE49-F238E27FC236}">
                <a16:creationId xmlns:a16="http://schemas.microsoft.com/office/drawing/2014/main" id="{636D5ACB-A697-732D-CBB5-9E2584C98C70}"/>
              </a:ext>
            </a:extLst>
          </p:cNvPr>
          <p:cNvSpPr txBox="1"/>
          <p:nvPr/>
        </p:nvSpPr>
        <p:spPr>
          <a:xfrm>
            <a:off x="5690355" y="6527400"/>
            <a:ext cx="89800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200"/>
              <a:t>64 x 42ooo</a:t>
            </a:r>
          </a:p>
        </p:txBody>
      </p:sp>
      <p:cxnSp>
        <p:nvCxnSpPr>
          <p:cNvPr id="159" name="Gerader Verbinder 158">
            <a:extLst>
              <a:ext uri="{FF2B5EF4-FFF2-40B4-BE49-F238E27FC236}">
                <a16:creationId xmlns:a16="http://schemas.microsoft.com/office/drawing/2014/main" id="{28938B6D-DD42-C367-3909-01E59FF18F3C}"/>
              </a:ext>
            </a:extLst>
          </p:cNvPr>
          <p:cNvCxnSpPr>
            <a:cxnSpLocks/>
          </p:cNvCxnSpPr>
          <p:nvPr/>
        </p:nvCxnSpPr>
        <p:spPr>
          <a:xfrm>
            <a:off x="10238739" y="6177681"/>
            <a:ext cx="7473430" cy="42149"/>
          </a:xfrm>
          <a:prstGeom prst="line">
            <a:avLst/>
          </a:prstGeom>
          <a:ln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160" name="Textfeld 159">
            <a:extLst>
              <a:ext uri="{FF2B5EF4-FFF2-40B4-BE49-F238E27FC236}">
                <a16:creationId xmlns:a16="http://schemas.microsoft.com/office/drawing/2014/main" id="{9F687025-CC2A-C9C1-16D8-E004D6B73C48}"/>
              </a:ext>
            </a:extLst>
          </p:cNvPr>
          <p:cNvSpPr txBox="1"/>
          <p:nvPr/>
        </p:nvSpPr>
        <p:spPr>
          <a:xfrm>
            <a:off x="12632859" y="5942832"/>
            <a:ext cx="89800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200"/>
              <a:t>4200 x 64</a:t>
            </a:r>
          </a:p>
        </p:txBody>
      </p:sp>
      <p:cxnSp>
        <p:nvCxnSpPr>
          <p:cNvPr id="161" name="Gerader Verbinder 160">
            <a:extLst>
              <a:ext uri="{FF2B5EF4-FFF2-40B4-BE49-F238E27FC236}">
                <a16:creationId xmlns:a16="http://schemas.microsoft.com/office/drawing/2014/main" id="{594E8F19-5099-DCB8-648B-0182E8D4BE18}"/>
              </a:ext>
            </a:extLst>
          </p:cNvPr>
          <p:cNvCxnSpPr>
            <a:cxnSpLocks/>
          </p:cNvCxnSpPr>
          <p:nvPr/>
        </p:nvCxnSpPr>
        <p:spPr>
          <a:xfrm flipV="1">
            <a:off x="6252001" y="6250475"/>
            <a:ext cx="3956006" cy="15008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162" name="Textfeld 161">
            <a:extLst>
              <a:ext uri="{FF2B5EF4-FFF2-40B4-BE49-F238E27FC236}">
                <a16:creationId xmlns:a16="http://schemas.microsoft.com/office/drawing/2014/main" id="{B33D63A8-39C3-9AA3-4E80-C654A975A080}"/>
              </a:ext>
            </a:extLst>
          </p:cNvPr>
          <p:cNvSpPr txBox="1"/>
          <p:nvPr/>
        </p:nvSpPr>
        <p:spPr>
          <a:xfrm>
            <a:off x="7756273" y="6034779"/>
            <a:ext cx="89800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200"/>
              <a:t>64 x 42ooo</a:t>
            </a:r>
          </a:p>
        </p:txBody>
      </p:sp>
      <p:sp>
        <p:nvSpPr>
          <p:cNvPr id="217" name="Pfeil: nach unten 216">
            <a:extLst>
              <a:ext uri="{FF2B5EF4-FFF2-40B4-BE49-F238E27FC236}">
                <a16:creationId xmlns:a16="http://schemas.microsoft.com/office/drawing/2014/main" id="{CBDAC551-9C5A-8A6E-FA59-650A19DD3550}"/>
              </a:ext>
            </a:extLst>
          </p:cNvPr>
          <p:cNvSpPr/>
          <p:nvPr/>
        </p:nvSpPr>
        <p:spPr>
          <a:xfrm rot="13604950">
            <a:off x="8491940" y="6682253"/>
            <a:ext cx="271476" cy="414609"/>
          </a:xfrm>
          <a:prstGeom prst="downArrow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2160"/>
          </a:p>
        </p:txBody>
      </p:sp>
      <p:sp>
        <p:nvSpPr>
          <p:cNvPr id="218" name="Pfeil: nach unten 217">
            <a:extLst>
              <a:ext uri="{FF2B5EF4-FFF2-40B4-BE49-F238E27FC236}">
                <a16:creationId xmlns:a16="http://schemas.microsoft.com/office/drawing/2014/main" id="{745AACB9-9982-444E-18BB-78CFBD39AB11}"/>
              </a:ext>
            </a:extLst>
          </p:cNvPr>
          <p:cNvSpPr/>
          <p:nvPr/>
        </p:nvSpPr>
        <p:spPr>
          <a:xfrm rot="6592321">
            <a:off x="13914747" y="6163053"/>
            <a:ext cx="271476" cy="1289509"/>
          </a:xfrm>
          <a:prstGeom prst="downArrow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40"/>
          </a:p>
        </p:txBody>
      </p:sp>
      <p:cxnSp>
        <p:nvCxnSpPr>
          <p:cNvPr id="219" name="Gerader Verbinder 218">
            <a:extLst>
              <a:ext uri="{FF2B5EF4-FFF2-40B4-BE49-F238E27FC236}">
                <a16:creationId xmlns:a16="http://schemas.microsoft.com/office/drawing/2014/main" id="{16535D00-DA20-9C37-AE31-C34F09051861}"/>
              </a:ext>
            </a:extLst>
          </p:cNvPr>
          <p:cNvCxnSpPr>
            <a:cxnSpLocks/>
          </p:cNvCxnSpPr>
          <p:nvPr/>
        </p:nvCxnSpPr>
        <p:spPr>
          <a:xfrm>
            <a:off x="6411444" y="7861031"/>
            <a:ext cx="2647329" cy="0"/>
          </a:xfrm>
          <a:prstGeom prst="line">
            <a:avLst/>
          </a:prstGeom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220" name="Gerader Verbinder 219">
            <a:extLst>
              <a:ext uri="{FF2B5EF4-FFF2-40B4-BE49-F238E27FC236}">
                <a16:creationId xmlns:a16="http://schemas.microsoft.com/office/drawing/2014/main" id="{FA6B79BC-434F-33F7-42CE-14A0AB371B7A}"/>
              </a:ext>
            </a:extLst>
          </p:cNvPr>
          <p:cNvCxnSpPr>
            <a:cxnSpLocks/>
          </p:cNvCxnSpPr>
          <p:nvPr/>
        </p:nvCxnSpPr>
        <p:spPr>
          <a:xfrm>
            <a:off x="9058771" y="7949931"/>
            <a:ext cx="1255574" cy="0"/>
          </a:xfrm>
          <a:prstGeom prst="line">
            <a:avLst/>
          </a:prstGeom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221" name="Gerader Verbinder 220">
            <a:extLst>
              <a:ext uri="{FF2B5EF4-FFF2-40B4-BE49-F238E27FC236}">
                <a16:creationId xmlns:a16="http://schemas.microsoft.com/office/drawing/2014/main" id="{4A7BE190-93DC-71F2-3BC6-B1E594A78580}"/>
              </a:ext>
            </a:extLst>
          </p:cNvPr>
          <p:cNvCxnSpPr>
            <a:cxnSpLocks/>
          </p:cNvCxnSpPr>
          <p:nvPr/>
        </p:nvCxnSpPr>
        <p:spPr>
          <a:xfrm>
            <a:off x="10323044" y="7822931"/>
            <a:ext cx="3124371" cy="0"/>
          </a:xfrm>
          <a:prstGeom prst="line">
            <a:avLst/>
          </a:prstGeom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</p:cxnSp>
      <p:cxnSp>
        <p:nvCxnSpPr>
          <p:cNvPr id="222" name="Gerader Verbinder 221">
            <a:extLst>
              <a:ext uri="{FF2B5EF4-FFF2-40B4-BE49-F238E27FC236}">
                <a16:creationId xmlns:a16="http://schemas.microsoft.com/office/drawing/2014/main" id="{89B708AA-D914-44E1-9045-0E0CEC378C96}"/>
              </a:ext>
            </a:extLst>
          </p:cNvPr>
          <p:cNvCxnSpPr>
            <a:cxnSpLocks/>
          </p:cNvCxnSpPr>
          <p:nvPr/>
        </p:nvCxnSpPr>
        <p:spPr>
          <a:xfrm>
            <a:off x="13447413" y="7892826"/>
            <a:ext cx="1255574" cy="0"/>
          </a:xfrm>
          <a:prstGeom prst="line">
            <a:avLst/>
          </a:prstGeom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</p:cxnSp>
      <p:cxnSp>
        <p:nvCxnSpPr>
          <p:cNvPr id="223" name="Gerader Verbinder 222">
            <a:extLst>
              <a:ext uri="{FF2B5EF4-FFF2-40B4-BE49-F238E27FC236}">
                <a16:creationId xmlns:a16="http://schemas.microsoft.com/office/drawing/2014/main" id="{F4D25091-2A9E-7E2C-D029-E4A09E2F23DF}"/>
              </a:ext>
            </a:extLst>
          </p:cNvPr>
          <p:cNvCxnSpPr>
            <a:cxnSpLocks/>
          </p:cNvCxnSpPr>
          <p:nvPr/>
        </p:nvCxnSpPr>
        <p:spPr>
          <a:xfrm>
            <a:off x="14711686" y="7816626"/>
            <a:ext cx="3124371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4" name="Geschweifte Klammer rechts 223">
            <a:extLst>
              <a:ext uri="{FF2B5EF4-FFF2-40B4-BE49-F238E27FC236}">
                <a16:creationId xmlns:a16="http://schemas.microsoft.com/office/drawing/2014/main" id="{8951DA17-AE83-6C5B-221D-C72C44D93739}"/>
              </a:ext>
            </a:extLst>
          </p:cNvPr>
          <p:cNvSpPr/>
          <p:nvPr/>
        </p:nvSpPr>
        <p:spPr>
          <a:xfrm rot="16200000">
            <a:off x="14645791" y="2767872"/>
            <a:ext cx="159086" cy="8732590"/>
          </a:xfrm>
          <a:prstGeom prst="rightBrace">
            <a:avLst/>
          </a:prstGeom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25" name="Textfeld 224">
            <a:extLst>
              <a:ext uri="{FF2B5EF4-FFF2-40B4-BE49-F238E27FC236}">
                <a16:creationId xmlns:a16="http://schemas.microsoft.com/office/drawing/2014/main" id="{8BBF860C-986E-4D78-9F87-5F04364EF030}"/>
              </a:ext>
            </a:extLst>
          </p:cNvPr>
          <p:cNvSpPr txBox="1"/>
          <p:nvPr/>
        </p:nvSpPr>
        <p:spPr>
          <a:xfrm>
            <a:off x="7330249" y="7840708"/>
            <a:ext cx="105343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/>
              <a:t>RestconfLink</a:t>
            </a:r>
          </a:p>
        </p:txBody>
      </p:sp>
      <p:sp>
        <p:nvSpPr>
          <p:cNvPr id="226" name="Textfeld 225">
            <a:extLst>
              <a:ext uri="{FF2B5EF4-FFF2-40B4-BE49-F238E27FC236}">
                <a16:creationId xmlns:a16="http://schemas.microsoft.com/office/drawing/2014/main" id="{8D387E64-4BCA-66B6-70E1-7D45503060B6}"/>
              </a:ext>
            </a:extLst>
          </p:cNvPr>
          <p:cNvSpPr txBox="1"/>
          <p:nvPr/>
        </p:nvSpPr>
        <p:spPr>
          <a:xfrm>
            <a:off x="9127001" y="7722533"/>
            <a:ext cx="111184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/>
              <a:t>MountPointFc</a:t>
            </a:r>
          </a:p>
        </p:txBody>
      </p:sp>
      <p:sp>
        <p:nvSpPr>
          <p:cNvPr id="227" name="Textfeld 226">
            <a:extLst>
              <a:ext uri="{FF2B5EF4-FFF2-40B4-BE49-F238E27FC236}">
                <a16:creationId xmlns:a16="http://schemas.microsoft.com/office/drawing/2014/main" id="{8E4CF222-5866-09E4-CEF1-F77A2E582179}"/>
              </a:ext>
            </a:extLst>
          </p:cNvPr>
          <p:cNvSpPr txBox="1"/>
          <p:nvPr/>
        </p:nvSpPr>
        <p:spPr>
          <a:xfrm>
            <a:off x="13348260" y="7668274"/>
            <a:ext cx="14709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/>
              <a:t>MediatorProcessFc</a:t>
            </a:r>
          </a:p>
        </p:txBody>
      </p:sp>
      <p:sp>
        <p:nvSpPr>
          <p:cNvPr id="228" name="Textfeld 227">
            <a:extLst>
              <a:ext uri="{FF2B5EF4-FFF2-40B4-BE49-F238E27FC236}">
                <a16:creationId xmlns:a16="http://schemas.microsoft.com/office/drawing/2014/main" id="{41F604F7-3B97-16A0-7639-BAE0AC5FCB99}"/>
              </a:ext>
            </a:extLst>
          </p:cNvPr>
          <p:cNvSpPr txBox="1"/>
          <p:nvPr/>
        </p:nvSpPr>
        <p:spPr>
          <a:xfrm>
            <a:off x="11494199" y="7806773"/>
            <a:ext cx="99501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/>
              <a:t>NetconfLink</a:t>
            </a:r>
          </a:p>
        </p:txBody>
      </p:sp>
      <p:sp>
        <p:nvSpPr>
          <p:cNvPr id="229" name="Textfeld 228">
            <a:extLst>
              <a:ext uri="{FF2B5EF4-FFF2-40B4-BE49-F238E27FC236}">
                <a16:creationId xmlns:a16="http://schemas.microsoft.com/office/drawing/2014/main" id="{872B2AA5-9684-873A-DAA2-C5063F168B48}"/>
              </a:ext>
            </a:extLst>
          </p:cNvPr>
          <p:cNvSpPr txBox="1"/>
          <p:nvPr/>
        </p:nvSpPr>
        <p:spPr>
          <a:xfrm>
            <a:off x="15817815" y="7804462"/>
            <a:ext cx="84830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/>
              <a:t>SnmpLink</a:t>
            </a:r>
          </a:p>
        </p:txBody>
      </p:sp>
      <p:sp>
        <p:nvSpPr>
          <p:cNvPr id="230" name="Geschweifte Klammer rechts 229">
            <a:extLst>
              <a:ext uri="{FF2B5EF4-FFF2-40B4-BE49-F238E27FC236}">
                <a16:creationId xmlns:a16="http://schemas.microsoft.com/office/drawing/2014/main" id="{1B2B2BE4-7CF1-023D-7FF4-FF94CA235C90}"/>
              </a:ext>
            </a:extLst>
          </p:cNvPr>
          <p:cNvSpPr/>
          <p:nvPr/>
        </p:nvSpPr>
        <p:spPr>
          <a:xfrm rot="16200000">
            <a:off x="8287698" y="5179668"/>
            <a:ext cx="159086" cy="3911602"/>
          </a:xfrm>
          <a:prstGeom prst="rightBrace">
            <a:avLst/>
          </a:prstGeom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31" name="Textfeld 230">
            <a:extLst>
              <a:ext uri="{FF2B5EF4-FFF2-40B4-BE49-F238E27FC236}">
                <a16:creationId xmlns:a16="http://schemas.microsoft.com/office/drawing/2014/main" id="{6637CC3F-39A7-3055-AC71-8B42005C3657}"/>
              </a:ext>
            </a:extLst>
          </p:cNvPr>
          <p:cNvSpPr txBox="1"/>
          <p:nvPr/>
        </p:nvSpPr>
        <p:spPr>
          <a:xfrm>
            <a:off x="10274841" y="7589861"/>
            <a:ext cx="101431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/>
              <a:t>&lt;get-config&gt;</a:t>
            </a:r>
          </a:p>
        </p:txBody>
      </p:sp>
      <p:sp>
        <p:nvSpPr>
          <p:cNvPr id="232" name="Textfeld 231">
            <a:extLst>
              <a:ext uri="{FF2B5EF4-FFF2-40B4-BE49-F238E27FC236}">
                <a16:creationId xmlns:a16="http://schemas.microsoft.com/office/drawing/2014/main" id="{67DAE4BA-5DD0-3D10-73F5-7811C838F76D}"/>
              </a:ext>
            </a:extLst>
          </p:cNvPr>
          <p:cNvSpPr txBox="1"/>
          <p:nvPr/>
        </p:nvSpPr>
        <p:spPr>
          <a:xfrm>
            <a:off x="6343214" y="7643267"/>
            <a:ext cx="45236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/>
              <a:t>GET</a:t>
            </a:r>
          </a:p>
        </p:txBody>
      </p:sp>
      <p:cxnSp>
        <p:nvCxnSpPr>
          <p:cNvPr id="233" name="Gerader Verbinder 232">
            <a:extLst>
              <a:ext uri="{FF2B5EF4-FFF2-40B4-BE49-F238E27FC236}">
                <a16:creationId xmlns:a16="http://schemas.microsoft.com/office/drawing/2014/main" id="{0BD0BBE8-B1D8-0794-495D-B0AA36DE01CC}"/>
              </a:ext>
            </a:extLst>
          </p:cNvPr>
          <p:cNvCxnSpPr>
            <a:cxnSpLocks/>
          </p:cNvCxnSpPr>
          <p:nvPr/>
        </p:nvCxnSpPr>
        <p:spPr>
          <a:xfrm flipV="1">
            <a:off x="6387965" y="7485776"/>
            <a:ext cx="3956006" cy="15008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234" name="Textfeld 233">
            <a:extLst>
              <a:ext uri="{FF2B5EF4-FFF2-40B4-BE49-F238E27FC236}">
                <a16:creationId xmlns:a16="http://schemas.microsoft.com/office/drawing/2014/main" id="{E192759D-A425-2BC5-ACF9-3D217D790BAF}"/>
              </a:ext>
            </a:extLst>
          </p:cNvPr>
          <p:cNvSpPr txBox="1"/>
          <p:nvPr/>
        </p:nvSpPr>
        <p:spPr>
          <a:xfrm>
            <a:off x="7892237" y="7270080"/>
            <a:ext cx="89800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200"/>
              <a:t>64 x 42ooo</a:t>
            </a:r>
          </a:p>
        </p:txBody>
      </p:sp>
      <p:cxnSp>
        <p:nvCxnSpPr>
          <p:cNvPr id="235" name="Gerader Verbinder 234">
            <a:extLst>
              <a:ext uri="{FF2B5EF4-FFF2-40B4-BE49-F238E27FC236}">
                <a16:creationId xmlns:a16="http://schemas.microsoft.com/office/drawing/2014/main" id="{97BB8CA5-5A7C-ED54-E5E0-9F16DFE5073E}"/>
              </a:ext>
            </a:extLst>
          </p:cNvPr>
          <p:cNvCxnSpPr>
            <a:cxnSpLocks/>
          </p:cNvCxnSpPr>
          <p:nvPr/>
        </p:nvCxnSpPr>
        <p:spPr>
          <a:xfrm>
            <a:off x="10359039" y="7483416"/>
            <a:ext cx="7487044" cy="1"/>
          </a:xfrm>
          <a:prstGeom prst="line">
            <a:avLst/>
          </a:prstGeom>
          <a:ln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236" name="Textfeld 235">
            <a:extLst>
              <a:ext uri="{FF2B5EF4-FFF2-40B4-BE49-F238E27FC236}">
                <a16:creationId xmlns:a16="http://schemas.microsoft.com/office/drawing/2014/main" id="{98C8E64A-278A-5F82-E33E-6CBCFCCE6705}"/>
              </a:ext>
            </a:extLst>
          </p:cNvPr>
          <p:cNvSpPr txBox="1"/>
          <p:nvPr/>
        </p:nvSpPr>
        <p:spPr>
          <a:xfrm>
            <a:off x="12753159" y="7248567"/>
            <a:ext cx="89800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200"/>
              <a:t>64</a:t>
            </a:r>
          </a:p>
        </p:txBody>
      </p:sp>
    </p:spTree>
    <p:extLst>
      <p:ext uri="{BB962C8B-B14F-4D97-AF65-F5344CB8AC3E}">
        <p14:creationId xmlns:p14="http://schemas.microsoft.com/office/powerpoint/2010/main" val="283304060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Rechteck 71">
            <a:extLst>
              <a:ext uri="{FF2B5EF4-FFF2-40B4-BE49-F238E27FC236}">
                <a16:creationId xmlns:a16="http://schemas.microsoft.com/office/drawing/2014/main" id="{11768FDB-BA6E-EAEB-5BB8-2ED406AD6C41}"/>
              </a:ext>
            </a:extLst>
          </p:cNvPr>
          <p:cNvSpPr/>
          <p:nvPr/>
        </p:nvSpPr>
        <p:spPr>
          <a:xfrm>
            <a:off x="1936958" y="3757365"/>
            <a:ext cx="9931400" cy="498817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2000">
                <a:solidFill>
                  <a:schemeClr val="tx1"/>
                </a:solidFill>
              </a:rPr>
              <a:t>Automation Application</a:t>
            </a:r>
          </a:p>
        </p:txBody>
      </p:sp>
      <p:sp>
        <p:nvSpPr>
          <p:cNvPr id="78" name="Rechteck 77">
            <a:extLst>
              <a:ext uri="{FF2B5EF4-FFF2-40B4-BE49-F238E27FC236}">
                <a16:creationId xmlns:a16="http://schemas.microsoft.com/office/drawing/2014/main" id="{58728409-DD53-4F5E-410F-51809028D5C6}"/>
              </a:ext>
            </a:extLst>
          </p:cNvPr>
          <p:cNvSpPr/>
          <p:nvPr/>
        </p:nvSpPr>
        <p:spPr>
          <a:xfrm>
            <a:off x="8524721" y="5893637"/>
            <a:ext cx="2691267" cy="246672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sp>
        <p:nvSpPr>
          <p:cNvPr id="77" name="Rechteck 76">
            <a:extLst>
              <a:ext uri="{FF2B5EF4-FFF2-40B4-BE49-F238E27FC236}">
                <a16:creationId xmlns:a16="http://schemas.microsoft.com/office/drawing/2014/main" id="{9707959B-5A26-7BE3-760D-2FC620E8901C}"/>
              </a:ext>
            </a:extLst>
          </p:cNvPr>
          <p:cNvSpPr/>
          <p:nvPr/>
        </p:nvSpPr>
        <p:spPr>
          <a:xfrm>
            <a:off x="9013733" y="4621263"/>
            <a:ext cx="2465406" cy="153018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sp>
        <p:nvSpPr>
          <p:cNvPr id="76" name="Rechteck 75">
            <a:extLst>
              <a:ext uri="{FF2B5EF4-FFF2-40B4-BE49-F238E27FC236}">
                <a16:creationId xmlns:a16="http://schemas.microsoft.com/office/drawing/2014/main" id="{6F1EFD85-439B-2FE8-5AAE-C84AA7312CAA}"/>
              </a:ext>
            </a:extLst>
          </p:cNvPr>
          <p:cNvSpPr/>
          <p:nvPr/>
        </p:nvSpPr>
        <p:spPr>
          <a:xfrm>
            <a:off x="5918179" y="4544565"/>
            <a:ext cx="2468048" cy="177209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sp>
        <p:nvSpPr>
          <p:cNvPr id="74" name="Rechteck 73">
            <a:extLst>
              <a:ext uri="{FF2B5EF4-FFF2-40B4-BE49-F238E27FC236}">
                <a16:creationId xmlns:a16="http://schemas.microsoft.com/office/drawing/2014/main" id="{E34E15D0-F58C-24F5-1C8F-16CA7C95A22A}"/>
              </a:ext>
            </a:extLst>
          </p:cNvPr>
          <p:cNvSpPr/>
          <p:nvPr/>
        </p:nvSpPr>
        <p:spPr>
          <a:xfrm>
            <a:off x="3532157" y="6051500"/>
            <a:ext cx="2853775" cy="151293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sp>
        <p:nvSpPr>
          <p:cNvPr id="73" name="Rechteck 72">
            <a:extLst>
              <a:ext uri="{FF2B5EF4-FFF2-40B4-BE49-F238E27FC236}">
                <a16:creationId xmlns:a16="http://schemas.microsoft.com/office/drawing/2014/main" id="{68AFF515-41F4-F81B-ADB9-A4A94586F5DA}"/>
              </a:ext>
            </a:extLst>
          </p:cNvPr>
          <p:cNvSpPr/>
          <p:nvPr/>
        </p:nvSpPr>
        <p:spPr>
          <a:xfrm>
            <a:off x="2717801" y="4592638"/>
            <a:ext cx="2426154" cy="20701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81679757-9FB1-0F6D-3098-BDE0BFEDE84D}"/>
              </a:ext>
            </a:extLst>
          </p:cNvPr>
          <p:cNvSpPr/>
          <p:nvPr/>
        </p:nvSpPr>
        <p:spPr>
          <a:xfrm>
            <a:off x="3107374" y="5897563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20" name="Grafik 19">
            <a:extLst>
              <a:ext uri="{FF2B5EF4-FFF2-40B4-BE49-F238E27FC236}">
                <a16:creationId xmlns:a16="http://schemas.microsoft.com/office/drawing/2014/main" id="{BCF78038-D1DC-7915-C516-0912B977249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83676" y="5976532"/>
            <a:ext cx="166165" cy="174914"/>
          </a:xfrm>
          <a:prstGeom prst="rect">
            <a:avLst/>
          </a:prstGeom>
        </p:spPr>
      </p:pic>
      <p:sp>
        <p:nvSpPr>
          <p:cNvPr id="2" name="Zylinder 1">
            <a:extLst>
              <a:ext uri="{FF2B5EF4-FFF2-40B4-BE49-F238E27FC236}">
                <a16:creationId xmlns:a16="http://schemas.microsoft.com/office/drawing/2014/main" id="{8651D4E8-1F7A-9069-1B56-0215F8312C74}"/>
              </a:ext>
            </a:extLst>
          </p:cNvPr>
          <p:cNvSpPr/>
          <p:nvPr/>
        </p:nvSpPr>
        <p:spPr>
          <a:xfrm>
            <a:off x="4615260" y="5645064"/>
            <a:ext cx="1534230" cy="570807"/>
          </a:xfrm>
          <a:prstGeom prst="can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200"/>
              <a:t>AdministrativeState</a:t>
            </a:r>
            <a:endParaRPr lang="de-DE" sz="1200">
              <a:solidFill>
                <a:schemeClr val="tx1"/>
              </a:solidFill>
            </a:endParaRPr>
          </a:p>
        </p:txBody>
      </p:sp>
      <p:sp>
        <p:nvSpPr>
          <p:cNvPr id="3" name="Zylinder 2">
            <a:extLst>
              <a:ext uri="{FF2B5EF4-FFF2-40B4-BE49-F238E27FC236}">
                <a16:creationId xmlns:a16="http://schemas.microsoft.com/office/drawing/2014/main" id="{7DF83F7F-72CE-BA07-8399-1799F2491A81}"/>
              </a:ext>
            </a:extLst>
          </p:cNvPr>
          <p:cNvSpPr/>
          <p:nvPr/>
        </p:nvSpPr>
        <p:spPr>
          <a:xfrm>
            <a:off x="8175486" y="5648190"/>
            <a:ext cx="1534230" cy="570807"/>
          </a:xfrm>
          <a:prstGeom prst="can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200">
                <a:solidFill>
                  <a:schemeClr val="tx1"/>
                </a:solidFill>
              </a:rPr>
              <a:t>OperationalState</a:t>
            </a:r>
          </a:p>
        </p:txBody>
      </p:sp>
      <p:sp>
        <p:nvSpPr>
          <p:cNvPr id="6" name="Scrollen: vertikal 5">
            <a:extLst>
              <a:ext uri="{FF2B5EF4-FFF2-40B4-BE49-F238E27FC236}">
                <a16:creationId xmlns:a16="http://schemas.microsoft.com/office/drawing/2014/main" id="{65808CD5-63F0-0767-C688-C4C5BD28C087}"/>
              </a:ext>
            </a:extLst>
          </p:cNvPr>
          <p:cNvSpPr/>
          <p:nvPr/>
        </p:nvSpPr>
        <p:spPr>
          <a:xfrm>
            <a:off x="6749282" y="6713631"/>
            <a:ext cx="1470660" cy="1303020"/>
          </a:xfrm>
          <a:prstGeom prst="verticalScroll">
            <a:avLst/>
          </a:prstGeom>
          <a:ln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200">
                <a:solidFill>
                  <a:schemeClr val="tx1"/>
                </a:solidFill>
              </a:rPr>
              <a:t>AlarmList</a:t>
            </a:r>
          </a:p>
          <a:p>
            <a:pPr algn="ctr"/>
            <a:r>
              <a:rPr lang="de-DE" sz="1200">
                <a:solidFill>
                  <a:schemeClr val="tx1"/>
                </a:solidFill>
              </a:rPr>
              <a:t>(ToDo-List)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4921D2B2-A1CD-5B5A-7BDE-9B8F734176BC}"/>
              </a:ext>
            </a:extLst>
          </p:cNvPr>
          <p:cNvSpPr/>
          <p:nvPr/>
        </p:nvSpPr>
        <p:spPr>
          <a:xfrm>
            <a:off x="2950263" y="4990783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AB85860A-A1C5-AF4E-519F-B31760899D3D}"/>
              </a:ext>
            </a:extLst>
          </p:cNvPr>
          <p:cNvSpPr/>
          <p:nvPr/>
        </p:nvSpPr>
        <p:spPr>
          <a:xfrm>
            <a:off x="3069543" y="5253673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7AE13B01-B4C3-D5F1-CC62-E2FB37AD2428}"/>
              </a:ext>
            </a:extLst>
          </p:cNvPr>
          <p:cNvSpPr/>
          <p:nvPr/>
        </p:nvSpPr>
        <p:spPr>
          <a:xfrm>
            <a:off x="3298132" y="6151446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14" name="Grafik 13">
            <a:extLst>
              <a:ext uri="{FF2B5EF4-FFF2-40B4-BE49-F238E27FC236}">
                <a16:creationId xmlns:a16="http://schemas.microsoft.com/office/drawing/2014/main" id="{2518E1E4-7D07-0174-BD08-75A840537EA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59258" y="6215869"/>
            <a:ext cx="166165" cy="174914"/>
          </a:xfrm>
          <a:prstGeom prst="rect">
            <a:avLst/>
          </a:prstGeom>
        </p:spPr>
      </p:pic>
      <p:cxnSp>
        <p:nvCxnSpPr>
          <p:cNvPr id="16" name="Gerade Verbindung mit Pfeil 15">
            <a:extLst>
              <a:ext uri="{FF2B5EF4-FFF2-40B4-BE49-F238E27FC236}">
                <a16:creationId xmlns:a16="http://schemas.microsoft.com/office/drawing/2014/main" id="{A41C170E-5BE5-4CC7-0B74-FD347727DFC6}"/>
              </a:ext>
            </a:extLst>
          </p:cNvPr>
          <p:cNvCxnSpPr/>
          <p:nvPr/>
        </p:nvCxnSpPr>
        <p:spPr>
          <a:xfrm>
            <a:off x="1310171" y="5200333"/>
            <a:ext cx="164009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Gerade Verbindung mit Pfeil 16">
            <a:extLst>
              <a:ext uri="{FF2B5EF4-FFF2-40B4-BE49-F238E27FC236}">
                <a16:creationId xmlns:a16="http://schemas.microsoft.com/office/drawing/2014/main" id="{9326039E-2586-A1D8-1CFF-BB0395E97CF5}"/>
              </a:ext>
            </a:extLst>
          </p:cNvPr>
          <p:cNvCxnSpPr>
            <a:cxnSpLocks/>
          </p:cNvCxnSpPr>
          <p:nvPr/>
        </p:nvCxnSpPr>
        <p:spPr>
          <a:xfrm flipH="1" flipV="1">
            <a:off x="1310171" y="5309652"/>
            <a:ext cx="1640092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feld 18">
            <a:extLst>
              <a:ext uri="{FF2B5EF4-FFF2-40B4-BE49-F238E27FC236}">
                <a16:creationId xmlns:a16="http://schemas.microsoft.com/office/drawing/2014/main" id="{B15F98CA-500C-497C-9BEB-4DC69798E624}"/>
              </a:ext>
            </a:extLst>
          </p:cNvPr>
          <p:cNvSpPr txBox="1"/>
          <p:nvPr/>
        </p:nvSpPr>
        <p:spPr>
          <a:xfrm>
            <a:off x="2887023" y="4608739"/>
            <a:ext cx="225693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de-DE" sz="1200"/>
              <a:t>Modules that are changing the AdministrativeState</a:t>
            </a:r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5E682443-CB6A-7EC0-8599-973D53EC0436}"/>
              </a:ext>
            </a:extLst>
          </p:cNvPr>
          <p:cNvSpPr/>
          <p:nvPr/>
        </p:nvSpPr>
        <p:spPr>
          <a:xfrm>
            <a:off x="10343846" y="5639753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22" name="Grafik 21">
            <a:extLst>
              <a:ext uri="{FF2B5EF4-FFF2-40B4-BE49-F238E27FC236}">
                <a16:creationId xmlns:a16="http://schemas.microsoft.com/office/drawing/2014/main" id="{886A27DD-C9F0-DC50-F102-4D63B907E2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20148" y="5718722"/>
            <a:ext cx="166165" cy="174914"/>
          </a:xfrm>
          <a:prstGeom prst="rect">
            <a:avLst/>
          </a:prstGeom>
        </p:spPr>
      </p:pic>
      <p:sp>
        <p:nvSpPr>
          <p:cNvPr id="30" name="Textfeld 29">
            <a:extLst>
              <a:ext uri="{FF2B5EF4-FFF2-40B4-BE49-F238E27FC236}">
                <a16:creationId xmlns:a16="http://schemas.microsoft.com/office/drawing/2014/main" id="{F8F209D8-265F-5230-5DB1-DC91F74B162F}"/>
              </a:ext>
            </a:extLst>
          </p:cNvPr>
          <p:cNvSpPr txBox="1"/>
          <p:nvPr/>
        </p:nvSpPr>
        <p:spPr>
          <a:xfrm>
            <a:off x="8989521" y="4608739"/>
            <a:ext cx="285377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200"/>
              <a:t>Modules that are updating the OperationalState</a:t>
            </a:r>
          </a:p>
        </p:txBody>
      </p:sp>
      <p:sp>
        <p:nvSpPr>
          <p:cNvPr id="31" name="Rechteck 30">
            <a:extLst>
              <a:ext uri="{FF2B5EF4-FFF2-40B4-BE49-F238E27FC236}">
                <a16:creationId xmlns:a16="http://schemas.microsoft.com/office/drawing/2014/main" id="{BEBB1305-415F-C61D-3CE9-248E0D923398}"/>
              </a:ext>
            </a:extLst>
          </p:cNvPr>
          <p:cNvSpPr/>
          <p:nvPr/>
        </p:nvSpPr>
        <p:spPr>
          <a:xfrm>
            <a:off x="10386518" y="5011103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32" name="Grafik 31">
            <a:extLst>
              <a:ext uri="{FF2B5EF4-FFF2-40B4-BE49-F238E27FC236}">
                <a16:creationId xmlns:a16="http://schemas.microsoft.com/office/drawing/2014/main" id="{AB09B62C-A946-E9FF-4720-2246483489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2820" y="5090072"/>
            <a:ext cx="166165" cy="174914"/>
          </a:xfrm>
          <a:prstGeom prst="rect">
            <a:avLst/>
          </a:prstGeom>
        </p:spPr>
      </p:pic>
      <p:sp>
        <p:nvSpPr>
          <p:cNvPr id="33" name="Rechteck 32">
            <a:extLst>
              <a:ext uri="{FF2B5EF4-FFF2-40B4-BE49-F238E27FC236}">
                <a16:creationId xmlns:a16="http://schemas.microsoft.com/office/drawing/2014/main" id="{AAE5ECF3-C8FE-F2FB-5245-974B2825FA42}"/>
              </a:ext>
            </a:extLst>
          </p:cNvPr>
          <p:cNvSpPr/>
          <p:nvPr/>
        </p:nvSpPr>
        <p:spPr>
          <a:xfrm>
            <a:off x="10577276" y="5264986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34" name="Grafik 33">
            <a:extLst>
              <a:ext uri="{FF2B5EF4-FFF2-40B4-BE49-F238E27FC236}">
                <a16:creationId xmlns:a16="http://schemas.microsoft.com/office/drawing/2014/main" id="{820EF47B-6F6E-5327-FE6B-AB86187AB3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8402" y="5329409"/>
            <a:ext cx="166165" cy="174914"/>
          </a:xfrm>
          <a:prstGeom prst="rect">
            <a:avLst/>
          </a:prstGeom>
        </p:spPr>
      </p:pic>
      <p:cxnSp>
        <p:nvCxnSpPr>
          <p:cNvPr id="35" name="Gerade Verbindung mit Pfeil 34">
            <a:extLst>
              <a:ext uri="{FF2B5EF4-FFF2-40B4-BE49-F238E27FC236}">
                <a16:creationId xmlns:a16="http://schemas.microsoft.com/office/drawing/2014/main" id="{C3993F86-8ECE-B926-B471-6625E7F7319D}"/>
              </a:ext>
            </a:extLst>
          </p:cNvPr>
          <p:cNvCxnSpPr/>
          <p:nvPr/>
        </p:nvCxnSpPr>
        <p:spPr>
          <a:xfrm>
            <a:off x="11025228" y="5089169"/>
            <a:ext cx="164009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Gerade Verbindung mit Pfeil 35">
            <a:extLst>
              <a:ext uri="{FF2B5EF4-FFF2-40B4-BE49-F238E27FC236}">
                <a16:creationId xmlns:a16="http://schemas.microsoft.com/office/drawing/2014/main" id="{F28B876E-0BE4-F188-B266-07D970137D3D}"/>
              </a:ext>
            </a:extLst>
          </p:cNvPr>
          <p:cNvCxnSpPr>
            <a:cxnSpLocks/>
          </p:cNvCxnSpPr>
          <p:nvPr/>
        </p:nvCxnSpPr>
        <p:spPr>
          <a:xfrm flipH="1" flipV="1">
            <a:off x="11025228" y="5198488"/>
            <a:ext cx="1640092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feld 36">
            <a:extLst>
              <a:ext uri="{FF2B5EF4-FFF2-40B4-BE49-F238E27FC236}">
                <a16:creationId xmlns:a16="http://schemas.microsoft.com/office/drawing/2014/main" id="{933E09A7-88FD-74AD-4549-31C42BDB99FD}"/>
              </a:ext>
            </a:extLst>
          </p:cNvPr>
          <p:cNvSpPr txBox="1"/>
          <p:nvPr/>
        </p:nvSpPr>
        <p:spPr>
          <a:xfrm>
            <a:off x="5723212" y="4551869"/>
            <a:ext cx="285377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200"/>
              <a:t>Modules for comparing AdministrativeState with OperationalState and documenting divergences</a:t>
            </a:r>
          </a:p>
        </p:txBody>
      </p:sp>
      <p:sp>
        <p:nvSpPr>
          <p:cNvPr id="38" name="Pfeil: nach unten 37">
            <a:extLst>
              <a:ext uri="{FF2B5EF4-FFF2-40B4-BE49-F238E27FC236}">
                <a16:creationId xmlns:a16="http://schemas.microsoft.com/office/drawing/2014/main" id="{16B278CA-304F-33B3-E8D1-DE31DD22F9AC}"/>
              </a:ext>
            </a:extLst>
          </p:cNvPr>
          <p:cNvSpPr/>
          <p:nvPr/>
        </p:nvSpPr>
        <p:spPr>
          <a:xfrm>
            <a:off x="7062410" y="6243623"/>
            <a:ext cx="220975" cy="417022"/>
          </a:xfrm>
          <a:prstGeom prst="downArrow">
            <a:avLst/>
          </a:prstGeom>
          <a:ln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sp>
        <p:nvSpPr>
          <p:cNvPr id="42" name="Rechteck 41">
            <a:extLst>
              <a:ext uri="{FF2B5EF4-FFF2-40B4-BE49-F238E27FC236}">
                <a16:creationId xmlns:a16="http://schemas.microsoft.com/office/drawing/2014/main" id="{ECC3A7AC-6D82-3D20-89BC-4C6701A7D54A}"/>
              </a:ext>
            </a:extLst>
          </p:cNvPr>
          <p:cNvSpPr/>
          <p:nvPr/>
        </p:nvSpPr>
        <p:spPr>
          <a:xfrm>
            <a:off x="8805095" y="7135043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43" name="Grafik 42">
            <a:extLst>
              <a:ext uri="{FF2B5EF4-FFF2-40B4-BE49-F238E27FC236}">
                <a16:creationId xmlns:a16="http://schemas.microsoft.com/office/drawing/2014/main" id="{8D0099E2-2E76-AD23-470B-45BF3CB638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81397" y="7214012"/>
            <a:ext cx="166165" cy="174914"/>
          </a:xfrm>
          <a:prstGeom prst="rect">
            <a:avLst/>
          </a:prstGeom>
        </p:spPr>
      </p:pic>
      <p:sp>
        <p:nvSpPr>
          <p:cNvPr id="44" name="Rechteck 43">
            <a:extLst>
              <a:ext uri="{FF2B5EF4-FFF2-40B4-BE49-F238E27FC236}">
                <a16:creationId xmlns:a16="http://schemas.microsoft.com/office/drawing/2014/main" id="{EA6EFE08-8623-3C92-521A-E62587924E1F}"/>
              </a:ext>
            </a:extLst>
          </p:cNvPr>
          <p:cNvSpPr/>
          <p:nvPr/>
        </p:nvSpPr>
        <p:spPr>
          <a:xfrm>
            <a:off x="8995853" y="7388926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45" name="Grafik 44">
            <a:extLst>
              <a:ext uri="{FF2B5EF4-FFF2-40B4-BE49-F238E27FC236}">
                <a16:creationId xmlns:a16="http://schemas.microsoft.com/office/drawing/2014/main" id="{9320FA18-5E00-08C4-D1B1-9198B35B64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56979" y="7453349"/>
            <a:ext cx="166165" cy="174914"/>
          </a:xfrm>
          <a:prstGeom prst="rect">
            <a:avLst/>
          </a:prstGeom>
        </p:spPr>
      </p:pic>
      <p:sp>
        <p:nvSpPr>
          <p:cNvPr id="46" name="Rechteck 45">
            <a:extLst>
              <a:ext uri="{FF2B5EF4-FFF2-40B4-BE49-F238E27FC236}">
                <a16:creationId xmlns:a16="http://schemas.microsoft.com/office/drawing/2014/main" id="{FDA4DB3A-D86A-FC0E-4540-DF3D46895C02}"/>
              </a:ext>
            </a:extLst>
          </p:cNvPr>
          <p:cNvSpPr/>
          <p:nvPr/>
        </p:nvSpPr>
        <p:spPr>
          <a:xfrm>
            <a:off x="8847767" y="6506393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47" name="Grafik 46">
            <a:extLst>
              <a:ext uri="{FF2B5EF4-FFF2-40B4-BE49-F238E27FC236}">
                <a16:creationId xmlns:a16="http://schemas.microsoft.com/office/drawing/2014/main" id="{79753B46-3760-CFFB-B858-92910CA7D7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24069" y="6585362"/>
            <a:ext cx="166165" cy="174914"/>
          </a:xfrm>
          <a:prstGeom prst="rect">
            <a:avLst/>
          </a:prstGeom>
        </p:spPr>
      </p:pic>
      <p:sp>
        <p:nvSpPr>
          <p:cNvPr id="48" name="Rechteck 47">
            <a:extLst>
              <a:ext uri="{FF2B5EF4-FFF2-40B4-BE49-F238E27FC236}">
                <a16:creationId xmlns:a16="http://schemas.microsoft.com/office/drawing/2014/main" id="{71BCDD80-7A46-50D8-092A-7DDBF641E7ED}"/>
              </a:ext>
            </a:extLst>
          </p:cNvPr>
          <p:cNvSpPr/>
          <p:nvPr/>
        </p:nvSpPr>
        <p:spPr>
          <a:xfrm>
            <a:off x="9038525" y="6760276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49" name="Grafik 48">
            <a:extLst>
              <a:ext uri="{FF2B5EF4-FFF2-40B4-BE49-F238E27FC236}">
                <a16:creationId xmlns:a16="http://schemas.microsoft.com/office/drawing/2014/main" id="{F30FB4E0-9047-2FC9-990C-7F49073431E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99651" y="6824699"/>
            <a:ext cx="166165" cy="174914"/>
          </a:xfrm>
          <a:prstGeom prst="rect">
            <a:avLst/>
          </a:prstGeom>
        </p:spPr>
      </p:pic>
      <p:sp>
        <p:nvSpPr>
          <p:cNvPr id="50" name="Textfeld 49">
            <a:extLst>
              <a:ext uri="{FF2B5EF4-FFF2-40B4-BE49-F238E27FC236}">
                <a16:creationId xmlns:a16="http://schemas.microsoft.com/office/drawing/2014/main" id="{8A6152E2-D527-62AF-329F-BE5199B5A685}"/>
              </a:ext>
            </a:extLst>
          </p:cNvPr>
          <p:cNvSpPr txBox="1"/>
          <p:nvPr/>
        </p:nvSpPr>
        <p:spPr>
          <a:xfrm>
            <a:off x="8274357" y="7722839"/>
            <a:ext cx="295106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de-DE" sz="1200"/>
              <a:t>Modules for resolving </a:t>
            </a:r>
            <a:br>
              <a:rPr lang="de-DE" sz="1200"/>
            </a:br>
            <a:r>
              <a:rPr lang="de-DE" sz="1200"/>
              <a:t>divergences between OperationalState</a:t>
            </a:r>
            <a:br>
              <a:rPr lang="de-DE" sz="1200"/>
            </a:br>
            <a:r>
              <a:rPr lang="de-DE" sz="1200"/>
              <a:t>and AdministrativeState</a:t>
            </a:r>
          </a:p>
        </p:txBody>
      </p:sp>
      <p:cxnSp>
        <p:nvCxnSpPr>
          <p:cNvPr id="51" name="Gerade Verbindung mit Pfeil 50">
            <a:extLst>
              <a:ext uri="{FF2B5EF4-FFF2-40B4-BE49-F238E27FC236}">
                <a16:creationId xmlns:a16="http://schemas.microsoft.com/office/drawing/2014/main" id="{7BBAD315-E803-8AD8-F507-559315369AF0}"/>
              </a:ext>
            </a:extLst>
          </p:cNvPr>
          <p:cNvCxnSpPr>
            <a:cxnSpLocks/>
          </p:cNvCxnSpPr>
          <p:nvPr/>
        </p:nvCxnSpPr>
        <p:spPr>
          <a:xfrm>
            <a:off x="9708525" y="6861440"/>
            <a:ext cx="3096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Gerade Verbindung mit Pfeil 51">
            <a:extLst>
              <a:ext uri="{FF2B5EF4-FFF2-40B4-BE49-F238E27FC236}">
                <a16:creationId xmlns:a16="http://schemas.microsoft.com/office/drawing/2014/main" id="{B15CF59D-D0AF-C7CC-3C94-FB6D305D84E6}"/>
              </a:ext>
            </a:extLst>
          </p:cNvPr>
          <p:cNvCxnSpPr>
            <a:cxnSpLocks/>
          </p:cNvCxnSpPr>
          <p:nvPr/>
        </p:nvCxnSpPr>
        <p:spPr>
          <a:xfrm flipH="1" flipV="1">
            <a:off x="9708525" y="6970759"/>
            <a:ext cx="3096000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Rechteck 54">
            <a:extLst>
              <a:ext uri="{FF2B5EF4-FFF2-40B4-BE49-F238E27FC236}">
                <a16:creationId xmlns:a16="http://schemas.microsoft.com/office/drawing/2014/main" id="{998CEDEB-E815-0B9D-F828-05A7711734B2}"/>
              </a:ext>
            </a:extLst>
          </p:cNvPr>
          <p:cNvSpPr/>
          <p:nvPr/>
        </p:nvSpPr>
        <p:spPr>
          <a:xfrm>
            <a:off x="5320542" y="6519730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56" name="Grafik 55">
            <a:extLst>
              <a:ext uri="{FF2B5EF4-FFF2-40B4-BE49-F238E27FC236}">
                <a16:creationId xmlns:a16="http://schemas.microsoft.com/office/drawing/2014/main" id="{78BFDC2D-D878-BE1D-4E34-51802A5909A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6844" y="6598699"/>
            <a:ext cx="166165" cy="174914"/>
          </a:xfrm>
          <a:prstGeom prst="rect">
            <a:avLst/>
          </a:prstGeom>
        </p:spPr>
      </p:pic>
      <p:sp>
        <p:nvSpPr>
          <p:cNvPr id="57" name="Rechteck 56">
            <a:extLst>
              <a:ext uri="{FF2B5EF4-FFF2-40B4-BE49-F238E27FC236}">
                <a16:creationId xmlns:a16="http://schemas.microsoft.com/office/drawing/2014/main" id="{F1661307-0A5B-5E08-2177-0EC27A984C77}"/>
              </a:ext>
            </a:extLst>
          </p:cNvPr>
          <p:cNvSpPr/>
          <p:nvPr/>
        </p:nvSpPr>
        <p:spPr>
          <a:xfrm>
            <a:off x="5511300" y="6773613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58" name="Grafik 57">
            <a:extLst>
              <a:ext uri="{FF2B5EF4-FFF2-40B4-BE49-F238E27FC236}">
                <a16:creationId xmlns:a16="http://schemas.microsoft.com/office/drawing/2014/main" id="{1634BDF2-1E6E-2CB9-1179-2AFB1196439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2426" y="6838036"/>
            <a:ext cx="166165" cy="174914"/>
          </a:xfrm>
          <a:prstGeom prst="rect">
            <a:avLst/>
          </a:prstGeom>
        </p:spPr>
      </p:pic>
      <p:cxnSp>
        <p:nvCxnSpPr>
          <p:cNvPr id="5" name="Gerade Verbindung mit Pfeil 4">
            <a:extLst>
              <a:ext uri="{FF2B5EF4-FFF2-40B4-BE49-F238E27FC236}">
                <a16:creationId xmlns:a16="http://schemas.microsoft.com/office/drawing/2014/main" id="{D6339C93-8299-27F4-6747-DD225C958812}"/>
              </a:ext>
            </a:extLst>
          </p:cNvPr>
          <p:cNvCxnSpPr/>
          <p:nvPr/>
        </p:nvCxnSpPr>
        <p:spPr>
          <a:xfrm>
            <a:off x="1429451" y="5506973"/>
            <a:ext cx="164009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Gerade Verbindung mit Pfeil 6">
            <a:extLst>
              <a:ext uri="{FF2B5EF4-FFF2-40B4-BE49-F238E27FC236}">
                <a16:creationId xmlns:a16="http://schemas.microsoft.com/office/drawing/2014/main" id="{1658B39E-547F-E511-D20E-25569104B4B9}"/>
              </a:ext>
            </a:extLst>
          </p:cNvPr>
          <p:cNvCxnSpPr>
            <a:cxnSpLocks/>
          </p:cNvCxnSpPr>
          <p:nvPr/>
        </p:nvCxnSpPr>
        <p:spPr>
          <a:xfrm flipH="1" flipV="1">
            <a:off x="1429451" y="5616292"/>
            <a:ext cx="1640092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B598A49F-7FDE-0781-D3E7-FD0BEDC62DC4}"/>
              </a:ext>
            </a:extLst>
          </p:cNvPr>
          <p:cNvCxnSpPr/>
          <p:nvPr/>
        </p:nvCxnSpPr>
        <p:spPr>
          <a:xfrm>
            <a:off x="11215986" y="5443601"/>
            <a:ext cx="164009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C2AAE509-94C2-D339-BD6E-168F99A2FDA1}"/>
              </a:ext>
            </a:extLst>
          </p:cNvPr>
          <p:cNvCxnSpPr>
            <a:cxnSpLocks/>
          </p:cNvCxnSpPr>
          <p:nvPr/>
        </p:nvCxnSpPr>
        <p:spPr>
          <a:xfrm flipH="1" flipV="1">
            <a:off x="11215986" y="5552920"/>
            <a:ext cx="1640092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Gerade Verbindung mit Pfeil 17">
            <a:extLst>
              <a:ext uri="{FF2B5EF4-FFF2-40B4-BE49-F238E27FC236}">
                <a16:creationId xmlns:a16="http://schemas.microsoft.com/office/drawing/2014/main" id="{CA6A77B5-080D-6A54-ECF2-4D8B53BF51F1}"/>
              </a:ext>
            </a:extLst>
          </p:cNvPr>
          <p:cNvCxnSpPr/>
          <p:nvPr/>
        </p:nvCxnSpPr>
        <p:spPr>
          <a:xfrm>
            <a:off x="10973994" y="5784319"/>
            <a:ext cx="164009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Gerade Verbindung mit Pfeil 23">
            <a:extLst>
              <a:ext uri="{FF2B5EF4-FFF2-40B4-BE49-F238E27FC236}">
                <a16:creationId xmlns:a16="http://schemas.microsoft.com/office/drawing/2014/main" id="{8CDD7D3A-76C9-4BDC-4E80-536CDBDCAD1C}"/>
              </a:ext>
            </a:extLst>
          </p:cNvPr>
          <p:cNvCxnSpPr>
            <a:cxnSpLocks/>
          </p:cNvCxnSpPr>
          <p:nvPr/>
        </p:nvCxnSpPr>
        <p:spPr>
          <a:xfrm flipH="1" flipV="1">
            <a:off x="10973994" y="5893638"/>
            <a:ext cx="1640092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hteck 28">
            <a:extLst>
              <a:ext uri="{FF2B5EF4-FFF2-40B4-BE49-F238E27FC236}">
                <a16:creationId xmlns:a16="http://schemas.microsoft.com/office/drawing/2014/main" id="{1B1BBE33-3AF4-FE6D-E071-46F92113CD19}"/>
              </a:ext>
            </a:extLst>
          </p:cNvPr>
          <p:cNvSpPr/>
          <p:nvPr/>
        </p:nvSpPr>
        <p:spPr>
          <a:xfrm>
            <a:off x="6484611" y="5462989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40" name="Grafik 39">
            <a:extLst>
              <a:ext uri="{FF2B5EF4-FFF2-40B4-BE49-F238E27FC236}">
                <a16:creationId xmlns:a16="http://schemas.microsoft.com/office/drawing/2014/main" id="{E09BDAA4-67BB-F896-6F09-0E1F9FBF8A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60913" y="5541958"/>
            <a:ext cx="166165" cy="174914"/>
          </a:xfrm>
          <a:prstGeom prst="rect">
            <a:avLst/>
          </a:prstGeom>
        </p:spPr>
      </p:pic>
      <p:sp>
        <p:nvSpPr>
          <p:cNvPr id="41" name="Rechteck 40">
            <a:extLst>
              <a:ext uri="{FF2B5EF4-FFF2-40B4-BE49-F238E27FC236}">
                <a16:creationId xmlns:a16="http://schemas.microsoft.com/office/drawing/2014/main" id="{A6E45B43-9BE7-A098-7AF2-59295E61598B}"/>
              </a:ext>
            </a:extLst>
          </p:cNvPr>
          <p:cNvSpPr/>
          <p:nvPr/>
        </p:nvSpPr>
        <p:spPr>
          <a:xfrm>
            <a:off x="6675369" y="5716872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53" name="Grafik 52">
            <a:extLst>
              <a:ext uri="{FF2B5EF4-FFF2-40B4-BE49-F238E27FC236}">
                <a16:creationId xmlns:a16="http://schemas.microsoft.com/office/drawing/2014/main" id="{121D0D37-DE66-DCCA-16C9-16066F0815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36495" y="5781295"/>
            <a:ext cx="166165" cy="174914"/>
          </a:xfrm>
          <a:prstGeom prst="rect">
            <a:avLst/>
          </a:prstGeom>
        </p:spPr>
      </p:pic>
      <p:sp>
        <p:nvSpPr>
          <p:cNvPr id="54" name="Rechteck 53">
            <a:extLst>
              <a:ext uri="{FF2B5EF4-FFF2-40B4-BE49-F238E27FC236}">
                <a16:creationId xmlns:a16="http://schemas.microsoft.com/office/drawing/2014/main" id="{8F8F26CE-AB6A-6A62-91BD-2A8161955A6F}"/>
              </a:ext>
            </a:extLst>
          </p:cNvPr>
          <p:cNvSpPr/>
          <p:nvPr/>
        </p:nvSpPr>
        <p:spPr>
          <a:xfrm>
            <a:off x="7089931" y="5548375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60" name="Grafik 59">
            <a:extLst>
              <a:ext uri="{FF2B5EF4-FFF2-40B4-BE49-F238E27FC236}">
                <a16:creationId xmlns:a16="http://schemas.microsoft.com/office/drawing/2014/main" id="{04A1A064-B679-3656-0949-02313E2D7C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66233" y="5627344"/>
            <a:ext cx="166165" cy="174914"/>
          </a:xfrm>
          <a:prstGeom prst="rect">
            <a:avLst/>
          </a:prstGeom>
        </p:spPr>
      </p:pic>
      <p:sp>
        <p:nvSpPr>
          <p:cNvPr id="61" name="Rechteck 60">
            <a:extLst>
              <a:ext uri="{FF2B5EF4-FFF2-40B4-BE49-F238E27FC236}">
                <a16:creationId xmlns:a16="http://schemas.microsoft.com/office/drawing/2014/main" id="{D6BDC734-8B7E-DFBB-129E-71E3C1B430B8}"/>
              </a:ext>
            </a:extLst>
          </p:cNvPr>
          <p:cNvSpPr/>
          <p:nvPr/>
        </p:nvSpPr>
        <p:spPr>
          <a:xfrm>
            <a:off x="7280689" y="5802258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62" name="Grafik 61">
            <a:extLst>
              <a:ext uri="{FF2B5EF4-FFF2-40B4-BE49-F238E27FC236}">
                <a16:creationId xmlns:a16="http://schemas.microsoft.com/office/drawing/2014/main" id="{F7C7F3DD-ECC4-4BD5-0946-1E129614D3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41815" y="5866681"/>
            <a:ext cx="166165" cy="174914"/>
          </a:xfrm>
          <a:prstGeom prst="rect">
            <a:avLst/>
          </a:prstGeom>
        </p:spPr>
      </p:pic>
      <p:cxnSp>
        <p:nvCxnSpPr>
          <p:cNvPr id="63" name="Gerade Verbindung mit Pfeil 62">
            <a:extLst>
              <a:ext uri="{FF2B5EF4-FFF2-40B4-BE49-F238E27FC236}">
                <a16:creationId xmlns:a16="http://schemas.microsoft.com/office/drawing/2014/main" id="{BBC574BA-725B-72F5-EF5E-3E57C781CBD4}"/>
              </a:ext>
            </a:extLst>
          </p:cNvPr>
          <p:cNvCxnSpPr>
            <a:cxnSpLocks/>
          </p:cNvCxnSpPr>
          <p:nvPr/>
        </p:nvCxnSpPr>
        <p:spPr>
          <a:xfrm>
            <a:off x="9484495" y="6609173"/>
            <a:ext cx="3096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Gerade Verbindung mit Pfeil 63">
            <a:extLst>
              <a:ext uri="{FF2B5EF4-FFF2-40B4-BE49-F238E27FC236}">
                <a16:creationId xmlns:a16="http://schemas.microsoft.com/office/drawing/2014/main" id="{80BE29C0-B5A4-26F6-59D9-655860A46635}"/>
              </a:ext>
            </a:extLst>
          </p:cNvPr>
          <p:cNvCxnSpPr>
            <a:cxnSpLocks/>
          </p:cNvCxnSpPr>
          <p:nvPr/>
        </p:nvCxnSpPr>
        <p:spPr>
          <a:xfrm flipH="1" flipV="1">
            <a:off x="9484495" y="6718492"/>
            <a:ext cx="3096000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Gerade Verbindung mit Pfeil 64">
            <a:extLst>
              <a:ext uri="{FF2B5EF4-FFF2-40B4-BE49-F238E27FC236}">
                <a16:creationId xmlns:a16="http://schemas.microsoft.com/office/drawing/2014/main" id="{CFAD1B13-F4B3-0191-090A-B230AE73F719}"/>
              </a:ext>
            </a:extLst>
          </p:cNvPr>
          <p:cNvCxnSpPr>
            <a:cxnSpLocks/>
          </p:cNvCxnSpPr>
          <p:nvPr/>
        </p:nvCxnSpPr>
        <p:spPr>
          <a:xfrm>
            <a:off x="9443805" y="7255824"/>
            <a:ext cx="3096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Gerade Verbindung mit Pfeil 65">
            <a:extLst>
              <a:ext uri="{FF2B5EF4-FFF2-40B4-BE49-F238E27FC236}">
                <a16:creationId xmlns:a16="http://schemas.microsoft.com/office/drawing/2014/main" id="{B15351C2-4638-07BC-FDF2-1B13276FA1B0}"/>
              </a:ext>
            </a:extLst>
          </p:cNvPr>
          <p:cNvCxnSpPr>
            <a:cxnSpLocks/>
          </p:cNvCxnSpPr>
          <p:nvPr/>
        </p:nvCxnSpPr>
        <p:spPr>
          <a:xfrm flipH="1" flipV="1">
            <a:off x="9443805" y="7365143"/>
            <a:ext cx="3096000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Gerade Verbindung mit Pfeil 66">
            <a:extLst>
              <a:ext uri="{FF2B5EF4-FFF2-40B4-BE49-F238E27FC236}">
                <a16:creationId xmlns:a16="http://schemas.microsoft.com/office/drawing/2014/main" id="{4BD764D8-9CB1-5DD4-A424-B6E59418E0A7}"/>
              </a:ext>
            </a:extLst>
          </p:cNvPr>
          <p:cNvCxnSpPr>
            <a:cxnSpLocks/>
          </p:cNvCxnSpPr>
          <p:nvPr/>
        </p:nvCxnSpPr>
        <p:spPr>
          <a:xfrm>
            <a:off x="9634563" y="7542648"/>
            <a:ext cx="3096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Gerade Verbindung mit Pfeil 67">
            <a:extLst>
              <a:ext uri="{FF2B5EF4-FFF2-40B4-BE49-F238E27FC236}">
                <a16:creationId xmlns:a16="http://schemas.microsoft.com/office/drawing/2014/main" id="{77067898-E101-32BA-37E4-8FA3618B4FD0}"/>
              </a:ext>
            </a:extLst>
          </p:cNvPr>
          <p:cNvCxnSpPr>
            <a:cxnSpLocks/>
          </p:cNvCxnSpPr>
          <p:nvPr/>
        </p:nvCxnSpPr>
        <p:spPr>
          <a:xfrm flipH="1" flipV="1">
            <a:off x="9634563" y="7651967"/>
            <a:ext cx="3096000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Textfeld 69">
            <a:extLst>
              <a:ext uri="{FF2B5EF4-FFF2-40B4-BE49-F238E27FC236}">
                <a16:creationId xmlns:a16="http://schemas.microsoft.com/office/drawing/2014/main" id="{DEB442AC-31D6-845A-4716-7598BED1D91C}"/>
              </a:ext>
            </a:extLst>
          </p:cNvPr>
          <p:cNvSpPr txBox="1"/>
          <p:nvPr/>
        </p:nvSpPr>
        <p:spPr>
          <a:xfrm>
            <a:off x="3512633" y="7095674"/>
            <a:ext cx="30285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200"/>
              <a:t>Modules for keeping the AdministrativeState clean and consistent</a:t>
            </a:r>
          </a:p>
        </p:txBody>
      </p:sp>
      <p:sp>
        <p:nvSpPr>
          <p:cNvPr id="71" name="Pfeil: nach unten 70">
            <a:extLst>
              <a:ext uri="{FF2B5EF4-FFF2-40B4-BE49-F238E27FC236}">
                <a16:creationId xmlns:a16="http://schemas.microsoft.com/office/drawing/2014/main" id="{860000F8-4BE8-02EE-361D-984158792427}"/>
              </a:ext>
            </a:extLst>
          </p:cNvPr>
          <p:cNvSpPr/>
          <p:nvPr/>
        </p:nvSpPr>
        <p:spPr>
          <a:xfrm rot="16200000">
            <a:off x="8321674" y="6903467"/>
            <a:ext cx="220975" cy="417022"/>
          </a:xfrm>
          <a:prstGeom prst="downArrow">
            <a:avLst/>
          </a:prstGeom>
          <a:ln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4513926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hteck: abgerundete Ecken 9">
            <a:extLst>
              <a:ext uri="{FF2B5EF4-FFF2-40B4-BE49-F238E27FC236}">
                <a16:creationId xmlns:a16="http://schemas.microsoft.com/office/drawing/2014/main" id="{C82E5833-4438-2189-74F2-6F0A00400E55}"/>
              </a:ext>
            </a:extLst>
          </p:cNvPr>
          <p:cNvSpPr/>
          <p:nvPr/>
        </p:nvSpPr>
        <p:spPr>
          <a:xfrm>
            <a:off x="365757" y="4422185"/>
            <a:ext cx="447675" cy="76414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/>
              <a:t>MO</a:t>
            </a:r>
          </a:p>
        </p:txBody>
      </p:sp>
      <p:cxnSp>
        <p:nvCxnSpPr>
          <p:cNvPr id="11" name="Gerade Verbindung mit Pfeil 10">
            <a:extLst>
              <a:ext uri="{FF2B5EF4-FFF2-40B4-BE49-F238E27FC236}">
                <a16:creationId xmlns:a16="http://schemas.microsoft.com/office/drawing/2014/main" id="{51A69868-6103-625F-02C0-18B79D5F8321}"/>
              </a:ext>
            </a:extLst>
          </p:cNvPr>
          <p:cNvCxnSpPr>
            <a:cxnSpLocks/>
          </p:cNvCxnSpPr>
          <p:nvPr/>
        </p:nvCxnSpPr>
        <p:spPr>
          <a:xfrm>
            <a:off x="813431" y="4526732"/>
            <a:ext cx="3872863" cy="2042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feld 11">
            <a:extLst>
              <a:ext uri="{FF2B5EF4-FFF2-40B4-BE49-F238E27FC236}">
                <a16:creationId xmlns:a16="http://schemas.microsoft.com/office/drawing/2014/main" id="{B532003B-47C2-54BB-664F-E6480C2F5F29}"/>
              </a:ext>
            </a:extLst>
          </p:cNvPr>
          <p:cNvSpPr txBox="1"/>
          <p:nvPr/>
        </p:nvSpPr>
        <p:spPr>
          <a:xfrm>
            <a:off x="502514" y="4185705"/>
            <a:ext cx="41973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de-DE" sz="900"/>
              <a:t>/v1/establish-netconf-connection</a:t>
            </a:r>
            <a:br>
              <a:rPr lang="de-DE" sz="900">
                <a:solidFill>
                  <a:srgbClr val="FF0000"/>
                </a:solidFill>
              </a:rPr>
            </a:br>
            <a:r>
              <a:rPr lang="de-DE" sz="900">
                <a:solidFill>
                  <a:srgbClr val="FF0000"/>
                </a:solidFill>
              </a:rPr>
              <a:t>{controllerName, mountName, deviceIp, deviceModel}</a:t>
            </a:r>
          </a:p>
        </p:txBody>
      </p:sp>
      <p:sp>
        <p:nvSpPr>
          <p:cNvPr id="15" name="Scrollen: vertikal 14">
            <a:extLst>
              <a:ext uri="{FF2B5EF4-FFF2-40B4-BE49-F238E27FC236}">
                <a16:creationId xmlns:a16="http://schemas.microsoft.com/office/drawing/2014/main" id="{E0D6D35F-81FE-6F08-CAD9-CEFA629499EC}"/>
              </a:ext>
            </a:extLst>
          </p:cNvPr>
          <p:cNvSpPr/>
          <p:nvPr/>
        </p:nvSpPr>
        <p:spPr>
          <a:xfrm>
            <a:off x="8135662" y="9307333"/>
            <a:ext cx="1476137" cy="923927"/>
          </a:xfrm>
          <a:prstGeom prst="verticalScroll">
            <a:avLst/>
          </a:prstGeom>
          <a:ln>
            <a:solidFill>
              <a:srgbClr val="FF0000"/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800"/>
              <a:t>Queue of </a:t>
            </a:r>
            <a:r>
              <a:rPr lang="de-DE" sz="800">
                <a:solidFill>
                  <a:srgbClr val="FF0000"/>
                </a:solidFill>
              </a:rPr>
              <a:t>netconf</a:t>
            </a:r>
            <a:r>
              <a:rPr lang="de-DE" sz="800"/>
              <a:t> </a:t>
            </a:r>
            <a:r>
              <a:rPr lang="de-DE" sz="800">
                <a:solidFill>
                  <a:srgbClr val="FF0000"/>
                </a:solidFill>
              </a:rPr>
              <a:t>interfaces</a:t>
            </a:r>
            <a:r>
              <a:rPr lang="de-DE" sz="800"/>
              <a:t> that need to be provided</a:t>
            </a:r>
          </a:p>
        </p:txBody>
      </p:sp>
      <p:cxnSp>
        <p:nvCxnSpPr>
          <p:cNvPr id="17" name="Verbinder: gekrümmt 16">
            <a:extLst>
              <a:ext uri="{FF2B5EF4-FFF2-40B4-BE49-F238E27FC236}">
                <a16:creationId xmlns:a16="http://schemas.microsoft.com/office/drawing/2014/main" id="{2864ED64-2EE7-65DC-593B-667C0BE96ED5}"/>
              </a:ext>
            </a:extLst>
          </p:cNvPr>
          <p:cNvCxnSpPr>
            <a:cxnSpLocks/>
            <a:stCxn id="252" idx="6"/>
            <a:endCxn id="15" idx="0"/>
          </p:cNvCxnSpPr>
          <p:nvPr/>
        </p:nvCxnSpPr>
        <p:spPr>
          <a:xfrm>
            <a:off x="6199063" y="4827476"/>
            <a:ext cx="2674666" cy="4479857"/>
          </a:xfrm>
          <a:prstGeom prst="curvedConnector2">
            <a:avLst/>
          </a:prstGeom>
          <a:ln>
            <a:solidFill>
              <a:schemeClr val="accent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Gerade Verbindung mit Pfeil 20">
            <a:extLst>
              <a:ext uri="{FF2B5EF4-FFF2-40B4-BE49-F238E27FC236}">
                <a16:creationId xmlns:a16="http://schemas.microsoft.com/office/drawing/2014/main" id="{FDF7E4D6-68B6-0355-CB3A-A2A0E28C931E}"/>
              </a:ext>
            </a:extLst>
          </p:cNvPr>
          <p:cNvCxnSpPr>
            <a:cxnSpLocks/>
          </p:cNvCxnSpPr>
          <p:nvPr/>
        </p:nvCxnSpPr>
        <p:spPr>
          <a:xfrm flipH="1" flipV="1">
            <a:off x="813429" y="4744137"/>
            <a:ext cx="3872865" cy="17625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Rechteck 55">
            <a:extLst>
              <a:ext uri="{FF2B5EF4-FFF2-40B4-BE49-F238E27FC236}">
                <a16:creationId xmlns:a16="http://schemas.microsoft.com/office/drawing/2014/main" id="{9EBFEA2E-B45C-8A04-7DFE-5C0D54E2AEC3}"/>
              </a:ext>
            </a:extLst>
          </p:cNvPr>
          <p:cNvSpPr/>
          <p:nvPr/>
        </p:nvSpPr>
        <p:spPr>
          <a:xfrm>
            <a:off x="4691700" y="10710090"/>
            <a:ext cx="1571625" cy="160702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800" i="1"/>
              <a:t>MediatorVmPhaseOut</a:t>
            </a:r>
          </a:p>
          <a:p>
            <a:endParaRPr lang="de-DE" sz="800"/>
          </a:p>
          <a:p>
            <a:endParaRPr lang="de-DE" sz="800"/>
          </a:p>
          <a:p>
            <a:r>
              <a:rPr lang="de-DE" sz="800"/>
              <a:t>Check operational state and life cycle state of mediatorVm</a:t>
            </a:r>
          </a:p>
          <a:p>
            <a:endParaRPr lang="de-DE" sz="800"/>
          </a:p>
          <a:p>
            <a:r>
              <a:rPr lang="de-DE" sz="800"/>
              <a:t>IF mediatorVm not operational or marked deprecated</a:t>
            </a:r>
          </a:p>
          <a:p>
            <a:r>
              <a:rPr lang="de-DE" sz="800"/>
              <a:t>THEN add all related mediatorProcesses</a:t>
            </a:r>
          </a:p>
          <a:p>
            <a:pPr marL="171450" indent="-171450">
              <a:buFontTx/>
              <a:buChar char="-"/>
            </a:pPr>
            <a:r>
              <a:rPr lang="de-DE" sz="800"/>
              <a:t>to createQueue</a:t>
            </a:r>
          </a:p>
          <a:p>
            <a:pPr marL="171450" indent="-171450">
              <a:buFontTx/>
              <a:buChar char="-"/>
            </a:pPr>
            <a:r>
              <a:rPr lang="de-DE" sz="800"/>
              <a:t>to dismantleQueue</a:t>
            </a:r>
          </a:p>
          <a:p>
            <a:endParaRPr lang="de-DE" sz="800"/>
          </a:p>
        </p:txBody>
      </p:sp>
      <p:cxnSp>
        <p:nvCxnSpPr>
          <p:cNvPr id="61" name="Verbinder: gekrümmt 60">
            <a:extLst>
              <a:ext uri="{FF2B5EF4-FFF2-40B4-BE49-F238E27FC236}">
                <a16:creationId xmlns:a16="http://schemas.microsoft.com/office/drawing/2014/main" id="{BB2D77CC-429A-4157-5B5F-8EF25F79FEC7}"/>
              </a:ext>
            </a:extLst>
          </p:cNvPr>
          <p:cNvCxnSpPr>
            <a:cxnSpLocks/>
            <a:stCxn id="269" idx="6"/>
            <a:endCxn id="15" idx="0"/>
          </p:cNvCxnSpPr>
          <p:nvPr/>
        </p:nvCxnSpPr>
        <p:spPr>
          <a:xfrm>
            <a:off x="6247955" y="8588424"/>
            <a:ext cx="2625774" cy="718909"/>
          </a:xfrm>
          <a:prstGeom prst="curvedConnector2">
            <a:avLst/>
          </a:prstGeom>
          <a:ln>
            <a:solidFill>
              <a:schemeClr val="accent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Verbinder: gekrümmt 70">
            <a:extLst>
              <a:ext uri="{FF2B5EF4-FFF2-40B4-BE49-F238E27FC236}">
                <a16:creationId xmlns:a16="http://schemas.microsoft.com/office/drawing/2014/main" id="{7A46D94E-44A3-06EB-80F4-E03CA33A63EF}"/>
              </a:ext>
            </a:extLst>
          </p:cNvPr>
          <p:cNvCxnSpPr>
            <a:cxnSpLocks/>
            <a:stCxn id="306" idx="6"/>
            <a:endCxn id="15" idx="0"/>
          </p:cNvCxnSpPr>
          <p:nvPr/>
        </p:nvCxnSpPr>
        <p:spPr>
          <a:xfrm flipV="1">
            <a:off x="6254057" y="9307331"/>
            <a:ext cx="2619672" cy="2698438"/>
          </a:xfrm>
          <a:prstGeom prst="curvedConnector4">
            <a:avLst>
              <a:gd name="adj1" fmla="val 35913"/>
              <a:gd name="adj2" fmla="val 108472"/>
            </a:avLst>
          </a:prstGeom>
          <a:ln>
            <a:solidFill>
              <a:schemeClr val="accent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Rechteck: abgerundete Ecken 76">
            <a:extLst>
              <a:ext uri="{FF2B5EF4-FFF2-40B4-BE49-F238E27FC236}">
                <a16:creationId xmlns:a16="http://schemas.microsoft.com/office/drawing/2014/main" id="{8DFFF67D-D75C-32F2-8280-CB92247117F7}"/>
              </a:ext>
            </a:extLst>
          </p:cNvPr>
          <p:cNvSpPr/>
          <p:nvPr/>
        </p:nvSpPr>
        <p:spPr>
          <a:xfrm>
            <a:off x="12151786" y="12189955"/>
            <a:ext cx="447675" cy="32861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/>
              <a:t>CP</a:t>
            </a:r>
          </a:p>
        </p:txBody>
      </p:sp>
      <p:cxnSp>
        <p:nvCxnSpPr>
          <p:cNvPr id="90" name="Verbinder: gekrümmt 89">
            <a:extLst>
              <a:ext uri="{FF2B5EF4-FFF2-40B4-BE49-F238E27FC236}">
                <a16:creationId xmlns:a16="http://schemas.microsoft.com/office/drawing/2014/main" id="{4D6640C8-1C91-CE56-09D4-B2581D76A95E}"/>
              </a:ext>
            </a:extLst>
          </p:cNvPr>
          <p:cNvCxnSpPr>
            <a:cxnSpLocks/>
            <a:stCxn id="15" idx="2"/>
            <a:endCxn id="75" idx="0"/>
          </p:cNvCxnSpPr>
          <p:nvPr/>
        </p:nvCxnSpPr>
        <p:spPr>
          <a:xfrm rot="5400000">
            <a:off x="8385481" y="10449306"/>
            <a:ext cx="706299" cy="270202"/>
          </a:xfrm>
          <a:prstGeom prst="curvedConnector3">
            <a:avLst>
              <a:gd name="adj1" fmla="val 50000"/>
            </a:avLst>
          </a:prstGeom>
          <a:ln>
            <a:solidFill>
              <a:schemeClr val="accent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" name="Scrollen: vertikal 102">
            <a:extLst>
              <a:ext uri="{FF2B5EF4-FFF2-40B4-BE49-F238E27FC236}">
                <a16:creationId xmlns:a16="http://schemas.microsoft.com/office/drawing/2014/main" id="{CC6A1FEE-2FD5-A0BD-9923-2B7D18953F4E}"/>
              </a:ext>
            </a:extLst>
          </p:cNvPr>
          <p:cNvSpPr/>
          <p:nvPr/>
        </p:nvSpPr>
        <p:spPr>
          <a:xfrm>
            <a:off x="14348316" y="5280391"/>
            <a:ext cx="1560042" cy="997947"/>
          </a:xfrm>
          <a:prstGeom prst="verticalScroll">
            <a:avLst/>
          </a:prstGeom>
          <a:ln>
            <a:solidFill>
              <a:srgbClr val="FF0000"/>
            </a:solidFill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800"/>
              <a:t>Queue of </a:t>
            </a:r>
            <a:r>
              <a:rPr lang="de-DE" sz="800">
                <a:solidFill>
                  <a:schemeClr val="accent5"/>
                </a:solidFill>
              </a:rPr>
              <a:t>mediatorProcesses</a:t>
            </a:r>
            <a:r>
              <a:rPr lang="de-DE" sz="800"/>
              <a:t> to be deleted</a:t>
            </a:r>
          </a:p>
        </p:txBody>
      </p:sp>
      <p:sp>
        <p:nvSpPr>
          <p:cNvPr id="104" name="Flussdiagramm: Zusammenstellen 103">
            <a:extLst>
              <a:ext uri="{FF2B5EF4-FFF2-40B4-BE49-F238E27FC236}">
                <a16:creationId xmlns:a16="http://schemas.microsoft.com/office/drawing/2014/main" id="{6181BD8D-E00F-C65B-E014-B40604A43C3E}"/>
              </a:ext>
            </a:extLst>
          </p:cNvPr>
          <p:cNvSpPr/>
          <p:nvPr/>
        </p:nvSpPr>
        <p:spPr>
          <a:xfrm>
            <a:off x="8064098" y="5474673"/>
            <a:ext cx="369117" cy="525849"/>
          </a:xfrm>
          <a:prstGeom prst="flowChartCollate">
            <a:avLst/>
          </a:prstGeom>
          <a:solidFill>
            <a:srgbClr val="FFC000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solidFill>
                <a:schemeClr val="tx1"/>
              </a:solidFill>
            </a:endParaRPr>
          </a:p>
        </p:txBody>
      </p:sp>
      <p:cxnSp>
        <p:nvCxnSpPr>
          <p:cNvPr id="106" name="Verbinder: gekrümmt 105">
            <a:extLst>
              <a:ext uri="{FF2B5EF4-FFF2-40B4-BE49-F238E27FC236}">
                <a16:creationId xmlns:a16="http://schemas.microsoft.com/office/drawing/2014/main" id="{D52FD071-631C-02F8-0686-931FA6B13A38}"/>
              </a:ext>
            </a:extLst>
          </p:cNvPr>
          <p:cNvCxnSpPr>
            <a:cxnSpLocks/>
            <a:stCxn id="104" idx="0"/>
            <a:endCxn id="103" idx="0"/>
          </p:cNvCxnSpPr>
          <p:nvPr/>
        </p:nvCxnSpPr>
        <p:spPr>
          <a:xfrm rot="5400000" flipH="1" flipV="1">
            <a:off x="11591355" y="1937689"/>
            <a:ext cx="194282" cy="6879682"/>
          </a:xfrm>
          <a:prstGeom prst="curvedConnector3">
            <a:avLst>
              <a:gd name="adj1" fmla="val 217664"/>
            </a:avLst>
          </a:prstGeom>
          <a:ln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Verbinder: gekrümmt 106">
            <a:extLst>
              <a:ext uri="{FF2B5EF4-FFF2-40B4-BE49-F238E27FC236}">
                <a16:creationId xmlns:a16="http://schemas.microsoft.com/office/drawing/2014/main" id="{D5EE6150-51F0-0E75-4A56-1F02BD0E5818}"/>
              </a:ext>
            </a:extLst>
          </p:cNvPr>
          <p:cNvCxnSpPr>
            <a:cxnSpLocks/>
            <a:stCxn id="270" idx="6"/>
            <a:endCxn id="104" idx="2"/>
          </p:cNvCxnSpPr>
          <p:nvPr/>
        </p:nvCxnSpPr>
        <p:spPr>
          <a:xfrm flipV="1">
            <a:off x="6247955" y="6000520"/>
            <a:ext cx="2000700" cy="2701388"/>
          </a:xfrm>
          <a:prstGeom prst="curvedConnector2">
            <a:avLst/>
          </a:prstGeom>
          <a:ln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Verbinder: gekrümmt 110">
            <a:extLst>
              <a:ext uri="{FF2B5EF4-FFF2-40B4-BE49-F238E27FC236}">
                <a16:creationId xmlns:a16="http://schemas.microsoft.com/office/drawing/2014/main" id="{BF8CEEB0-27E7-67FE-9CD2-F7BC154D1FF5}"/>
              </a:ext>
            </a:extLst>
          </p:cNvPr>
          <p:cNvCxnSpPr>
            <a:cxnSpLocks/>
            <a:stCxn id="314" idx="6"/>
            <a:endCxn id="104" idx="2"/>
          </p:cNvCxnSpPr>
          <p:nvPr/>
        </p:nvCxnSpPr>
        <p:spPr>
          <a:xfrm flipV="1">
            <a:off x="6254057" y="6000520"/>
            <a:ext cx="1994598" cy="6170472"/>
          </a:xfrm>
          <a:prstGeom prst="curvedConnector2">
            <a:avLst/>
          </a:prstGeom>
          <a:ln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" name="Textfeld 104">
            <a:extLst>
              <a:ext uri="{FF2B5EF4-FFF2-40B4-BE49-F238E27FC236}">
                <a16:creationId xmlns:a16="http://schemas.microsoft.com/office/drawing/2014/main" id="{CAA8C806-679B-A077-8EA7-09C210CD301E}"/>
              </a:ext>
            </a:extLst>
          </p:cNvPr>
          <p:cNvSpPr txBox="1"/>
          <p:nvPr/>
        </p:nvSpPr>
        <p:spPr>
          <a:xfrm>
            <a:off x="7843116" y="5596734"/>
            <a:ext cx="96051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/>
              <a:t>DelayElement</a:t>
            </a:r>
          </a:p>
        </p:txBody>
      </p:sp>
      <p:sp>
        <p:nvSpPr>
          <p:cNvPr id="125" name="Rechteck 124">
            <a:extLst>
              <a:ext uri="{FF2B5EF4-FFF2-40B4-BE49-F238E27FC236}">
                <a16:creationId xmlns:a16="http://schemas.microsoft.com/office/drawing/2014/main" id="{1FE31B48-04FF-C298-6453-7225A40DA40D}"/>
              </a:ext>
            </a:extLst>
          </p:cNvPr>
          <p:cNvSpPr/>
          <p:nvPr/>
        </p:nvSpPr>
        <p:spPr>
          <a:xfrm>
            <a:off x="14250373" y="9864750"/>
            <a:ext cx="1571625" cy="1964349"/>
          </a:xfrm>
          <a:prstGeom prst="rect">
            <a:avLst/>
          </a:prstGeom>
          <a:ln>
            <a:solidFill>
              <a:srgbClr val="04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800"/>
              <a:t>UnusedMediatorProcessEraser</a:t>
            </a:r>
          </a:p>
          <a:p>
            <a:endParaRPr lang="de-DE" sz="800"/>
          </a:p>
          <a:p>
            <a:endParaRPr lang="de-DE" sz="800"/>
          </a:p>
          <a:p>
            <a:endParaRPr lang="de-DE" sz="800"/>
          </a:p>
          <a:p>
            <a:r>
              <a:rPr lang="de-DE" sz="800"/>
              <a:t>IF there is a mountPoint with same deviceName in ODL (ask MO) using this mediatorProc. </a:t>
            </a:r>
          </a:p>
          <a:p>
            <a:r>
              <a:rPr lang="de-DE" sz="800"/>
              <a:t>THEN terminate without change</a:t>
            </a:r>
          </a:p>
          <a:p>
            <a:r>
              <a:rPr lang="de-DE" sz="800"/>
              <a:t>ELSE</a:t>
            </a:r>
          </a:p>
          <a:p>
            <a:r>
              <a:rPr lang="de-DE" sz="800"/>
              <a:t>- Dismantle mediatorProc</a:t>
            </a:r>
          </a:p>
          <a:p>
            <a:r>
              <a:rPr lang="de-DE" sz="800"/>
              <a:t>- Delete from AppDATA:</a:t>
            </a:r>
          </a:p>
          <a:p>
            <a:r>
              <a:rPr lang="de-DE" sz="800"/>
              <a:t>   . Netconf connection</a:t>
            </a:r>
          </a:p>
          <a:p>
            <a:r>
              <a:rPr lang="de-DE" sz="800"/>
              <a:t>   . Snmp connection</a:t>
            </a:r>
          </a:p>
          <a:p>
            <a:r>
              <a:rPr lang="de-DE" sz="800"/>
              <a:t>   . mediatorProcess</a:t>
            </a:r>
          </a:p>
        </p:txBody>
      </p:sp>
      <p:cxnSp>
        <p:nvCxnSpPr>
          <p:cNvPr id="134" name="Verbinder: gekrümmt 133">
            <a:extLst>
              <a:ext uri="{FF2B5EF4-FFF2-40B4-BE49-F238E27FC236}">
                <a16:creationId xmlns:a16="http://schemas.microsoft.com/office/drawing/2014/main" id="{5D7864F1-1ED2-2D1B-8095-C111EA57113A}"/>
              </a:ext>
            </a:extLst>
          </p:cNvPr>
          <p:cNvCxnSpPr>
            <a:cxnSpLocks/>
            <a:stCxn id="103" idx="2"/>
            <a:endCxn id="125" idx="0"/>
          </p:cNvCxnSpPr>
          <p:nvPr/>
        </p:nvCxnSpPr>
        <p:spPr>
          <a:xfrm rot="5400000">
            <a:off x="13289055" y="8025468"/>
            <a:ext cx="3586412" cy="92153"/>
          </a:xfrm>
          <a:prstGeom prst="curvedConnector3">
            <a:avLst>
              <a:gd name="adj1" fmla="val 50000"/>
            </a:avLst>
          </a:prstGeom>
          <a:ln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4" name="Textfeld 143">
            <a:extLst>
              <a:ext uri="{FF2B5EF4-FFF2-40B4-BE49-F238E27FC236}">
                <a16:creationId xmlns:a16="http://schemas.microsoft.com/office/drawing/2014/main" id="{29D2BC74-3BE7-174C-D371-53D0640E1A05}"/>
              </a:ext>
            </a:extLst>
          </p:cNvPr>
          <p:cNvSpPr txBox="1"/>
          <p:nvPr/>
        </p:nvSpPr>
        <p:spPr>
          <a:xfrm>
            <a:off x="18448076" y="3296395"/>
            <a:ext cx="254840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000"/>
              <a:t>/v1/dismantle-netconf-connection</a:t>
            </a:r>
          </a:p>
        </p:txBody>
      </p:sp>
      <p:cxnSp>
        <p:nvCxnSpPr>
          <p:cNvPr id="146" name="Gerade Verbindung mit Pfeil 145">
            <a:extLst>
              <a:ext uri="{FF2B5EF4-FFF2-40B4-BE49-F238E27FC236}">
                <a16:creationId xmlns:a16="http://schemas.microsoft.com/office/drawing/2014/main" id="{76527FFD-A27D-C191-D636-0418D2347CF0}"/>
              </a:ext>
            </a:extLst>
          </p:cNvPr>
          <p:cNvCxnSpPr>
            <a:cxnSpLocks/>
          </p:cNvCxnSpPr>
          <p:nvPr/>
        </p:nvCxnSpPr>
        <p:spPr>
          <a:xfrm flipH="1">
            <a:off x="18419924" y="3536847"/>
            <a:ext cx="227352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8" name="Gerade Verbindung mit Pfeil 147">
            <a:extLst>
              <a:ext uri="{FF2B5EF4-FFF2-40B4-BE49-F238E27FC236}">
                <a16:creationId xmlns:a16="http://schemas.microsoft.com/office/drawing/2014/main" id="{D5350EC3-81F5-928A-7AB1-C83683A18AC5}"/>
              </a:ext>
            </a:extLst>
          </p:cNvPr>
          <p:cNvCxnSpPr>
            <a:cxnSpLocks/>
          </p:cNvCxnSpPr>
          <p:nvPr/>
        </p:nvCxnSpPr>
        <p:spPr>
          <a:xfrm>
            <a:off x="18419924" y="3659955"/>
            <a:ext cx="2273522" cy="2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9" name="Textfeld 148">
            <a:extLst>
              <a:ext uri="{FF2B5EF4-FFF2-40B4-BE49-F238E27FC236}">
                <a16:creationId xmlns:a16="http://schemas.microsoft.com/office/drawing/2014/main" id="{B4C32C75-C175-6476-37BE-A82F695B7FF2}"/>
              </a:ext>
            </a:extLst>
          </p:cNvPr>
          <p:cNvSpPr txBox="1"/>
          <p:nvPr/>
        </p:nvSpPr>
        <p:spPr>
          <a:xfrm flipH="1">
            <a:off x="19927565" y="3639301"/>
            <a:ext cx="82907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/>
              <a:t>204 / 500 …</a:t>
            </a:r>
          </a:p>
        </p:txBody>
      </p:sp>
      <p:sp>
        <p:nvSpPr>
          <p:cNvPr id="210" name="Rechteck: abgerundete Ecken 209">
            <a:extLst>
              <a:ext uri="{FF2B5EF4-FFF2-40B4-BE49-F238E27FC236}">
                <a16:creationId xmlns:a16="http://schemas.microsoft.com/office/drawing/2014/main" id="{44B2B777-E588-B36C-E091-FFDB6E04A573}"/>
              </a:ext>
            </a:extLst>
          </p:cNvPr>
          <p:cNvSpPr/>
          <p:nvPr/>
        </p:nvSpPr>
        <p:spPr>
          <a:xfrm>
            <a:off x="20693449" y="3461122"/>
            <a:ext cx="447675" cy="30468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/>
              <a:t>MO</a:t>
            </a:r>
          </a:p>
        </p:txBody>
      </p:sp>
      <p:sp>
        <p:nvSpPr>
          <p:cNvPr id="213" name="Rechteck 212">
            <a:extLst>
              <a:ext uri="{FF2B5EF4-FFF2-40B4-BE49-F238E27FC236}">
                <a16:creationId xmlns:a16="http://schemas.microsoft.com/office/drawing/2014/main" id="{65B05C39-22C7-3BDA-ABC8-0E08C367F8F4}"/>
              </a:ext>
            </a:extLst>
          </p:cNvPr>
          <p:cNvSpPr/>
          <p:nvPr/>
        </p:nvSpPr>
        <p:spPr>
          <a:xfrm>
            <a:off x="16847353" y="3190473"/>
            <a:ext cx="1571625" cy="1320166"/>
          </a:xfrm>
          <a:prstGeom prst="rect">
            <a:avLst/>
          </a:prstGeom>
          <a:ln>
            <a:solidFill>
              <a:srgbClr val="04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800"/>
              <a:t>Search throu all mediatorVms for mediatorProcesses for the defined deviceName</a:t>
            </a:r>
          </a:p>
          <a:p>
            <a:endParaRPr lang="de-DE" sz="800"/>
          </a:p>
          <a:p>
            <a:r>
              <a:rPr lang="de-DE" sz="800"/>
              <a:t>Add all mediatorProcesses</a:t>
            </a:r>
          </a:p>
          <a:p>
            <a:r>
              <a:rPr lang="de-DE" sz="800"/>
              <a:t>to dismantleQueue</a:t>
            </a:r>
          </a:p>
        </p:txBody>
      </p:sp>
      <p:cxnSp>
        <p:nvCxnSpPr>
          <p:cNvPr id="220" name="Verbinder: gekrümmt 219">
            <a:extLst>
              <a:ext uri="{FF2B5EF4-FFF2-40B4-BE49-F238E27FC236}">
                <a16:creationId xmlns:a16="http://schemas.microsoft.com/office/drawing/2014/main" id="{561F252A-8C14-74DE-20EB-D490C3D6B7B2}"/>
              </a:ext>
            </a:extLst>
          </p:cNvPr>
          <p:cNvCxnSpPr>
            <a:cxnSpLocks/>
            <a:stCxn id="213" idx="2"/>
            <a:endCxn id="103" idx="0"/>
          </p:cNvCxnSpPr>
          <p:nvPr/>
        </p:nvCxnSpPr>
        <p:spPr>
          <a:xfrm rot="5400000">
            <a:off x="15995876" y="3643103"/>
            <a:ext cx="769750" cy="2504827"/>
          </a:xfrm>
          <a:prstGeom prst="curvedConnector3">
            <a:avLst>
              <a:gd name="adj1" fmla="val 50000"/>
            </a:avLst>
          </a:prstGeom>
          <a:ln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5" name="Rechteck 224">
            <a:extLst>
              <a:ext uri="{FF2B5EF4-FFF2-40B4-BE49-F238E27FC236}">
                <a16:creationId xmlns:a16="http://schemas.microsoft.com/office/drawing/2014/main" id="{8778D23D-E927-DABD-0332-D93807833FA4}"/>
              </a:ext>
            </a:extLst>
          </p:cNvPr>
          <p:cNvSpPr/>
          <p:nvPr/>
        </p:nvSpPr>
        <p:spPr>
          <a:xfrm>
            <a:off x="16829126" y="4910189"/>
            <a:ext cx="1798430" cy="267817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r>
              <a:rPr lang="de-DE" sz="800" i="1"/>
              <a:t>InactiveMediatorProcessTracker</a:t>
            </a:r>
          </a:p>
          <a:p>
            <a:endParaRPr lang="de-DE" sz="800"/>
          </a:p>
          <a:p>
            <a:endParaRPr lang="de-DE" sz="800"/>
          </a:p>
          <a:p>
            <a:endParaRPr lang="de-DE" sz="800"/>
          </a:p>
          <a:p>
            <a:r>
              <a:rPr lang="de-DE" sz="800"/>
              <a:t>Go slowly through all mediatorProcesses at all mediatorVms</a:t>
            </a:r>
          </a:p>
          <a:p>
            <a:endParaRPr lang="de-DE" sz="800"/>
          </a:p>
          <a:p>
            <a:r>
              <a:rPr lang="de-DE" sz="800"/>
              <a:t>IF mediatorProcess is responsive on netconf</a:t>
            </a:r>
          </a:p>
          <a:p>
            <a:r>
              <a:rPr lang="de-DE" sz="800"/>
              <a:t>THEN set firstSilenceDate=‚‘</a:t>
            </a:r>
          </a:p>
          <a:p>
            <a:r>
              <a:rPr lang="de-DE" sz="800"/>
              <a:t>ELSE check firstSilenceDate</a:t>
            </a:r>
          </a:p>
          <a:p>
            <a:endParaRPr lang="de-DE" sz="800"/>
          </a:p>
          <a:p>
            <a:r>
              <a:rPr lang="de-DE" sz="800"/>
              <a:t>IF firstSilenceDate==‚‘</a:t>
            </a:r>
            <a:br>
              <a:rPr lang="de-DE" sz="800"/>
            </a:br>
            <a:r>
              <a:rPr lang="de-DE" sz="800"/>
              <a:t>THEN set firstSilenceDate= currentDate</a:t>
            </a:r>
          </a:p>
          <a:p>
            <a:pPr>
              <a:tabLst>
                <a:tab pos="36000" algn="l"/>
              </a:tabLst>
            </a:pPr>
            <a:r>
              <a:rPr lang="de-DE" sz="800"/>
              <a:t>ELSE</a:t>
            </a:r>
          </a:p>
          <a:p>
            <a:pPr>
              <a:tabLst>
                <a:tab pos="108000" algn="l"/>
              </a:tabLst>
            </a:pPr>
            <a:r>
              <a:rPr lang="de-DE" sz="800"/>
              <a:t>	IF currentDate – firstSilenceDate</a:t>
            </a:r>
          </a:p>
          <a:p>
            <a:pPr>
              <a:tabLst>
                <a:tab pos="108000" algn="l"/>
              </a:tabLst>
            </a:pPr>
            <a:r>
              <a:rPr lang="de-DE" sz="800"/>
              <a:t>	&lt;=[keepMediatorProcessPeriode]</a:t>
            </a:r>
          </a:p>
          <a:p>
            <a:pPr>
              <a:tabLst>
                <a:tab pos="108000" algn="l"/>
              </a:tabLst>
            </a:pPr>
            <a:r>
              <a:rPr lang="de-DE" sz="800"/>
              <a:t>	THEN no change</a:t>
            </a:r>
          </a:p>
          <a:p>
            <a:pPr>
              <a:tabLst>
                <a:tab pos="108000" algn="l"/>
              </a:tabLst>
            </a:pPr>
            <a:r>
              <a:rPr lang="de-DE" sz="800"/>
              <a:t>	ELSE add to dismantleQueue</a:t>
            </a:r>
          </a:p>
        </p:txBody>
      </p:sp>
      <p:pic>
        <p:nvPicPr>
          <p:cNvPr id="226" name="Grafik 225">
            <a:extLst>
              <a:ext uri="{FF2B5EF4-FFF2-40B4-BE49-F238E27FC236}">
                <a16:creationId xmlns:a16="http://schemas.microsoft.com/office/drawing/2014/main" id="{E590A6FC-6F27-1F52-01B4-64301CA5995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26323" y="5123627"/>
            <a:ext cx="260088" cy="251271"/>
          </a:xfrm>
          <a:prstGeom prst="rect">
            <a:avLst/>
          </a:prstGeom>
        </p:spPr>
      </p:pic>
      <p:cxnSp>
        <p:nvCxnSpPr>
          <p:cNvPr id="227" name="Verbinder: gekrümmt 226">
            <a:extLst>
              <a:ext uri="{FF2B5EF4-FFF2-40B4-BE49-F238E27FC236}">
                <a16:creationId xmlns:a16="http://schemas.microsoft.com/office/drawing/2014/main" id="{2DB9CE1C-063B-8F4A-85EB-0564067865B1}"/>
              </a:ext>
            </a:extLst>
          </p:cNvPr>
          <p:cNvCxnSpPr>
            <a:cxnSpLocks/>
            <a:stCxn id="225" idx="2"/>
            <a:endCxn id="103" idx="0"/>
          </p:cNvCxnSpPr>
          <p:nvPr/>
        </p:nvCxnSpPr>
        <p:spPr>
          <a:xfrm rot="5400000" flipH="1">
            <a:off x="15274351" y="5134375"/>
            <a:ext cx="2307976" cy="2600004"/>
          </a:xfrm>
          <a:prstGeom prst="curvedConnector5">
            <a:avLst>
              <a:gd name="adj1" fmla="val -9905"/>
              <a:gd name="adj2" fmla="val 52292"/>
              <a:gd name="adj3" fmla="val 109905"/>
            </a:avLst>
          </a:prstGeom>
          <a:ln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6" name="Grafik 5">
            <a:extLst>
              <a:ext uri="{FF2B5EF4-FFF2-40B4-BE49-F238E27FC236}">
                <a16:creationId xmlns:a16="http://schemas.microsoft.com/office/drawing/2014/main" id="{BB4CEC89-E2AF-ACDF-4C17-3FFE58CA12F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397723" y="9091943"/>
            <a:ext cx="447675" cy="439333"/>
          </a:xfrm>
          <a:prstGeom prst="rect">
            <a:avLst/>
          </a:prstGeom>
        </p:spPr>
      </p:pic>
      <p:sp>
        <p:nvSpPr>
          <p:cNvPr id="8" name="Rechteck 7">
            <a:extLst>
              <a:ext uri="{FF2B5EF4-FFF2-40B4-BE49-F238E27FC236}">
                <a16:creationId xmlns:a16="http://schemas.microsoft.com/office/drawing/2014/main" id="{4668BABB-C444-CB57-7286-A2F16DFE205B}"/>
              </a:ext>
            </a:extLst>
          </p:cNvPr>
          <p:cNvSpPr/>
          <p:nvPr/>
        </p:nvSpPr>
        <p:spPr>
          <a:xfrm>
            <a:off x="4691700" y="9039933"/>
            <a:ext cx="1571625" cy="1454839"/>
          </a:xfrm>
          <a:prstGeom prst="rect">
            <a:avLst/>
          </a:prstGeom>
          <a:ln>
            <a:solidFill>
              <a:srgbClr val="04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800"/>
              <a:t>Check feasibility of deleting mediatorVm without the total number of mediatorProcesses exceeding the capacity of remaining mediatorVms</a:t>
            </a:r>
          </a:p>
          <a:p>
            <a:endParaRPr lang="de-DE" sz="800"/>
          </a:p>
          <a:p>
            <a:r>
              <a:rPr lang="de-DE" sz="800"/>
              <a:t>IF reducing resources feasible</a:t>
            </a:r>
          </a:p>
          <a:p>
            <a:r>
              <a:rPr lang="de-DE" sz="800"/>
              <a:t>THEN mark life cycle state of defined mediatorVm to be deprecated</a:t>
            </a:r>
          </a:p>
          <a:p>
            <a:r>
              <a:rPr lang="de-DE" sz="800"/>
              <a:t>ELSE respond error code</a:t>
            </a:r>
          </a:p>
        </p:txBody>
      </p:sp>
      <p:cxnSp>
        <p:nvCxnSpPr>
          <p:cNvPr id="14" name="Gerade Verbindung mit Pfeil 13">
            <a:extLst>
              <a:ext uri="{FF2B5EF4-FFF2-40B4-BE49-F238E27FC236}">
                <a16:creationId xmlns:a16="http://schemas.microsoft.com/office/drawing/2014/main" id="{9AAB2F06-0754-E97D-8AB1-446BC5BE28CA}"/>
              </a:ext>
            </a:extLst>
          </p:cNvPr>
          <p:cNvCxnSpPr>
            <a:cxnSpLocks/>
          </p:cNvCxnSpPr>
          <p:nvPr/>
        </p:nvCxnSpPr>
        <p:spPr>
          <a:xfrm>
            <a:off x="760326" y="9229331"/>
            <a:ext cx="3939537" cy="1666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feld 15">
            <a:extLst>
              <a:ext uri="{FF2B5EF4-FFF2-40B4-BE49-F238E27FC236}">
                <a16:creationId xmlns:a16="http://schemas.microsoft.com/office/drawing/2014/main" id="{2E92D9DA-09E1-FFC1-98ED-74AC6BF930F6}"/>
              </a:ext>
            </a:extLst>
          </p:cNvPr>
          <p:cNvSpPr txBox="1"/>
          <p:nvPr/>
        </p:nvSpPr>
        <p:spPr>
          <a:xfrm>
            <a:off x="2256572" y="8999783"/>
            <a:ext cx="254840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000"/>
              <a:t>/v1/disregard-mediator-instance-manager</a:t>
            </a:r>
          </a:p>
        </p:txBody>
      </p:sp>
      <p:cxnSp>
        <p:nvCxnSpPr>
          <p:cNvPr id="18" name="Gerade Verbindung mit Pfeil 17">
            <a:extLst>
              <a:ext uri="{FF2B5EF4-FFF2-40B4-BE49-F238E27FC236}">
                <a16:creationId xmlns:a16="http://schemas.microsoft.com/office/drawing/2014/main" id="{BFF5680D-94F2-F4E3-FACF-63C223B4FC46}"/>
              </a:ext>
            </a:extLst>
          </p:cNvPr>
          <p:cNvCxnSpPr>
            <a:cxnSpLocks/>
          </p:cNvCxnSpPr>
          <p:nvPr/>
        </p:nvCxnSpPr>
        <p:spPr>
          <a:xfrm flipH="1">
            <a:off x="808595" y="9455071"/>
            <a:ext cx="3891262" cy="0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feld 18">
            <a:extLst>
              <a:ext uri="{FF2B5EF4-FFF2-40B4-BE49-F238E27FC236}">
                <a16:creationId xmlns:a16="http://schemas.microsoft.com/office/drawing/2014/main" id="{9104B411-5652-1AC8-0AF7-757041C6FEF8}"/>
              </a:ext>
            </a:extLst>
          </p:cNvPr>
          <p:cNvSpPr txBox="1"/>
          <p:nvPr/>
        </p:nvSpPr>
        <p:spPr>
          <a:xfrm>
            <a:off x="826998" y="9411807"/>
            <a:ext cx="82907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/>
              <a:t>204 / 500 …</a:t>
            </a:r>
          </a:p>
        </p:txBody>
      </p:sp>
      <p:pic>
        <p:nvPicPr>
          <p:cNvPr id="31" name="Grafik 30">
            <a:extLst>
              <a:ext uri="{FF2B5EF4-FFF2-40B4-BE49-F238E27FC236}">
                <a16:creationId xmlns:a16="http://schemas.microsoft.com/office/drawing/2014/main" id="{A6E275FF-6DBA-3F21-5F4B-5FB306A7F7C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8975" y="10793291"/>
            <a:ext cx="260088" cy="273783"/>
          </a:xfrm>
          <a:prstGeom prst="rect">
            <a:avLst/>
          </a:prstGeom>
        </p:spPr>
      </p:pic>
      <p:pic>
        <p:nvPicPr>
          <p:cNvPr id="52" name="Grafik 51">
            <a:extLst>
              <a:ext uri="{FF2B5EF4-FFF2-40B4-BE49-F238E27FC236}">
                <a16:creationId xmlns:a16="http://schemas.microsoft.com/office/drawing/2014/main" id="{ED8304CB-60E8-CF50-67B6-A0D2890F542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397723" y="5958474"/>
            <a:ext cx="447675" cy="439333"/>
          </a:xfrm>
          <a:prstGeom prst="rect">
            <a:avLst/>
          </a:prstGeom>
        </p:spPr>
      </p:pic>
      <p:sp>
        <p:nvSpPr>
          <p:cNvPr id="53" name="Rechteck 52">
            <a:extLst>
              <a:ext uri="{FF2B5EF4-FFF2-40B4-BE49-F238E27FC236}">
                <a16:creationId xmlns:a16="http://schemas.microsoft.com/office/drawing/2014/main" id="{0CB49B7E-39F6-8FA1-969C-E823B6707C2C}"/>
              </a:ext>
            </a:extLst>
          </p:cNvPr>
          <p:cNvSpPr/>
          <p:nvPr/>
        </p:nvSpPr>
        <p:spPr>
          <a:xfrm>
            <a:off x="4699863" y="5619141"/>
            <a:ext cx="1571625" cy="829711"/>
          </a:xfrm>
          <a:prstGeom prst="rect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800"/>
              <a:t>Create new MIM in CONFIGfile of MM</a:t>
            </a:r>
          </a:p>
          <a:p>
            <a:endParaRPr lang="de-DE" sz="800"/>
          </a:p>
          <a:p>
            <a:r>
              <a:rPr lang="de-DE" sz="800"/>
              <a:t>Create new mediatorVm of defined mediatorVmTemplate in internal data</a:t>
            </a:r>
          </a:p>
          <a:p>
            <a:r>
              <a:rPr lang="de-DE" sz="800"/>
              <a:t> </a:t>
            </a:r>
          </a:p>
        </p:txBody>
      </p:sp>
      <p:cxnSp>
        <p:nvCxnSpPr>
          <p:cNvPr id="54" name="Gerade Verbindung mit Pfeil 53">
            <a:extLst>
              <a:ext uri="{FF2B5EF4-FFF2-40B4-BE49-F238E27FC236}">
                <a16:creationId xmlns:a16="http://schemas.microsoft.com/office/drawing/2014/main" id="{364C45C3-6320-2BE5-6D29-5D768A0B74C2}"/>
              </a:ext>
            </a:extLst>
          </p:cNvPr>
          <p:cNvCxnSpPr>
            <a:cxnSpLocks/>
          </p:cNvCxnSpPr>
          <p:nvPr/>
        </p:nvCxnSpPr>
        <p:spPr>
          <a:xfrm>
            <a:off x="760326" y="6095862"/>
            <a:ext cx="3939537" cy="1666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feld 54">
            <a:extLst>
              <a:ext uri="{FF2B5EF4-FFF2-40B4-BE49-F238E27FC236}">
                <a16:creationId xmlns:a16="http://schemas.microsoft.com/office/drawing/2014/main" id="{7ADFF6E2-BED2-7001-6D8F-FB1B1141882C}"/>
              </a:ext>
            </a:extLst>
          </p:cNvPr>
          <p:cNvSpPr txBox="1"/>
          <p:nvPr/>
        </p:nvSpPr>
        <p:spPr>
          <a:xfrm>
            <a:off x="2294672" y="5866314"/>
            <a:ext cx="2397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de-DE" sz="1000"/>
              <a:t>/v1/regard-mediator-instance-manager</a:t>
            </a:r>
          </a:p>
        </p:txBody>
      </p:sp>
      <p:cxnSp>
        <p:nvCxnSpPr>
          <p:cNvPr id="58" name="Gerade Verbindung mit Pfeil 57">
            <a:extLst>
              <a:ext uri="{FF2B5EF4-FFF2-40B4-BE49-F238E27FC236}">
                <a16:creationId xmlns:a16="http://schemas.microsoft.com/office/drawing/2014/main" id="{A54EFF6E-FB0C-128D-DA81-486F143823EE}"/>
              </a:ext>
            </a:extLst>
          </p:cNvPr>
          <p:cNvCxnSpPr>
            <a:cxnSpLocks/>
          </p:cNvCxnSpPr>
          <p:nvPr/>
        </p:nvCxnSpPr>
        <p:spPr>
          <a:xfrm flipH="1">
            <a:off x="808595" y="6321602"/>
            <a:ext cx="3891262" cy="0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Textfeld 59">
            <a:extLst>
              <a:ext uri="{FF2B5EF4-FFF2-40B4-BE49-F238E27FC236}">
                <a16:creationId xmlns:a16="http://schemas.microsoft.com/office/drawing/2014/main" id="{0EE42FE5-8A58-E39B-A6C9-FAEC5A5A3985}"/>
              </a:ext>
            </a:extLst>
          </p:cNvPr>
          <p:cNvSpPr txBox="1"/>
          <p:nvPr/>
        </p:nvSpPr>
        <p:spPr>
          <a:xfrm>
            <a:off x="826998" y="6278338"/>
            <a:ext cx="82907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/>
              <a:t>204 / 500 …</a:t>
            </a:r>
          </a:p>
        </p:txBody>
      </p:sp>
      <p:sp>
        <p:nvSpPr>
          <p:cNvPr id="65" name="Rechteck 64">
            <a:extLst>
              <a:ext uri="{FF2B5EF4-FFF2-40B4-BE49-F238E27FC236}">
                <a16:creationId xmlns:a16="http://schemas.microsoft.com/office/drawing/2014/main" id="{B91D68D4-8FDC-2F63-0B78-6959E36F48EA}"/>
              </a:ext>
            </a:extLst>
          </p:cNvPr>
          <p:cNvSpPr/>
          <p:nvPr/>
        </p:nvSpPr>
        <p:spPr>
          <a:xfrm>
            <a:off x="16829126" y="7854080"/>
            <a:ext cx="1798430" cy="169415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r>
              <a:rPr lang="de-DE" sz="800" i="1"/>
              <a:t>EmptyMediatorVmEraser</a:t>
            </a:r>
            <a:endParaRPr lang="de-DE" sz="800"/>
          </a:p>
          <a:p>
            <a:endParaRPr lang="de-DE" sz="800"/>
          </a:p>
          <a:p>
            <a:endParaRPr lang="de-DE" sz="800"/>
          </a:p>
          <a:p>
            <a:r>
              <a:rPr lang="de-DE" sz="800"/>
              <a:t>Go slowly through all mediatorVms</a:t>
            </a:r>
          </a:p>
          <a:p>
            <a:endParaRPr lang="de-DE" sz="800"/>
          </a:p>
          <a:p>
            <a:r>
              <a:rPr lang="de-DE" sz="800"/>
              <a:t>IF mediatorVm is marked to be  deprecated AND number of mediatorProcesses==0</a:t>
            </a:r>
          </a:p>
          <a:p>
            <a:endParaRPr lang="de-DE" sz="800"/>
          </a:p>
          <a:p>
            <a:r>
              <a:rPr lang="de-DE" sz="800"/>
              <a:t>THEN </a:t>
            </a:r>
          </a:p>
          <a:p>
            <a:pPr marL="171450" indent="-171450">
              <a:buFontTx/>
              <a:buChar char="-"/>
            </a:pPr>
            <a:r>
              <a:rPr lang="de-DE" sz="800"/>
              <a:t>delete MIM from CONFIGfile</a:t>
            </a:r>
          </a:p>
          <a:p>
            <a:pPr marL="171450" indent="-171450">
              <a:buFontTx/>
              <a:buChar char="-"/>
            </a:pPr>
            <a:r>
              <a:rPr lang="de-DE" sz="800"/>
              <a:t>delete mediatorVm from AppDATA</a:t>
            </a:r>
          </a:p>
          <a:p>
            <a:pPr marL="171450" indent="-171450">
              <a:buFontTx/>
              <a:buChar char="-"/>
            </a:pPr>
            <a:endParaRPr lang="de-DE" sz="800"/>
          </a:p>
          <a:p>
            <a:pPr marL="171450" indent="-171450">
              <a:buFontTx/>
              <a:buChar char="-"/>
            </a:pPr>
            <a:endParaRPr lang="de-DE" sz="800"/>
          </a:p>
        </p:txBody>
      </p:sp>
      <p:pic>
        <p:nvPicPr>
          <p:cNvPr id="66" name="Grafik 65">
            <a:extLst>
              <a:ext uri="{FF2B5EF4-FFF2-40B4-BE49-F238E27FC236}">
                <a16:creationId xmlns:a16="http://schemas.microsoft.com/office/drawing/2014/main" id="{CF2B14E0-79EE-778B-31F8-147AF761DB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878931" y="7929601"/>
            <a:ext cx="260088" cy="251271"/>
          </a:xfrm>
          <a:prstGeom prst="rect">
            <a:avLst/>
          </a:prstGeom>
        </p:spPr>
      </p:pic>
      <p:cxnSp>
        <p:nvCxnSpPr>
          <p:cNvPr id="94" name="Verbinder: gekrümmt 93">
            <a:extLst>
              <a:ext uri="{FF2B5EF4-FFF2-40B4-BE49-F238E27FC236}">
                <a16:creationId xmlns:a16="http://schemas.microsoft.com/office/drawing/2014/main" id="{FAA648C8-F1C2-EED5-2050-3327EE9688C6}"/>
              </a:ext>
            </a:extLst>
          </p:cNvPr>
          <p:cNvCxnSpPr>
            <a:cxnSpLocks/>
            <a:stCxn id="96" idx="6"/>
            <a:endCxn id="77" idx="0"/>
          </p:cNvCxnSpPr>
          <p:nvPr/>
        </p:nvCxnSpPr>
        <p:spPr>
          <a:xfrm>
            <a:off x="9428515" y="11266030"/>
            <a:ext cx="2947109" cy="923927"/>
          </a:xfrm>
          <a:prstGeom prst="curvedConnector2">
            <a:avLst/>
          </a:prstGeom>
          <a:ln>
            <a:solidFill>
              <a:schemeClr val="accent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9" name="Zylinder 98">
            <a:extLst>
              <a:ext uri="{FF2B5EF4-FFF2-40B4-BE49-F238E27FC236}">
                <a16:creationId xmlns:a16="http://schemas.microsoft.com/office/drawing/2014/main" id="{891D0F3E-4EDF-452F-15BB-368A6160A5A0}"/>
              </a:ext>
            </a:extLst>
          </p:cNvPr>
          <p:cNvSpPr/>
          <p:nvPr/>
        </p:nvSpPr>
        <p:spPr>
          <a:xfrm>
            <a:off x="10851196" y="6505010"/>
            <a:ext cx="1461538" cy="541614"/>
          </a:xfrm>
          <a:prstGeom prst="can">
            <a:avLst/>
          </a:prstGeom>
          <a:ln>
            <a:solidFill>
              <a:srgbClr val="04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800" i="1"/>
              <a:t>AppDATA</a:t>
            </a:r>
            <a:br>
              <a:rPr lang="de-DE" sz="800" i="1"/>
            </a:br>
            <a:r>
              <a:rPr lang="de-DE" sz="800" i="1"/>
              <a:t>(ElasticSearch)</a:t>
            </a:r>
          </a:p>
        </p:txBody>
      </p:sp>
      <p:cxnSp>
        <p:nvCxnSpPr>
          <p:cNvPr id="102" name="Verbinder: gekrümmt 101">
            <a:extLst>
              <a:ext uri="{FF2B5EF4-FFF2-40B4-BE49-F238E27FC236}">
                <a16:creationId xmlns:a16="http://schemas.microsoft.com/office/drawing/2014/main" id="{4A175909-FAD8-251A-99E3-765E8C9D63C1}"/>
              </a:ext>
            </a:extLst>
          </p:cNvPr>
          <p:cNvCxnSpPr>
            <a:cxnSpLocks/>
            <a:stCxn id="100" idx="6"/>
            <a:endCxn id="99" idx="1"/>
          </p:cNvCxnSpPr>
          <p:nvPr/>
        </p:nvCxnSpPr>
        <p:spPr>
          <a:xfrm flipV="1">
            <a:off x="9429854" y="6505010"/>
            <a:ext cx="2152113" cy="5081478"/>
          </a:xfrm>
          <a:prstGeom prst="curvedConnector4">
            <a:avLst>
              <a:gd name="adj1" fmla="val 33022"/>
              <a:gd name="adj2" fmla="val 104499"/>
            </a:avLst>
          </a:prstGeom>
          <a:ln>
            <a:solidFill>
              <a:schemeClr val="accent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Rechteck 74">
            <a:extLst>
              <a:ext uri="{FF2B5EF4-FFF2-40B4-BE49-F238E27FC236}">
                <a16:creationId xmlns:a16="http://schemas.microsoft.com/office/drawing/2014/main" id="{20FFD60F-206D-CB5E-071D-9AF309A2C14D}"/>
              </a:ext>
            </a:extLst>
          </p:cNvPr>
          <p:cNvSpPr/>
          <p:nvPr/>
        </p:nvSpPr>
        <p:spPr>
          <a:xfrm>
            <a:off x="7770877" y="10937557"/>
            <a:ext cx="1665303" cy="3139440"/>
          </a:xfrm>
          <a:prstGeom prst="rect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800" i="1"/>
              <a:t>NetconfConnectionBuilder</a:t>
            </a:r>
          </a:p>
          <a:p>
            <a:endParaRPr lang="de-DE" sz="800"/>
          </a:p>
          <a:p>
            <a:endParaRPr lang="de-DE" sz="800"/>
          </a:p>
          <a:p>
            <a:r>
              <a:rPr lang="de-DE" sz="800"/>
              <a:t>Prepare device (if not 204, create alarm in AppDATA)</a:t>
            </a:r>
          </a:p>
          <a:p>
            <a:r>
              <a:rPr lang="de-DE" sz="800"/>
              <a:t>Add SnmpServers to AppDATA</a:t>
            </a:r>
          </a:p>
          <a:p>
            <a:endParaRPr lang="de-DE" sz="800"/>
          </a:p>
          <a:p>
            <a:r>
              <a:rPr lang="de-DE" sz="800"/>
              <a:t>Pick mediatorVm in </a:t>
            </a:r>
            <a:r>
              <a:rPr lang="de-DE" sz="800" i="1"/>
              <a:t>installed </a:t>
            </a:r>
            <a:r>
              <a:rPr lang="de-DE" sz="800"/>
              <a:t>and </a:t>
            </a:r>
            <a:r>
              <a:rPr lang="de-DE" sz="800" i="1"/>
              <a:t>enabled</a:t>
            </a:r>
            <a:r>
              <a:rPr lang="de-DE" sz="800"/>
              <a:t> states with lowest number of mediatorProcesses</a:t>
            </a:r>
          </a:p>
          <a:p>
            <a:endParaRPr lang="de-DE" sz="800"/>
          </a:p>
          <a:p>
            <a:r>
              <a:rPr lang="de-DE" sz="800"/>
              <a:t>Create mediatorProcess</a:t>
            </a:r>
          </a:p>
          <a:p>
            <a:endParaRPr lang="de-DE" sz="800"/>
          </a:p>
          <a:p>
            <a:r>
              <a:rPr lang="de-DE" sz="800"/>
              <a:t>add to AppDATA:</a:t>
            </a:r>
          </a:p>
          <a:p>
            <a:pPr marL="171450" indent="-171450">
              <a:buFontTx/>
              <a:buChar char="-"/>
            </a:pPr>
            <a:r>
              <a:rPr lang="de-DE" sz="800"/>
              <a:t>mediatorProcess </a:t>
            </a:r>
          </a:p>
          <a:p>
            <a:pPr marL="171450" indent="-171450">
              <a:buFontTx/>
              <a:buChar char="-"/>
            </a:pPr>
            <a:r>
              <a:rPr lang="de-DE" sz="800"/>
              <a:t>(update NetconClient at Controller)</a:t>
            </a:r>
          </a:p>
          <a:p>
            <a:pPr marL="171450" indent="-171450">
              <a:buFontTx/>
              <a:buChar char="-"/>
            </a:pPr>
            <a:r>
              <a:rPr lang="de-DE" sz="800"/>
              <a:t>Snmp connection</a:t>
            </a:r>
          </a:p>
          <a:p>
            <a:pPr marL="171450" indent="-171450">
              <a:buFontTx/>
              <a:buChar char="-"/>
            </a:pPr>
            <a:r>
              <a:rPr lang="de-DE" sz="800"/>
              <a:t>Netconf connection</a:t>
            </a:r>
          </a:p>
          <a:p>
            <a:endParaRPr lang="de-DE" sz="800"/>
          </a:p>
          <a:p>
            <a:r>
              <a:rPr lang="de-DE" sz="800"/>
              <a:t>Meassure operationalState of netconfInterface</a:t>
            </a:r>
          </a:p>
          <a:p>
            <a:endParaRPr lang="de-DE" sz="800"/>
          </a:p>
          <a:p>
            <a:r>
              <a:rPr lang="de-DE" sz="800"/>
              <a:t>Update AppDATA with operationalState</a:t>
            </a:r>
          </a:p>
        </p:txBody>
      </p:sp>
      <p:sp>
        <p:nvSpPr>
          <p:cNvPr id="96" name="Ellipse 95">
            <a:extLst>
              <a:ext uri="{FF2B5EF4-FFF2-40B4-BE49-F238E27FC236}">
                <a16:creationId xmlns:a16="http://schemas.microsoft.com/office/drawing/2014/main" id="{F17CEFED-6C55-18CE-0DC0-A02405C77B87}"/>
              </a:ext>
            </a:extLst>
          </p:cNvPr>
          <p:cNvSpPr/>
          <p:nvPr/>
        </p:nvSpPr>
        <p:spPr>
          <a:xfrm>
            <a:off x="9382796" y="11241828"/>
            <a:ext cx="45719" cy="48407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0" name="Ellipse 99">
            <a:extLst>
              <a:ext uri="{FF2B5EF4-FFF2-40B4-BE49-F238E27FC236}">
                <a16:creationId xmlns:a16="http://schemas.microsoft.com/office/drawing/2014/main" id="{0316B798-F84B-8F58-B450-28890D99FD37}"/>
              </a:ext>
            </a:extLst>
          </p:cNvPr>
          <p:cNvSpPr/>
          <p:nvPr/>
        </p:nvSpPr>
        <p:spPr>
          <a:xfrm>
            <a:off x="9384135" y="11562288"/>
            <a:ext cx="45719" cy="48407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63" name="Ellipse 162">
            <a:extLst>
              <a:ext uri="{FF2B5EF4-FFF2-40B4-BE49-F238E27FC236}">
                <a16:creationId xmlns:a16="http://schemas.microsoft.com/office/drawing/2014/main" id="{64EE5B7C-EB86-A4BA-C1DC-A5CF5509B0DF}"/>
              </a:ext>
            </a:extLst>
          </p:cNvPr>
          <p:cNvSpPr/>
          <p:nvPr/>
        </p:nvSpPr>
        <p:spPr>
          <a:xfrm>
            <a:off x="9343212" y="13379753"/>
            <a:ext cx="45719" cy="48407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66" name="Ellipse 165">
            <a:extLst>
              <a:ext uri="{FF2B5EF4-FFF2-40B4-BE49-F238E27FC236}">
                <a16:creationId xmlns:a16="http://schemas.microsoft.com/office/drawing/2014/main" id="{628ABCC8-58C9-4BCD-7F8B-F84942659C2C}"/>
              </a:ext>
            </a:extLst>
          </p:cNvPr>
          <p:cNvSpPr/>
          <p:nvPr/>
        </p:nvSpPr>
        <p:spPr>
          <a:xfrm>
            <a:off x="9320353" y="12111735"/>
            <a:ext cx="45719" cy="48407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86" name="Ellipse 185">
            <a:extLst>
              <a:ext uri="{FF2B5EF4-FFF2-40B4-BE49-F238E27FC236}">
                <a16:creationId xmlns:a16="http://schemas.microsoft.com/office/drawing/2014/main" id="{3D249596-FA55-E138-EB1E-1CF618EE9902}"/>
              </a:ext>
            </a:extLst>
          </p:cNvPr>
          <p:cNvSpPr/>
          <p:nvPr/>
        </p:nvSpPr>
        <p:spPr>
          <a:xfrm>
            <a:off x="9357109" y="12842675"/>
            <a:ext cx="45719" cy="48407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05" name="Rechteck 204">
            <a:extLst>
              <a:ext uri="{FF2B5EF4-FFF2-40B4-BE49-F238E27FC236}">
                <a16:creationId xmlns:a16="http://schemas.microsoft.com/office/drawing/2014/main" id="{25949520-17DD-825A-771B-50A9F85D5649}"/>
              </a:ext>
            </a:extLst>
          </p:cNvPr>
          <p:cNvSpPr/>
          <p:nvPr/>
        </p:nvSpPr>
        <p:spPr>
          <a:xfrm>
            <a:off x="10803999" y="7295984"/>
            <a:ext cx="1571625" cy="1507975"/>
          </a:xfrm>
          <a:prstGeom prst="rect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800" i="1"/>
              <a:t>MediatorVmReconciler</a:t>
            </a:r>
          </a:p>
          <a:p>
            <a:endParaRPr lang="de-DE" sz="800"/>
          </a:p>
          <a:p>
            <a:endParaRPr lang="de-DE" sz="800"/>
          </a:p>
          <a:p>
            <a:r>
              <a:rPr lang="de-DE" sz="800"/>
              <a:t>Regularly update AppDATA with configuration data about all mediatorVms</a:t>
            </a:r>
            <a:br>
              <a:rPr lang="de-DE" sz="800"/>
            </a:br>
            <a:endParaRPr lang="de-DE" sz="800"/>
          </a:p>
          <a:p>
            <a:r>
              <a:rPr lang="de-DE" sz="800"/>
              <a:t>IF not responding</a:t>
            </a:r>
            <a:br>
              <a:rPr lang="de-DE" sz="800"/>
            </a:br>
            <a:r>
              <a:rPr lang="de-DE" sz="800"/>
              <a:t>THEN operationState of the mediatorVM to be set to UNAVAILABLE)</a:t>
            </a:r>
          </a:p>
        </p:txBody>
      </p:sp>
      <p:pic>
        <p:nvPicPr>
          <p:cNvPr id="206" name="Grafik 205">
            <a:extLst>
              <a:ext uri="{FF2B5EF4-FFF2-40B4-BE49-F238E27FC236}">
                <a16:creationId xmlns:a16="http://schemas.microsoft.com/office/drawing/2014/main" id="{32DFB1AC-4A02-46A6-0902-CDB05ECAF17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91841" y="7357573"/>
            <a:ext cx="260088" cy="273783"/>
          </a:xfrm>
          <a:prstGeom prst="rect">
            <a:avLst/>
          </a:prstGeom>
        </p:spPr>
      </p:pic>
      <p:sp>
        <p:nvSpPr>
          <p:cNvPr id="207" name="Textfeld 206">
            <a:extLst>
              <a:ext uri="{FF2B5EF4-FFF2-40B4-BE49-F238E27FC236}">
                <a16:creationId xmlns:a16="http://schemas.microsoft.com/office/drawing/2014/main" id="{7B3F1610-212D-C5AF-6461-4AF848173708}"/>
              </a:ext>
            </a:extLst>
          </p:cNvPr>
          <p:cNvSpPr txBox="1"/>
          <p:nvPr/>
        </p:nvSpPr>
        <p:spPr>
          <a:xfrm rot="3530940">
            <a:off x="9607898" y="12812987"/>
            <a:ext cx="192178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600"/>
              <a:t>/v1/provide-mediator-instance</a:t>
            </a:r>
          </a:p>
          <a:p>
            <a:r>
              <a:rPr lang="de-DE" sz="600"/>
              <a:t>{deviceName, deviceIp, deviceModel}</a:t>
            </a:r>
          </a:p>
        </p:txBody>
      </p:sp>
      <p:cxnSp>
        <p:nvCxnSpPr>
          <p:cNvPr id="208" name="Verbinder: gekrümmt 207">
            <a:extLst>
              <a:ext uri="{FF2B5EF4-FFF2-40B4-BE49-F238E27FC236}">
                <a16:creationId xmlns:a16="http://schemas.microsoft.com/office/drawing/2014/main" id="{03D99CD0-D661-AEB6-B7DB-B8279173FD62}"/>
              </a:ext>
            </a:extLst>
          </p:cNvPr>
          <p:cNvCxnSpPr>
            <a:cxnSpLocks/>
            <a:stCxn id="205" idx="2"/>
            <a:endCxn id="366" idx="1"/>
          </p:cNvCxnSpPr>
          <p:nvPr/>
        </p:nvCxnSpPr>
        <p:spPr>
          <a:xfrm rot="5400000">
            <a:off x="8931602" y="10882283"/>
            <a:ext cx="4736535" cy="579887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6" name="Textfeld 215">
            <a:extLst>
              <a:ext uri="{FF2B5EF4-FFF2-40B4-BE49-F238E27FC236}">
                <a16:creationId xmlns:a16="http://schemas.microsoft.com/office/drawing/2014/main" id="{FB2DD6AF-ADEF-2063-C223-F2D4C5A446DF}"/>
              </a:ext>
            </a:extLst>
          </p:cNvPr>
          <p:cNvSpPr txBox="1"/>
          <p:nvPr/>
        </p:nvSpPr>
        <p:spPr>
          <a:xfrm rot="16538606">
            <a:off x="10048009" y="12303099"/>
            <a:ext cx="1921780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600"/>
              <a:t>/v1/list-mediator-instances</a:t>
            </a:r>
          </a:p>
        </p:txBody>
      </p:sp>
      <p:cxnSp>
        <p:nvCxnSpPr>
          <p:cNvPr id="217" name="Verbinder: gekrümmt 216">
            <a:extLst>
              <a:ext uri="{FF2B5EF4-FFF2-40B4-BE49-F238E27FC236}">
                <a16:creationId xmlns:a16="http://schemas.microsoft.com/office/drawing/2014/main" id="{1A29FBAB-E411-12EF-C0AC-859391AAC5FF}"/>
              </a:ext>
            </a:extLst>
          </p:cNvPr>
          <p:cNvCxnSpPr>
            <a:cxnSpLocks/>
            <a:stCxn id="205" idx="0"/>
            <a:endCxn id="99" idx="3"/>
          </p:cNvCxnSpPr>
          <p:nvPr/>
        </p:nvCxnSpPr>
        <p:spPr>
          <a:xfrm rot="16200000" flipV="1">
            <a:off x="11461209" y="7167382"/>
            <a:ext cx="249358" cy="7845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3" name="Ellipse 232">
            <a:extLst>
              <a:ext uri="{FF2B5EF4-FFF2-40B4-BE49-F238E27FC236}">
                <a16:creationId xmlns:a16="http://schemas.microsoft.com/office/drawing/2014/main" id="{5A08106D-934F-EB86-4CA1-0A5FF2908077}"/>
              </a:ext>
            </a:extLst>
          </p:cNvPr>
          <p:cNvSpPr/>
          <p:nvPr/>
        </p:nvSpPr>
        <p:spPr>
          <a:xfrm>
            <a:off x="15775657" y="10048600"/>
            <a:ext cx="45719" cy="45719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36" name="Ellipse 235">
            <a:extLst>
              <a:ext uri="{FF2B5EF4-FFF2-40B4-BE49-F238E27FC236}">
                <a16:creationId xmlns:a16="http://schemas.microsoft.com/office/drawing/2014/main" id="{EFFB7ABE-B8F6-7B01-1534-91C8EEE1822D}"/>
              </a:ext>
            </a:extLst>
          </p:cNvPr>
          <p:cNvSpPr/>
          <p:nvPr/>
        </p:nvSpPr>
        <p:spPr>
          <a:xfrm>
            <a:off x="9343213" y="12586718"/>
            <a:ext cx="45719" cy="45719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37" name="Ellipse 236">
            <a:extLst>
              <a:ext uri="{FF2B5EF4-FFF2-40B4-BE49-F238E27FC236}">
                <a16:creationId xmlns:a16="http://schemas.microsoft.com/office/drawing/2014/main" id="{68D95A02-3B3D-25B5-488B-B9B18912DDAC}"/>
              </a:ext>
            </a:extLst>
          </p:cNvPr>
          <p:cNvSpPr/>
          <p:nvPr/>
        </p:nvSpPr>
        <p:spPr>
          <a:xfrm>
            <a:off x="6233978" y="11165797"/>
            <a:ext cx="45719" cy="45719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39" name="Ellipse 238">
            <a:extLst>
              <a:ext uri="{FF2B5EF4-FFF2-40B4-BE49-F238E27FC236}">
                <a16:creationId xmlns:a16="http://schemas.microsoft.com/office/drawing/2014/main" id="{699FEFDF-5F9D-D272-08D7-FC35BCE49259}"/>
              </a:ext>
            </a:extLst>
          </p:cNvPr>
          <p:cNvSpPr/>
          <p:nvPr/>
        </p:nvSpPr>
        <p:spPr>
          <a:xfrm>
            <a:off x="15777190" y="10400980"/>
            <a:ext cx="45719" cy="45719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47" name="Ellipse 246">
            <a:extLst>
              <a:ext uri="{FF2B5EF4-FFF2-40B4-BE49-F238E27FC236}">
                <a16:creationId xmlns:a16="http://schemas.microsoft.com/office/drawing/2014/main" id="{251A60F8-F452-DA9F-FF1A-280D4C63F686}"/>
              </a:ext>
            </a:extLst>
          </p:cNvPr>
          <p:cNvSpPr/>
          <p:nvPr/>
        </p:nvSpPr>
        <p:spPr>
          <a:xfrm>
            <a:off x="6215194" y="9634528"/>
            <a:ext cx="45719" cy="45719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50" name="Ellipse 249">
            <a:extLst>
              <a:ext uri="{FF2B5EF4-FFF2-40B4-BE49-F238E27FC236}">
                <a16:creationId xmlns:a16="http://schemas.microsoft.com/office/drawing/2014/main" id="{65F29E2F-51E4-E254-C00D-19FC22B9266A}"/>
              </a:ext>
            </a:extLst>
          </p:cNvPr>
          <p:cNvSpPr/>
          <p:nvPr/>
        </p:nvSpPr>
        <p:spPr>
          <a:xfrm>
            <a:off x="16856073" y="3347369"/>
            <a:ext cx="45719" cy="45719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51" name="Ellipse 250">
            <a:extLst>
              <a:ext uri="{FF2B5EF4-FFF2-40B4-BE49-F238E27FC236}">
                <a16:creationId xmlns:a16="http://schemas.microsoft.com/office/drawing/2014/main" id="{C90EDC9F-D9EE-82C5-8D77-44BDA50CEFAB}"/>
              </a:ext>
            </a:extLst>
          </p:cNvPr>
          <p:cNvSpPr/>
          <p:nvPr/>
        </p:nvSpPr>
        <p:spPr>
          <a:xfrm>
            <a:off x="6207982" y="9194914"/>
            <a:ext cx="45719" cy="45719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0870663B-C73A-4771-A211-4239452F5C6F}"/>
              </a:ext>
            </a:extLst>
          </p:cNvPr>
          <p:cNvSpPr/>
          <p:nvPr/>
        </p:nvSpPr>
        <p:spPr>
          <a:xfrm>
            <a:off x="4691698" y="4230880"/>
            <a:ext cx="1579788" cy="1208742"/>
          </a:xfrm>
          <a:prstGeom prst="rect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800"/>
              <a:t>IF an additional interface can be provided without exceeding the engineering limit</a:t>
            </a:r>
          </a:p>
          <a:p>
            <a:r>
              <a:rPr lang="de-DE" sz="800"/>
              <a:t>THEN</a:t>
            </a:r>
          </a:p>
          <a:p>
            <a:pPr marL="171450" indent="-171450">
              <a:buFontTx/>
              <a:buChar char="-"/>
            </a:pPr>
            <a:r>
              <a:rPr lang="de-DE" sz="800"/>
              <a:t>add device to AppDATA</a:t>
            </a:r>
          </a:p>
          <a:p>
            <a:pPr marL="171450" indent="-171450">
              <a:buFontTx/>
              <a:buChar char="-"/>
            </a:pPr>
            <a:r>
              <a:rPr lang="de-DE" sz="800"/>
              <a:t>add mountPoint to AppDATA</a:t>
            </a:r>
          </a:p>
          <a:p>
            <a:pPr marL="171450" indent="-171450">
              <a:buFontTx/>
              <a:buChar char="-"/>
            </a:pPr>
            <a:r>
              <a:rPr lang="de-DE" sz="800"/>
              <a:t>add to createQueue</a:t>
            </a:r>
          </a:p>
          <a:p>
            <a:r>
              <a:rPr lang="de-DE" sz="800"/>
              <a:t>ELSE respond error code</a:t>
            </a:r>
          </a:p>
        </p:txBody>
      </p:sp>
      <p:sp>
        <p:nvSpPr>
          <p:cNvPr id="248" name="Ellipse 247">
            <a:extLst>
              <a:ext uri="{FF2B5EF4-FFF2-40B4-BE49-F238E27FC236}">
                <a16:creationId xmlns:a16="http://schemas.microsoft.com/office/drawing/2014/main" id="{A692FBE6-EE2E-AF3B-EC93-8B8A9207898A}"/>
              </a:ext>
            </a:extLst>
          </p:cNvPr>
          <p:cNvSpPr/>
          <p:nvPr/>
        </p:nvSpPr>
        <p:spPr>
          <a:xfrm>
            <a:off x="6178143" y="5068497"/>
            <a:ext cx="45719" cy="45719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52" name="Ellipse 251">
            <a:extLst>
              <a:ext uri="{FF2B5EF4-FFF2-40B4-BE49-F238E27FC236}">
                <a16:creationId xmlns:a16="http://schemas.microsoft.com/office/drawing/2014/main" id="{913FE3AE-A440-CC21-792C-79FD25782F18}"/>
              </a:ext>
            </a:extLst>
          </p:cNvPr>
          <p:cNvSpPr/>
          <p:nvPr/>
        </p:nvSpPr>
        <p:spPr>
          <a:xfrm>
            <a:off x="6153346" y="4804616"/>
            <a:ext cx="45719" cy="45719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53" name="Ellipse 252">
            <a:extLst>
              <a:ext uri="{FF2B5EF4-FFF2-40B4-BE49-F238E27FC236}">
                <a16:creationId xmlns:a16="http://schemas.microsoft.com/office/drawing/2014/main" id="{C6D8E57B-9A7E-DB25-D05B-D55D542817D4}"/>
              </a:ext>
            </a:extLst>
          </p:cNvPr>
          <p:cNvSpPr/>
          <p:nvPr/>
        </p:nvSpPr>
        <p:spPr>
          <a:xfrm>
            <a:off x="6160805" y="4386572"/>
            <a:ext cx="45719" cy="45719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255" name="Verbinder: gekrümmt 254">
            <a:extLst>
              <a:ext uri="{FF2B5EF4-FFF2-40B4-BE49-F238E27FC236}">
                <a16:creationId xmlns:a16="http://schemas.microsoft.com/office/drawing/2014/main" id="{7AEAA726-2F8B-A437-D670-2CD4209FF0BB}"/>
              </a:ext>
            </a:extLst>
          </p:cNvPr>
          <p:cNvCxnSpPr>
            <a:cxnSpLocks/>
            <a:stCxn id="253" idx="6"/>
            <a:endCxn id="99" idx="1"/>
          </p:cNvCxnSpPr>
          <p:nvPr/>
        </p:nvCxnSpPr>
        <p:spPr>
          <a:xfrm>
            <a:off x="6206524" y="4409430"/>
            <a:ext cx="5375443" cy="2095580"/>
          </a:xfrm>
          <a:prstGeom prst="curvedConnector2">
            <a:avLst/>
          </a:prstGeom>
          <a:ln>
            <a:solidFill>
              <a:schemeClr val="accent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0" name="Verbinder: gekrümmt 259">
            <a:extLst>
              <a:ext uri="{FF2B5EF4-FFF2-40B4-BE49-F238E27FC236}">
                <a16:creationId xmlns:a16="http://schemas.microsoft.com/office/drawing/2014/main" id="{E162F2CB-7C2A-AD67-4219-003FF27FD4F3}"/>
              </a:ext>
            </a:extLst>
          </p:cNvPr>
          <p:cNvCxnSpPr>
            <a:cxnSpLocks/>
            <a:stCxn id="53" idx="3"/>
            <a:endCxn id="99" idx="3"/>
          </p:cNvCxnSpPr>
          <p:nvPr/>
        </p:nvCxnSpPr>
        <p:spPr>
          <a:xfrm>
            <a:off x="6271488" y="6033997"/>
            <a:ext cx="5310479" cy="1012629"/>
          </a:xfrm>
          <a:prstGeom prst="curvedConnector4">
            <a:avLst>
              <a:gd name="adj1" fmla="val 43120"/>
              <a:gd name="adj2" fmla="val 122575"/>
            </a:avLst>
          </a:prstGeom>
          <a:ln>
            <a:solidFill>
              <a:schemeClr val="accent6">
                <a:lumMod val="20000"/>
                <a:lumOff val="8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5" name="Verbinder: gekrümmt 264">
            <a:extLst>
              <a:ext uri="{FF2B5EF4-FFF2-40B4-BE49-F238E27FC236}">
                <a16:creationId xmlns:a16="http://schemas.microsoft.com/office/drawing/2014/main" id="{503582BC-0E02-58A4-A693-1CBB2113D5CD}"/>
              </a:ext>
            </a:extLst>
          </p:cNvPr>
          <p:cNvCxnSpPr>
            <a:cxnSpLocks/>
            <a:stCxn id="243" idx="7"/>
            <a:endCxn id="99" idx="1"/>
          </p:cNvCxnSpPr>
          <p:nvPr/>
        </p:nvCxnSpPr>
        <p:spPr>
          <a:xfrm rot="5400000" flipH="1" flipV="1">
            <a:off x="8616166" y="4132158"/>
            <a:ext cx="592949" cy="5338654"/>
          </a:xfrm>
          <a:prstGeom prst="curvedConnector3">
            <a:avLst>
              <a:gd name="adj1" fmla="val 138553"/>
            </a:avLst>
          </a:prstGeom>
          <a:ln>
            <a:solidFill>
              <a:schemeClr val="accent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74" name="Gruppieren 273">
            <a:extLst>
              <a:ext uri="{FF2B5EF4-FFF2-40B4-BE49-F238E27FC236}">
                <a16:creationId xmlns:a16="http://schemas.microsoft.com/office/drawing/2014/main" id="{B6F62F1F-22A3-BA43-A9C9-60D2BA520C01}"/>
              </a:ext>
            </a:extLst>
          </p:cNvPr>
          <p:cNvGrpSpPr/>
          <p:nvPr/>
        </p:nvGrpSpPr>
        <p:grpSpPr>
          <a:xfrm>
            <a:off x="4699868" y="6634086"/>
            <a:ext cx="1571625" cy="2213250"/>
            <a:chOff x="4699866" y="3563189"/>
            <a:chExt cx="1571625" cy="2213250"/>
          </a:xfrm>
        </p:grpSpPr>
        <p:sp>
          <p:nvSpPr>
            <p:cNvPr id="39" name="Rechteck 38">
              <a:extLst>
                <a:ext uri="{FF2B5EF4-FFF2-40B4-BE49-F238E27FC236}">
                  <a16:creationId xmlns:a16="http://schemas.microsoft.com/office/drawing/2014/main" id="{0A919349-A95E-3FB9-AA37-0D6D48B0754E}"/>
                </a:ext>
              </a:extLst>
            </p:cNvPr>
            <p:cNvSpPr/>
            <p:nvPr/>
          </p:nvSpPr>
          <p:spPr>
            <a:xfrm>
              <a:off x="4699866" y="3563189"/>
              <a:ext cx="1571625" cy="221325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r"/>
              <a:r>
                <a:rPr lang="de-DE" sz="800" i="1"/>
                <a:t>ContinuousLoadSharing</a:t>
              </a:r>
            </a:p>
            <a:p>
              <a:endParaRPr lang="de-DE" sz="800"/>
            </a:p>
            <a:p>
              <a:endParaRPr lang="de-DE" sz="800"/>
            </a:p>
            <a:p>
              <a:r>
                <a:rPr lang="de-DE" sz="800"/>
                <a:t>Calculate average number of mediatorProcesses at available mediatorVms of same mediatorVmTemplate</a:t>
              </a:r>
            </a:p>
            <a:p>
              <a:endParaRPr lang="de-DE" sz="800"/>
            </a:p>
            <a:p>
              <a:r>
                <a:rPr lang="de-DE" sz="800"/>
                <a:t>IF some mediatorVm exceeds average by more than a </a:t>
              </a:r>
              <a:r>
                <a:rPr lang="de-DE" sz="800" i="1"/>
                <a:t>[threshold]</a:t>
              </a:r>
            </a:p>
            <a:p>
              <a:r>
                <a:rPr lang="de-DE" sz="800"/>
                <a:t>THEN </a:t>
              </a:r>
            </a:p>
            <a:p>
              <a:pPr marL="171450" indent="-171450">
                <a:buFontTx/>
                <a:buChar char="-"/>
              </a:pPr>
              <a:r>
                <a:rPr lang="de-DE" sz="800"/>
                <a:t>calculate number of mediatorProcesses to be re-allocated</a:t>
              </a:r>
            </a:p>
            <a:p>
              <a:pPr marL="171450" indent="-171450">
                <a:buFontTx/>
                <a:buChar char="-"/>
              </a:pPr>
              <a:r>
                <a:rPr lang="de-DE" sz="800"/>
                <a:t>add to createQueue</a:t>
              </a:r>
            </a:p>
            <a:p>
              <a:pPr marL="171450" indent="-171450">
                <a:buFontTx/>
                <a:buChar char="-"/>
              </a:pPr>
              <a:r>
                <a:rPr lang="de-DE" sz="800"/>
                <a:t>add to dismantleQueue</a:t>
              </a:r>
            </a:p>
            <a:p>
              <a:pPr marL="171450" indent="-171450">
                <a:buFontTx/>
                <a:buChar char="-"/>
              </a:pPr>
              <a:endParaRPr lang="de-DE" sz="800"/>
            </a:p>
            <a:p>
              <a:endParaRPr lang="de-DE" sz="800"/>
            </a:p>
          </p:txBody>
        </p:sp>
        <p:pic>
          <p:nvPicPr>
            <p:cNvPr id="41" name="Grafik 40">
              <a:extLst>
                <a:ext uri="{FF2B5EF4-FFF2-40B4-BE49-F238E27FC236}">
                  <a16:creationId xmlns:a16="http://schemas.microsoft.com/office/drawing/2014/main" id="{06E9B889-5E01-4664-FE1F-8B1AA87DF85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783360" y="3645991"/>
              <a:ext cx="260088" cy="251271"/>
            </a:xfrm>
            <a:prstGeom prst="rect">
              <a:avLst/>
            </a:prstGeom>
          </p:spPr>
        </p:pic>
        <p:sp>
          <p:nvSpPr>
            <p:cNvPr id="243" name="Ellipse 242">
              <a:extLst>
                <a:ext uri="{FF2B5EF4-FFF2-40B4-BE49-F238E27FC236}">
                  <a16:creationId xmlns:a16="http://schemas.microsoft.com/office/drawing/2014/main" id="{155E365C-AD3C-E52C-E1E7-A9A0B6D0E6D2}"/>
                </a:ext>
              </a:extLst>
            </p:cNvPr>
            <p:cNvSpPr/>
            <p:nvPr/>
          </p:nvSpPr>
          <p:spPr>
            <a:xfrm>
              <a:off x="6204287" y="4020367"/>
              <a:ext cx="45719" cy="45719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69" name="Ellipse 268">
              <a:extLst>
                <a:ext uri="{FF2B5EF4-FFF2-40B4-BE49-F238E27FC236}">
                  <a16:creationId xmlns:a16="http://schemas.microsoft.com/office/drawing/2014/main" id="{C72007A6-BE0E-D0E3-59A3-5062510B8F81}"/>
                </a:ext>
              </a:extLst>
            </p:cNvPr>
            <p:cNvSpPr/>
            <p:nvPr/>
          </p:nvSpPr>
          <p:spPr>
            <a:xfrm>
              <a:off x="6202236" y="5494665"/>
              <a:ext cx="45719" cy="45719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70" name="Ellipse 269">
              <a:extLst>
                <a:ext uri="{FF2B5EF4-FFF2-40B4-BE49-F238E27FC236}">
                  <a16:creationId xmlns:a16="http://schemas.microsoft.com/office/drawing/2014/main" id="{38997AE1-6E30-E4A9-D73F-B36BE7AA4AB6}"/>
                </a:ext>
              </a:extLst>
            </p:cNvPr>
            <p:cNvSpPr/>
            <p:nvPr/>
          </p:nvSpPr>
          <p:spPr>
            <a:xfrm>
              <a:off x="6202236" y="5608151"/>
              <a:ext cx="45719" cy="45719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cxnSp>
        <p:nvCxnSpPr>
          <p:cNvPr id="281" name="Verbinder: gekrümmt 280">
            <a:extLst>
              <a:ext uri="{FF2B5EF4-FFF2-40B4-BE49-F238E27FC236}">
                <a16:creationId xmlns:a16="http://schemas.microsoft.com/office/drawing/2014/main" id="{634204CB-EC13-119C-997C-7C9884C5DEC8}"/>
              </a:ext>
            </a:extLst>
          </p:cNvPr>
          <p:cNvCxnSpPr>
            <a:cxnSpLocks/>
            <a:stCxn id="250" idx="2"/>
            <a:endCxn id="99" idx="1"/>
          </p:cNvCxnSpPr>
          <p:nvPr/>
        </p:nvCxnSpPr>
        <p:spPr>
          <a:xfrm rot="10800000" flipV="1">
            <a:off x="11581965" y="3370228"/>
            <a:ext cx="5274106" cy="3134783"/>
          </a:xfrm>
          <a:prstGeom prst="curvedConnector2">
            <a:avLst/>
          </a:prstGeom>
          <a:ln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4" name="Verbinder: gekrümmt 293">
            <a:extLst>
              <a:ext uri="{FF2B5EF4-FFF2-40B4-BE49-F238E27FC236}">
                <a16:creationId xmlns:a16="http://schemas.microsoft.com/office/drawing/2014/main" id="{E067D299-71C2-27F9-678A-7BDD854ED661}"/>
              </a:ext>
            </a:extLst>
          </p:cNvPr>
          <p:cNvCxnSpPr>
            <a:cxnSpLocks/>
            <a:stCxn id="251" idx="6"/>
            <a:endCxn id="99" idx="1"/>
          </p:cNvCxnSpPr>
          <p:nvPr/>
        </p:nvCxnSpPr>
        <p:spPr>
          <a:xfrm flipV="1">
            <a:off x="6253699" y="6505010"/>
            <a:ext cx="5328266" cy="2712762"/>
          </a:xfrm>
          <a:prstGeom prst="curvedConnector4">
            <a:avLst>
              <a:gd name="adj1" fmla="val 43143"/>
              <a:gd name="adj2" fmla="val 108427"/>
            </a:avLst>
          </a:prstGeom>
          <a:ln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7" name="Verbinder: gekrümmt 296">
            <a:extLst>
              <a:ext uri="{FF2B5EF4-FFF2-40B4-BE49-F238E27FC236}">
                <a16:creationId xmlns:a16="http://schemas.microsoft.com/office/drawing/2014/main" id="{A53EADE9-A1A9-04F8-ED1D-624A078F0D86}"/>
              </a:ext>
            </a:extLst>
          </p:cNvPr>
          <p:cNvCxnSpPr>
            <a:cxnSpLocks/>
            <a:stCxn id="247" idx="6"/>
            <a:endCxn id="99" idx="3"/>
          </p:cNvCxnSpPr>
          <p:nvPr/>
        </p:nvCxnSpPr>
        <p:spPr>
          <a:xfrm flipV="1">
            <a:off x="6260911" y="7046624"/>
            <a:ext cx="5321054" cy="2610762"/>
          </a:xfrm>
          <a:prstGeom prst="curvedConnector2">
            <a:avLst/>
          </a:prstGeom>
          <a:ln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5" name="Verbinder: gekrümmt 304">
            <a:extLst>
              <a:ext uri="{FF2B5EF4-FFF2-40B4-BE49-F238E27FC236}">
                <a16:creationId xmlns:a16="http://schemas.microsoft.com/office/drawing/2014/main" id="{9A6FDAFC-2F83-3C10-82E9-21AD364A062C}"/>
              </a:ext>
            </a:extLst>
          </p:cNvPr>
          <p:cNvCxnSpPr>
            <a:cxnSpLocks/>
            <a:stCxn id="237" idx="7"/>
            <a:endCxn id="99" idx="1"/>
          </p:cNvCxnSpPr>
          <p:nvPr/>
        </p:nvCxnSpPr>
        <p:spPr>
          <a:xfrm rot="5400000" flipH="1" flipV="1">
            <a:off x="6593742" y="6184270"/>
            <a:ext cx="4667480" cy="5308965"/>
          </a:xfrm>
          <a:prstGeom prst="curvedConnector3">
            <a:avLst>
              <a:gd name="adj1" fmla="val 104898"/>
            </a:avLst>
          </a:prstGeom>
          <a:ln>
            <a:solidFill>
              <a:schemeClr val="accent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6" name="Ellipse 305">
            <a:extLst>
              <a:ext uri="{FF2B5EF4-FFF2-40B4-BE49-F238E27FC236}">
                <a16:creationId xmlns:a16="http://schemas.microsoft.com/office/drawing/2014/main" id="{4EDFCD88-C51B-124F-B009-FF682DA1F8D2}"/>
              </a:ext>
            </a:extLst>
          </p:cNvPr>
          <p:cNvSpPr/>
          <p:nvPr/>
        </p:nvSpPr>
        <p:spPr>
          <a:xfrm>
            <a:off x="6208340" y="11982911"/>
            <a:ext cx="45719" cy="45719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14" name="Ellipse 313">
            <a:extLst>
              <a:ext uri="{FF2B5EF4-FFF2-40B4-BE49-F238E27FC236}">
                <a16:creationId xmlns:a16="http://schemas.microsoft.com/office/drawing/2014/main" id="{C39D2EEF-7699-FF86-C89D-04ACFCF32E31}"/>
              </a:ext>
            </a:extLst>
          </p:cNvPr>
          <p:cNvSpPr/>
          <p:nvPr/>
        </p:nvSpPr>
        <p:spPr>
          <a:xfrm>
            <a:off x="6208340" y="12148134"/>
            <a:ext cx="45719" cy="45719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320" name="Verbinder: gekrümmt 319">
            <a:extLst>
              <a:ext uri="{FF2B5EF4-FFF2-40B4-BE49-F238E27FC236}">
                <a16:creationId xmlns:a16="http://schemas.microsoft.com/office/drawing/2014/main" id="{D47B3217-2E2D-88F4-CEF8-C155B5FF44DA}"/>
              </a:ext>
            </a:extLst>
          </p:cNvPr>
          <p:cNvCxnSpPr>
            <a:cxnSpLocks/>
            <a:stCxn id="233" idx="6"/>
            <a:endCxn id="210" idx="2"/>
          </p:cNvCxnSpPr>
          <p:nvPr/>
        </p:nvCxnSpPr>
        <p:spPr>
          <a:xfrm flipV="1">
            <a:off x="15821376" y="3765811"/>
            <a:ext cx="5095911" cy="6305649"/>
          </a:xfrm>
          <a:prstGeom prst="curvedConnector2">
            <a:avLst/>
          </a:prstGeom>
          <a:ln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6" name="Verbinder: gekrümmt 325">
            <a:extLst>
              <a:ext uri="{FF2B5EF4-FFF2-40B4-BE49-F238E27FC236}">
                <a16:creationId xmlns:a16="http://schemas.microsoft.com/office/drawing/2014/main" id="{8D92A0B0-8F15-20BD-3BFC-A1733049A130}"/>
              </a:ext>
            </a:extLst>
          </p:cNvPr>
          <p:cNvCxnSpPr>
            <a:cxnSpLocks/>
            <a:stCxn id="239" idx="6"/>
            <a:endCxn id="84" idx="3"/>
          </p:cNvCxnSpPr>
          <p:nvPr/>
        </p:nvCxnSpPr>
        <p:spPr>
          <a:xfrm flipH="1">
            <a:off x="11342427" y="10423840"/>
            <a:ext cx="4480480" cy="3243747"/>
          </a:xfrm>
          <a:prstGeom prst="curvedConnector3">
            <a:avLst>
              <a:gd name="adj1" fmla="val -5102"/>
            </a:avLst>
          </a:prstGeom>
          <a:ln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5" name="Rechteck 344">
            <a:extLst>
              <a:ext uri="{FF2B5EF4-FFF2-40B4-BE49-F238E27FC236}">
                <a16:creationId xmlns:a16="http://schemas.microsoft.com/office/drawing/2014/main" id="{A9FAA250-F266-90C1-2B0C-43D14650F20C}"/>
              </a:ext>
            </a:extLst>
          </p:cNvPr>
          <p:cNvSpPr/>
          <p:nvPr/>
        </p:nvSpPr>
        <p:spPr>
          <a:xfrm>
            <a:off x="12551088" y="7295984"/>
            <a:ext cx="1571625" cy="1507975"/>
          </a:xfrm>
          <a:prstGeom prst="rect">
            <a:avLst/>
          </a:prstGeom>
          <a:ln>
            <a:solidFill>
              <a:srgbClr val="04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800" i="1"/>
              <a:t>NetconfInterfaceStateAnalyzer</a:t>
            </a:r>
            <a:endParaRPr lang="de-DE" sz="800"/>
          </a:p>
          <a:p>
            <a:endParaRPr lang="de-DE" sz="800"/>
          </a:p>
          <a:p>
            <a:endParaRPr lang="de-DE" sz="800"/>
          </a:p>
          <a:p>
            <a:endParaRPr lang="de-DE" sz="800"/>
          </a:p>
          <a:p>
            <a:r>
              <a:rPr lang="de-DE" sz="800"/>
              <a:t>Regularly send netconf requests to all documented mediatorProcesses to determine their operational state and update AppDATA with status data</a:t>
            </a:r>
          </a:p>
        </p:txBody>
      </p:sp>
      <p:pic>
        <p:nvPicPr>
          <p:cNvPr id="346" name="Grafik 345">
            <a:extLst>
              <a:ext uri="{FF2B5EF4-FFF2-40B4-BE49-F238E27FC236}">
                <a16:creationId xmlns:a16="http://schemas.microsoft.com/office/drawing/2014/main" id="{EFF0F8E7-A9DA-88D8-2ACB-F80ECF9789D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35588" y="7494464"/>
            <a:ext cx="260088" cy="273783"/>
          </a:xfrm>
          <a:prstGeom prst="rect">
            <a:avLst/>
          </a:prstGeom>
        </p:spPr>
      </p:pic>
      <p:cxnSp>
        <p:nvCxnSpPr>
          <p:cNvPr id="347" name="Verbinder: gekrümmt 346">
            <a:extLst>
              <a:ext uri="{FF2B5EF4-FFF2-40B4-BE49-F238E27FC236}">
                <a16:creationId xmlns:a16="http://schemas.microsoft.com/office/drawing/2014/main" id="{907C5ECB-8D81-E02A-D05F-356C446EE16A}"/>
              </a:ext>
            </a:extLst>
          </p:cNvPr>
          <p:cNvCxnSpPr>
            <a:cxnSpLocks/>
            <a:stCxn id="345" idx="0"/>
            <a:endCxn id="99" idx="3"/>
          </p:cNvCxnSpPr>
          <p:nvPr/>
        </p:nvCxnSpPr>
        <p:spPr>
          <a:xfrm rot="16200000" flipV="1">
            <a:off x="12334753" y="6293836"/>
            <a:ext cx="249358" cy="1754934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9" name="Verbinder: gekrümmt 348">
            <a:extLst>
              <a:ext uri="{FF2B5EF4-FFF2-40B4-BE49-F238E27FC236}">
                <a16:creationId xmlns:a16="http://schemas.microsoft.com/office/drawing/2014/main" id="{F96F34AD-F463-3D89-2CA1-85EC87B0FA4F}"/>
              </a:ext>
            </a:extLst>
          </p:cNvPr>
          <p:cNvCxnSpPr>
            <a:cxnSpLocks/>
            <a:stCxn id="345" idx="2"/>
            <a:endCxn id="114" idx="3"/>
          </p:cNvCxnSpPr>
          <p:nvPr/>
        </p:nvCxnSpPr>
        <p:spPr>
          <a:xfrm rot="5400000">
            <a:off x="9629275" y="10517109"/>
            <a:ext cx="5420776" cy="1994472"/>
          </a:xfrm>
          <a:prstGeom prst="curved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3" name="Verbinder: gekrümmt 352">
            <a:extLst>
              <a:ext uri="{FF2B5EF4-FFF2-40B4-BE49-F238E27FC236}">
                <a16:creationId xmlns:a16="http://schemas.microsoft.com/office/drawing/2014/main" id="{5C9CE3CC-A505-0137-60F5-65EB22F4E8FA}"/>
              </a:ext>
            </a:extLst>
          </p:cNvPr>
          <p:cNvCxnSpPr>
            <a:cxnSpLocks/>
            <a:stCxn id="345" idx="0"/>
            <a:endCxn id="99" idx="1"/>
          </p:cNvCxnSpPr>
          <p:nvPr/>
        </p:nvCxnSpPr>
        <p:spPr>
          <a:xfrm rot="16200000" flipV="1">
            <a:off x="12063946" y="6023029"/>
            <a:ext cx="790972" cy="1754934"/>
          </a:xfrm>
          <a:prstGeom prst="curvedConnector3">
            <a:avLst>
              <a:gd name="adj1" fmla="val 128901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1" name="Textfeld 360">
            <a:extLst>
              <a:ext uri="{FF2B5EF4-FFF2-40B4-BE49-F238E27FC236}">
                <a16:creationId xmlns:a16="http://schemas.microsoft.com/office/drawing/2014/main" id="{6F960F18-3AF0-3FBE-9EFF-0F931AABE477}"/>
              </a:ext>
            </a:extLst>
          </p:cNvPr>
          <p:cNvSpPr txBox="1"/>
          <p:nvPr/>
        </p:nvSpPr>
        <p:spPr>
          <a:xfrm>
            <a:off x="11335628" y="13415524"/>
            <a:ext cx="1921780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600"/>
              <a:t>/v1/dismantle-mediator-instance</a:t>
            </a:r>
          </a:p>
        </p:txBody>
      </p:sp>
      <p:grpSp>
        <p:nvGrpSpPr>
          <p:cNvPr id="368" name="Gruppieren 367">
            <a:extLst>
              <a:ext uri="{FF2B5EF4-FFF2-40B4-BE49-F238E27FC236}">
                <a16:creationId xmlns:a16="http://schemas.microsoft.com/office/drawing/2014/main" id="{544AB122-FC55-7CAB-709A-1F82B50EFF40}"/>
              </a:ext>
            </a:extLst>
          </p:cNvPr>
          <p:cNvGrpSpPr/>
          <p:nvPr/>
        </p:nvGrpSpPr>
        <p:grpSpPr>
          <a:xfrm>
            <a:off x="9971235" y="13396568"/>
            <a:ext cx="1371192" cy="1549618"/>
            <a:chOff x="7951059" y="10590996"/>
            <a:chExt cx="1371192" cy="1549618"/>
          </a:xfrm>
        </p:grpSpPr>
        <p:grpSp>
          <p:nvGrpSpPr>
            <p:cNvPr id="202" name="Gruppieren 201">
              <a:extLst>
                <a:ext uri="{FF2B5EF4-FFF2-40B4-BE49-F238E27FC236}">
                  <a16:creationId xmlns:a16="http://schemas.microsoft.com/office/drawing/2014/main" id="{5AEE2D10-F89B-E123-FB17-177128F8D172}"/>
                </a:ext>
              </a:extLst>
            </p:cNvPr>
            <p:cNvGrpSpPr/>
            <p:nvPr/>
          </p:nvGrpSpPr>
          <p:grpSpPr>
            <a:xfrm>
              <a:off x="7951059" y="10590996"/>
              <a:ext cx="1257300" cy="1442907"/>
              <a:chOff x="10924900" y="10591007"/>
              <a:chExt cx="1257300" cy="1442907"/>
            </a:xfrm>
          </p:grpSpPr>
          <p:sp>
            <p:nvSpPr>
              <p:cNvPr id="196" name="Rechteck: abgerundete Ecken 195">
                <a:extLst>
                  <a:ext uri="{FF2B5EF4-FFF2-40B4-BE49-F238E27FC236}">
                    <a16:creationId xmlns:a16="http://schemas.microsoft.com/office/drawing/2014/main" id="{E5C8744C-C02C-AE9B-4068-2EA3CF897565}"/>
                  </a:ext>
                </a:extLst>
              </p:cNvPr>
              <p:cNvSpPr/>
              <p:nvPr/>
            </p:nvSpPr>
            <p:spPr>
              <a:xfrm>
                <a:off x="10924900" y="10591007"/>
                <a:ext cx="1257300" cy="1442907"/>
              </a:xfrm>
              <a:prstGeom prst="roundRect">
                <a:avLst/>
              </a:prstGeom>
              <a:solidFill>
                <a:schemeClr val="accent2">
                  <a:lumMod val="75000"/>
                </a:schemeClr>
              </a:solidFill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ctr"/>
                <a:endParaRPr lang="de-DE" sz="1050"/>
              </a:p>
              <a:p>
                <a:pPr algn="ctr"/>
                <a:endParaRPr lang="de-DE" sz="1050"/>
              </a:p>
              <a:p>
                <a:pPr algn="ctr"/>
                <a:r>
                  <a:rPr lang="de-DE" sz="1050"/>
                  <a:t>mediatorVM</a:t>
                </a:r>
              </a:p>
              <a:p>
                <a:endParaRPr lang="de-DE" sz="800"/>
              </a:p>
              <a:p>
                <a:r>
                  <a:rPr lang="de-DE" sz="800"/>
                  <a:t>mediatorProcess#1</a:t>
                </a:r>
              </a:p>
              <a:p>
                <a:r>
                  <a:rPr lang="de-DE" sz="800"/>
                  <a:t>mediatorProcess#2</a:t>
                </a:r>
              </a:p>
              <a:p>
                <a:r>
                  <a:rPr lang="de-DE" sz="800"/>
                  <a:t>…</a:t>
                </a:r>
              </a:p>
              <a:p>
                <a:r>
                  <a:rPr lang="de-DE" sz="800"/>
                  <a:t>mediatorProcess#n</a:t>
                </a:r>
              </a:p>
            </p:txBody>
          </p:sp>
          <p:sp>
            <p:nvSpPr>
              <p:cNvPr id="197" name="Rechteck: abgerundete Ecken 196">
                <a:extLst>
                  <a:ext uri="{FF2B5EF4-FFF2-40B4-BE49-F238E27FC236}">
                    <a16:creationId xmlns:a16="http://schemas.microsoft.com/office/drawing/2014/main" id="{DE1EF18F-9F6B-4DEF-80C2-451681BC0416}"/>
                  </a:ext>
                </a:extLst>
              </p:cNvPr>
              <p:cNvSpPr/>
              <p:nvPr/>
            </p:nvSpPr>
            <p:spPr>
              <a:xfrm>
                <a:off x="10924900" y="10591007"/>
                <a:ext cx="1257300" cy="328612"/>
              </a:xfrm>
              <a:prstGeom prst="round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de-DE" sz="900"/>
                  <a:t>MIM</a:t>
                </a:r>
              </a:p>
            </p:txBody>
          </p:sp>
          <p:sp>
            <p:nvSpPr>
              <p:cNvPr id="198" name="Ellipse 197">
                <a:extLst>
                  <a:ext uri="{FF2B5EF4-FFF2-40B4-BE49-F238E27FC236}">
                    <a16:creationId xmlns:a16="http://schemas.microsoft.com/office/drawing/2014/main" id="{81EDEA61-9EF0-BCF7-3AD9-C2A5DFD686D2}"/>
                  </a:ext>
                </a:extLst>
              </p:cNvPr>
              <p:cNvSpPr/>
              <p:nvPr/>
            </p:nvSpPr>
            <p:spPr>
              <a:xfrm>
                <a:off x="10948386" y="11689639"/>
                <a:ext cx="62820" cy="70114"/>
              </a:xfrm>
              <a:prstGeom prst="ellipse">
                <a:avLst/>
              </a:prstGeom>
              <a:solidFill>
                <a:schemeClr val="accent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ctr"/>
                <a:endParaRPr lang="de-DE" sz="1050"/>
              </a:p>
            </p:txBody>
          </p:sp>
          <p:sp>
            <p:nvSpPr>
              <p:cNvPr id="199" name="Ellipse 198">
                <a:extLst>
                  <a:ext uri="{FF2B5EF4-FFF2-40B4-BE49-F238E27FC236}">
                    <a16:creationId xmlns:a16="http://schemas.microsoft.com/office/drawing/2014/main" id="{586B154C-DFF2-10DA-F4CE-88E0CB4B6A0C}"/>
                  </a:ext>
                </a:extLst>
              </p:cNvPr>
              <p:cNvSpPr/>
              <p:nvPr/>
            </p:nvSpPr>
            <p:spPr>
              <a:xfrm>
                <a:off x="12069816" y="11689639"/>
                <a:ext cx="62820" cy="70114"/>
              </a:xfrm>
              <a:prstGeom prst="ellipse">
                <a:avLst/>
              </a:prstGeom>
              <a:solidFill>
                <a:schemeClr val="accent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ctr"/>
                <a:endParaRPr lang="de-DE" sz="1050"/>
              </a:p>
            </p:txBody>
          </p:sp>
          <p:sp>
            <p:nvSpPr>
              <p:cNvPr id="200" name="Ellipse 199">
                <a:extLst>
                  <a:ext uri="{FF2B5EF4-FFF2-40B4-BE49-F238E27FC236}">
                    <a16:creationId xmlns:a16="http://schemas.microsoft.com/office/drawing/2014/main" id="{DE7A60DA-6C97-CB59-B087-07F92C9D4C03}"/>
                  </a:ext>
                </a:extLst>
              </p:cNvPr>
              <p:cNvSpPr/>
              <p:nvPr/>
            </p:nvSpPr>
            <p:spPr>
              <a:xfrm>
                <a:off x="12101226" y="11326854"/>
                <a:ext cx="62820" cy="70114"/>
              </a:xfrm>
              <a:prstGeom prst="ellipse">
                <a:avLst/>
              </a:prstGeom>
              <a:solidFill>
                <a:schemeClr val="accent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ctr"/>
                <a:endParaRPr lang="de-DE" sz="1050"/>
              </a:p>
            </p:txBody>
          </p:sp>
          <p:sp>
            <p:nvSpPr>
              <p:cNvPr id="201" name="Ellipse 200">
                <a:extLst>
                  <a:ext uri="{FF2B5EF4-FFF2-40B4-BE49-F238E27FC236}">
                    <a16:creationId xmlns:a16="http://schemas.microsoft.com/office/drawing/2014/main" id="{E6E28A01-0D0E-43D3-D44D-488AC61BAF04}"/>
                  </a:ext>
                </a:extLst>
              </p:cNvPr>
              <p:cNvSpPr/>
              <p:nvPr/>
            </p:nvSpPr>
            <p:spPr>
              <a:xfrm>
                <a:off x="10979796" y="11332721"/>
                <a:ext cx="62820" cy="70114"/>
              </a:xfrm>
              <a:prstGeom prst="ellipse">
                <a:avLst/>
              </a:prstGeom>
              <a:solidFill>
                <a:schemeClr val="accent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ctr"/>
                <a:endParaRPr lang="de-DE" sz="1050"/>
              </a:p>
            </p:txBody>
          </p:sp>
        </p:grpSp>
        <p:grpSp>
          <p:nvGrpSpPr>
            <p:cNvPr id="122" name="Gruppieren 121">
              <a:extLst>
                <a:ext uri="{FF2B5EF4-FFF2-40B4-BE49-F238E27FC236}">
                  <a16:creationId xmlns:a16="http://schemas.microsoft.com/office/drawing/2014/main" id="{5679A4A5-E986-DCF8-0EAF-8DDFE68C827D}"/>
                </a:ext>
              </a:extLst>
            </p:cNvPr>
            <p:cNvGrpSpPr/>
            <p:nvPr/>
          </p:nvGrpSpPr>
          <p:grpSpPr>
            <a:xfrm>
              <a:off x="8064951" y="10697707"/>
              <a:ext cx="1257300" cy="1442907"/>
              <a:chOff x="9442450" y="10552243"/>
              <a:chExt cx="1257300" cy="1442907"/>
            </a:xfrm>
          </p:grpSpPr>
          <p:sp>
            <p:nvSpPr>
              <p:cNvPr id="114" name="Rechteck: abgerundete Ecken 113">
                <a:extLst>
                  <a:ext uri="{FF2B5EF4-FFF2-40B4-BE49-F238E27FC236}">
                    <a16:creationId xmlns:a16="http://schemas.microsoft.com/office/drawing/2014/main" id="{C0D61018-DD68-B783-0D87-6E46773ABBA5}"/>
                  </a:ext>
                </a:extLst>
              </p:cNvPr>
              <p:cNvSpPr/>
              <p:nvPr/>
            </p:nvSpPr>
            <p:spPr>
              <a:xfrm>
                <a:off x="9442450" y="10552243"/>
                <a:ext cx="1257300" cy="1442907"/>
              </a:xfrm>
              <a:prstGeom prst="round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ctr"/>
                <a:endParaRPr lang="de-DE" sz="1050"/>
              </a:p>
              <a:p>
                <a:pPr algn="ctr"/>
                <a:endParaRPr lang="de-DE" sz="1050"/>
              </a:p>
              <a:p>
                <a:pPr algn="ctr"/>
                <a:r>
                  <a:rPr lang="de-DE" sz="1050"/>
                  <a:t>mediatorVM</a:t>
                </a:r>
              </a:p>
              <a:p>
                <a:endParaRPr lang="de-DE" sz="800"/>
              </a:p>
              <a:p>
                <a:r>
                  <a:rPr lang="de-DE" sz="800"/>
                  <a:t>mediatorProcess#1</a:t>
                </a:r>
              </a:p>
              <a:p>
                <a:r>
                  <a:rPr lang="de-DE" sz="800"/>
                  <a:t>mediatorProcess#2</a:t>
                </a:r>
              </a:p>
              <a:p>
                <a:r>
                  <a:rPr lang="de-DE" sz="800"/>
                  <a:t>…</a:t>
                </a:r>
              </a:p>
              <a:p>
                <a:r>
                  <a:rPr lang="de-DE" sz="800"/>
                  <a:t>mediatorProcess#n</a:t>
                </a:r>
              </a:p>
            </p:txBody>
          </p:sp>
          <p:sp>
            <p:nvSpPr>
              <p:cNvPr id="84" name="Rechteck: abgerundete Ecken 83">
                <a:extLst>
                  <a:ext uri="{FF2B5EF4-FFF2-40B4-BE49-F238E27FC236}">
                    <a16:creationId xmlns:a16="http://schemas.microsoft.com/office/drawing/2014/main" id="{7AB70A29-DF37-2F1A-F8F8-82ECADC63218}"/>
                  </a:ext>
                </a:extLst>
              </p:cNvPr>
              <p:cNvSpPr/>
              <p:nvPr/>
            </p:nvSpPr>
            <p:spPr>
              <a:xfrm>
                <a:off x="9442450" y="10552243"/>
                <a:ext cx="1257300" cy="328612"/>
              </a:xfrm>
              <a:prstGeom prst="round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de-DE" sz="900"/>
                  <a:t>MIM</a:t>
                </a:r>
              </a:p>
            </p:txBody>
          </p:sp>
          <p:sp>
            <p:nvSpPr>
              <p:cNvPr id="118" name="Ellipse 117">
                <a:extLst>
                  <a:ext uri="{FF2B5EF4-FFF2-40B4-BE49-F238E27FC236}">
                    <a16:creationId xmlns:a16="http://schemas.microsoft.com/office/drawing/2014/main" id="{7EE6A8AA-2B90-132F-4D79-74C7F38E6645}"/>
                  </a:ext>
                </a:extLst>
              </p:cNvPr>
              <p:cNvSpPr/>
              <p:nvPr/>
            </p:nvSpPr>
            <p:spPr>
              <a:xfrm>
                <a:off x="9465936" y="11650875"/>
                <a:ext cx="62820" cy="70114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ctr"/>
                <a:endParaRPr lang="de-DE" sz="1050"/>
              </a:p>
            </p:txBody>
          </p:sp>
          <p:sp>
            <p:nvSpPr>
              <p:cNvPr id="119" name="Ellipse 118">
                <a:extLst>
                  <a:ext uri="{FF2B5EF4-FFF2-40B4-BE49-F238E27FC236}">
                    <a16:creationId xmlns:a16="http://schemas.microsoft.com/office/drawing/2014/main" id="{29039A0C-2B5D-A65A-F96B-F0AC5BC95618}"/>
                  </a:ext>
                </a:extLst>
              </p:cNvPr>
              <p:cNvSpPr/>
              <p:nvPr/>
            </p:nvSpPr>
            <p:spPr>
              <a:xfrm>
                <a:off x="10587366" y="11650875"/>
                <a:ext cx="62820" cy="70114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ctr"/>
                <a:endParaRPr lang="de-DE" sz="1050"/>
              </a:p>
            </p:txBody>
          </p:sp>
          <p:sp>
            <p:nvSpPr>
              <p:cNvPr id="120" name="Ellipse 119">
                <a:extLst>
                  <a:ext uri="{FF2B5EF4-FFF2-40B4-BE49-F238E27FC236}">
                    <a16:creationId xmlns:a16="http://schemas.microsoft.com/office/drawing/2014/main" id="{AB71EFE7-7528-2E1F-DE68-34D159F1CA49}"/>
                  </a:ext>
                </a:extLst>
              </p:cNvPr>
              <p:cNvSpPr/>
              <p:nvPr/>
            </p:nvSpPr>
            <p:spPr>
              <a:xfrm>
                <a:off x="10618776" y="11288090"/>
                <a:ext cx="62820" cy="70114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ctr"/>
                <a:endParaRPr lang="de-DE" sz="1050"/>
              </a:p>
            </p:txBody>
          </p:sp>
          <p:sp>
            <p:nvSpPr>
              <p:cNvPr id="121" name="Ellipse 120">
                <a:extLst>
                  <a:ext uri="{FF2B5EF4-FFF2-40B4-BE49-F238E27FC236}">
                    <a16:creationId xmlns:a16="http://schemas.microsoft.com/office/drawing/2014/main" id="{DF4D51F5-7C0B-1ADF-5880-79C88AAD6B0C}"/>
                  </a:ext>
                </a:extLst>
              </p:cNvPr>
              <p:cNvSpPr/>
              <p:nvPr/>
            </p:nvSpPr>
            <p:spPr>
              <a:xfrm>
                <a:off x="9497346" y="11293957"/>
                <a:ext cx="62820" cy="70114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ctr"/>
                <a:endParaRPr lang="de-DE" sz="1050"/>
              </a:p>
            </p:txBody>
          </p:sp>
        </p:grpSp>
        <p:sp>
          <p:nvSpPr>
            <p:cNvPr id="234" name="Ellipse 233">
              <a:extLst>
                <a:ext uri="{FF2B5EF4-FFF2-40B4-BE49-F238E27FC236}">
                  <a16:creationId xmlns:a16="http://schemas.microsoft.com/office/drawing/2014/main" id="{9D92FC26-513D-F1A1-46E5-D0C12645E7F2}"/>
                </a:ext>
              </a:extLst>
            </p:cNvPr>
            <p:cNvSpPr/>
            <p:nvPr/>
          </p:nvSpPr>
          <p:spPr>
            <a:xfrm>
              <a:off x="9201126" y="10731541"/>
              <a:ext cx="45719" cy="45719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44" name="Ellipse 243">
              <a:extLst>
                <a:ext uri="{FF2B5EF4-FFF2-40B4-BE49-F238E27FC236}">
                  <a16:creationId xmlns:a16="http://schemas.microsoft.com/office/drawing/2014/main" id="{00632EDC-13ED-D796-F3E2-9A8D80DB2728}"/>
                </a:ext>
              </a:extLst>
            </p:cNvPr>
            <p:cNvSpPr/>
            <p:nvPr/>
          </p:nvSpPr>
          <p:spPr>
            <a:xfrm>
              <a:off x="8117112" y="10733848"/>
              <a:ext cx="45719" cy="45719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66" name="Ellipse 365">
              <a:extLst>
                <a:ext uri="{FF2B5EF4-FFF2-40B4-BE49-F238E27FC236}">
                  <a16:creationId xmlns:a16="http://schemas.microsoft.com/office/drawing/2014/main" id="{828FC9DE-6473-436D-69FD-C4D4AA62218C}"/>
                </a:ext>
              </a:extLst>
            </p:cNvPr>
            <p:cNvSpPr/>
            <p:nvPr/>
          </p:nvSpPr>
          <p:spPr>
            <a:xfrm>
              <a:off x="8983052" y="10728225"/>
              <a:ext cx="45719" cy="45719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sp>
        <p:nvSpPr>
          <p:cNvPr id="379" name="Rechteck 378">
            <a:extLst>
              <a:ext uri="{FF2B5EF4-FFF2-40B4-BE49-F238E27FC236}">
                <a16:creationId xmlns:a16="http://schemas.microsoft.com/office/drawing/2014/main" id="{F6FC92C7-3D49-7205-A078-6D4B274D32F3}"/>
              </a:ext>
            </a:extLst>
          </p:cNvPr>
          <p:cNvSpPr/>
          <p:nvPr/>
        </p:nvSpPr>
        <p:spPr>
          <a:xfrm>
            <a:off x="16829126" y="9793503"/>
            <a:ext cx="1798430" cy="169415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r>
              <a:rPr lang="de-DE" sz="800" i="1"/>
              <a:t>UnusedMediatorProcessTracker</a:t>
            </a:r>
            <a:endParaRPr lang="de-DE" sz="800"/>
          </a:p>
          <a:p>
            <a:endParaRPr lang="de-DE" sz="800"/>
          </a:p>
          <a:p>
            <a:endParaRPr lang="de-DE" sz="800"/>
          </a:p>
          <a:p>
            <a:endParaRPr lang="de-DE" sz="800"/>
          </a:p>
          <a:p>
            <a:r>
              <a:rPr lang="de-DE" sz="800"/>
              <a:t>Go slowly throu all mediatorProcess at all mediatorVms and ask the MO for the netconf port at the mountPoint in ODL</a:t>
            </a:r>
          </a:p>
          <a:p>
            <a:endParaRPr lang="de-DE" sz="800"/>
          </a:p>
          <a:p>
            <a:r>
              <a:rPr lang="de-DE" sz="800"/>
              <a:t>IF mountPoint is addressing another mediatorProcess</a:t>
            </a:r>
          </a:p>
          <a:p>
            <a:r>
              <a:rPr lang="de-DE" sz="800"/>
              <a:t>THEN add to dismantleQueue </a:t>
            </a:r>
          </a:p>
          <a:p>
            <a:r>
              <a:rPr lang="de-DE" sz="800"/>
              <a:t>ELSE no change</a:t>
            </a:r>
          </a:p>
        </p:txBody>
      </p:sp>
      <p:pic>
        <p:nvPicPr>
          <p:cNvPr id="380" name="Grafik 379">
            <a:extLst>
              <a:ext uri="{FF2B5EF4-FFF2-40B4-BE49-F238E27FC236}">
                <a16:creationId xmlns:a16="http://schemas.microsoft.com/office/drawing/2014/main" id="{F32C22D3-797D-88B2-894A-BD258524519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26323" y="10009129"/>
            <a:ext cx="260088" cy="251271"/>
          </a:xfrm>
          <a:prstGeom prst="rect">
            <a:avLst/>
          </a:prstGeom>
        </p:spPr>
      </p:pic>
      <p:sp>
        <p:nvSpPr>
          <p:cNvPr id="381" name="Textfeld 380">
            <a:extLst>
              <a:ext uri="{FF2B5EF4-FFF2-40B4-BE49-F238E27FC236}">
                <a16:creationId xmlns:a16="http://schemas.microsoft.com/office/drawing/2014/main" id="{CB1BBA9E-BA83-774D-6BC0-5FD2B534CD84}"/>
              </a:ext>
            </a:extLst>
          </p:cNvPr>
          <p:cNvSpPr txBox="1"/>
          <p:nvPr/>
        </p:nvSpPr>
        <p:spPr>
          <a:xfrm>
            <a:off x="846567" y="4761762"/>
            <a:ext cx="822661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/>
              <a:t>204 / 500 …</a:t>
            </a:r>
          </a:p>
        </p:txBody>
      </p:sp>
      <p:cxnSp>
        <p:nvCxnSpPr>
          <p:cNvPr id="418" name="Verbinder: gekrümmt 417">
            <a:extLst>
              <a:ext uri="{FF2B5EF4-FFF2-40B4-BE49-F238E27FC236}">
                <a16:creationId xmlns:a16="http://schemas.microsoft.com/office/drawing/2014/main" id="{52669EDD-467C-6E1D-133F-905A1D3143D1}"/>
              </a:ext>
            </a:extLst>
          </p:cNvPr>
          <p:cNvCxnSpPr>
            <a:cxnSpLocks/>
            <a:stCxn id="236" idx="6"/>
            <a:endCxn id="121" idx="2"/>
          </p:cNvCxnSpPr>
          <p:nvPr/>
        </p:nvCxnSpPr>
        <p:spPr>
          <a:xfrm>
            <a:off x="9388932" y="12609576"/>
            <a:ext cx="751093" cy="1670474"/>
          </a:xfrm>
          <a:prstGeom prst="curvedConnector3">
            <a:avLst>
              <a:gd name="adj1" fmla="val 50000"/>
            </a:avLst>
          </a:prstGeom>
          <a:ln>
            <a:solidFill>
              <a:schemeClr val="accent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1" name="Verbinder: gekrümmt 170">
            <a:extLst>
              <a:ext uri="{FF2B5EF4-FFF2-40B4-BE49-F238E27FC236}">
                <a16:creationId xmlns:a16="http://schemas.microsoft.com/office/drawing/2014/main" id="{5F1E594E-4CD0-D101-9518-C767663A5475}"/>
              </a:ext>
            </a:extLst>
          </p:cNvPr>
          <p:cNvCxnSpPr>
            <a:cxnSpLocks/>
            <a:stCxn id="166" idx="6"/>
            <a:endCxn id="197" idx="0"/>
          </p:cNvCxnSpPr>
          <p:nvPr/>
        </p:nvCxnSpPr>
        <p:spPr>
          <a:xfrm>
            <a:off x="9366072" y="12135939"/>
            <a:ext cx="1233815" cy="1260631"/>
          </a:xfrm>
          <a:prstGeom prst="curvedConnector2">
            <a:avLst/>
          </a:prstGeom>
          <a:ln>
            <a:solidFill>
              <a:schemeClr val="accent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2" name="Verbinder: gekrümmt 461">
            <a:extLst>
              <a:ext uri="{FF2B5EF4-FFF2-40B4-BE49-F238E27FC236}">
                <a16:creationId xmlns:a16="http://schemas.microsoft.com/office/drawing/2014/main" id="{7378382E-2658-1C8C-01AB-865DB8B750F2}"/>
              </a:ext>
            </a:extLst>
          </p:cNvPr>
          <p:cNvCxnSpPr>
            <a:cxnSpLocks/>
            <a:stCxn id="379" idx="2"/>
            <a:endCxn id="103" idx="0"/>
          </p:cNvCxnSpPr>
          <p:nvPr/>
        </p:nvCxnSpPr>
        <p:spPr>
          <a:xfrm rot="5400000" flipH="1">
            <a:off x="13324706" y="7084020"/>
            <a:ext cx="6207266" cy="2600004"/>
          </a:xfrm>
          <a:prstGeom prst="curvedConnector5">
            <a:avLst>
              <a:gd name="adj1" fmla="val -3683"/>
              <a:gd name="adj2" fmla="val 52292"/>
              <a:gd name="adj3" fmla="val 103683"/>
            </a:avLst>
          </a:prstGeom>
          <a:ln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Gerade Verbindung mit Pfeil 39">
            <a:extLst>
              <a:ext uri="{FF2B5EF4-FFF2-40B4-BE49-F238E27FC236}">
                <a16:creationId xmlns:a16="http://schemas.microsoft.com/office/drawing/2014/main" id="{5A45491C-39F5-65AF-9F68-2F3D46BA3DD7}"/>
              </a:ext>
            </a:extLst>
          </p:cNvPr>
          <p:cNvCxnSpPr>
            <a:cxnSpLocks/>
          </p:cNvCxnSpPr>
          <p:nvPr/>
        </p:nvCxnSpPr>
        <p:spPr>
          <a:xfrm>
            <a:off x="3694719" y="3340129"/>
            <a:ext cx="3350973" cy="253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feld 41">
            <a:extLst>
              <a:ext uri="{FF2B5EF4-FFF2-40B4-BE49-F238E27FC236}">
                <a16:creationId xmlns:a16="http://schemas.microsoft.com/office/drawing/2014/main" id="{716B9F04-740C-64F6-1517-616A01104468}"/>
              </a:ext>
            </a:extLst>
          </p:cNvPr>
          <p:cNvSpPr txBox="1"/>
          <p:nvPr/>
        </p:nvSpPr>
        <p:spPr>
          <a:xfrm>
            <a:off x="3386807" y="3082898"/>
            <a:ext cx="3728906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/>
              <a:t>/v1/provide-alarms-for-connection {connectionId==mountPoint)</a:t>
            </a:r>
          </a:p>
        </p:txBody>
      </p:sp>
      <p:cxnSp>
        <p:nvCxnSpPr>
          <p:cNvPr id="45" name="Gerade Verbindung mit Pfeil 44">
            <a:extLst>
              <a:ext uri="{FF2B5EF4-FFF2-40B4-BE49-F238E27FC236}">
                <a16:creationId xmlns:a16="http://schemas.microsoft.com/office/drawing/2014/main" id="{69675F5D-C5FA-D48F-6C70-AAA7B4D8177B}"/>
              </a:ext>
            </a:extLst>
          </p:cNvPr>
          <p:cNvCxnSpPr>
            <a:cxnSpLocks/>
          </p:cNvCxnSpPr>
          <p:nvPr/>
        </p:nvCxnSpPr>
        <p:spPr>
          <a:xfrm flipH="1" flipV="1">
            <a:off x="3648124" y="3473887"/>
            <a:ext cx="3436697" cy="35258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feld 46">
            <a:extLst>
              <a:ext uri="{FF2B5EF4-FFF2-40B4-BE49-F238E27FC236}">
                <a16:creationId xmlns:a16="http://schemas.microsoft.com/office/drawing/2014/main" id="{69550947-F7A9-678B-EACA-8B3BDC47C42A}"/>
              </a:ext>
            </a:extLst>
          </p:cNvPr>
          <p:cNvSpPr txBox="1"/>
          <p:nvPr/>
        </p:nvSpPr>
        <p:spPr>
          <a:xfrm>
            <a:off x="3589095" y="3457350"/>
            <a:ext cx="1858201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/>
              <a:t>{list of currently active alarms}</a:t>
            </a:r>
          </a:p>
        </p:txBody>
      </p:sp>
      <p:cxnSp>
        <p:nvCxnSpPr>
          <p:cNvPr id="50" name="Verbinder: gekrümmt 49">
            <a:extLst>
              <a:ext uri="{FF2B5EF4-FFF2-40B4-BE49-F238E27FC236}">
                <a16:creationId xmlns:a16="http://schemas.microsoft.com/office/drawing/2014/main" id="{A85011FA-55C4-40DC-919A-E4F55495E826}"/>
              </a:ext>
            </a:extLst>
          </p:cNvPr>
          <p:cNvCxnSpPr>
            <a:cxnSpLocks/>
            <a:endCxn id="99" idx="3"/>
          </p:cNvCxnSpPr>
          <p:nvPr/>
        </p:nvCxnSpPr>
        <p:spPr>
          <a:xfrm>
            <a:off x="6246724" y="5086896"/>
            <a:ext cx="5335243" cy="1959728"/>
          </a:xfrm>
          <a:prstGeom prst="curvedConnector4">
            <a:avLst>
              <a:gd name="adj1" fmla="val 43151"/>
              <a:gd name="adj2" fmla="val 111665"/>
            </a:avLst>
          </a:prstGeom>
          <a:ln>
            <a:solidFill>
              <a:schemeClr val="accent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Textfeld 61">
            <a:extLst>
              <a:ext uri="{FF2B5EF4-FFF2-40B4-BE49-F238E27FC236}">
                <a16:creationId xmlns:a16="http://schemas.microsoft.com/office/drawing/2014/main" id="{A774034F-560F-7CA7-9FFD-8EE28037E4F9}"/>
              </a:ext>
            </a:extLst>
          </p:cNvPr>
          <p:cNvSpPr txBox="1"/>
          <p:nvPr/>
        </p:nvSpPr>
        <p:spPr>
          <a:xfrm rot="1675356">
            <a:off x="11129523" y="11662094"/>
            <a:ext cx="1921780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600"/>
              <a:t>/v1/prepare-connection {deviceIp, deviceModel}</a:t>
            </a:r>
          </a:p>
        </p:txBody>
      </p:sp>
      <p:cxnSp>
        <p:nvCxnSpPr>
          <p:cNvPr id="450" name="Verbinder: gekrümmt 449">
            <a:extLst>
              <a:ext uri="{FF2B5EF4-FFF2-40B4-BE49-F238E27FC236}">
                <a16:creationId xmlns:a16="http://schemas.microsoft.com/office/drawing/2014/main" id="{D086A7D4-5665-79AC-2FA5-1740BF4BDEED}"/>
              </a:ext>
            </a:extLst>
          </p:cNvPr>
          <p:cNvCxnSpPr>
            <a:cxnSpLocks/>
            <a:stCxn id="163" idx="6"/>
            <a:endCxn id="99" idx="3"/>
          </p:cNvCxnSpPr>
          <p:nvPr/>
        </p:nvCxnSpPr>
        <p:spPr>
          <a:xfrm flipV="1">
            <a:off x="9388929" y="7046626"/>
            <a:ext cx="2193036" cy="6357331"/>
          </a:xfrm>
          <a:prstGeom prst="curvedConnector2">
            <a:avLst/>
          </a:prstGeom>
          <a:ln>
            <a:solidFill>
              <a:schemeClr val="accent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Scrollen: vertikal 8">
            <a:extLst>
              <a:ext uri="{FF2B5EF4-FFF2-40B4-BE49-F238E27FC236}">
                <a16:creationId xmlns:a16="http://schemas.microsoft.com/office/drawing/2014/main" id="{955A8D41-311F-F1B9-433D-B3628AEE3ECC}"/>
              </a:ext>
            </a:extLst>
          </p:cNvPr>
          <p:cNvSpPr/>
          <p:nvPr/>
        </p:nvSpPr>
        <p:spPr>
          <a:xfrm>
            <a:off x="6990854" y="2966933"/>
            <a:ext cx="1560042" cy="997947"/>
          </a:xfrm>
          <a:prstGeom prst="verticalScroll">
            <a:avLst/>
          </a:prstGeom>
          <a:solidFill>
            <a:srgbClr val="FFFF00"/>
          </a:solidFill>
          <a:ln>
            <a:solidFill>
              <a:srgbClr val="FF0000"/>
            </a:solidFill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800">
                <a:solidFill>
                  <a:srgbClr val="FF0000"/>
                </a:solidFill>
              </a:rPr>
              <a:t>AlarmList</a:t>
            </a:r>
          </a:p>
        </p:txBody>
      </p:sp>
      <p:cxnSp>
        <p:nvCxnSpPr>
          <p:cNvPr id="20" name="Verbinder: gekrümmt 19">
            <a:extLst>
              <a:ext uri="{FF2B5EF4-FFF2-40B4-BE49-F238E27FC236}">
                <a16:creationId xmlns:a16="http://schemas.microsoft.com/office/drawing/2014/main" id="{A4174CDF-3609-292F-0516-515356C0A33C}"/>
              </a:ext>
            </a:extLst>
          </p:cNvPr>
          <p:cNvCxnSpPr>
            <a:cxnSpLocks/>
            <a:endCxn id="9" idx="2"/>
          </p:cNvCxnSpPr>
          <p:nvPr/>
        </p:nvCxnSpPr>
        <p:spPr>
          <a:xfrm rot="10800000">
            <a:off x="7770878" y="3964881"/>
            <a:ext cx="2643125" cy="524155"/>
          </a:xfrm>
          <a:prstGeom prst="curvedConnector2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feld 25">
            <a:extLst>
              <a:ext uri="{FF2B5EF4-FFF2-40B4-BE49-F238E27FC236}">
                <a16:creationId xmlns:a16="http://schemas.microsoft.com/office/drawing/2014/main" id="{6EF19788-C1A1-5463-BE47-036CBEC31C59}"/>
              </a:ext>
            </a:extLst>
          </p:cNvPr>
          <p:cNvSpPr txBox="1"/>
          <p:nvPr/>
        </p:nvSpPr>
        <p:spPr>
          <a:xfrm rot="346354">
            <a:off x="8404536" y="4168426"/>
            <a:ext cx="166973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600"/>
            </a:lvl1pPr>
          </a:lstStyle>
          <a:p>
            <a:r>
              <a:rPr lang="de-DE"/>
              <a:t>(private) /p1/create-entry-in-alarm-list</a:t>
            </a:r>
          </a:p>
          <a:p>
            <a:r>
              <a:rPr lang="de-DE"/>
              <a:t>(private) /p1/delete-entry-in-alarm-list</a:t>
            </a:r>
          </a:p>
        </p:txBody>
      </p:sp>
      <p:pic>
        <p:nvPicPr>
          <p:cNvPr id="35" name="Grafik 34">
            <a:extLst>
              <a:ext uri="{FF2B5EF4-FFF2-40B4-BE49-F238E27FC236}">
                <a16:creationId xmlns:a16="http://schemas.microsoft.com/office/drawing/2014/main" id="{B753D5BC-06A2-E444-F342-29D4F051BB7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50135" y="11028905"/>
            <a:ext cx="260088" cy="273783"/>
          </a:xfrm>
          <a:prstGeom prst="rect">
            <a:avLst/>
          </a:prstGeom>
        </p:spPr>
      </p:pic>
      <p:pic>
        <p:nvPicPr>
          <p:cNvPr id="36" name="Grafik 35">
            <a:extLst>
              <a:ext uri="{FF2B5EF4-FFF2-40B4-BE49-F238E27FC236}">
                <a16:creationId xmlns:a16="http://schemas.microsoft.com/office/drawing/2014/main" id="{76AC2175-49FB-26F5-AE98-AF5889C5BA3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48316" y="10071459"/>
            <a:ext cx="260088" cy="273783"/>
          </a:xfrm>
          <a:prstGeom prst="rect">
            <a:avLst/>
          </a:prstGeom>
        </p:spPr>
      </p:pic>
      <p:sp>
        <p:nvSpPr>
          <p:cNvPr id="43" name="Rechteck 42">
            <a:extLst>
              <a:ext uri="{FF2B5EF4-FFF2-40B4-BE49-F238E27FC236}">
                <a16:creationId xmlns:a16="http://schemas.microsoft.com/office/drawing/2014/main" id="{029D838B-9268-CDDA-BB54-8E25901775DF}"/>
              </a:ext>
            </a:extLst>
          </p:cNvPr>
          <p:cNvSpPr/>
          <p:nvPr/>
        </p:nvSpPr>
        <p:spPr>
          <a:xfrm>
            <a:off x="9846410" y="2868553"/>
            <a:ext cx="1934110" cy="140674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r>
              <a:rPr lang="de-DE" sz="800" i="1"/>
              <a:t>TroubleShooter</a:t>
            </a:r>
          </a:p>
          <a:p>
            <a:pPr>
              <a:tabLst>
                <a:tab pos="36000" algn="l"/>
              </a:tabLst>
            </a:pPr>
            <a:endParaRPr lang="de-DE" sz="800"/>
          </a:p>
          <a:p>
            <a:pPr>
              <a:tabLst>
                <a:tab pos="36000" algn="l"/>
              </a:tabLst>
            </a:pPr>
            <a:endParaRPr lang="de-DE" sz="800"/>
          </a:p>
          <a:p>
            <a:pPr>
              <a:tabLst>
                <a:tab pos="36000" algn="l"/>
              </a:tabLst>
            </a:pPr>
            <a:r>
              <a:rPr lang="de-DE" sz="800"/>
              <a:t>Check AlarmList for 532</a:t>
            </a:r>
          </a:p>
          <a:p>
            <a:pPr>
              <a:tabLst>
                <a:tab pos="36000" algn="l"/>
              </a:tabLst>
            </a:pPr>
            <a:r>
              <a:rPr lang="de-DE" sz="800"/>
              <a:t>IF timestamp elder that </a:t>
            </a:r>
            <a:r>
              <a:rPr lang="de-DE" sz="800" i="1"/>
              <a:t>[threshold]</a:t>
            </a:r>
          </a:p>
          <a:p>
            <a:pPr>
              <a:tabLst>
                <a:tab pos="36000" algn="l"/>
              </a:tabLst>
            </a:pPr>
            <a:r>
              <a:rPr lang="de-DE" sz="800"/>
              <a:t>THEN trigger </a:t>
            </a:r>
            <a:r>
              <a:rPr lang="de-DE" sz="800" i="1"/>
              <a:t>NetconfConnectionBuilder</a:t>
            </a:r>
          </a:p>
          <a:p>
            <a:pPr>
              <a:tabLst>
                <a:tab pos="36000" algn="l"/>
              </a:tabLst>
            </a:pPr>
            <a:endParaRPr lang="de-DE" sz="800" i="1"/>
          </a:p>
          <a:p>
            <a:pPr>
              <a:tabLst>
                <a:tab pos="36000" algn="l"/>
              </a:tabLst>
            </a:pPr>
            <a:r>
              <a:rPr lang="de-DE" sz="800"/>
              <a:t>Check AlarmList for …</a:t>
            </a:r>
            <a:endParaRPr lang="de-DE" sz="800" i="1"/>
          </a:p>
          <a:p>
            <a:pPr>
              <a:tabLst>
                <a:tab pos="36000" algn="l"/>
              </a:tabLst>
            </a:pPr>
            <a:r>
              <a:rPr lang="de-DE" sz="800"/>
              <a:t>IF condition</a:t>
            </a:r>
          </a:p>
          <a:p>
            <a:pPr>
              <a:tabLst>
                <a:tab pos="36000" algn="l"/>
              </a:tabLst>
            </a:pPr>
            <a:r>
              <a:rPr lang="de-DE" sz="800"/>
              <a:t>THEN counter measure</a:t>
            </a:r>
          </a:p>
          <a:p>
            <a:pPr>
              <a:tabLst>
                <a:tab pos="36000" algn="l"/>
              </a:tabLst>
            </a:pPr>
            <a:r>
              <a:rPr lang="de-DE" sz="800"/>
              <a:t>….</a:t>
            </a:r>
          </a:p>
        </p:txBody>
      </p:sp>
      <p:pic>
        <p:nvPicPr>
          <p:cNvPr id="38" name="Grafik 37">
            <a:extLst>
              <a:ext uri="{FF2B5EF4-FFF2-40B4-BE49-F238E27FC236}">
                <a16:creationId xmlns:a16="http://schemas.microsoft.com/office/drawing/2014/main" id="{C6F84473-3FA6-A539-02F4-FF4E7D27D0D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53195" y="2974630"/>
            <a:ext cx="260088" cy="2737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337153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hteck: abgerundete Ecken 9">
            <a:extLst>
              <a:ext uri="{FF2B5EF4-FFF2-40B4-BE49-F238E27FC236}">
                <a16:creationId xmlns:a16="http://schemas.microsoft.com/office/drawing/2014/main" id="{C82E5833-4438-2189-74F2-6F0A00400E55}"/>
              </a:ext>
            </a:extLst>
          </p:cNvPr>
          <p:cNvSpPr/>
          <p:nvPr/>
        </p:nvSpPr>
        <p:spPr>
          <a:xfrm>
            <a:off x="365757" y="4422185"/>
            <a:ext cx="447675" cy="76414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/>
              <a:t>MO</a:t>
            </a:r>
          </a:p>
        </p:txBody>
      </p:sp>
      <p:cxnSp>
        <p:nvCxnSpPr>
          <p:cNvPr id="11" name="Gerade Verbindung mit Pfeil 10">
            <a:extLst>
              <a:ext uri="{FF2B5EF4-FFF2-40B4-BE49-F238E27FC236}">
                <a16:creationId xmlns:a16="http://schemas.microsoft.com/office/drawing/2014/main" id="{51A69868-6103-625F-02C0-18B79D5F8321}"/>
              </a:ext>
            </a:extLst>
          </p:cNvPr>
          <p:cNvCxnSpPr>
            <a:cxnSpLocks/>
          </p:cNvCxnSpPr>
          <p:nvPr/>
        </p:nvCxnSpPr>
        <p:spPr>
          <a:xfrm>
            <a:off x="813431" y="4526732"/>
            <a:ext cx="3872863" cy="2042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feld 11">
            <a:extLst>
              <a:ext uri="{FF2B5EF4-FFF2-40B4-BE49-F238E27FC236}">
                <a16:creationId xmlns:a16="http://schemas.microsoft.com/office/drawing/2014/main" id="{B532003B-47C2-54BB-664F-E6480C2F5F29}"/>
              </a:ext>
            </a:extLst>
          </p:cNvPr>
          <p:cNvSpPr txBox="1"/>
          <p:nvPr/>
        </p:nvSpPr>
        <p:spPr>
          <a:xfrm>
            <a:off x="502514" y="4185705"/>
            <a:ext cx="41973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de-DE" sz="900"/>
              <a:t>/v1/establish-netconf-connection</a:t>
            </a:r>
            <a:br>
              <a:rPr lang="de-DE" sz="900">
                <a:solidFill>
                  <a:srgbClr val="FF0000"/>
                </a:solidFill>
              </a:rPr>
            </a:br>
            <a:r>
              <a:rPr lang="de-DE" sz="900">
                <a:solidFill>
                  <a:srgbClr val="FF0000"/>
                </a:solidFill>
              </a:rPr>
              <a:t>{controllerName, mountName, deviceIp, deviceModel}</a:t>
            </a:r>
          </a:p>
        </p:txBody>
      </p:sp>
      <p:cxnSp>
        <p:nvCxnSpPr>
          <p:cNvPr id="17" name="Verbinder: gekrümmt 16">
            <a:extLst>
              <a:ext uri="{FF2B5EF4-FFF2-40B4-BE49-F238E27FC236}">
                <a16:creationId xmlns:a16="http://schemas.microsoft.com/office/drawing/2014/main" id="{2864ED64-2EE7-65DC-593B-667C0BE96ED5}"/>
              </a:ext>
            </a:extLst>
          </p:cNvPr>
          <p:cNvCxnSpPr>
            <a:cxnSpLocks/>
            <a:stCxn id="252" idx="6"/>
            <a:endCxn id="7" idx="1"/>
          </p:cNvCxnSpPr>
          <p:nvPr/>
        </p:nvCxnSpPr>
        <p:spPr>
          <a:xfrm>
            <a:off x="6199065" y="4827474"/>
            <a:ext cx="3274653" cy="3652356"/>
          </a:xfrm>
          <a:prstGeom prst="curvedConnector2">
            <a:avLst/>
          </a:prstGeom>
          <a:ln>
            <a:solidFill>
              <a:schemeClr val="accent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Gerade Verbindung mit Pfeil 20">
            <a:extLst>
              <a:ext uri="{FF2B5EF4-FFF2-40B4-BE49-F238E27FC236}">
                <a16:creationId xmlns:a16="http://schemas.microsoft.com/office/drawing/2014/main" id="{FDF7E4D6-68B6-0355-CB3A-A2A0E28C931E}"/>
              </a:ext>
            </a:extLst>
          </p:cNvPr>
          <p:cNvCxnSpPr>
            <a:cxnSpLocks/>
          </p:cNvCxnSpPr>
          <p:nvPr/>
        </p:nvCxnSpPr>
        <p:spPr>
          <a:xfrm flipH="1" flipV="1">
            <a:off x="813429" y="4744137"/>
            <a:ext cx="3872865" cy="17625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Rechteck 55">
            <a:extLst>
              <a:ext uri="{FF2B5EF4-FFF2-40B4-BE49-F238E27FC236}">
                <a16:creationId xmlns:a16="http://schemas.microsoft.com/office/drawing/2014/main" id="{9EBFEA2E-B45C-8A04-7DFE-5C0D54E2AEC3}"/>
              </a:ext>
            </a:extLst>
          </p:cNvPr>
          <p:cNvSpPr/>
          <p:nvPr/>
        </p:nvSpPr>
        <p:spPr>
          <a:xfrm>
            <a:off x="4691700" y="10710090"/>
            <a:ext cx="1571625" cy="160702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800" i="1"/>
              <a:t>MediatorVmPhaseOut</a:t>
            </a:r>
          </a:p>
          <a:p>
            <a:endParaRPr lang="de-DE" sz="800"/>
          </a:p>
          <a:p>
            <a:endParaRPr lang="de-DE" sz="800"/>
          </a:p>
          <a:p>
            <a:r>
              <a:rPr lang="de-DE" sz="800"/>
              <a:t>Check operational state and life cycle state of mediatorVm</a:t>
            </a:r>
          </a:p>
          <a:p>
            <a:endParaRPr lang="de-DE" sz="800"/>
          </a:p>
          <a:p>
            <a:r>
              <a:rPr lang="de-DE" sz="800"/>
              <a:t>IF mediatorVm not operational or marked deprecated</a:t>
            </a:r>
          </a:p>
          <a:p>
            <a:r>
              <a:rPr lang="de-DE" sz="800"/>
              <a:t>THEN add all related mediatorProcesses</a:t>
            </a:r>
          </a:p>
          <a:p>
            <a:pPr marL="171450" indent="-171450">
              <a:buFontTx/>
              <a:buChar char="-"/>
            </a:pPr>
            <a:r>
              <a:rPr lang="de-DE" sz="800"/>
              <a:t>to createQueue</a:t>
            </a:r>
          </a:p>
          <a:p>
            <a:pPr marL="171450" indent="-171450">
              <a:buFontTx/>
              <a:buChar char="-"/>
            </a:pPr>
            <a:r>
              <a:rPr lang="de-DE" sz="800"/>
              <a:t>to dismantleQueue</a:t>
            </a:r>
          </a:p>
          <a:p>
            <a:endParaRPr lang="de-DE" sz="800"/>
          </a:p>
        </p:txBody>
      </p:sp>
      <p:cxnSp>
        <p:nvCxnSpPr>
          <p:cNvPr id="61" name="Verbinder: gekrümmt 60">
            <a:extLst>
              <a:ext uri="{FF2B5EF4-FFF2-40B4-BE49-F238E27FC236}">
                <a16:creationId xmlns:a16="http://schemas.microsoft.com/office/drawing/2014/main" id="{BB2D77CC-429A-4157-5B5F-8EF25F79FEC7}"/>
              </a:ext>
            </a:extLst>
          </p:cNvPr>
          <p:cNvCxnSpPr>
            <a:cxnSpLocks/>
            <a:stCxn id="269" idx="6"/>
            <a:endCxn id="7" idx="1"/>
          </p:cNvCxnSpPr>
          <p:nvPr/>
        </p:nvCxnSpPr>
        <p:spPr>
          <a:xfrm flipV="1">
            <a:off x="6247957" y="8479830"/>
            <a:ext cx="3225761" cy="108592"/>
          </a:xfrm>
          <a:prstGeom prst="curvedConnector4">
            <a:avLst>
              <a:gd name="adj1" fmla="val 39116"/>
              <a:gd name="adj2" fmla="val 310513"/>
            </a:avLst>
          </a:prstGeom>
          <a:ln>
            <a:solidFill>
              <a:schemeClr val="accent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Verbinder: gekrümmt 70">
            <a:extLst>
              <a:ext uri="{FF2B5EF4-FFF2-40B4-BE49-F238E27FC236}">
                <a16:creationId xmlns:a16="http://schemas.microsoft.com/office/drawing/2014/main" id="{7A46D94E-44A3-06EB-80F4-E03CA33A63EF}"/>
              </a:ext>
            </a:extLst>
          </p:cNvPr>
          <p:cNvCxnSpPr>
            <a:cxnSpLocks/>
            <a:stCxn id="306" idx="6"/>
            <a:endCxn id="7" idx="1"/>
          </p:cNvCxnSpPr>
          <p:nvPr/>
        </p:nvCxnSpPr>
        <p:spPr>
          <a:xfrm flipV="1">
            <a:off x="6254059" y="8479832"/>
            <a:ext cx="3219659" cy="3525939"/>
          </a:xfrm>
          <a:prstGeom prst="curvedConnector4">
            <a:avLst>
              <a:gd name="adj1" fmla="val 39095"/>
              <a:gd name="adj2" fmla="val 106483"/>
            </a:avLst>
          </a:prstGeom>
          <a:ln>
            <a:solidFill>
              <a:schemeClr val="accent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Rechteck: abgerundete Ecken 76">
            <a:extLst>
              <a:ext uri="{FF2B5EF4-FFF2-40B4-BE49-F238E27FC236}">
                <a16:creationId xmlns:a16="http://schemas.microsoft.com/office/drawing/2014/main" id="{8DFFF67D-D75C-32F2-8280-CB92247117F7}"/>
              </a:ext>
            </a:extLst>
          </p:cNvPr>
          <p:cNvSpPr/>
          <p:nvPr/>
        </p:nvSpPr>
        <p:spPr>
          <a:xfrm>
            <a:off x="12151786" y="12189955"/>
            <a:ext cx="447675" cy="32861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/>
              <a:t>CP</a:t>
            </a:r>
          </a:p>
        </p:txBody>
      </p:sp>
      <p:cxnSp>
        <p:nvCxnSpPr>
          <p:cNvPr id="90" name="Verbinder: gekrümmt 89">
            <a:extLst>
              <a:ext uri="{FF2B5EF4-FFF2-40B4-BE49-F238E27FC236}">
                <a16:creationId xmlns:a16="http://schemas.microsoft.com/office/drawing/2014/main" id="{4D6640C8-1C91-CE56-09D4-B2581D76A95E}"/>
              </a:ext>
            </a:extLst>
          </p:cNvPr>
          <p:cNvCxnSpPr>
            <a:cxnSpLocks/>
            <a:stCxn id="7" idx="3"/>
          </p:cNvCxnSpPr>
          <p:nvPr/>
        </p:nvCxnSpPr>
        <p:spPr>
          <a:xfrm rot="16200000" flipH="1">
            <a:off x="9288912" y="9668802"/>
            <a:ext cx="557015" cy="187402"/>
          </a:xfrm>
          <a:prstGeom prst="curvedConnector3">
            <a:avLst>
              <a:gd name="adj1" fmla="val 50000"/>
            </a:avLst>
          </a:prstGeom>
          <a:ln>
            <a:solidFill>
              <a:schemeClr val="accent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" name="Scrollen: vertikal 102">
            <a:extLst>
              <a:ext uri="{FF2B5EF4-FFF2-40B4-BE49-F238E27FC236}">
                <a16:creationId xmlns:a16="http://schemas.microsoft.com/office/drawing/2014/main" id="{CC6A1FEE-2FD5-A0BD-9923-2B7D18953F4E}"/>
              </a:ext>
            </a:extLst>
          </p:cNvPr>
          <p:cNvSpPr/>
          <p:nvPr/>
        </p:nvSpPr>
        <p:spPr>
          <a:xfrm>
            <a:off x="14348316" y="5280391"/>
            <a:ext cx="1560042" cy="997947"/>
          </a:xfrm>
          <a:prstGeom prst="verticalScroll">
            <a:avLst/>
          </a:prstGeom>
          <a:ln>
            <a:solidFill>
              <a:srgbClr val="FF0000"/>
            </a:solidFill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800"/>
              <a:t>Queue of </a:t>
            </a:r>
            <a:r>
              <a:rPr lang="de-DE" sz="800">
                <a:solidFill>
                  <a:schemeClr val="accent5"/>
                </a:solidFill>
              </a:rPr>
              <a:t>mediatorProcesses</a:t>
            </a:r>
            <a:r>
              <a:rPr lang="de-DE" sz="800"/>
              <a:t> to be deleted</a:t>
            </a:r>
          </a:p>
        </p:txBody>
      </p:sp>
      <p:sp>
        <p:nvSpPr>
          <p:cNvPr id="104" name="Flussdiagramm: Zusammenstellen 103">
            <a:extLst>
              <a:ext uri="{FF2B5EF4-FFF2-40B4-BE49-F238E27FC236}">
                <a16:creationId xmlns:a16="http://schemas.microsoft.com/office/drawing/2014/main" id="{6181BD8D-E00F-C65B-E014-B40604A43C3E}"/>
              </a:ext>
            </a:extLst>
          </p:cNvPr>
          <p:cNvSpPr/>
          <p:nvPr/>
        </p:nvSpPr>
        <p:spPr>
          <a:xfrm>
            <a:off x="8064098" y="5474673"/>
            <a:ext cx="369117" cy="525849"/>
          </a:xfrm>
          <a:prstGeom prst="flowChartCollate">
            <a:avLst/>
          </a:prstGeom>
          <a:solidFill>
            <a:srgbClr val="FFC000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solidFill>
                <a:schemeClr val="tx1"/>
              </a:solidFill>
            </a:endParaRPr>
          </a:p>
        </p:txBody>
      </p:sp>
      <p:cxnSp>
        <p:nvCxnSpPr>
          <p:cNvPr id="106" name="Verbinder: gekrümmt 105">
            <a:extLst>
              <a:ext uri="{FF2B5EF4-FFF2-40B4-BE49-F238E27FC236}">
                <a16:creationId xmlns:a16="http://schemas.microsoft.com/office/drawing/2014/main" id="{D52FD071-631C-02F8-0686-931FA6B13A38}"/>
              </a:ext>
            </a:extLst>
          </p:cNvPr>
          <p:cNvCxnSpPr>
            <a:cxnSpLocks/>
            <a:stCxn id="104" idx="0"/>
            <a:endCxn id="103" idx="0"/>
          </p:cNvCxnSpPr>
          <p:nvPr/>
        </p:nvCxnSpPr>
        <p:spPr>
          <a:xfrm rot="5400000" flipH="1" flipV="1">
            <a:off x="11591355" y="1937689"/>
            <a:ext cx="194282" cy="6879682"/>
          </a:xfrm>
          <a:prstGeom prst="curvedConnector3">
            <a:avLst>
              <a:gd name="adj1" fmla="val 217664"/>
            </a:avLst>
          </a:prstGeom>
          <a:ln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Verbinder: gekrümmt 106">
            <a:extLst>
              <a:ext uri="{FF2B5EF4-FFF2-40B4-BE49-F238E27FC236}">
                <a16:creationId xmlns:a16="http://schemas.microsoft.com/office/drawing/2014/main" id="{D5EE6150-51F0-0E75-4A56-1F02BD0E5818}"/>
              </a:ext>
            </a:extLst>
          </p:cNvPr>
          <p:cNvCxnSpPr>
            <a:cxnSpLocks/>
            <a:stCxn id="270" idx="6"/>
            <a:endCxn id="104" idx="2"/>
          </p:cNvCxnSpPr>
          <p:nvPr/>
        </p:nvCxnSpPr>
        <p:spPr>
          <a:xfrm flipV="1">
            <a:off x="6247955" y="6000520"/>
            <a:ext cx="2000700" cy="2701388"/>
          </a:xfrm>
          <a:prstGeom prst="curvedConnector2">
            <a:avLst/>
          </a:prstGeom>
          <a:ln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Verbinder: gekrümmt 110">
            <a:extLst>
              <a:ext uri="{FF2B5EF4-FFF2-40B4-BE49-F238E27FC236}">
                <a16:creationId xmlns:a16="http://schemas.microsoft.com/office/drawing/2014/main" id="{BF8CEEB0-27E7-67FE-9CD2-F7BC154D1FF5}"/>
              </a:ext>
            </a:extLst>
          </p:cNvPr>
          <p:cNvCxnSpPr>
            <a:cxnSpLocks/>
            <a:stCxn id="314" idx="6"/>
            <a:endCxn id="104" idx="2"/>
          </p:cNvCxnSpPr>
          <p:nvPr/>
        </p:nvCxnSpPr>
        <p:spPr>
          <a:xfrm flipV="1">
            <a:off x="6254057" y="6000520"/>
            <a:ext cx="1994598" cy="6170472"/>
          </a:xfrm>
          <a:prstGeom prst="curvedConnector2">
            <a:avLst/>
          </a:prstGeom>
          <a:ln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" name="Textfeld 104">
            <a:extLst>
              <a:ext uri="{FF2B5EF4-FFF2-40B4-BE49-F238E27FC236}">
                <a16:creationId xmlns:a16="http://schemas.microsoft.com/office/drawing/2014/main" id="{CAA8C806-679B-A077-8EA7-09C210CD301E}"/>
              </a:ext>
            </a:extLst>
          </p:cNvPr>
          <p:cNvSpPr txBox="1"/>
          <p:nvPr/>
        </p:nvSpPr>
        <p:spPr>
          <a:xfrm>
            <a:off x="7843116" y="5596734"/>
            <a:ext cx="96051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/>
              <a:t>DelayElement</a:t>
            </a:r>
          </a:p>
        </p:txBody>
      </p:sp>
      <p:sp>
        <p:nvSpPr>
          <p:cNvPr id="125" name="Rechteck 124">
            <a:extLst>
              <a:ext uri="{FF2B5EF4-FFF2-40B4-BE49-F238E27FC236}">
                <a16:creationId xmlns:a16="http://schemas.microsoft.com/office/drawing/2014/main" id="{1FE31B48-04FF-C298-6453-7225A40DA40D}"/>
              </a:ext>
            </a:extLst>
          </p:cNvPr>
          <p:cNvSpPr/>
          <p:nvPr/>
        </p:nvSpPr>
        <p:spPr>
          <a:xfrm>
            <a:off x="14250373" y="9864750"/>
            <a:ext cx="1571625" cy="1964349"/>
          </a:xfrm>
          <a:prstGeom prst="rect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800" i="1"/>
              <a:t>UnusedMediatorProcessEraser</a:t>
            </a:r>
            <a:endParaRPr lang="de-DE" sz="800"/>
          </a:p>
          <a:p>
            <a:endParaRPr lang="de-DE" sz="800"/>
          </a:p>
          <a:p>
            <a:endParaRPr lang="de-DE" sz="800"/>
          </a:p>
          <a:p>
            <a:endParaRPr lang="de-DE" sz="800"/>
          </a:p>
          <a:p>
            <a:r>
              <a:rPr lang="de-DE" sz="800"/>
              <a:t>IF there is a mountPoint with same deviceName in ODL (ask MO) using this mediatorProc. </a:t>
            </a:r>
          </a:p>
          <a:p>
            <a:r>
              <a:rPr lang="de-DE" sz="800"/>
              <a:t>THEN terminate without change</a:t>
            </a:r>
          </a:p>
          <a:p>
            <a:r>
              <a:rPr lang="de-DE" sz="800"/>
              <a:t>ELSE</a:t>
            </a:r>
          </a:p>
          <a:p>
            <a:r>
              <a:rPr lang="de-DE" sz="800"/>
              <a:t>- Dismantle mediatorProc</a:t>
            </a:r>
          </a:p>
          <a:p>
            <a:r>
              <a:rPr lang="de-DE" sz="800"/>
              <a:t>- Delete from AppDATA:</a:t>
            </a:r>
          </a:p>
          <a:p>
            <a:r>
              <a:rPr lang="de-DE" sz="800"/>
              <a:t>   . Netconf connection</a:t>
            </a:r>
          </a:p>
          <a:p>
            <a:r>
              <a:rPr lang="de-DE" sz="800"/>
              <a:t>   . Snmp connection</a:t>
            </a:r>
          </a:p>
          <a:p>
            <a:r>
              <a:rPr lang="de-DE" sz="800"/>
              <a:t>   . mediatorProcess</a:t>
            </a:r>
          </a:p>
        </p:txBody>
      </p:sp>
      <p:cxnSp>
        <p:nvCxnSpPr>
          <p:cNvPr id="134" name="Verbinder: gekrümmt 133">
            <a:extLst>
              <a:ext uri="{FF2B5EF4-FFF2-40B4-BE49-F238E27FC236}">
                <a16:creationId xmlns:a16="http://schemas.microsoft.com/office/drawing/2014/main" id="{5D7864F1-1ED2-2D1B-8095-C111EA57113A}"/>
              </a:ext>
            </a:extLst>
          </p:cNvPr>
          <p:cNvCxnSpPr>
            <a:cxnSpLocks/>
            <a:stCxn id="103" idx="2"/>
            <a:endCxn id="125" idx="0"/>
          </p:cNvCxnSpPr>
          <p:nvPr/>
        </p:nvCxnSpPr>
        <p:spPr>
          <a:xfrm rot="5400000">
            <a:off x="13289055" y="8025468"/>
            <a:ext cx="3586412" cy="92153"/>
          </a:xfrm>
          <a:prstGeom prst="curvedConnector3">
            <a:avLst>
              <a:gd name="adj1" fmla="val 50000"/>
            </a:avLst>
          </a:prstGeom>
          <a:ln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4" name="Textfeld 143">
            <a:extLst>
              <a:ext uri="{FF2B5EF4-FFF2-40B4-BE49-F238E27FC236}">
                <a16:creationId xmlns:a16="http://schemas.microsoft.com/office/drawing/2014/main" id="{29D2BC74-3BE7-174C-D371-53D0640E1A05}"/>
              </a:ext>
            </a:extLst>
          </p:cNvPr>
          <p:cNvSpPr txBox="1"/>
          <p:nvPr/>
        </p:nvSpPr>
        <p:spPr>
          <a:xfrm>
            <a:off x="18448076" y="3296395"/>
            <a:ext cx="254840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000"/>
              <a:t>/v1/dismantle-netconf-connection</a:t>
            </a:r>
          </a:p>
        </p:txBody>
      </p:sp>
      <p:cxnSp>
        <p:nvCxnSpPr>
          <p:cNvPr id="146" name="Gerade Verbindung mit Pfeil 145">
            <a:extLst>
              <a:ext uri="{FF2B5EF4-FFF2-40B4-BE49-F238E27FC236}">
                <a16:creationId xmlns:a16="http://schemas.microsoft.com/office/drawing/2014/main" id="{76527FFD-A27D-C191-D636-0418D2347CF0}"/>
              </a:ext>
            </a:extLst>
          </p:cNvPr>
          <p:cNvCxnSpPr>
            <a:cxnSpLocks/>
          </p:cNvCxnSpPr>
          <p:nvPr/>
        </p:nvCxnSpPr>
        <p:spPr>
          <a:xfrm flipH="1">
            <a:off x="18419924" y="3536847"/>
            <a:ext cx="227352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8" name="Gerade Verbindung mit Pfeil 147">
            <a:extLst>
              <a:ext uri="{FF2B5EF4-FFF2-40B4-BE49-F238E27FC236}">
                <a16:creationId xmlns:a16="http://schemas.microsoft.com/office/drawing/2014/main" id="{D5350EC3-81F5-928A-7AB1-C83683A18AC5}"/>
              </a:ext>
            </a:extLst>
          </p:cNvPr>
          <p:cNvCxnSpPr>
            <a:cxnSpLocks/>
          </p:cNvCxnSpPr>
          <p:nvPr/>
        </p:nvCxnSpPr>
        <p:spPr>
          <a:xfrm>
            <a:off x="18419924" y="3659955"/>
            <a:ext cx="2273522" cy="2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9" name="Textfeld 148">
            <a:extLst>
              <a:ext uri="{FF2B5EF4-FFF2-40B4-BE49-F238E27FC236}">
                <a16:creationId xmlns:a16="http://schemas.microsoft.com/office/drawing/2014/main" id="{B4C32C75-C175-6476-37BE-A82F695B7FF2}"/>
              </a:ext>
            </a:extLst>
          </p:cNvPr>
          <p:cNvSpPr txBox="1"/>
          <p:nvPr/>
        </p:nvSpPr>
        <p:spPr>
          <a:xfrm flipH="1">
            <a:off x="19927565" y="3639301"/>
            <a:ext cx="82907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/>
              <a:t>204 / 500 …</a:t>
            </a:r>
          </a:p>
        </p:txBody>
      </p:sp>
      <p:sp>
        <p:nvSpPr>
          <p:cNvPr id="210" name="Rechteck: abgerundete Ecken 209">
            <a:extLst>
              <a:ext uri="{FF2B5EF4-FFF2-40B4-BE49-F238E27FC236}">
                <a16:creationId xmlns:a16="http://schemas.microsoft.com/office/drawing/2014/main" id="{44B2B777-E588-B36C-E091-FFDB6E04A573}"/>
              </a:ext>
            </a:extLst>
          </p:cNvPr>
          <p:cNvSpPr/>
          <p:nvPr/>
        </p:nvSpPr>
        <p:spPr>
          <a:xfrm>
            <a:off x="20693449" y="3461122"/>
            <a:ext cx="447675" cy="30468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/>
              <a:t>MO</a:t>
            </a:r>
          </a:p>
        </p:txBody>
      </p:sp>
      <p:sp>
        <p:nvSpPr>
          <p:cNvPr id="213" name="Rechteck 212">
            <a:extLst>
              <a:ext uri="{FF2B5EF4-FFF2-40B4-BE49-F238E27FC236}">
                <a16:creationId xmlns:a16="http://schemas.microsoft.com/office/drawing/2014/main" id="{65B05C39-22C7-3BDA-ABC8-0E08C367F8F4}"/>
              </a:ext>
            </a:extLst>
          </p:cNvPr>
          <p:cNvSpPr/>
          <p:nvPr/>
        </p:nvSpPr>
        <p:spPr>
          <a:xfrm>
            <a:off x="16847353" y="3190473"/>
            <a:ext cx="1571625" cy="1320166"/>
          </a:xfrm>
          <a:prstGeom prst="rect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800"/>
              <a:t>Search throu all mediatorVms for mediatorProcesses for the defined deviceName</a:t>
            </a:r>
          </a:p>
          <a:p>
            <a:endParaRPr lang="de-DE" sz="800"/>
          </a:p>
          <a:p>
            <a:r>
              <a:rPr lang="de-DE" sz="800"/>
              <a:t>Add all mediatorProcesses</a:t>
            </a:r>
          </a:p>
          <a:p>
            <a:pPr marL="171450" indent="-171450">
              <a:buFontTx/>
              <a:buChar char="-"/>
            </a:pPr>
            <a:r>
              <a:rPr lang="de-DE" sz="800"/>
              <a:t>to dismantleQueue</a:t>
            </a:r>
          </a:p>
        </p:txBody>
      </p:sp>
      <p:cxnSp>
        <p:nvCxnSpPr>
          <p:cNvPr id="220" name="Verbinder: gekrümmt 219">
            <a:extLst>
              <a:ext uri="{FF2B5EF4-FFF2-40B4-BE49-F238E27FC236}">
                <a16:creationId xmlns:a16="http://schemas.microsoft.com/office/drawing/2014/main" id="{561F252A-8C14-74DE-20EB-D490C3D6B7B2}"/>
              </a:ext>
            </a:extLst>
          </p:cNvPr>
          <p:cNvCxnSpPr>
            <a:cxnSpLocks/>
            <a:stCxn id="213" idx="2"/>
            <a:endCxn id="103" idx="0"/>
          </p:cNvCxnSpPr>
          <p:nvPr/>
        </p:nvCxnSpPr>
        <p:spPr>
          <a:xfrm rot="5400000">
            <a:off x="15995876" y="3643103"/>
            <a:ext cx="769750" cy="2504827"/>
          </a:xfrm>
          <a:prstGeom prst="curvedConnector3">
            <a:avLst>
              <a:gd name="adj1" fmla="val 50000"/>
            </a:avLst>
          </a:prstGeom>
          <a:ln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5" name="Rechteck 224">
            <a:extLst>
              <a:ext uri="{FF2B5EF4-FFF2-40B4-BE49-F238E27FC236}">
                <a16:creationId xmlns:a16="http://schemas.microsoft.com/office/drawing/2014/main" id="{8778D23D-E927-DABD-0332-D93807833FA4}"/>
              </a:ext>
            </a:extLst>
          </p:cNvPr>
          <p:cNvSpPr/>
          <p:nvPr/>
        </p:nvSpPr>
        <p:spPr>
          <a:xfrm>
            <a:off x="16829126" y="4910189"/>
            <a:ext cx="1798430" cy="267817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r>
              <a:rPr lang="de-DE" sz="800" i="1"/>
              <a:t>InactiveMediatorProcessTracker</a:t>
            </a:r>
          </a:p>
          <a:p>
            <a:endParaRPr lang="de-DE" sz="800"/>
          </a:p>
          <a:p>
            <a:endParaRPr lang="de-DE" sz="800"/>
          </a:p>
          <a:p>
            <a:endParaRPr lang="de-DE" sz="800"/>
          </a:p>
          <a:p>
            <a:r>
              <a:rPr lang="de-DE" sz="800"/>
              <a:t>Go slowly through all mediatorProcesses at all mediatorVms</a:t>
            </a:r>
          </a:p>
          <a:p>
            <a:endParaRPr lang="de-DE" sz="800"/>
          </a:p>
          <a:p>
            <a:r>
              <a:rPr lang="de-DE" sz="800"/>
              <a:t>IF mediatorProcess is responsive on netconf</a:t>
            </a:r>
          </a:p>
          <a:p>
            <a:r>
              <a:rPr lang="de-DE" sz="800"/>
              <a:t>THEN set firstSilenceDate=‚‘</a:t>
            </a:r>
          </a:p>
          <a:p>
            <a:r>
              <a:rPr lang="de-DE" sz="800"/>
              <a:t>ELSE check firstSilenceDate</a:t>
            </a:r>
          </a:p>
          <a:p>
            <a:endParaRPr lang="de-DE" sz="800"/>
          </a:p>
          <a:p>
            <a:r>
              <a:rPr lang="de-DE" sz="800"/>
              <a:t>IF firstSilenceDate==‚‘</a:t>
            </a:r>
            <a:br>
              <a:rPr lang="de-DE" sz="800"/>
            </a:br>
            <a:r>
              <a:rPr lang="de-DE" sz="800"/>
              <a:t>THEN set firstSilenceDate= currentDate</a:t>
            </a:r>
          </a:p>
          <a:p>
            <a:pPr>
              <a:tabLst>
                <a:tab pos="36000" algn="l"/>
              </a:tabLst>
            </a:pPr>
            <a:r>
              <a:rPr lang="de-DE" sz="800"/>
              <a:t>ELSE</a:t>
            </a:r>
          </a:p>
          <a:p>
            <a:pPr>
              <a:tabLst>
                <a:tab pos="108000" algn="l"/>
              </a:tabLst>
            </a:pPr>
            <a:r>
              <a:rPr lang="de-DE" sz="800"/>
              <a:t>	IF currentDate – firstSilenceDate</a:t>
            </a:r>
          </a:p>
          <a:p>
            <a:pPr>
              <a:tabLst>
                <a:tab pos="108000" algn="l"/>
              </a:tabLst>
            </a:pPr>
            <a:r>
              <a:rPr lang="de-DE" sz="800"/>
              <a:t>	&lt;=[keepMediatorProcessPeriode]</a:t>
            </a:r>
          </a:p>
          <a:p>
            <a:pPr>
              <a:tabLst>
                <a:tab pos="108000" algn="l"/>
              </a:tabLst>
            </a:pPr>
            <a:r>
              <a:rPr lang="de-DE" sz="800"/>
              <a:t>	THEN no change</a:t>
            </a:r>
          </a:p>
          <a:p>
            <a:pPr>
              <a:tabLst>
                <a:tab pos="108000" algn="l"/>
              </a:tabLst>
            </a:pPr>
            <a:r>
              <a:rPr lang="de-DE" sz="800"/>
              <a:t>	ELSE add to dismantleQueue</a:t>
            </a:r>
          </a:p>
        </p:txBody>
      </p:sp>
      <p:pic>
        <p:nvPicPr>
          <p:cNvPr id="226" name="Grafik 225">
            <a:extLst>
              <a:ext uri="{FF2B5EF4-FFF2-40B4-BE49-F238E27FC236}">
                <a16:creationId xmlns:a16="http://schemas.microsoft.com/office/drawing/2014/main" id="{E590A6FC-6F27-1F52-01B4-64301CA5995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26323" y="5123627"/>
            <a:ext cx="260088" cy="251271"/>
          </a:xfrm>
          <a:prstGeom prst="rect">
            <a:avLst/>
          </a:prstGeom>
        </p:spPr>
      </p:pic>
      <p:cxnSp>
        <p:nvCxnSpPr>
          <p:cNvPr id="227" name="Verbinder: gekrümmt 226">
            <a:extLst>
              <a:ext uri="{FF2B5EF4-FFF2-40B4-BE49-F238E27FC236}">
                <a16:creationId xmlns:a16="http://schemas.microsoft.com/office/drawing/2014/main" id="{2DB9CE1C-063B-8F4A-85EB-0564067865B1}"/>
              </a:ext>
            </a:extLst>
          </p:cNvPr>
          <p:cNvCxnSpPr>
            <a:cxnSpLocks/>
            <a:stCxn id="225" idx="2"/>
            <a:endCxn id="103" idx="0"/>
          </p:cNvCxnSpPr>
          <p:nvPr/>
        </p:nvCxnSpPr>
        <p:spPr>
          <a:xfrm rot="5400000" flipH="1">
            <a:off x="15274351" y="5134375"/>
            <a:ext cx="2307976" cy="2600004"/>
          </a:xfrm>
          <a:prstGeom prst="curvedConnector5">
            <a:avLst>
              <a:gd name="adj1" fmla="val -9905"/>
              <a:gd name="adj2" fmla="val 52292"/>
              <a:gd name="adj3" fmla="val 109905"/>
            </a:avLst>
          </a:prstGeom>
          <a:ln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6" name="Grafik 5">
            <a:extLst>
              <a:ext uri="{FF2B5EF4-FFF2-40B4-BE49-F238E27FC236}">
                <a16:creationId xmlns:a16="http://schemas.microsoft.com/office/drawing/2014/main" id="{BB4CEC89-E2AF-ACDF-4C17-3FFE58CA12F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397723" y="9091943"/>
            <a:ext cx="447675" cy="439333"/>
          </a:xfrm>
          <a:prstGeom prst="rect">
            <a:avLst/>
          </a:prstGeom>
        </p:spPr>
      </p:pic>
      <p:sp>
        <p:nvSpPr>
          <p:cNvPr id="8" name="Rechteck 7">
            <a:extLst>
              <a:ext uri="{FF2B5EF4-FFF2-40B4-BE49-F238E27FC236}">
                <a16:creationId xmlns:a16="http://schemas.microsoft.com/office/drawing/2014/main" id="{4668BABB-C444-CB57-7286-A2F16DFE205B}"/>
              </a:ext>
            </a:extLst>
          </p:cNvPr>
          <p:cNvSpPr/>
          <p:nvPr/>
        </p:nvSpPr>
        <p:spPr>
          <a:xfrm>
            <a:off x="4691700" y="9039933"/>
            <a:ext cx="1571625" cy="1454839"/>
          </a:xfrm>
          <a:prstGeom prst="rect">
            <a:avLst/>
          </a:prstGeom>
          <a:ln>
            <a:solidFill>
              <a:srgbClr val="04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800"/>
              <a:t>Check feasibility of deleting mediatorVm without the total number of mediatorProcesses exceeding the capacity of remaining mediatorVms</a:t>
            </a:r>
          </a:p>
          <a:p>
            <a:endParaRPr lang="de-DE" sz="800"/>
          </a:p>
          <a:p>
            <a:r>
              <a:rPr lang="de-DE" sz="800"/>
              <a:t>IF reducing resources feasible</a:t>
            </a:r>
          </a:p>
          <a:p>
            <a:r>
              <a:rPr lang="de-DE" sz="800"/>
              <a:t>THEN mark life cycle state of defined mediatorVm to be deprecated</a:t>
            </a:r>
          </a:p>
          <a:p>
            <a:r>
              <a:rPr lang="de-DE" sz="800"/>
              <a:t>ELSE respond error code</a:t>
            </a:r>
          </a:p>
        </p:txBody>
      </p:sp>
      <p:cxnSp>
        <p:nvCxnSpPr>
          <p:cNvPr id="14" name="Gerade Verbindung mit Pfeil 13">
            <a:extLst>
              <a:ext uri="{FF2B5EF4-FFF2-40B4-BE49-F238E27FC236}">
                <a16:creationId xmlns:a16="http://schemas.microsoft.com/office/drawing/2014/main" id="{9AAB2F06-0754-E97D-8AB1-446BC5BE28CA}"/>
              </a:ext>
            </a:extLst>
          </p:cNvPr>
          <p:cNvCxnSpPr>
            <a:cxnSpLocks/>
          </p:cNvCxnSpPr>
          <p:nvPr/>
        </p:nvCxnSpPr>
        <p:spPr>
          <a:xfrm>
            <a:off x="760326" y="9229331"/>
            <a:ext cx="3939537" cy="1666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feld 15">
            <a:extLst>
              <a:ext uri="{FF2B5EF4-FFF2-40B4-BE49-F238E27FC236}">
                <a16:creationId xmlns:a16="http://schemas.microsoft.com/office/drawing/2014/main" id="{2E92D9DA-09E1-FFC1-98ED-74AC6BF930F6}"/>
              </a:ext>
            </a:extLst>
          </p:cNvPr>
          <p:cNvSpPr txBox="1"/>
          <p:nvPr/>
        </p:nvSpPr>
        <p:spPr>
          <a:xfrm>
            <a:off x="2256572" y="8999783"/>
            <a:ext cx="254840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000"/>
              <a:t>/v1/disregard-mediator-instance-manager</a:t>
            </a:r>
          </a:p>
        </p:txBody>
      </p:sp>
      <p:cxnSp>
        <p:nvCxnSpPr>
          <p:cNvPr id="18" name="Gerade Verbindung mit Pfeil 17">
            <a:extLst>
              <a:ext uri="{FF2B5EF4-FFF2-40B4-BE49-F238E27FC236}">
                <a16:creationId xmlns:a16="http://schemas.microsoft.com/office/drawing/2014/main" id="{BFF5680D-94F2-F4E3-FACF-63C223B4FC46}"/>
              </a:ext>
            </a:extLst>
          </p:cNvPr>
          <p:cNvCxnSpPr>
            <a:cxnSpLocks/>
          </p:cNvCxnSpPr>
          <p:nvPr/>
        </p:nvCxnSpPr>
        <p:spPr>
          <a:xfrm flipH="1">
            <a:off x="808595" y="9455071"/>
            <a:ext cx="3891262" cy="0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feld 18">
            <a:extLst>
              <a:ext uri="{FF2B5EF4-FFF2-40B4-BE49-F238E27FC236}">
                <a16:creationId xmlns:a16="http://schemas.microsoft.com/office/drawing/2014/main" id="{9104B411-5652-1AC8-0AF7-757041C6FEF8}"/>
              </a:ext>
            </a:extLst>
          </p:cNvPr>
          <p:cNvSpPr txBox="1"/>
          <p:nvPr/>
        </p:nvSpPr>
        <p:spPr>
          <a:xfrm>
            <a:off x="826998" y="9411807"/>
            <a:ext cx="82907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/>
              <a:t>204 / 500 …</a:t>
            </a:r>
          </a:p>
        </p:txBody>
      </p:sp>
      <p:pic>
        <p:nvPicPr>
          <p:cNvPr id="31" name="Grafik 30">
            <a:extLst>
              <a:ext uri="{FF2B5EF4-FFF2-40B4-BE49-F238E27FC236}">
                <a16:creationId xmlns:a16="http://schemas.microsoft.com/office/drawing/2014/main" id="{A6E275FF-6DBA-3F21-5F4B-5FB306A7F7C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8975" y="10793291"/>
            <a:ext cx="260088" cy="273783"/>
          </a:xfrm>
          <a:prstGeom prst="rect">
            <a:avLst/>
          </a:prstGeom>
        </p:spPr>
      </p:pic>
      <p:pic>
        <p:nvPicPr>
          <p:cNvPr id="52" name="Grafik 51">
            <a:extLst>
              <a:ext uri="{FF2B5EF4-FFF2-40B4-BE49-F238E27FC236}">
                <a16:creationId xmlns:a16="http://schemas.microsoft.com/office/drawing/2014/main" id="{ED8304CB-60E8-CF50-67B6-A0D2890F542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397723" y="5958474"/>
            <a:ext cx="447675" cy="439333"/>
          </a:xfrm>
          <a:prstGeom prst="rect">
            <a:avLst/>
          </a:prstGeom>
        </p:spPr>
      </p:pic>
      <p:sp>
        <p:nvSpPr>
          <p:cNvPr id="53" name="Rechteck 52">
            <a:extLst>
              <a:ext uri="{FF2B5EF4-FFF2-40B4-BE49-F238E27FC236}">
                <a16:creationId xmlns:a16="http://schemas.microsoft.com/office/drawing/2014/main" id="{0CB49B7E-39F6-8FA1-969C-E823B6707C2C}"/>
              </a:ext>
            </a:extLst>
          </p:cNvPr>
          <p:cNvSpPr/>
          <p:nvPr/>
        </p:nvSpPr>
        <p:spPr>
          <a:xfrm>
            <a:off x="4699863" y="5619141"/>
            <a:ext cx="1571625" cy="829711"/>
          </a:xfrm>
          <a:prstGeom prst="rect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800"/>
              <a:t>Create new MIM in CONFIGfile of MM</a:t>
            </a:r>
          </a:p>
          <a:p>
            <a:endParaRPr lang="de-DE" sz="800"/>
          </a:p>
          <a:p>
            <a:r>
              <a:rPr lang="de-DE" sz="800"/>
              <a:t>Create new mediatorVm of defined mediatorVmTemplate in internal data</a:t>
            </a:r>
          </a:p>
          <a:p>
            <a:r>
              <a:rPr lang="de-DE" sz="800"/>
              <a:t> </a:t>
            </a:r>
          </a:p>
        </p:txBody>
      </p:sp>
      <p:cxnSp>
        <p:nvCxnSpPr>
          <p:cNvPr id="54" name="Gerade Verbindung mit Pfeil 53">
            <a:extLst>
              <a:ext uri="{FF2B5EF4-FFF2-40B4-BE49-F238E27FC236}">
                <a16:creationId xmlns:a16="http://schemas.microsoft.com/office/drawing/2014/main" id="{364C45C3-6320-2BE5-6D29-5D768A0B74C2}"/>
              </a:ext>
            </a:extLst>
          </p:cNvPr>
          <p:cNvCxnSpPr>
            <a:cxnSpLocks/>
          </p:cNvCxnSpPr>
          <p:nvPr/>
        </p:nvCxnSpPr>
        <p:spPr>
          <a:xfrm>
            <a:off x="760326" y="6095862"/>
            <a:ext cx="3939537" cy="1666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feld 54">
            <a:extLst>
              <a:ext uri="{FF2B5EF4-FFF2-40B4-BE49-F238E27FC236}">
                <a16:creationId xmlns:a16="http://schemas.microsoft.com/office/drawing/2014/main" id="{7ADFF6E2-BED2-7001-6D8F-FB1B1141882C}"/>
              </a:ext>
            </a:extLst>
          </p:cNvPr>
          <p:cNvSpPr txBox="1"/>
          <p:nvPr/>
        </p:nvSpPr>
        <p:spPr>
          <a:xfrm>
            <a:off x="2294672" y="5866314"/>
            <a:ext cx="2397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de-DE" sz="1000"/>
              <a:t>/v1/regard-mediator-instance-manager</a:t>
            </a:r>
          </a:p>
        </p:txBody>
      </p:sp>
      <p:cxnSp>
        <p:nvCxnSpPr>
          <p:cNvPr id="58" name="Gerade Verbindung mit Pfeil 57">
            <a:extLst>
              <a:ext uri="{FF2B5EF4-FFF2-40B4-BE49-F238E27FC236}">
                <a16:creationId xmlns:a16="http://schemas.microsoft.com/office/drawing/2014/main" id="{A54EFF6E-FB0C-128D-DA81-486F143823EE}"/>
              </a:ext>
            </a:extLst>
          </p:cNvPr>
          <p:cNvCxnSpPr>
            <a:cxnSpLocks/>
          </p:cNvCxnSpPr>
          <p:nvPr/>
        </p:nvCxnSpPr>
        <p:spPr>
          <a:xfrm flipH="1">
            <a:off x="808595" y="6321602"/>
            <a:ext cx="3891262" cy="0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Textfeld 59">
            <a:extLst>
              <a:ext uri="{FF2B5EF4-FFF2-40B4-BE49-F238E27FC236}">
                <a16:creationId xmlns:a16="http://schemas.microsoft.com/office/drawing/2014/main" id="{0EE42FE5-8A58-E39B-A6C9-FAEC5A5A3985}"/>
              </a:ext>
            </a:extLst>
          </p:cNvPr>
          <p:cNvSpPr txBox="1"/>
          <p:nvPr/>
        </p:nvSpPr>
        <p:spPr>
          <a:xfrm>
            <a:off x="826998" y="6278338"/>
            <a:ext cx="82907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/>
              <a:t>204 / 500 …</a:t>
            </a:r>
          </a:p>
        </p:txBody>
      </p:sp>
      <p:sp>
        <p:nvSpPr>
          <p:cNvPr id="65" name="Rechteck 64">
            <a:extLst>
              <a:ext uri="{FF2B5EF4-FFF2-40B4-BE49-F238E27FC236}">
                <a16:creationId xmlns:a16="http://schemas.microsoft.com/office/drawing/2014/main" id="{B91D68D4-8FDC-2F63-0B78-6959E36F48EA}"/>
              </a:ext>
            </a:extLst>
          </p:cNvPr>
          <p:cNvSpPr/>
          <p:nvPr/>
        </p:nvSpPr>
        <p:spPr>
          <a:xfrm>
            <a:off x="16829126" y="7854080"/>
            <a:ext cx="1798430" cy="169415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r>
              <a:rPr lang="de-DE" sz="800" i="1"/>
              <a:t>EmptyMediatorVmEraser</a:t>
            </a:r>
            <a:endParaRPr lang="de-DE" sz="800"/>
          </a:p>
          <a:p>
            <a:endParaRPr lang="de-DE" sz="800"/>
          </a:p>
          <a:p>
            <a:endParaRPr lang="de-DE" sz="800"/>
          </a:p>
          <a:p>
            <a:r>
              <a:rPr lang="de-DE" sz="800"/>
              <a:t>Go slowly through all mediatorVms</a:t>
            </a:r>
          </a:p>
          <a:p>
            <a:endParaRPr lang="de-DE" sz="800"/>
          </a:p>
          <a:p>
            <a:r>
              <a:rPr lang="de-DE" sz="800"/>
              <a:t>IF mediatorVm is marked to be  deprecated AND number of mediatorProcesses==0</a:t>
            </a:r>
          </a:p>
          <a:p>
            <a:endParaRPr lang="de-DE" sz="800"/>
          </a:p>
          <a:p>
            <a:r>
              <a:rPr lang="de-DE" sz="800"/>
              <a:t>THEN </a:t>
            </a:r>
          </a:p>
          <a:p>
            <a:pPr marL="171450" indent="-171450">
              <a:buFontTx/>
              <a:buChar char="-"/>
            </a:pPr>
            <a:r>
              <a:rPr lang="de-DE" sz="800"/>
              <a:t>delete MIM from CONFIGfile</a:t>
            </a:r>
          </a:p>
          <a:p>
            <a:pPr marL="171450" indent="-171450">
              <a:buFontTx/>
              <a:buChar char="-"/>
            </a:pPr>
            <a:r>
              <a:rPr lang="de-DE" sz="800"/>
              <a:t>delete mediatorVm from AppDATA</a:t>
            </a:r>
          </a:p>
          <a:p>
            <a:pPr marL="171450" indent="-171450">
              <a:buFontTx/>
              <a:buChar char="-"/>
            </a:pPr>
            <a:endParaRPr lang="de-DE" sz="800"/>
          </a:p>
          <a:p>
            <a:pPr marL="171450" indent="-171450">
              <a:buFontTx/>
              <a:buChar char="-"/>
            </a:pPr>
            <a:endParaRPr lang="de-DE" sz="800"/>
          </a:p>
        </p:txBody>
      </p:sp>
      <p:pic>
        <p:nvPicPr>
          <p:cNvPr id="66" name="Grafik 65">
            <a:extLst>
              <a:ext uri="{FF2B5EF4-FFF2-40B4-BE49-F238E27FC236}">
                <a16:creationId xmlns:a16="http://schemas.microsoft.com/office/drawing/2014/main" id="{CF2B14E0-79EE-778B-31F8-147AF761DB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878931" y="7929601"/>
            <a:ext cx="260088" cy="251271"/>
          </a:xfrm>
          <a:prstGeom prst="rect">
            <a:avLst/>
          </a:prstGeom>
        </p:spPr>
      </p:pic>
      <p:cxnSp>
        <p:nvCxnSpPr>
          <p:cNvPr id="94" name="Verbinder: gekrümmt 93">
            <a:extLst>
              <a:ext uri="{FF2B5EF4-FFF2-40B4-BE49-F238E27FC236}">
                <a16:creationId xmlns:a16="http://schemas.microsoft.com/office/drawing/2014/main" id="{FAA648C8-F1C2-EED5-2050-3327EE9688C6}"/>
              </a:ext>
            </a:extLst>
          </p:cNvPr>
          <p:cNvCxnSpPr>
            <a:cxnSpLocks/>
            <a:stCxn id="96" idx="6"/>
            <a:endCxn id="77" idx="0"/>
          </p:cNvCxnSpPr>
          <p:nvPr/>
        </p:nvCxnSpPr>
        <p:spPr>
          <a:xfrm>
            <a:off x="9428515" y="11266030"/>
            <a:ext cx="2947109" cy="923927"/>
          </a:xfrm>
          <a:prstGeom prst="curvedConnector2">
            <a:avLst/>
          </a:prstGeom>
          <a:ln>
            <a:solidFill>
              <a:schemeClr val="accent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9" name="Zylinder 98">
            <a:extLst>
              <a:ext uri="{FF2B5EF4-FFF2-40B4-BE49-F238E27FC236}">
                <a16:creationId xmlns:a16="http://schemas.microsoft.com/office/drawing/2014/main" id="{891D0F3E-4EDF-452F-15BB-368A6160A5A0}"/>
              </a:ext>
            </a:extLst>
          </p:cNvPr>
          <p:cNvSpPr/>
          <p:nvPr/>
        </p:nvSpPr>
        <p:spPr>
          <a:xfrm>
            <a:off x="10851196" y="6505010"/>
            <a:ext cx="1461538" cy="541614"/>
          </a:xfrm>
          <a:prstGeom prst="can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/>
              <a:t>AppDATA</a:t>
            </a:r>
            <a:br>
              <a:rPr lang="de-DE" sz="1050"/>
            </a:br>
            <a:r>
              <a:rPr lang="de-DE" sz="1050"/>
              <a:t>(ElasticSearch)</a:t>
            </a:r>
          </a:p>
        </p:txBody>
      </p:sp>
      <p:cxnSp>
        <p:nvCxnSpPr>
          <p:cNvPr id="102" name="Verbinder: gekrümmt 101">
            <a:extLst>
              <a:ext uri="{FF2B5EF4-FFF2-40B4-BE49-F238E27FC236}">
                <a16:creationId xmlns:a16="http://schemas.microsoft.com/office/drawing/2014/main" id="{4A175909-FAD8-251A-99E3-765E8C9D63C1}"/>
              </a:ext>
            </a:extLst>
          </p:cNvPr>
          <p:cNvCxnSpPr>
            <a:cxnSpLocks/>
            <a:stCxn id="100" idx="6"/>
            <a:endCxn id="99" idx="1"/>
          </p:cNvCxnSpPr>
          <p:nvPr/>
        </p:nvCxnSpPr>
        <p:spPr>
          <a:xfrm flipV="1">
            <a:off x="9429854" y="6505010"/>
            <a:ext cx="2152113" cy="5081478"/>
          </a:xfrm>
          <a:prstGeom prst="curvedConnector4">
            <a:avLst>
              <a:gd name="adj1" fmla="val 33022"/>
              <a:gd name="adj2" fmla="val 104499"/>
            </a:avLst>
          </a:prstGeom>
          <a:ln>
            <a:solidFill>
              <a:schemeClr val="accent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Rechteck 74">
            <a:extLst>
              <a:ext uri="{FF2B5EF4-FFF2-40B4-BE49-F238E27FC236}">
                <a16:creationId xmlns:a16="http://schemas.microsoft.com/office/drawing/2014/main" id="{20FFD60F-206D-CB5E-071D-9AF309A2C14D}"/>
              </a:ext>
            </a:extLst>
          </p:cNvPr>
          <p:cNvSpPr/>
          <p:nvPr/>
        </p:nvSpPr>
        <p:spPr>
          <a:xfrm>
            <a:off x="7770877" y="10937557"/>
            <a:ext cx="1665303" cy="3139440"/>
          </a:xfrm>
          <a:prstGeom prst="rect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800" i="1"/>
              <a:t>NetconfConnectionBuilder</a:t>
            </a:r>
          </a:p>
          <a:p>
            <a:endParaRPr lang="de-DE" sz="800"/>
          </a:p>
          <a:p>
            <a:endParaRPr lang="de-DE" sz="800"/>
          </a:p>
          <a:p>
            <a:r>
              <a:rPr lang="de-DE" sz="800"/>
              <a:t>Prepare device (if not 204, create alarm in AppDATA)</a:t>
            </a:r>
          </a:p>
          <a:p>
            <a:r>
              <a:rPr lang="de-DE" sz="800"/>
              <a:t>Add SnmpServers to AppDATA</a:t>
            </a:r>
          </a:p>
          <a:p>
            <a:endParaRPr lang="de-DE" sz="800"/>
          </a:p>
          <a:p>
            <a:r>
              <a:rPr lang="de-DE" sz="800"/>
              <a:t>Pick mediatorVm in </a:t>
            </a:r>
            <a:r>
              <a:rPr lang="de-DE" sz="800" i="1"/>
              <a:t>installed </a:t>
            </a:r>
            <a:r>
              <a:rPr lang="de-DE" sz="800"/>
              <a:t>and </a:t>
            </a:r>
            <a:r>
              <a:rPr lang="de-DE" sz="800" i="1"/>
              <a:t>enabled</a:t>
            </a:r>
            <a:r>
              <a:rPr lang="de-DE" sz="800"/>
              <a:t> states with lowest number of mediatorProcesses</a:t>
            </a:r>
          </a:p>
          <a:p>
            <a:endParaRPr lang="de-DE" sz="800"/>
          </a:p>
          <a:p>
            <a:r>
              <a:rPr lang="de-DE" sz="800"/>
              <a:t>Create mediatorProcess</a:t>
            </a:r>
          </a:p>
          <a:p>
            <a:endParaRPr lang="de-DE" sz="800"/>
          </a:p>
          <a:p>
            <a:r>
              <a:rPr lang="de-DE" sz="800"/>
              <a:t>add to AppDATA:</a:t>
            </a:r>
          </a:p>
          <a:p>
            <a:pPr marL="171450" indent="-171450">
              <a:buFontTx/>
              <a:buChar char="-"/>
            </a:pPr>
            <a:r>
              <a:rPr lang="de-DE" sz="800"/>
              <a:t>mediatorProcess </a:t>
            </a:r>
          </a:p>
          <a:p>
            <a:pPr marL="171450" indent="-171450">
              <a:buFontTx/>
              <a:buChar char="-"/>
            </a:pPr>
            <a:r>
              <a:rPr lang="de-DE" sz="800"/>
              <a:t>(update NetconClient at Controller)</a:t>
            </a:r>
          </a:p>
          <a:p>
            <a:pPr marL="171450" indent="-171450">
              <a:buFontTx/>
              <a:buChar char="-"/>
            </a:pPr>
            <a:r>
              <a:rPr lang="de-DE" sz="800"/>
              <a:t>Snmp connection</a:t>
            </a:r>
          </a:p>
          <a:p>
            <a:pPr marL="171450" indent="-171450">
              <a:buFontTx/>
              <a:buChar char="-"/>
            </a:pPr>
            <a:r>
              <a:rPr lang="de-DE" sz="800"/>
              <a:t>Netconf connection</a:t>
            </a:r>
          </a:p>
          <a:p>
            <a:endParaRPr lang="de-DE" sz="800"/>
          </a:p>
          <a:p>
            <a:r>
              <a:rPr lang="de-DE" sz="800"/>
              <a:t>Meassure operationalState of netconfInterface</a:t>
            </a:r>
          </a:p>
          <a:p>
            <a:endParaRPr lang="de-DE" sz="800"/>
          </a:p>
          <a:p>
            <a:r>
              <a:rPr lang="de-DE" sz="800"/>
              <a:t>Update AppDATA with operationalState</a:t>
            </a:r>
          </a:p>
        </p:txBody>
      </p:sp>
      <p:sp>
        <p:nvSpPr>
          <p:cNvPr id="96" name="Ellipse 95">
            <a:extLst>
              <a:ext uri="{FF2B5EF4-FFF2-40B4-BE49-F238E27FC236}">
                <a16:creationId xmlns:a16="http://schemas.microsoft.com/office/drawing/2014/main" id="{F17CEFED-6C55-18CE-0DC0-A02405C77B87}"/>
              </a:ext>
            </a:extLst>
          </p:cNvPr>
          <p:cNvSpPr/>
          <p:nvPr/>
        </p:nvSpPr>
        <p:spPr>
          <a:xfrm>
            <a:off x="9382796" y="11241828"/>
            <a:ext cx="45719" cy="48407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0" name="Ellipse 99">
            <a:extLst>
              <a:ext uri="{FF2B5EF4-FFF2-40B4-BE49-F238E27FC236}">
                <a16:creationId xmlns:a16="http://schemas.microsoft.com/office/drawing/2014/main" id="{0316B798-F84B-8F58-B450-28890D99FD37}"/>
              </a:ext>
            </a:extLst>
          </p:cNvPr>
          <p:cNvSpPr/>
          <p:nvPr/>
        </p:nvSpPr>
        <p:spPr>
          <a:xfrm>
            <a:off x="9384135" y="11562288"/>
            <a:ext cx="45719" cy="48407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63" name="Ellipse 162">
            <a:extLst>
              <a:ext uri="{FF2B5EF4-FFF2-40B4-BE49-F238E27FC236}">
                <a16:creationId xmlns:a16="http://schemas.microsoft.com/office/drawing/2014/main" id="{64EE5B7C-EB86-A4BA-C1DC-A5CF5509B0DF}"/>
              </a:ext>
            </a:extLst>
          </p:cNvPr>
          <p:cNvSpPr/>
          <p:nvPr/>
        </p:nvSpPr>
        <p:spPr>
          <a:xfrm>
            <a:off x="9343212" y="13379753"/>
            <a:ext cx="45719" cy="48407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66" name="Ellipse 165">
            <a:extLst>
              <a:ext uri="{FF2B5EF4-FFF2-40B4-BE49-F238E27FC236}">
                <a16:creationId xmlns:a16="http://schemas.microsoft.com/office/drawing/2014/main" id="{628ABCC8-58C9-4BCD-7F8B-F84942659C2C}"/>
              </a:ext>
            </a:extLst>
          </p:cNvPr>
          <p:cNvSpPr/>
          <p:nvPr/>
        </p:nvSpPr>
        <p:spPr>
          <a:xfrm>
            <a:off x="9320353" y="12111735"/>
            <a:ext cx="45719" cy="48407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86" name="Ellipse 185">
            <a:extLst>
              <a:ext uri="{FF2B5EF4-FFF2-40B4-BE49-F238E27FC236}">
                <a16:creationId xmlns:a16="http://schemas.microsoft.com/office/drawing/2014/main" id="{3D249596-FA55-E138-EB1E-1CF618EE9902}"/>
              </a:ext>
            </a:extLst>
          </p:cNvPr>
          <p:cNvSpPr/>
          <p:nvPr/>
        </p:nvSpPr>
        <p:spPr>
          <a:xfrm>
            <a:off x="9357109" y="12842675"/>
            <a:ext cx="45719" cy="48407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05" name="Rechteck 204">
            <a:extLst>
              <a:ext uri="{FF2B5EF4-FFF2-40B4-BE49-F238E27FC236}">
                <a16:creationId xmlns:a16="http://schemas.microsoft.com/office/drawing/2014/main" id="{25949520-17DD-825A-771B-50A9F85D5649}"/>
              </a:ext>
            </a:extLst>
          </p:cNvPr>
          <p:cNvSpPr/>
          <p:nvPr/>
        </p:nvSpPr>
        <p:spPr>
          <a:xfrm>
            <a:off x="10803999" y="7295984"/>
            <a:ext cx="1571625" cy="1507975"/>
          </a:xfrm>
          <a:prstGeom prst="rect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800" i="1"/>
              <a:t>MediatorVmReconciler</a:t>
            </a:r>
          </a:p>
          <a:p>
            <a:endParaRPr lang="de-DE" sz="800"/>
          </a:p>
          <a:p>
            <a:endParaRPr lang="de-DE" sz="800"/>
          </a:p>
          <a:p>
            <a:r>
              <a:rPr lang="de-DE" sz="800"/>
              <a:t>Regularly update AppDATA with configuration data about all mediatorVms</a:t>
            </a:r>
            <a:br>
              <a:rPr lang="de-DE" sz="800"/>
            </a:br>
            <a:endParaRPr lang="de-DE" sz="800"/>
          </a:p>
          <a:p>
            <a:r>
              <a:rPr lang="de-DE" sz="800"/>
              <a:t>IF not responding</a:t>
            </a:r>
            <a:br>
              <a:rPr lang="de-DE" sz="800"/>
            </a:br>
            <a:r>
              <a:rPr lang="de-DE" sz="800"/>
              <a:t>THEN operationState of the mediatorVM to be set to UNAVAILABLE)</a:t>
            </a:r>
          </a:p>
        </p:txBody>
      </p:sp>
      <p:pic>
        <p:nvPicPr>
          <p:cNvPr id="206" name="Grafik 205">
            <a:extLst>
              <a:ext uri="{FF2B5EF4-FFF2-40B4-BE49-F238E27FC236}">
                <a16:creationId xmlns:a16="http://schemas.microsoft.com/office/drawing/2014/main" id="{32DFB1AC-4A02-46A6-0902-CDB05ECAF17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91841" y="7357573"/>
            <a:ext cx="260088" cy="273783"/>
          </a:xfrm>
          <a:prstGeom prst="rect">
            <a:avLst/>
          </a:prstGeom>
        </p:spPr>
      </p:pic>
      <p:sp>
        <p:nvSpPr>
          <p:cNvPr id="207" name="Textfeld 206">
            <a:extLst>
              <a:ext uri="{FF2B5EF4-FFF2-40B4-BE49-F238E27FC236}">
                <a16:creationId xmlns:a16="http://schemas.microsoft.com/office/drawing/2014/main" id="{7B3F1610-212D-C5AF-6461-4AF848173708}"/>
              </a:ext>
            </a:extLst>
          </p:cNvPr>
          <p:cNvSpPr txBox="1"/>
          <p:nvPr/>
        </p:nvSpPr>
        <p:spPr>
          <a:xfrm rot="3530940">
            <a:off x="9607898" y="12812987"/>
            <a:ext cx="192178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600"/>
              <a:t>/v1/provide-mediator-instance</a:t>
            </a:r>
          </a:p>
          <a:p>
            <a:r>
              <a:rPr lang="de-DE" sz="600"/>
              <a:t>{deviceName, deviceIp, deviceModel}</a:t>
            </a:r>
          </a:p>
        </p:txBody>
      </p:sp>
      <p:cxnSp>
        <p:nvCxnSpPr>
          <p:cNvPr id="208" name="Verbinder: gekrümmt 207">
            <a:extLst>
              <a:ext uri="{FF2B5EF4-FFF2-40B4-BE49-F238E27FC236}">
                <a16:creationId xmlns:a16="http://schemas.microsoft.com/office/drawing/2014/main" id="{03D99CD0-D661-AEB6-B7DB-B8279173FD62}"/>
              </a:ext>
            </a:extLst>
          </p:cNvPr>
          <p:cNvCxnSpPr>
            <a:cxnSpLocks/>
            <a:stCxn id="205" idx="2"/>
            <a:endCxn id="366" idx="1"/>
          </p:cNvCxnSpPr>
          <p:nvPr/>
        </p:nvCxnSpPr>
        <p:spPr>
          <a:xfrm rot="5400000">
            <a:off x="8931602" y="10882283"/>
            <a:ext cx="4736535" cy="579887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6" name="Textfeld 215">
            <a:extLst>
              <a:ext uri="{FF2B5EF4-FFF2-40B4-BE49-F238E27FC236}">
                <a16:creationId xmlns:a16="http://schemas.microsoft.com/office/drawing/2014/main" id="{FB2DD6AF-ADEF-2063-C223-F2D4C5A446DF}"/>
              </a:ext>
            </a:extLst>
          </p:cNvPr>
          <p:cNvSpPr txBox="1"/>
          <p:nvPr/>
        </p:nvSpPr>
        <p:spPr>
          <a:xfrm rot="16538606">
            <a:off x="10048009" y="12303099"/>
            <a:ext cx="1921780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600"/>
              <a:t>/v1/list-mediator-instances</a:t>
            </a:r>
          </a:p>
        </p:txBody>
      </p:sp>
      <p:cxnSp>
        <p:nvCxnSpPr>
          <p:cNvPr id="217" name="Verbinder: gekrümmt 216">
            <a:extLst>
              <a:ext uri="{FF2B5EF4-FFF2-40B4-BE49-F238E27FC236}">
                <a16:creationId xmlns:a16="http://schemas.microsoft.com/office/drawing/2014/main" id="{1A29FBAB-E411-12EF-C0AC-859391AAC5FF}"/>
              </a:ext>
            </a:extLst>
          </p:cNvPr>
          <p:cNvCxnSpPr>
            <a:cxnSpLocks/>
            <a:stCxn id="205" idx="0"/>
            <a:endCxn id="99" idx="3"/>
          </p:cNvCxnSpPr>
          <p:nvPr/>
        </p:nvCxnSpPr>
        <p:spPr>
          <a:xfrm rot="16200000" flipV="1">
            <a:off x="11461209" y="7167382"/>
            <a:ext cx="249358" cy="7845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3" name="Ellipse 232">
            <a:extLst>
              <a:ext uri="{FF2B5EF4-FFF2-40B4-BE49-F238E27FC236}">
                <a16:creationId xmlns:a16="http://schemas.microsoft.com/office/drawing/2014/main" id="{5A08106D-934F-EB86-4CA1-0A5FF2908077}"/>
              </a:ext>
            </a:extLst>
          </p:cNvPr>
          <p:cNvSpPr/>
          <p:nvPr/>
        </p:nvSpPr>
        <p:spPr>
          <a:xfrm>
            <a:off x="15775657" y="10048600"/>
            <a:ext cx="45719" cy="45719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36" name="Ellipse 235">
            <a:extLst>
              <a:ext uri="{FF2B5EF4-FFF2-40B4-BE49-F238E27FC236}">
                <a16:creationId xmlns:a16="http://schemas.microsoft.com/office/drawing/2014/main" id="{EFFB7ABE-B8F6-7B01-1534-91C8EEE1822D}"/>
              </a:ext>
            </a:extLst>
          </p:cNvPr>
          <p:cNvSpPr/>
          <p:nvPr/>
        </p:nvSpPr>
        <p:spPr>
          <a:xfrm>
            <a:off x="9343213" y="12586718"/>
            <a:ext cx="45719" cy="45719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37" name="Ellipse 236">
            <a:extLst>
              <a:ext uri="{FF2B5EF4-FFF2-40B4-BE49-F238E27FC236}">
                <a16:creationId xmlns:a16="http://schemas.microsoft.com/office/drawing/2014/main" id="{68D95A02-3B3D-25B5-488B-B9B18912DDAC}"/>
              </a:ext>
            </a:extLst>
          </p:cNvPr>
          <p:cNvSpPr/>
          <p:nvPr/>
        </p:nvSpPr>
        <p:spPr>
          <a:xfrm>
            <a:off x="6233978" y="11165797"/>
            <a:ext cx="45719" cy="45719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39" name="Ellipse 238">
            <a:extLst>
              <a:ext uri="{FF2B5EF4-FFF2-40B4-BE49-F238E27FC236}">
                <a16:creationId xmlns:a16="http://schemas.microsoft.com/office/drawing/2014/main" id="{699FEFDF-5F9D-D272-08D7-FC35BCE49259}"/>
              </a:ext>
            </a:extLst>
          </p:cNvPr>
          <p:cNvSpPr/>
          <p:nvPr/>
        </p:nvSpPr>
        <p:spPr>
          <a:xfrm>
            <a:off x="15777190" y="10400980"/>
            <a:ext cx="45719" cy="45719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47" name="Ellipse 246">
            <a:extLst>
              <a:ext uri="{FF2B5EF4-FFF2-40B4-BE49-F238E27FC236}">
                <a16:creationId xmlns:a16="http://schemas.microsoft.com/office/drawing/2014/main" id="{251A60F8-F452-DA9F-FF1A-280D4C63F686}"/>
              </a:ext>
            </a:extLst>
          </p:cNvPr>
          <p:cNvSpPr/>
          <p:nvPr/>
        </p:nvSpPr>
        <p:spPr>
          <a:xfrm>
            <a:off x="6215194" y="9634528"/>
            <a:ext cx="45719" cy="45719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50" name="Ellipse 249">
            <a:extLst>
              <a:ext uri="{FF2B5EF4-FFF2-40B4-BE49-F238E27FC236}">
                <a16:creationId xmlns:a16="http://schemas.microsoft.com/office/drawing/2014/main" id="{65F29E2F-51E4-E254-C00D-19FC22B9266A}"/>
              </a:ext>
            </a:extLst>
          </p:cNvPr>
          <p:cNvSpPr/>
          <p:nvPr/>
        </p:nvSpPr>
        <p:spPr>
          <a:xfrm>
            <a:off x="16856073" y="3347369"/>
            <a:ext cx="45719" cy="45719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51" name="Ellipse 250">
            <a:extLst>
              <a:ext uri="{FF2B5EF4-FFF2-40B4-BE49-F238E27FC236}">
                <a16:creationId xmlns:a16="http://schemas.microsoft.com/office/drawing/2014/main" id="{C90EDC9F-D9EE-82C5-8D77-44BDA50CEFAB}"/>
              </a:ext>
            </a:extLst>
          </p:cNvPr>
          <p:cNvSpPr/>
          <p:nvPr/>
        </p:nvSpPr>
        <p:spPr>
          <a:xfrm>
            <a:off x="6207982" y="9194914"/>
            <a:ext cx="45719" cy="45719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0870663B-C73A-4771-A211-4239452F5C6F}"/>
              </a:ext>
            </a:extLst>
          </p:cNvPr>
          <p:cNvSpPr/>
          <p:nvPr/>
        </p:nvSpPr>
        <p:spPr>
          <a:xfrm>
            <a:off x="4691698" y="4230880"/>
            <a:ext cx="1579788" cy="1208742"/>
          </a:xfrm>
          <a:prstGeom prst="rect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800"/>
              <a:t>IF an additional interface can be provided without exceeding the engineering limit</a:t>
            </a:r>
          </a:p>
          <a:p>
            <a:r>
              <a:rPr lang="de-DE" sz="800"/>
              <a:t>THEN</a:t>
            </a:r>
          </a:p>
          <a:p>
            <a:pPr marL="171450" indent="-171450">
              <a:buFontTx/>
              <a:buChar char="-"/>
            </a:pPr>
            <a:r>
              <a:rPr lang="de-DE" sz="800"/>
              <a:t>add device to targetState</a:t>
            </a:r>
          </a:p>
          <a:p>
            <a:pPr marL="171450" indent="-171450">
              <a:buFontTx/>
              <a:buChar char="-"/>
            </a:pPr>
            <a:r>
              <a:rPr lang="de-DE" sz="800"/>
              <a:t>add mountPoint to targetState</a:t>
            </a:r>
          </a:p>
          <a:p>
            <a:pPr marL="171450" indent="-171450">
              <a:buFontTx/>
              <a:buChar char="-"/>
            </a:pPr>
            <a:r>
              <a:rPr lang="de-DE" sz="800">
                <a:solidFill>
                  <a:srgbClr val="FF0000"/>
                </a:solidFill>
              </a:rPr>
              <a:t>add to createQueue</a:t>
            </a:r>
          </a:p>
          <a:p>
            <a:r>
              <a:rPr lang="de-DE" sz="800"/>
              <a:t>ELSE respond error code</a:t>
            </a:r>
          </a:p>
        </p:txBody>
      </p:sp>
      <p:sp>
        <p:nvSpPr>
          <p:cNvPr id="248" name="Ellipse 247">
            <a:extLst>
              <a:ext uri="{FF2B5EF4-FFF2-40B4-BE49-F238E27FC236}">
                <a16:creationId xmlns:a16="http://schemas.microsoft.com/office/drawing/2014/main" id="{A692FBE6-EE2E-AF3B-EC93-8B8A9207898A}"/>
              </a:ext>
            </a:extLst>
          </p:cNvPr>
          <p:cNvSpPr/>
          <p:nvPr/>
        </p:nvSpPr>
        <p:spPr>
          <a:xfrm>
            <a:off x="6178143" y="5068497"/>
            <a:ext cx="45719" cy="45719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52" name="Ellipse 251">
            <a:extLst>
              <a:ext uri="{FF2B5EF4-FFF2-40B4-BE49-F238E27FC236}">
                <a16:creationId xmlns:a16="http://schemas.microsoft.com/office/drawing/2014/main" id="{913FE3AE-A440-CC21-792C-79FD25782F18}"/>
              </a:ext>
            </a:extLst>
          </p:cNvPr>
          <p:cNvSpPr/>
          <p:nvPr/>
        </p:nvSpPr>
        <p:spPr>
          <a:xfrm>
            <a:off x="6153346" y="4804616"/>
            <a:ext cx="45719" cy="45719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53" name="Ellipse 252">
            <a:extLst>
              <a:ext uri="{FF2B5EF4-FFF2-40B4-BE49-F238E27FC236}">
                <a16:creationId xmlns:a16="http://schemas.microsoft.com/office/drawing/2014/main" id="{C6D8E57B-9A7E-DB25-D05B-D55D542817D4}"/>
              </a:ext>
            </a:extLst>
          </p:cNvPr>
          <p:cNvSpPr/>
          <p:nvPr/>
        </p:nvSpPr>
        <p:spPr>
          <a:xfrm>
            <a:off x="6160805" y="4386572"/>
            <a:ext cx="45719" cy="45719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255" name="Verbinder: gekrümmt 254">
            <a:extLst>
              <a:ext uri="{FF2B5EF4-FFF2-40B4-BE49-F238E27FC236}">
                <a16:creationId xmlns:a16="http://schemas.microsoft.com/office/drawing/2014/main" id="{7AEAA726-2F8B-A437-D670-2CD4209FF0BB}"/>
              </a:ext>
            </a:extLst>
          </p:cNvPr>
          <p:cNvCxnSpPr>
            <a:cxnSpLocks/>
            <a:stCxn id="253" idx="6"/>
            <a:endCxn id="7" idx="2"/>
          </p:cNvCxnSpPr>
          <p:nvPr/>
        </p:nvCxnSpPr>
        <p:spPr>
          <a:xfrm>
            <a:off x="6206524" y="4409432"/>
            <a:ext cx="2564989" cy="4572483"/>
          </a:xfrm>
          <a:prstGeom prst="curvedConnector3">
            <a:avLst>
              <a:gd name="adj1" fmla="val 50000"/>
            </a:avLst>
          </a:prstGeom>
          <a:ln>
            <a:solidFill>
              <a:schemeClr val="accent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0" name="Verbinder: gekrümmt 259">
            <a:extLst>
              <a:ext uri="{FF2B5EF4-FFF2-40B4-BE49-F238E27FC236}">
                <a16:creationId xmlns:a16="http://schemas.microsoft.com/office/drawing/2014/main" id="{E162F2CB-7C2A-AD67-4219-003FF27FD4F3}"/>
              </a:ext>
            </a:extLst>
          </p:cNvPr>
          <p:cNvCxnSpPr>
            <a:cxnSpLocks/>
            <a:stCxn id="53" idx="3"/>
            <a:endCxn id="99" idx="3"/>
          </p:cNvCxnSpPr>
          <p:nvPr/>
        </p:nvCxnSpPr>
        <p:spPr>
          <a:xfrm>
            <a:off x="6271488" y="6033997"/>
            <a:ext cx="5310479" cy="1012629"/>
          </a:xfrm>
          <a:prstGeom prst="curvedConnector4">
            <a:avLst>
              <a:gd name="adj1" fmla="val 43120"/>
              <a:gd name="adj2" fmla="val 122575"/>
            </a:avLst>
          </a:prstGeom>
          <a:ln>
            <a:solidFill>
              <a:schemeClr val="accent6">
                <a:lumMod val="20000"/>
                <a:lumOff val="8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5" name="Verbinder: gekrümmt 264">
            <a:extLst>
              <a:ext uri="{FF2B5EF4-FFF2-40B4-BE49-F238E27FC236}">
                <a16:creationId xmlns:a16="http://schemas.microsoft.com/office/drawing/2014/main" id="{503582BC-0E02-58A4-A693-1CBB2113D5CD}"/>
              </a:ext>
            </a:extLst>
          </p:cNvPr>
          <p:cNvCxnSpPr>
            <a:cxnSpLocks/>
            <a:stCxn id="243" idx="7"/>
            <a:endCxn id="99" idx="1"/>
          </p:cNvCxnSpPr>
          <p:nvPr/>
        </p:nvCxnSpPr>
        <p:spPr>
          <a:xfrm rot="5400000" flipH="1" flipV="1">
            <a:off x="8616166" y="4132158"/>
            <a:ext cx="592949" cy="5338654"/>
          </a:xfrm>
          <a:prstGeom prst="curvedConnector3">
            <a:avLst>
              <a:gd name="adj1" fmla="val 138553"/>
            </a:avLst>
          </a:prstGeom>
          <a:ln>
            <a:solidFill>
              <a:schemeClr val="accent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74" name="Gruppieren 273">
            <a:extLst>
              <a:ext uri="{FF2B5EF4-FFF2-40B4-BE49-F238E27FC236}">
                <a16:creationId xmlns:a16="http://schemas.microsoft.com/office/drawing/2014/main" id="{B6F62F1F-22A3-BA43-A9C9-60D2BA520C01}"/>
              </a:ext>
            </a:extLst>
          </p:cNvPr>
          <p:cNvGrpSpPr/>
          <p:nvPr/>
        </p:nvGrpSpPr>
        <p:grpSpPr>
          <a:xfrm>
            <a:off x="4699868" y="6634086"/>
            <a:ext cx="1571625" cy="2213250"/>
            <a:chOff x="4699866" y="3563189"/>
            <a:chExt cx="1571625" cy="2213250"/>
          </a:xfrm>
        </p:grpSpPr>
        <p:sp>
          <p:nvSpPr>
            <p:cNvPr id="39" name="Rechteck 38">
              <a:extLst>
                <a:ext uri="{FF2B5EF4-FFF2-40B4-BE49-F238E27FC236}">
                  <a16:creationId xmlns:a16="http://schemas.microsoft.com/office/drawing/2014/main" id="{0A919349-A95E-3FB9-AA37-0D6D48B0754E}"/>
                </a:ext>
              </a:extLst>
            </p:cNvPr>
            <p:cNvSpPr/>
            <p:nvPr/>
          </p:nvSpPr>
          <p:spPr>
            <a:xfrm>
              <a:off x="4699866" y="3563189"/>
              <a:ext cx="1571625" cy="221325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r"/>
              <a:r>
                <a:rPr lang="de-DE" sz="800" i="1"/>
                <a:t>ContinuousLoadSharing</a:t>
              </a:r>
            </a:p>
            <a:p>
              <a:endParaRPr lang="de-DE" sz="800"/>
            </a:p>
            <a:p>
              <a:endParaRPr lang="de-DE" sz="800"/>
            </a:p>
            <a:p>
              <a:r>
                <a:rPr lang="de-DE" sz="800"/>
                <a:t>Calculate average number of mediatorProcesses at available mediatorVms of same mediatorVmTemplate</a:t>
              </a:r>
            </a:p>
            <a:p>
              <a:endParaRPr lang="de-DE" sz="800"/>
            </a:p>
            <a:p>
              <a:r>
                <a:rPr lang="de-DE" sz="800"/>
                <a:t>IF some mediatorVm exceeds average by more than a </a:t>
              </a:r>
              <a:r>
                <a:rPr lang="de-DE" sz="800" i="1"/>
                <a:t>[threshold]</a:t>
              </a:r>
            </a:p>
            <a:p>
              <a:r>
                <a:rPr lang="de-DE" sz="800"/>
                <a:t>THEN </a:t>
              </a:r>
            </a:p>
            <a:p>
              <a:pPr marL="171450" indent="-171450">
                <a:buFontTx/>
                <a:buChar char="-"/>
              </a:pPr>
              <a:r>
                <a:rPr lang="de-DE" sz="800"/>
                <a:t>calculate number of mediatorProcesses to be re-allocated</a:t>
              </a:r>
            </a:p>
            <a:p>
              <a:pPr marL="171450" indent="-171450">
                <a:buFontTx/>
                <a:buChar char="-"/>
              </a:pPr>
              <a:r>
                <a:rPr lang="de-DE" sz="800"/>
                <a:t>add to createQueue</a:t>
              </a:r>
            </a:p>
            <a:p>
              <a:pPr marL="171450" indent="-171450">
                <a:buFontTx/>
                <a:buChar char="-"/>
              </a:pPr>
              <a:r>
                <a:rPr lang="de-DE" sz="800"/>
                <a:t>add to dismantleQueue</a:t>
              </a:r>
            </a:p>
            <a:p>
              <a:pPr marL="171450" indent="-171450">
                <a:buFontTx/>
                <a:buChar char="-"/>
              </a:pPr>
              <a:endParaRPr lang="de-DE" sz="800"/>
            </a:p>
            <a:p>
              <a:endParaRPr lang="de-DE" sz="800"/>
            </a:p>
          </p:txBody>
        </p:sp>
        <p:pic>
          <p:nvPicPr>
            <p:cNvPr id="41" name="Grafik 40">
              <a:extLst>
                <a:ext uri="{FF2B5EF4-FFF2-40B4-BE49-F238E27FC236}">
                  <a16:creationId xmlns:a16="http://schemas.microsoft.com/office/drawing/2014/main" id="{06E9B889-5E01-4664-FE1F-8B1AA87DF85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783360" y="3645991"/>
              <a:ext cx="260088" cy="251271"/>
            </a:xfrm>
            <a:prstGeom prst="rect">
              <a:avLst/>
            </a:prstGeom>
          </p:spPr>
        </p:pic>
        <p:sp>
          <p:nvSpPr>
            <p:cNvPr id="243" name="Ellipse 242">
              <a:extLst>
                <a:ext uri="{FF2B5EF4-FFF2-40B4-BE49-F238E27FC236}">
                  <a16:creationId xmlns:a16="http://schemas.microsoft.com/office/drawing/2014/main" id="{155E365C-AD3C-E52C-E1E7-A9A0B6D0E6D2}"/>
                </a:ext>
              </a:extLst>
            </p:cNvPr>
            <p:cNvSpPr/>
            <p:nvPr/>
          </p:nvSpPr>
          <p:spPr>
            <a:xfrm>
              <a:off x="6204287" y="4020367"/>
              <a:ext cx="45719" cy="45719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69" name="Ellipse 268">
              <a:extLst>
                <a:ext uri="{FF2B5EF4-FFF2-40B4-BE49-F238E27FC236}">
                  <a16:creationId xmlns:a16="http://schemas.microsoft.com/office/drawing/2014/main" id="{C72007A6-BE0E-D0E3-59A3-5062510B8F81}"/>
                </a:ext>
              </a:extLst>
            </p:cNvPr>
            <p:cNvSpPr/>
            <p:nvPr/>
          </p:nvSpPr>
          <p:spPr>
            <a:xfrm>
              <a:off x="6202236" y="5494665"/>
              <a:ext cx="45719" cy="45719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70" name="Ellipse 269">
              <a:extLst>
                <a:ext uri="{FF2B5EF4-FFF2-40B4-BE49-F238E27FC236}">
                  <a16:creationId xmlns:a16="http://schemas.microsoft.com/office/drawing/2014/main" id="{38997AE1-6E30-E4A9-D73F-B36BE7AA4AB6}"/>
                </a:ext>
              </a:extLst>
            </p:cNvPr>
            <p:cNvSpPr/>
            <p:nvPr/>
          </p:nvSpPr>
          <p:spPr>
            <a:xfrm>
              <a:off x="6202236" y="5608151"/>
              <a:ext cx="45719" cy="45719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cxnSp>
        <p:nvCxnSpPr>
          <p:cNvPr id="281" name="Verbinder: gekrümmt 280">
            <a:extLst>
              <a:ext uri="{FF2B5EF4-FFF2-40B4-BE49-F238E27FC236}">
                <a16:creationId xmlns:a16="http://schemas.microsoft.com/office/drawing/2014/main" id="{634204CB-EC13-119C-997C-7C9884C5DEC8}"/>
              </a:ext>
            </a:extLst>
          </p:cNvPr>
          <p:cNvCxnSpPr>
            <a:cxnSpLocks/>
            <a:stCxn id="250" idx="2"/>
            <a:endCxn id="99" idx="1"/>
          </p:cNvCxnSpPr>
          <p:nvPr/>
        </p:nvCxnSpPr>
        <p:spPr>
          <a:xfrm rot="10800000" flipV="1">
            <a:off x="11581965" y="3370228"/>
            <a:ext cx="5274106" cy="3134783"/>
          </a:xfrm>
          <a:prstGeom prst="curvedConnector2">
            <a:avLst/>
          </a:prstGeom>
          <a:ln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4" name="Verbinder: gekrümmt 293">
            <a:extLst>
              <a:ext uri="{FF2B5EF4-FFF2-40B4-BE49-F238E27FC236}">
                <a16:creationId xmlns:a16="http://schemas.microsoft.com/office/drawing/2014/main" id="{E067D299-71C2-27F9-678A-7BDD854ED661}"/>
              </a:ext>
            </a:extLst>
          </p:cNvPr>
          <p:cNvCxnSpPr>
            <a:cxnSpLocks/>
            <a:stCxn id="251" idx="6"/>
            <a:endCxn id="99" idx="1"/>
          </p:cNvCxnSpPr>
          <p:nvPr/>
        </p:nvCxnSpPr>
        <p:spPr>
          <a:xfrm flipV="1">
            <a:off x="6253699" y="6505010"/>
            <a:ext cx="5328266" cy="2712762"/>
          </a:xfrm>
          <a:prstGeom prst="curvedConnector4">
            <a:avLst>
              <a:gd name="adj1" fmla="val 43143"/>
              <a:gd name="adj2" fmla="val 108427"/>
            </a:avLst>
          </a:prstGeom>
          <a:ln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7" name="Verbinder: gekrümmt 296">
            <a:extLst>
              <a:ext uri="{FF2B5EF4-FFF2-40B4-BE49-F238E27FC236}">
                <a16:creationId xmlns:a16="http://schemas.microsoft.com/office/drawing/2014/main" id="{A53EADE9-A1A9-04F8-ED1D-624A078F0D86}"/>
              </a:ext>
            </a:extLst>
          </p:cNvPr>
          <p:cNvCxnSpPr>
            <a:cxnSpLocks/>
            <a:stCxn id="247" idx="6"/>
            <a:endCxn id="99" idx="3"/>
          </p:cNvCxnSpPr>
          <p:nvPr/>
        </p:nvCxnSpPr>
        <p:spPr>
          <a:xfrm flipV="1">
            <a:off x="6260911" y="7046624"/>
            <a:ext cx="5321054" cy="2610762"/>
          </a:xfrm>
          <a:prstGeom prst="curvedConnector2">
            <a:avLst/>
          </a:prstGeom>
          <a:ln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5" name="Verbinder: gekrümmt 304">
            <a:extLst>
              <a:ext uri="{FF2B5EF4-FFF2-40B4-BE49-F238E27FC236}">
                <a16:creationId xmlns:a16="http://schemas.microsoft.com/office/drawing/2014/main" id="{9A6FDAFC-2F83-3C10-82E9-21AD364A062C}"/>
              </a:ext>
            </a:extLst>
          </p:cNvPr>
          <p:cNvCxnSpPr>
            <a:cxnSpLocks/>
            <a:stCxn id="237" idx="7"/>
            <a:endCxn id="99" idx="1"/>
          </p:cNvCxnSpPr>
          <p:nvPr/>
        </p:nvCxnSpPr>
        <p:spPr>
          <a:xfrm rot="5400000" flipH="1" flipV="1">
            <a:off x="6593742" y="6184270"/>
            <a:ext cx="4667480" cy="5308965"/>
          </a:xfrm>
          <a:prstGeom prst="curvedConnector3">
            <a:avLst>
              <a:gd name="adj1" fmla="val 104898"/>
            </a:avLst>
          </a:prstGeom>
          <a:ln>
            <a:solidFill>
              <a:schemeClr val="accent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6" name="Ellipse 305">
            <a:extLst>
              <a:ext uri="{FF2B5EF4-FFF2-40B4-BE49-F238E27FC236}">
                <a16:creationId xmlns:a16="http://schemas.microsoft.com/office/drawing/2014/main" id="{4EDFCD88-C51B-124F-B009-FF682DA1F8D2}"/>
              </a:ext>
            </a:extLst>
          </p:cNvPr>
          <p:cNvSpPr/>
          <p:nvPr/>
        </p:nvSpPr>
        <p:spPr>
          <a:xfrm>
            <a:off x="6208340" y="11982911"/>
            <a:ext cx="45719" cy="45719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14" name="Ellipse 313">
            <a:extLst>
              <a:ext uri="{FF2B5EF4-FFF2-40B4-BE49-F238E27FC236}">
                <a16:creationId xmlns:a16="http://schemas.microsoft.com/office/drawing/2014/main" id="{C39D2EEF-7699-FF86-C89D-04ACFCF32E31}"/>
              </a:ext>
            </a:extLst>
          </p:cNvPr>
          <p:cNvSpPr/>
          <p:nvPr/>
        </p:nvSpPr>
        <p:spPr>
          <a:xfrm>
            <a:off x="6208340" y="12148134"/>
            <a:ext cx="45719" cy="45719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320" name="Verbinder: gekrümmt 319">
            <a:extLst>
              <a:ext uri="{FF2B5EF4-FFF2-40B4-BE49-F238E27FC236}">
                <a16:creationId xmlns:a16="http://schemas.microsoft.com/office/drawing/2014/main" id="{D47B3217-2E2D-88F4-CEF8-C155B5FF44DA}"/>
              </a:ext>
            </a:extLst>
          </p:cNvPr>
          <p:cNvCxnSpPr>
            <a:cxnSpLocks/>
            <a:stCxn id="233" idx="6"/>
            <a:endCxn id="210" idx="2"/>
          </p:cNvCxnSpPr>
          <p:nvPr/>
        </p:nvCxnSpPr>
        <p:spPr>
          <a:xfrm flipV="1">
            <a:off x="15821376" y="3765811"/>
            <a:ext cx="5095911" cy="6305649"/>
          </a:xfrm>
          <a:prstGeom prst="curvedConnector2">
            <a:avLst/>
          </a:prstGeom>
          <a:ln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6" name="Verbinder: gekrümmt 325">
            <a:extLst>
              <a:ext uri="{FF2B5EF4-FFF2-40B4-BE49-F238E27FC236}">
                <a16:creationId xmlns:a16="http://schemas.microsoft.com/office/drawing/2014/main" id="{8D92A0B0-8F15-20BD-3BFC-A1733049A130}"/>
              </a:ext>
            </a:extLst>
          </p:cNvPr>
          <p:cNvCxnSpPr>
            <a:cxnSpLocks/>
            <a:stCxn id="239" idx="6"/>
            <a:endCxn id="84" idx="3"/>
          </p:cNvCxnSpPr>
          <p:nvPr/>
        </p:nvCxnSpPr>
        <p:spPr>
          <a:xfrm flipH="1">
            <a:off x="11342427" y="10423840"/>
            <a:ext cx="4480480" cy="3243747"/>
          </a:xfrm>
          <a:prstGeom prst="curvedConnector3">
            <a:avLst>
              <a:gd name="adj1" fmla="val -5102"/>
            </a:avLst>
          </a:prstGeom>
          <a:ln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5" name="Rechteck 344">
            <a:extLst>
              <a:ext uri="{FF2B5EF4-FFF2-40B4-BE49-F238E27FC236}">
                <a16:creationId xmlns:a16="http://schemas.microsoft.com/office/drawing/2014/main" id="{A9FAA250-F266-90C1-2B0C-43D14650F20C}"/>
              </a:ext>
            </a:extLst>
          </p:cNvPr>
          <p:cNvSpPr/>
          <p:nvPr/>
        </p:nvSpPr>
        <p:spPr>
          <a:xfrm>
            <a:off x="12551088" y="7295984"/>
            <a:ext cx="1571625" cy="1507975"/>
          </a:xfrm>
          <a:prstGeom prst="rect">
            <a:avLst/>
          </a:prstGeom>
          <a:ln>
            <a:solidFill>
              <a:srgbClr val="04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800" i="1"/>
              <a:t>NetconfInterfaceStateAnalyzer</a:t>
            </a:r>
            <a:endParaRPr lang="de-DE" sz="800"/>
          </a:p>
          <a:p>
            <a:endParaRPr lang="de-DE" sz="800"/>
          </a:p>
          <a:p>
            <a:endParaRPr lang="de-DE" sz="800"/>
          </a:p>
          <a:p>
            <a:endParaRPr lang="de-DE" sz="800"/>
          </a:p>
          <a:p>
            <a:r>
              <a:rPr lang="de-DE" sz="800"/>
              <a:t>Regularly send netconf requests to all documented mediatorProcesses to determine their operational state and update AppDATA with status data</a:t>
            </a:r>
          </a:p>
        </p:txBody>
      </p:sp>
      <p:pic>
        <p:nvPicPr>
          <p:cNvPr id="346" name="Grafik 345">
            <a:extLst>
              <a:ext uri="{FF2B5EF4-FFF2-40B4-BE49-F238E27FC236}">
                <a16:creationId xmlns:a16="http://schemas.microsoft.com/office/drawing/2014/main" id="{EFF0F8E7-A9DA-88D8-2ACB-F80ECF9789D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35588" y="7494464"/>
            <a:ext cx="260088" cy="273783"/>
          </a:xfrm>
          <a:prstGeom prst="rect">
            <a:avLst/>
          </a:prstGeom>
        </p:spPr>
      </p:pic>
      <p:cxnSp>
        <p:nvCxnSpPr>
          <p:cNvPr id="347" name="Verbinder: gekrümmt 346">
            <a:extLst>
              <a:ext uri="{FF2B5EF4-FFF2-40B4-BE49-F238E27FC236}">
                <a16:creationId xmlns:a16="http://schemas.microsoft.com/office/drawing/2014/main" id="{907C5ECB-8D81-E02A-D05F-356C446EE16A}"/>
              </a:ext>
            </a:extLst>
          </p:cNvPr>
          <p:cNvCxnSpPr>
            <a:cxnSpLocks/>
            <a:stCxn id="345" idx="0"/>
            <a:endCxn id="99" idx="3"/>
          </p:cNvCxnSpPr>
          <p:nvPr/>
        </p:nvCxnSpPr>
        <p:spPr>
          <a:xfrm rot="16200000" flipV="1">
            <a:off x="12334753" y="6293836"/>
            <a:ext cx="249358" cy="1754934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9" name="Verbinder: gekrümmt 348">
            <a:extLst>
              <a:ext uri="{FF2B5EF4-FFF2-40B4-BE49-F238E27FC236}">
                <a16:creationId xmlns:a16="http://schemas.microsoft.com/office/drawing/2014/main" id="{F96F34AD-F463-3D89-2CA1-85EC87B0FA4F}"/>
              </a:ext>
            </a:extLst>
          </p:cNvPr>
          <p:cNvCxnSpPr>
            <a:cxnSpLocks/>
            <a:stCxn id="345" idx="2"/>
            <a:endCxn id="114" idx="3"/>
          </p:cNvCxnSpPr>
          <p:nvPr/>
        </p:nvCxnSpPr>
        <p:spPr>
          <a:xfrm rot="5400000">
            <a:off x="9629275" y="10517109"/>
            <a:ext cx="5420776" cy="1994472"/>
          </a:xfrm>
          <a:prstGeom prst="curved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3" name="Verbinder: gekrümmt 352">
            <a:extLst>
              <a:ext uri="{FF2B5EF4-FFF2-40B4-BE49-F238E27FC236}">
                <a16:creationId xmlns:a16="http://schemas.microsoft.com/office/drawing/2014/main" id="{5C9CE3CC-A505-0137-60F5-65EB22F4E8FA}"/>
              </a:ext>
            </a:extLst>
          </p:cNvPr>
          <p:cNvCxnSpPr>
            <a:cxnSpLocks/>
            <a:stCxn id="345" idx="0"/>
            <a:endCxn id="99" idx="1"/>
          </p:cNvCxnSpPr>
          <p:nvPr/>
        </p:nvCxnSpPr>
        <p:spPr>
          <a:xfrm rot="16200000" flipV="1">
            <a:off x="12063946" y="6023029"/>
            <a:ext cx="790972" cy="1754934"/>
          </a:xfrm>
          <a:prstGeom prst="curvedConnector3">
            <a:avLst>
              <a:gd name="adj1" fmla="val 128901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1" name="Textfeld 360">
            <a:extLst>
              <a:ext uri="{FF2B5EF4-FFF2-40B4-BE49-F238E27FC236}">
                <a16:creationId xmlns:a16="http://schemas.microsoft.com/office/drawing/2014/main" id="{6F960F18-3AF0-3FBE-9EFF-0F931AABE477}"/>
              </a:ext>
            </a:extLst>
          </p:cNvPr>
          <p:cNvSpPr txBox="1"/>
          <p:nvPr/>
        </p:nvSpPr>
        <p:spPr>
          <a:xfrm>
            <a:off x="11335628" y="13415524"/>
            <a:ext cx="1921780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600"/>
              <a:t>/v1/dismantle-mediator-instance</a:t>
            </a:r>
          </a:p>
        </p:txBody>
      </p:sp>
      <p:grpSp>
        <p:nvGrpSpPr>
          <p:cNvPr id="368" name="Gruppieren 367">
            <a:extLst>
              <a:ext uri="{FF2B5EF4-FFF2-40B4-BE49-F238E27FC236}">
                <a16:creationId xmlns:a16="http://schemas.microsoft.com/office/drawing/2014/main" id="{544AB122-FC55-7CAB-709A-1F82B50EFF40}"/>
              </a:ext>
            </a:extLst>
          </p:cNvPr>
          <p:cNvGrpSpPr/>
          <p:nvPr/>
        </p:nvGrpSpPr>
        <p:grpSpPr>
          <a:xfrm>
            <a:off x="9971235" y="13396568"/>
            <a:ext cx="1371192" cy="1549618"/>
            <a:chOff x="7951059" y="10590996"/>
            <a:chExt cx="1371192" cy="1549618"/>
          </a:xfrm>
        </p:grpSpPr>
        <p:grpSp>
          <p:nvGrpSpPr>
            <p:cNvPr id="202" name="Gruppieren 201">
              <a:extLst>
                <a:ext uri="{FF2B5EF4-FFF2-40B4-BE49-F238E27FC236}">
                  <a16:creationId xmlns:a16="http://schemas.microsoft.com/office/drawing/2014/main" id="{5AEE2D10-F89B-E123-FB17-177128F8D172}"/>
                </a:ext>
              </a:extLst>
            </p:cNvPr>
            <p:cNvGrpSpPr/>
            <p:nvPr/>
          </p:nvGrpSpPr>
          <p:grpSpPr>
            <a:xfrm>
              <a:off x="7951059" y="10590996"/>
              <a:ext cx="1257300" cy="1442907"/>
              <a:chOff x="10924900" y="10591007"/>
              <a:chExt cx="1257300" cy="1442907"/>
            </a:xfrm>
          </p:grpSpPr>
          <p:sp>
            <p:nvSpPr>
              <p:cNvPr id="196" name="Rechteck: abgerundete Ecken 195">
                <a:extLst>
                  <a:ext uri="{FF2B5EF4-FFF2-40B4-BE49-F238E27FC236}">
                    <a16:creationId xmlns:a16="http://schemas.microsoft.com/office/drawing/2014/main" id="{E5C8744C-C02C-AE9B-4068-2EA3CF897565}"/>
                  </a:ext>
                </a:extLst>
              </p:cNvPr>
              <p:cNvSpPr/>
              <p:nvPr/>
            </p:nvSpPr>
            <p:spPr>
              <a:xfrm>
                <a:off x="10924900" y="10591007"/>
                <a:ext cx="1257300" cy="1442907"/>
              </a:xfrm>
              <a:prstGeom prst="roundRect">
                <a:avLst/>
              </a:prstGeom>
              <a:solidFill>
                <a:schemeClr val="accent2">
                  <a:lumMod val="75000"/>
                </a:schemeClr>
              </a:solidFill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ctr"/>
                <a:endParaRPr lang="de-DE" sz="1050"/>
              </a:p>
              <a:p>
                <a:pPr algn="ctr"/>
                <a:endParaRPr lang="de-DE" sz="1050"/>
              </a:p>
              <a:p>
                <a:pPr algn="ctr"/>
                <a:r>
                  <a:rPr lang="de-DE" sz="1050"/>
                  <a:t>mediatorVM</a:t>
                </a:r>
              </a:p>
              <a:p>
                <a:endParaRPr lang="de-DE" sz="800"/>
              </a:p>
              <a:p>
                <a:r>
                  <a:rPr lang="de-DE" sz="800"/>
                  <a:t>mediatorProcess#1</a:t>
                </a:r>
              </a:p>
              <a:p>
                <a:r>
                  <a:rPr lang="de-DE" sz="800"/>
                  <a:t>mediatorProcess#2</a:t>
                </a:r>
              </a:p>
              <a:p>
                <a:r>
                  <a:rPr lang="de-DE" sz="800"/>
                  <a:t>…</a:t>
                </a:r>
              </a:p>
              <a:p>
                <a:r>
                  <a:rPr lang="de-DE" sz="800"/>
                  <a:t>mediatorProcess#n</a:t>
                </a:r>
              </a:p>
            </p:txBody>
          </p:sp>
          <p:sp>
            <p:nvSpPr>
              <p:cNvPr id="197" name="Rechteck: abgerundete Ecken 196">
                <a:extLst>
                  <a:ext uri="{FF2B5EF4-FFF2-40B4-BE49-F238E27FC236}">
                    <a16:creationId xmlns:a16="http://schemas.microsoft.com/office/drawing/2014/main" id="{DE1EF18F-9F6B-4DEF-80C2-451681BC0416}"/>
                  </a:ext>
                </a:extLst>
              </p:cNvPr>
              <p:cNvSpPr/>
              <p:nvPr/>
            </p:nvSpPr>
            <p:spPr>
              <a:xfrm>
                <a:off x="10924900" y="10591007"/>
                <a:ext cx="1257300" cy="328612"/>
              </a:xfrm>
              <a:prstGeom prst="round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de-DE" sz="900"/>
                  <a:t>MIM</a:t>
                </a:r>
              </a:p>
            </p:txBody>
          </p:sp>
          <p:sp>
            <p:nvSpPr>
              <p:cNvPr id="198" name="Ellipse 197">
                <a:extLst>
                  <a:ext uri="{FF2B5EF4-FFF2-40B4-BE49-F238E27FC236}">
                    <a16:creationId xmlns:a16="http://schemas.microsoft.com/office/drawing/2014/main" id="{81EDEA61-9EF0-BCF7-3AD9-C2A5DFD686D2}"/>
                  </a:ext>
                </a:extLst>
              </p:cNvPr>
              <p:cNvSpPr/>
              <p:nvPr/>
            </p:nvSpPr>
            <p:spPr>
              <a:xfrm>
                <a:off x="10948386" y="11689639"/>
                <a:ext cx="62820" cy="70114"/>
              </a:xfrm>
              <a:prstGeom prst="ellipse">
                <a:avLst/>
              </a:prstGeom>
              <a:solidFill>
                <a:schemeClr val="accent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ctr"/>
                <a:endParaRPr lang="de-DE" sz="1050"/>
              </a:p>
            </p:txBody>
          </p:sp>
          <p:sp>
            <p:nvSpPr>
              <p:cNvPr id="199" name="Ellipse 198">
                <a:extLst>
                  <a:ext uri="{FF2B5EF4-FFF2-40B4-BE49-F238E27FC236}">
                    <a16:creationId xmlns:a16="http://schemas.microsoft.com/office/drawing/2014/main" id="{586B154C-DFF2-10DA-F4CE-88E0CB4B6A0C}"/>
                  </a:ext>
                </a:extLst>
              </p:cNvPr>
              <p:cNvSpPr/>
              <p:nvPr/>
            </p:nvSpPr>
            <p:spPr>
              <a:xfrm>
                <a:off x="12069816" y="11689639"/>
                <a:ext cx="62820" cy="70114"/>
              </a:xfrm>
              <a:prstGeom prst="ellipse">
                <a:avLst/>
              </a:prstGeom>
              <a:solidFill>
                <a:schemeClr val="accent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ctr"/>
                <a:endParaRPr lang="de-DE" sz="1050"/>
              </a:p>
            </p:txBody>
          </p:sp>
          <p:sp>
            <p:nvSpPr>
              <p:cNvPr id="200" name="Ellipse 199">
                <a:extLst>
                  <a:ext uri="{FF2B5EF4-FFF2-40B4-BE49-F238E27FC236}">
                    <a16:creationId xmlns:a16="http://schemas.microsoft.com/office/drawing/2014/main" id="{DE7A60DA-6C97-CB59-B087-07F92C9D4C03}"/>
                  </a:ext>
                </a:extLst>
              </p:cNvPr>
              <p:cNvSpPr/>
              <p:nvPr/>
            </p:nvSpPr>
            <p:spPr>
              <a:xfrm>
                <a:off x="12101226" y="11326854"/>
                <a:ext cx="62820" cy="70114"/>
              </a:xfrm>
              <a:prstGeom prst="ellipse">
                <a:avLst/>
              </a:prstGeom>
              <a:solidFill>
                <a:schemeClr val="accent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ctr"/>
                <a:endParaRPr lang="de-DE" sz="1050"/>
              </a:p>
            </p:txBody>
          </p:sp>
          <p:sp>
            <p:nvSpPr>
              <p:cNvPr id="201" name="Ellipse 200">
                <a:extLst>
                  <a:ext uri="{FF2B5EF4-FFF2-40B4-BE49-F238E27FC236}">
                    <a16:creationId xmlns:a16="http://schemas.microsoft.com/office/drawing/2014/main" id="{E6E28A01-0D0E-43D3-D44D-488AC61BAF04}"/>
                  </a:ext>
                </a:extLst>
              </p:cNvPr>
              <p:cNvSpPr/>
              <p:nvPr/>
            </p:nvSpPr>
            <p:spPr>
              <a:xfrm>
                <a:off x="10979796" y="11332721"/>
                <a:ext cx="62820" cy="70114"/>
              </a:xfrm>
              <a:prstGeom prst="ellipse">
                <a:avLst/>
              </a:prstGeom>
              <a:solidFill>
                <a:schemeClr val="accent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ctr"/>
                <a:endParaRPr lang="de-DE" sz="1050"/>
              </a:p>
            </p:txBody>
          </p:sp>
        </p:grpSp>
        <p:grpSp>
          <p:nvGrpSpPr>
            <p:cNvPr id="122" name="Gruppieren 121">
              <a:extLst>
                <a:ext uri="{FF2B5EF4-FFF2-40B4-BE49-F238E27FC236}">
                  <a16:creationId xmlns:a16="http://schemas.microsoft.com/office/drawing/2014/main" id="{5679A4A5-E986-DCF8-0EAF-8DDFE68C827D}"/>
                </a:ext>
              </a:extLst>
            </p:cNvPr>
            <p:cNvGrpSpPr/>
            <p:nvPr/>
          </p:nvGrpSpPr>
          <p:grpSpPr>
            <a:xfrm>
              <a:off x="8064951" y="10697707"/>
              <a:ext cx="1257300" cy="1442907"/>
              <a:chOff x="9442450" y="10552243"/>
              <a:chExt cx="1257300" cy="1442907"/>
            </a:xfrm>
          </p:grpSpPr>
          <p:sp>
            <p:nvSpPr>
              <p:cNvPr id="114" name="Rechteck: abgerundete Ecken 113">
                <a:extLst>
                  <a:ext uri="{FF2B5EF4-FFF2-40B4-BE49-F238E27FC236}">
                    <a16:creationId xmlns:a16="http://schemas.microsoft.com/office/drawing/2014/main" id="{C0D61018-DD68-B783-0D87-6E46773ABBA5}"/>
                  </a:ext>
                </a:extLst>
              </p:cNvPr>
              <p:cNvSpPr/>
              <p:nvPr/>
            </p:nvSpPr>
            <p:spPr>
              <a:xfrm>
                <a:off x="9442450" y="10552243"/>
                <a:ext cx="1257300" cy="1442907"/>
              </a:xfrm>
              <a:prstGeom prst="round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ctr"/>
                <a:endParaRPr lang="de-DE" sz="1050"/>
              </a:p>
              <a:p>
                <a:pPr algn="ctr"/>
                <a:endParaRPr lang="de-DE" sz="1050"/>
              </a:p>
              <a:p>
                <a:pPr algn="ctr"/>
                <a:r>
                  <a:rPr lang="de-DE" sz="1050"/>
                  <a:t>mediatorVM</a:t>
                </a:r>
              </a:p>
              <a:p>
                <a:endParaRPr lang="de-DE" sz="800"/>
              </a:p>
              <a:p>
                <a:r>
                  <a:rPr lang="de-DE" sz="800"/>
                  <a:t>mediatorProcess#1</a:t>
                </a:r>
              </a:p>
              <a:p>
                <a:r>
                  <a:rPr lang="de-DE" sz="800"/>
                  <a:t>mediatorProcess#2</a:t>
                </a:r>
              </a:p>
              <a:p>
                <a:r>
                  <a:rPr lang="de-DE" sz="800"/>
                  <a:t>…</a:t>
                </a:r>
              </a:p>
              <a:p>
                <a:r>
                  <a:rPr lang="de-DE" sz="800"/>
                  <a:t>mediatorProcess#n</a:t>
                </a:r>
              </a:p>
            </p:txBody>
          </p:sp>
          <p:sp>
            <p:nvSpPr>
              <p:cNvPr id="84" name="Rechteck: abgerundete Ecken 83">
                <a:extLst>
                  <a:ext uri="{FF2B5EF4-FFF2-40B4-BE49-F238E27FC236}">
                    <a16:creationId xmlns:a16="http://schemas.microsoft.com/office/drawing/2014/main" id="{7AB70A29-DF37-2F1A-F8F8-82ECADC63218}"/>
                  </a:ext>
                </a:extLst>
              </p:cNvPr>
              <p:cNvSpPr/>
              <p:nvPr/>
            </p:nvSpPr>
            <p:spPr>
              <a:xfrm>
                <a:off x="9442450" y="10552243"/>
                <a:ext cx="1257300" cy="328612"/>
              </a:xfrm>
              <a:prstGeom prst="round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de-DE" sz="900"/>
                  <a:t>MIM</a:t>
                </a:r>
              </a:p>
            </p:txBody>
          </p:sp>
          <p:sp>
            <p:nvSpPr>
              <p:cNvPr id="118" name="Ellipse 117">
                <a:extLst>
                  <a:ext uri="{FF2B5EF4-FFF2-40B4-BE49-F238E27FC236}">
                    <a16:creationId xmlns:a16="http://schemas.microsoft.com/office/drawing/2014/main" id="{7EE6A8AA-2B90-132F-4D79-74C7F38E6645}"/>
                  </a:ext>
                </a:extLst>
              </p:cNvPr>
              <p:cNvSpPr/>
              <p:nvPr/>
            </p:nvSpPr>
            <p:spPr>
              <a:xfrm>
                <a:off x="9465936" y="11650875"/>
                <a:ext cx="62820" cy="70114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ctr"/>
                <a:endParaRPr lang="de-DE" sz="1050"/>
              </a:p>
            </p:txBody>
          </p:sp>
          <p:sp>
            <p:nvSpPr>
              <p:cNvPr id="119" name="Ellipse 118">
                <a:extLst>
                  <a:ext uri="{FF2B5EF4-FFF2-40B4-BE49-F238E27FC236}">
                    <a16:creationId xmlns:a16="http://schemas.microsoft.com/office/drawing/2014/main" id="{29039A0C-2B5D-A65A-F96B-F0AC5BC95618}"/>
                  </a:ext>
                </a:extLst>
              </p:cNvPr>
              <p:cNvSpPr/>
              <p:nvPr/>
            </p:nvSpPr>
            <p:spPr>
              <a:xfrm>
                <a:off x="10587366" y="11650875"/>
                <a:ext cx="62820" cy="70114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ctr"/>
                <a:endParaRPr lang="de-DE" sz="1050"/>
              </a:p>
            </p:txBody>
          </p:sp>
          <p:sp>
            <p:nvSpPr>
              <p:cNvPr id="120" name="Ellipse 119">
                <a:extLst>
                  <a:ext uri="{FF2B5EF4-FFF2-40B4-BE49-F238E27FC236}">
                    <a16:creationId xmlns:a16="http://schemas.microsoft.com/office/drawing/2014/main" id="{AB71EFE7-7528-2E1F-DE68-34D159F1CA49}"/>
                  </a:ext>
                </a:extLst>
              </p:cNvPr>
              <p:cNvSpPr/>
              <p:nvPr/>
            </p:nvSpPr>
            <p:spPr>
              <a:xfrm>
                <a:off x="10618776" y="11288090"/>
                <a:ext cx="62820" cy="70114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ctr"/>
                <a:endParaRPr lang="de-DE" sz="1050"/>
              </a:p>
            </p:txBody>
          </p:sp>
          <p:sp>
            <p:nvSpPr>
              <p:cNvPr id="121" name="Ellipse 120">
                <a:extLst>
                  <a:ext uri="{FF2B5EF4-FFF2-40B4-BE49-F238E27FC236}">
                    <a16:creationId xmlns:a16="http://schemas.microsoft.com/office/drawing/2014/main" id="{DF4D51F5-7C0B-1ADF-5880-79C88AAD6B0C}"/>
                  </a:ext>
                </a:extLst>
              </p:cNvPr>
              <p:cNvSpPr/>
              <p:nvPr/>
            </p:nvSpPr>
            <p:spPr>
              <a:xfrm>
                <a:off x="9497346" y="11293957"/>
                <a:ext cx="62820" cy="70114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ctr"/>
                <a:endParaRPr lang="de-DE" sz="1050"/>
              </a:p>
            </p:txBody>
          </p:sp>
        </p:grpSp>
        <p:sp>
          <p:nvSpPr>
            <p:cNvPr id="234" name="Ellipse 233">
              <a:extLst>
                <a:ext uri="{FF2B5EF4-FFF2-40B4-BE49-F238E27FC236}">
                  <a16:creationId xmlns:a16="http://schemas.microsoft.com/office/drawing/2014/main" id="{9D92FC26-513D-F1A1-46E5-D0C12645E7F2}"/>
                </a:ext>
              </a:extLst>
            </p:cNvPr>
            <p:cNvSpPr/>
            <p:nvPr/>
          </p:nvSpPr>
          <p:spPr>
            <a:xfrm>
              <a:off x="9201126" y="10731541"/>
              <a:ext cx="45719" cy="45719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44" name="Ellipse 243">
              <a:extLst>
                <a:ext uri="{FF2B5EF4-FFF2-40B4-BE49-F238E27FC236}">
                  <a16:creationId xmlns:a16="http://schemas.microsoft.com/office/drawing/2014/main" id="{00632EDC-13ED-D796-F3E2-9A8D80DB2728}"/>
                </a:ext>
              </a:extLst>
            </p:cNvPr>
            <p:cNvSpPr/>
            <p:nvPr/>
          </p:nvSpPr>
          <p:spPr>
            <a:xfrm>
              <a:off x="8117112" y="10733848"/>
              <a:ext cx="45719" cy="45719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66" name="Ellipse 365">
              <a:extLst>
                <a:ext uri="{FF2B5EF4-FFF2-40B4-BE49-F238E27FC236}">
                  <a16:creationId xmlns:a16="http://schemas.microsoft.com/office/drawing/2014/main" id="{828FC9DE-6473-436D-69FD-C4D4AA62218C}"/>
                </a:ext>
              </a:extLst>
            </p:cNvPr>
            <p:cNvSpPr/>
            <p:nvPr/>
          </p:nvSpPr>
          <p:spPr>
            <a:xfrm>
              <a:off x="8983052" y="10728225"/>
              <a:ext cx="45719" cy="45719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sp>
        <p:nvSpPr>
          <p:cNvPr id="379" name="Rechteck 378">
            <a:extLst>
              <a:ext uri="{FF2B5EF4-FFF2-40B4-BE49-F238E27FC236}">
                <a16:creationId xmlns:a16="http://schemas.microsoft.com/office/drawing/2014/main" id="{F6FC92C7-3D49-7205-A078-6D4B274D32F3}"/>
              </a:ext>
            </a:extLst>
          </p:cNvPr>
          <p:cNvSpPr/>
          <p:nvPr/>
        </p:nvSpPr>
        <p:spPr>
          <a:xfrm>
            <a:off x="16829126" y="9793503"/>
            <a:ext cx="1798430" cy="169415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r>
              <a:rPr lang="de-DE" sz="800" i="1"/>
              <a:t>UnusedMediatorProcessTracker</a:t>
            </a:r>
            <a:endParaRPr lang="de-DE" sz="800"/>
          </a:p>
          <a:p>
            <a:endParaRPr lang="de-DE" sz="800"/>
          </a:p>
          <a:p>
            <a:endParaRPr lang="de-DE" sz="800"/>
          </a:p>
          <a:p>
            <a:endParaRPr lang="de-DE" sz="800"/>
          </a:p>
          <a:p>
            <a:r>
              <a:rPr lang="de-DE" sz="800"/>
              <a:t>Go slowly throu all mediatorProcess at all mediatorVms and ask the MO for the netconf port at the mountPoint in ODL</a:t>
            </a:r>
          </a:p>
          <a:p>
            <a:endParaRPr lang="de-DE" sz="800"/>
          </a:p>
          <a:p>
            <a:r>
              <a:rPr lang="de-DE" sz="800"/>
              <a:t>IF mountPoint is addressing another mediatorProcess</a:t>
            </a:r>
          </a:p>
          <a:p>
            <a:r>
              <a:rPr lang="de-DE" sz="800"/>
              <a:t>THEN add to dismantleQueue </a:t>
            </a:r>
          </a:p>
          <a:p>
            <a:r>
              <a:rPr lang="de-DE" sz="800"/>
              <a:t>ELSE no change</a:t>
            </a:r>
          </a:p>
        </p:txBody>
      </p:sp>
      <p:pic>
        <p:nvPicPr>
          <p:cNvPr id="380" name="Grafik 379">
            <a:extLst>
              <a:ext uri="{FF2B5EF4-FFF2-40B4-BE49-F238E27FC236}">
                <a16:creationId xmlns:a16="http://schemas.microsoft.com/office/drawing/2014/main" id="{F32C22D3-797D-88B2-894A-BD258524519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26323" y="10009129"/>
            <a:ext cx="260088" cy="251271"/>
          </a:xfrm>
          <a:prstGeom prst="rect">
            <a:avLst/>
          </a:prstGeom>
        </p:spPr>
      </p:pic>
      <p:sp>
        <p:nvSpPr>
          <p:cNvPr id="381" name="Textfeld 380">
            <a:extLst>
              <a:ext uri="{FF2B5EF4-FFF2-40B4-BE49-F238E27FC236}">
                <a16:creationId xmlns:a16="http://schemas.microsoft.com/office/drawing/2014/main" id="{CB1BBA9E-BA83-774D-6BC0-5FD2B534CD84}"/>
              </a:ext>
            </a:extLst>
          </p:cNvPr>
          <p:cNvSpPr txBox="1"/>
          <p:nvPr/>
        </p:nvSpPr>
        <p:spPr>
          <a:xfrm>
            <a:off x="846567" y="4761762"/>
            <a:ext cx="822661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/>
              <a:t>204 / 500 …</a:t>
            </a:r>
          </a:p>
        </p:txBody>
      </p:sp>
      <p:cxnSp>
        <p:nvCxnSpPr>
          <p:cNvPr id="418" name="Verbinder: gekrümmt 417">
            <a:extLst>
              <a:ext uri="{FF2B5EF4-FFF2-40B4-BE49-F238E27FC236}">
                <a16:creationId xmlns:a16="http://schemas.microsoft.com/office/drawing/2014/main" id="{52669EDD-467C-6E1D-133F-905A1D3143D1}"/>
              </a:ext>
            </a:extLst>
          </p:cNvPr>
          <p:cNvCxnSpPr>
            <a:cxnSpLocks/>
            <a:stCxn id="236" idx="6"/>
            <a:endCxn id="121" idx="2"/>
          </p:cNvCxnSpPr>
          <p:nvPr/>
        </p:nvCxnSpPr>
        <p:spPr>
          <a:xfrm>
            <a:off x="9388932" y="12609576"/>
            <a:ext cx="751093" cy="1670474"/>
          </a:xfrm>
          <a:prstGeom prst="curvedConnector3">
            <a:avLst>
              <a:gd name="adj1" fmla="val 50000"/>
            </a:avLst>
          </a:prstGeom>
          <a:ln>
            <a:solidFill>
              <a:schemeClr val="accent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1" name="Verbinder: gekrümmt 170">
            <a:extLst>
              <a:ext uri="{FF2B5EF4-FFF2-40B4-BE49-F238E27FC236}">
                <a16:creationId xmlns:a16="http://schemas.microsoft.com/office/drawing/2014/main" id="{5F1E594E-4CD0-D101-9518-C767663A5475}"/>
              </a:ext>
            </a:extLst>
          </p:cNvPr>
          <p:cNvCxnSpPr>
            <a:cxnSpLocks/>
            <a:stCxn id="166" idx="6"/>
            <a:endCxn id="197" idx="0"/>
          </p:cNvCxnSpPr>
          <p:nvPr/>
        </p:nvCxnSpPr>
        <p:spPr>
          <a:xfrm>
            <a:off x="9366072" y="12135939"/>
            <a:ext cx="1233815" cy="1260631"/>
          </a:xfrm>
          <a:prstGeom prst="curvedConnector2">
            <a:avLst/>
          </a:prstGeom>
          <a:ln>
            <a:solidFill>
              <a:schemeClr val="accent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2" name="Verbinder: gekrümmt 461">
            <a:extLst>
              <a:ext uri="{FF2B5EF4-FFF2-40B4-BE49-F238E27FC236}">
                <a16:creationId xmlns:a16="http://schemas.microsoft.com/office/drawing/2014/main" id="{7378382E-2658-1C8C-01AB-865DB8B750F2}"/>
              </a:ext>
            </a:extLst>
          </p:cNvPr>
          <p:cNvCxnSpPr>
            <a:cxnSpLocks/>
            <a:stCxn id="379" idx="2"/>
            <a:endCxn id="103" idx="0"/>
          </p:cNvCxnSpPr>
          <p:nvPr/>
        </p:nvCxnSpPr>
        <p:spPr>
          <a:xfrm rot="5400000" flipH="1">
            <a:off x="13324706" y="7084020"/>
            <a:ext cx="6207266" cy="2600004"/>
          </a:xfrm>
          <a:prstGeom prst="curvedConnector5">
            <a:avLst>
              <a:gd name="adj1" fmla="val -3683"/>
              <a:gd name="adj2" fmla="val 52292"/>
              <a:gd name="adj3" fmla="val 103683"/>
            </a:avLst>
          </a:prstGeom>
          <a:ln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Gerade Verbindung mit Pfeil 39">
            <a:extLst>
              <a:ext uri="{FF2B5EF4-FFF2-40B4-BE49-F238E27FC236}">
                <a16:creationId xmlns:a16="http://schemas.microsoft.com/office/drawing/2014/main" id="{5A45491C-39F5-65AF-9F68-2F3D46BA3DD7}"/>
              </a:ext>
            </a:extLst>
          </p:cNvPr>
          <p:cNvCxnSpPr>
            <a:cxnSpLocks/>
          </p:cNvCxnSpPr>
          <p:nvPr/>
        </p:nvCxnSpPr>
        <p:spPr>
          <a:xfrm>
            <a:off x="3694719" y="3340129"/>
            <a:ext cx="3350973" cy="253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feld 41">
            <a:extLst>
              <a:ext uri="{FF2B5EF4-FFF2-40B4-BE49-F238E27FC236}">
                <a16:creationId xmlns:a16="http://schemas.microsoft.com/office/drawing/2014/main" id="{716B9F04-740C-64F6-1517-616A01104468}"/>
              </a:ext>
            </a:extLst>
          </p:cNvPr>
          <p:cNvSpPr txBox="1"/>
          <p:nvPr/>
        </p:nvSpPr>
        <p:spPr>
          <a:xfrm>
            <a:off x="3386807" y="3082898"/>
            <a:ext cx="3728906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/>
              <a:t>/v1/provide-alarms-for-connection {connectionId==mountPoint)</a:t>
            </a:r>
          </a:p>
        </p:txBody>
      </p:sp>
      <p:cxnSp>
        <p:nvCxnSpPr>
          <p:cNvPr id="45" name="Gerade Verbindung mit Pfeil 44">
            <a:extLst>
              <a:ext uri="{FF2B5EF4-FFF2-40B4-BE49-F238E27FC236}">
                <a16:creationId xmlns:a16="http://schemas.microsoft.com/office/drawing/2014/main" id="{69675F5D-C5FA-D48F-6C70-AAA7B4D8177B}"/>
              </a:ext>
            </a:extLst>
          </p:cNvPr>
          <p:cNvCxnSpPr>
            <a:cxnSpLocks/>
          </p:cNvCxnSpPr>
          <p:nvPr/>
        </p:nvCxnSpPr>
        <p:spPr>
          <a:xfrm flipH="1" flipV="1">
            <a:off x="3648124" y="3473887"/>
            <a:ext cx="3436697" cy="35258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feld 46">
            <a:extLst>
              <a:ext uri="{FF2B5EF4-FFF2-40B4-BE49-F238E27FC236}">
                <a16:creationId xmlns:a16="http://schemas.microsoft.com/office/drawing/2014/main" id="{69550947-F7A9-678B-EACA-8B3BDC47C42A}"/>
              </a:ext>
            </a:extLst>
          </p:cNvPr>
          <p:cNvSpPr txBox="1"/>
          <p:nvPr/>
        </p:nvSpPr>
        <p:spPr>
          <a:xfrm>
            <a:off x="3589095" y="3457350"/>
            <a:ext cx="1858201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/>
              <a:t>{list of currently active alarms}</a:t>
            </a:r>
          </a:p>
        </p:txBody>
      </p:sp>
      <p:cxnSp>
        <p:nvCxnSpPr>
          <p:cNvPr id="50" name="Verbinder: gekrümmt 49">
            <a:extLst>
              <a:ext uri="{FF2B5EF4-FFF2-40B4-BE49-F238E27FC236}">
                <a16:creationId xmlns:a16="http://schemas.microsoft.com/office/drawing/2014/main" id="{A85011FA-55C4-40DC-919A-E4F55495E826}"/>
              </a:ext>
            </a:extLst>
          </p:cNvPr>
          <p:cNvCxnSpPr>
            <a:cxnSpLocks/>
            <a:endCxn id="99" idx="3"/>
          </p:cNvCxnSpPr>
          <p:nvPr/>
        </p:nvCxnSpPr>
        <p:spPr>
          <a:xfrm>
            <a:off x="6246724" y="5086896"/>
            <a:ext cx="5335243" cy="1959728"/>
          </a:xfrm>
          <a:prstGeom prst="curvedConnector4">
            <a:avLst>
              <a:gd name="adj1" fmla="val 43151"/>
              <a:gd name="adj2" fmla="val 111665"/>
            </a:avLst>
          </a:prstGeom>
          <a:ln>
            <a:solidFill>
              <a:schemeClr val="accent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Textfeld 61">
            <a:extLst>
              <a:ext uri="{FF2B5EF4-FFF2-40B4-BE49-F238E27FC236}">
                <a16:creationId xmlns:a16="http://schemas.microsoft.com/office/drawing/2014/main" id="{A774034F-560F-7CA7-9FFD-8EE28037E4F9}"/>
              </a:ext>
            </a:extLst>
          </p:cNvPr>
          <p:cNvSpPr txBox="1"/>
          <p:nvPr/>
        </p:nvSpPr>
        <p:spPr>
          <a:xfrm rot="1675356">
            <a:off x="11129523" y="11662094"/>
            <a:ext cx="1921780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600"/>
              <a:t>/v1/prepare-connection {deviceIp, deviceModel}</a:t>
            </a:r>
          </a:p>
        </p:txBody>
      </p:sp>
      <p:cxnSp>
        <p:nvCxnSpPr>
          <p:cNvPr id="450" name="Verbinder: gekrümmt 449">
            <a:extLst>
              <a:ext uri="{FF2B5EF4-FFF2-40B4-BE49-F238E27FC236}">
                <a16:creationId xmlns:a16="http://schemas.microsoft.com/office/drawing/2014/main" id="{D086A7D4-5665-79AC-2FA5-1740BF4BDEED}"/>
              </a:ext>
            </a:extLst>
          </p:cNvPr>
          <p:cNvCxnSpPr>
            <a:cxnSpLocks/>
            <a:stCxn id="163" idx="6"/>
            <a:endCxn id="99" idx="3"/>
          </p:cNvCxnSpPr>
          <p:nvPr/>
        </p:nvCxnSpPr>
        <p:spPr>
          <a:xfrm flipV="1">
            <a:off x="9388929" y="7046626"/>
            <a:ext cx="2193036" cy="6357331"/>
          </a:xfrm>
          <a:prstGeom prst="curvedConnector2">
            <a:avLst/>
          </a:prstGeom>
          <a:ln>
            <a:solidFill>
              <a:schemeClr val="accent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Scrollen: vertikal 8">
            <a:extLst>
              <a:ext uri="{FF2B5EF4-FFF2-40B4-BE49-F238E27FC236}">
                <a16:creationId xmlns:a16="http://schemas.microsoft.com/office/drawing/2014/main" id="{955A8D41-311F-F1B9-433D-B3628AEE3ECC}"/>
              </a:ext>
            </a:extLst>
          </p:cNvPr>
          <p:cNvSpPr/>
          <p:nvPr/>
        </p:nvSpPr>
        <p:spPr>
          <a:xfrm>
            <a:off x="6990854" y="2966933"/>
            <a:ext cx="1560042" cy="997947"/>
          </a:xfrm>
          <a:prstGeom prst="verticalScroll">
            <a:avLst/>
          </a:prstGeom>
          <a:solidFill>
            <a:srgbClr val="FFFF00"/>
          </a:solidFill>
          <a:ln>
            <a:solidFill>
              <a:srgbClr val="FF0000"/>
            </a:solidFill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800">
                <a:solidFill>
                  <a:srgbClr val="FF0000"/>
                </a:solidFill>
              </a:rPr>
              <a:t>AlarmList</a:t>
            </a:r>
          </a:p>
        </p:txBody>
      </p:sp>
      <p:cxnSp>
        <p:nvCxnSpPr>
          <p:cNvPr id="20" name="Verbinder: gekrümmt 19">
            <a:extLst>
              <a:ext uri="{FF2B5EF4-FFF2-40B4-BE49-F238E27FC236}">
                <a16:creationId xmlns:a16="http://schemas.microsoft.com/office/drawing/2014/main" id="{A4174CDF-3609-292F-0516-515356C0A33C}"/>
              </a:ext>
            </a:extLst>
          </p:cNvPr>
          <p:cNvCxnSpPr>
            <a:cxnSpLocks/>
            <a:endCxn id="9" idx="2"/>
          </p:cNvCxnSpPr>
          <p:nvPr/>
        </p:nvCxnSpPr>
        <p:spPr>
          <a:xfrm rot="10800000">
            <a:off x="7770878" y="3964881"/>
            <a:ext cx="2643125" cy="524155"/>
          </a:xfrm>
          <a:prstGeom prst="curvedConnector2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feld 25">
            <a:extLst>
              <a:ext uri="{FF2B5EF4-FFF2-40B4-BE49-F238E27FC236}">
                <a16:creationId xmlns:a16="http://schemas.microsoft.com/office/drawing/2014/main" id="{6EF19788-C1A1-5463-BE47-036CBEC31C59}"/>
              </a:ext>
            </a:extLst>
          </p:cNvPr>
          <p:cNvSpPr txBox="1"/>
          <p:nvPr/>
        </p:nvSpPr>
        <p:spPr>
          <a:xfrm rot="346354">
            <a:off x="8404536" y="4168426"/>
            <a:ext cx="166973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600"/>
            </a:lvl1pPr>
          </a:lstStyle>
          <a:p>
            <a:r>
              <a:rPr lang="de-DE"/>
              <a:t>(private) /p1/create-entry-in-alarm-list</a:t>
            </a:r>
          </a:p>
          <a:p>
            <a:r>
              <a:rPr lang="de-DE"/>
              <a:t>(private) /p1/delete-entry-in-alarm-list</a:t>
            </a:r>
          </a:p>
        </p:txBody>
      </p:sp>
      <p:pic>
        <p:nvPicPr>
          <p:cNvPr id="35" name="Grafik 34">
            <a:extLst>
              <a:ext uri="{FF2B5EF4-FFF2-40B4-BE49-F238E27FC236}">
                <a16:creationId xmlns:a16="http://schemas.microsoft.com/office/drawing/2014/main" id="{B753D5BC-06A2-E444-F342-29D4F051BB7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50135" y="11028905"/>
            <a:ext cx="260088" cy="273783"/>
          </a:xfrm>
          <a:prstGeom prst="rect">
            <a:avLst/>
          </a:prstGeom>
        </p:spPr>
      </p:pic>
      <p:pic>
        <p:nvPicPr>
          <p:cNvPr id="36" name="Grafik 35">
            <a:extLst>
              <a:ext uri="{FF2B5EF4-FFF2-40B4-BE49-F238E27FC236}">
                <a16:creationId xmlns:a16="http://schemas.microsoft.com/office/drawing/2014/main" id="{76AC2175-49FB-26F5-AE98-AF5889C5BA3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48316" y="10071459"/>
            <a:ext cx="260088" cy="273783"/>
          </a:xfrm>
          <a:prstGeom prst="rect">
            <a:avLst/>
          </a:prstGeom>
        </p:spPr>
      </p:pic>
      <p:sp>
        <p:nvSpPr>
          <p:cNvPr id="43" name="Rechteck 42">
            <a:extLst>
              <a:ext uri="{FF2B5EF4-FFF2-40B4-BE49-F238E27FC236}">
                <a16:creationId xmlns:a16="http://schemas.microsoft.com/office/drawing/2014/main" id="{029D838B-9268-CDDA-BB54-8E25901775DF}"/>
              </a:ext>
            </a:extLst>
          </p:cNvPr>
          <p:cNvSpPr/>
          <p:nvPr/>
        </p:nvSpPr>
        <p:spPr>
          <a:xfrm>
            <a:off x="9846410" y="2868553"/>
            <a:ext cx="1934110" cy="140674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r>
              <a:rPr lang="de-DE" sz="800" i="1"/>
              <a:t>TroubleShooter</a:t>
            </a:r>
          </a:p>
          <a:p>
            <a:pPr>
              <a:tabLst>
                <a:tab pos="36000" algn="l"/>
              </a:tabLst>
            </a:pPr>
            <a:endParaRPr lang="de-DE" sz="800"/>
          </a:p>
          <a:p>
            <a:pPr>
              <a:tabLst>
                <a:tab pos="36000" algn="l"/>
              </a:tabLst>
            </a:pPr>
            <a:endParaRPr lang="de-DE" sz="800"/>
          </a:p>
          <a:p>
            <a:pPr>
              <a:tabLst>
                <a:tab pos="36000" algn="l"/>
              </a:tabLst>
            </a:pPr>
            <a:r>
              <a:rPr lang="de-DE" sz="800"/>
              <a:t>Check AlarmList for 532</a:t>
            </a:r>
          </a:p>
          <a:p>
            <a:pPr>
              <a:tabLst>
                <a:tab pos="36000" algn="l"/>
              </a:tabLst>
            </a:pPr>
            <a:r>
              <a:rPr lang="de-DE" sz="800"/>
              <a:t>IF timestamp elder that </a:t>
            </a:r>
            <a:r>
              <a:rPr lang="de-DE" sz="800" i="1"/>
              <a:t>[threshold]</a:t>
            </a:r>
          </a:p>
          <a:p>
            <a:pPr>
              <a:tabLst>
                <a:tab pos="36000" algn="l"/>
              </a:tabLst>
            </a:pPr>
            <a:r>
              <a:rPr lang="de-DE" sz="800"/>
              <a:t>THEN trigger </a:t>
            </a:r>
            <a:r>
              <a:rPr lang="de-DE" sz="800" i="1"/>
              <a:t>NetconfConnectionBuilder</a:t>
            </a:r>
          </a:p>
          <a:p>
            <a:pPr>
              <a:tabLst>
                <a:tab pos="36000" algn="l"/>
              </a:tabLst>
            </a:pPr>
            <a:endParaRPr lang="de-DE" sz="800" i="1"/>
          </a:p>
          <a:p>
            <a:pPr>
              <a:tabLst>
                <a:tab pos="36000" algn="l"/>
              </a:tabLst>
            </a:pPr>
            <a:r>
              <a:rPr lang="de-DE" sz="800"/>
              <a:t>Check AlarmList for …</a:t>
            </a:r>
            <a:endParaRPr lang="de-DE" sz="800" i="1"/>
          </a:p>
          <a:p>
            <a:pPr>
              <a:tabLst>
                <a:tab pos="36000" algn="l"/>
              </a:tabLst>
            </a:pPr>
            <a:r>
              <a:rPr lang="de-DE" sz="800"/>
              <a:t>IF condition</a:t>
            </a:r>
          </a:p>
          <a:p>
            <a:pPr>
              <a:tabLst>
                <a:tab pos="36000" algn="l"/>
              </a:tabLst>
            </a:pPr>
            <a:r>
              <a:rPr lang="de-DE" sz="800"/>
              <a:t>THEN counter measure</a:t>
            </a:r>
          </a:p>
          <a:p>
            <a:pPr>
              <a:tabLst>
                <a:tab pos="36000" algn="l"/>
              </a:tabLst>
            </a:pPr>
            <a:r>
              <a:rPr lang="de-DE" sz="800"/>
              <a:t>….</a:t>
            </a:r>
          </a:p>
        </p:txBody>
      </p:sp>
      <p:pic>
        <p:nvPicPr>
          <p:cNvPr id="38" name="Grafik 37">
            <a:extLst>
              <a:ext uri="{FF2B5EF4-FFF2-40B4-BE49-F238E27FC236}">
                <a16:creationId xmlns:a16="http://schemas.microsoft.com/office/drawing/2014/main" id="{C6F84473-3FA6-A539-02F4-FF4E7D27D0D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53195" y="2974630"/>
            <a:ext cx="260088" cy="273783"/>
          </a:xfrm>
          <a:prstGeom prst="rect">
            <a:avLst/>
          </a:prstGeom>
        </p:spPr>
      </p:pic>
      <p:sp>
        <p:nvSpPr>
          <p:cNvPr id="7" name="Zylinder 6">
            <a:extLst>
              <a:ext uri="{FF2B5EF4-FFF2-40B4-BE49-F238E27FC236}">
                <a16:creationId xmlns:a16="http://schemas.microsoft.com/office/drawing/2014/main" id="{233DA69B-402B-E4F6-2560-70F2ACC22E66}"/>
              </a:ext>
            </a:extLst>
          </p:cNvPr>
          <p:cNvSpPr/>
          <p:nvPr/>
        </p:nvSpPr>
        <p:spPr>
          <a:xfrm>
            <a:off x="8771511" y="8479830"/>
            <a:ext cx="1404410" cy="1004166"/>
          </a:xfrm>
          <a:prstGeom prst="can">
            <a:avLst/>
          </a:prstGeom>
          <a:ln>
            <a:solidFill>
              <a:srgbClr val="FF0000"/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/>
              <a:t>TargetState</a:t>
            </a:r>
          </a:p>
        </p:txBody>
      </p:sp>
    </p:spTree>
    <p:extLst>
      <p:ext uri="{BB962C8B-B14F-4D97-AF65-F5344CB8AC3E}">
        <p14:creationId xmlns:p14="http://schemas.microsoft.com/office/powerpoint/2010/main" val="400571015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81CE0A02-15DF-2896-7C2D-5DFC349920D1}"/>
              </a:ext>
            </a:extLst>
          </p:cNvPr>
          <p:cNvSpPr/>
          <p:nvPr/>
        </p:nvSpPr>
        <p:spPr>
          <a:xfrm>
            <a:off x="2484199" y="5662836"/>
            <a:ext cx="1456660" cy="157361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1100">
                <a:solidFill>
                  <a:schemeClr val="accent6">
                    <a:lumMod val="75000"/>
                  </a:schemeClr>
                </a:solidFill>
              </a:rPr>
              <a:t>MWDI</a:t>
            </a: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ED02D88C-763B-A543-688D-9855AF14B01D}"/>
              </a:ext>
            </a:extLst>
          </p:cNvPr>
          <p:cNvSpPr/>
          <p:nvPr/>
        </p:nvSpPr>
        <p:spPr>
          <a:xfrm>
            <a:off x="4561273" y="5157787"/>
            <a:ext cx="1456660" cy="207866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1100">
                <a:solidFill>
                  <a:schemeClr val="accent6">
                    <a:lumMod val="75000"/>
                  </a:schemeClr>
                </a:solidFill>
              </a:rPr>
              <a:t>Controller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0E53494D-28D6-8CC5-DB54-81059DB5AF24}"/>
              </a:ext>
            </a:extLst>
          </p:cNvPr>
          <p:cNvSpPr/>
          <p:nvPr/>
        </p:nvSpPr>
        <p:spPr>
          <a:xfrm>
            <a:off x="7628638" y="5157787"/>
            <a:ext cx="1458000" cy="2078664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800">
                <a:solidFill>
                  <a:schemeClr val="accent6">
                    <a:lumMod val="75000"/>
                  </a:schemeClr>
                </a:solidFill>
              </a:rPr>
              <a:t>MediatorInstanceManager</a:t>
            </a:r>
          </a:p>
          <a:p>
            <a:endParaRPr lang="de-DE" sz="800">
              <a:solidFill>
                <a:schemeClr val="accent6">
                  <a:lumMod val="75000"/>
                </a:schemeClr>
              </a:solidFill>
            </a:endParaRPr>
          </a:p>
          <a:p>
            <a:endParaRPr lang="de-DE" sz="800">
              <a:solidFill>
                <a:schemeClr val="accent6">
                  <a:lumMod val="75000"/>
                </a:schemeClr>
              </a:solidFill>
            </a:endParaRPr>
          </a:p>
          <a:p>
            <a:endParaRPr lang="de-DE" sz="800">
              <a:solidFill>
                <a:schemeClr val="accent6">
                  <a:lumMod val="75000"/>
                </a:schemeClr>
              </a:solidFill>
            </a:endParaRPr>
          </a:p>
          <a:p>
            <a:endParaRPr lang="de-DE" sz="800">
              <a:solidFill>
                <a:schemeClr val="accent6">
                  <a:lumMod val="75000"/>
                </a:schemeClr>
              </a:solidFill>
            </a:endParaRPr>
          </a:p>
          <a:p>
            <a:endParaRPr lang="de-DE" sz="800">
              <a:solidFill>
                <a:schemeClr val="accent6">
                  <a:lumMod val="75000"/>
                </a:schemeClr>
              </a:solidFill>
            </a:endParaRPr>
          </a:p>
          <a:p>
            <a:endParaRPr lang="de-DE" sz="800">
              <a:solidFill>
                <a:schemeClr val="accent6">
                  <a:lumMod val="75000"/>
                </a:schemeClr>
              </a:solidFill>
            </a:endParaRPr>
          </a:p>
          <a:p>
            <a:r>
              <a:rPr lang="de-DE" sz="800">
                <a:solidFill>
                  <a:schemeClr val="accent6">
                    <a:lumMod val="75000"/>
                  </a:schemeClr>
                </a:solidFill>
              </a:rPr>
              <a:t>mediatorProcesses</a:t>
            </a: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7B5FF00B-970D-C50C-579A-3D10911A26F3}"/>
              </a:ext>
            </a:extLst>
          </p:cNvPr>
          <p:cNvSpPr/>
          <p:nvPr/>
        </p:nvSpPr>
        <p:spPr>
          <a:xfrm>
            <a:off x="9691868" y="5652199"/>
            <a:ext cx="1899264" cy="253068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1100">
                <a:solidFill>
                  <a:schemeClr val="accent6">
                    <a:lumMod val="75000"/>
                  </a:schemeClr>
                </a:solidFill>
              </a:rPr>
              <a:t>Device</a:t>
            </a: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C2F32273-6801-7B92-0ADB-F67B56F3C9EE}"/>
              </a:ext>
            </a:extLst>
          </p:cNvPr>
          <p:cNvSpPr/>
          <p:nvPr/>
        </p:nvSpPr>
        <p:spPr>
          <a:xfrm>
            <a:off x="412769" y="5662837"/>
            <a:ext cx="1456660" cy="157361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1100">
                <a:solidFill>
                  <a:schemeClr val="accent6">
                    <a:lumMod val="75000"/>
                  </a:schemeClr>
                </a:solidFill>
              </a:rPr>
              <a:t>APTP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0FDEC8BC-6708-4B28-28CF-7724B85F5A50}"/>
              </a:ext>
            </a:extLst>
          </p:cNvPr>
          <p:cNvSpPr/>
          <p:nvPr/>
        </p:nvSpPr>
        <p:spPr>
          <a:xfrm>
            <a:off x="550443" y="6904076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TcpS</a:t>
            </a: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E1F7B44D-B1EF-E324-F605-AB033E82776D}"/>
              </a:ext>
            </a:extLst>
          </p:cNvPr>
          <p:cNvSpPr/>
          <p:nvPr/>
        </p:nvSpPr>
        <p:spPr>
          <a:xfrm>
            <a:off x="550443" y="6504025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HttpS</a:t>
            </a: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548790B5-A649-43AD-C98B-435B22B7ED2F}"/>
              </a:ext>
            </a:extLst>
          </p:cNvPr>
          <p:cNvSpPr/>
          <p:nvPr/>
        </p:nvSpPr>
        <p:spPr>
          <a:xfrm>
            <a:off x="550443" y="6103974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OpS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BCEE26EF-C86B-A733-8DD9-059A9C6EC90E}"/>
              </a:ext>
            </a:extLst>
          </p:cNvPr>
          <p:cNvSpPr/>
          <p:nvPr/>
        </p:nvSpPr>
        <p:spPr>
          <a:xfrm>
            <a:off x="1374355" y="6904076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TcpC</a:t>
            </a:r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FA455AB2-E932-7831-EE99-F5772CDAFD0C}"/>
              </a:ext>
            </a:extLst>
          </p:cNvPr>
          <p:cNvSpPr/>
          <p:nvPr/>
        </p:nvSpPr>
        <p:spPr>
          <a:xfrm>
            <a:off x="1374355" y="6504025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HttpC</a:t>
            </a: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4458F33B-C712-C71E-C879-C5DC8C91BB45}"/>
              </a:ext>
            </a:extLst>
          </p:cNvPr>
          <p:cNvSpPr/>
          <p:nvPr/>
        </p:nvSpPr>
        <p:spPr>
          <a:xfrm>
            <a:off x="1374355" y="6103974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OpC</a:t>
            </a: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9F329620-3C22-08E1-6786-6E43712B3898}"/>
              </a:ext>
            </a:extLst>
          </p:cNvPr>
          <p:cNvSpPr/>
          <p:nvPr/>
        </p:nvSpPr>
        <p:spPr>
          <a:xfrm>
            <a:off x="2625703" y="6904076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TcpS</a:t>
            </a: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8B7992BE-C036-3AB7-C814-EBBDC7FC42E0}"/>
              </a:ext>
            </a:extLst>
          </p:cNvPr>
          <p:cNvSpPr/>
          <p:nvPr/>
        </p:nvSpPr>
        <p:spPr>
          <a:xfrm>
            <a:off x="2625703" y="6504025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HttpS</a:t>
            </a:r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8AFB896A-158F-65F5-EA28-4BC001A350A5}"/>
              </a:ext>
            </a:extLst>
          </p:cNvPr>
          <p:cNvSpPr/>
          <p:nvPr/>
        </p:nvSpPr>
        <p:spPr>
          <a:xfrm>
            <a:off x="2625703" y="6103974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OpS</a:t>
            </a:r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CC3E0E05-CA92-3033-4FD9-38C5421204DC}"/>
              </a:ext>
            </a:extLst>
          </p:cNvPr>
          <p:cNvSpPr/>
          <p:nvPr/>
        </p:nvSpPr>
        <p:spPr>
          <a:xfrm>
            <a:off x="3449615" y="6904076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TcpC</a:t>
            </a:r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6FFA3122-55DA-CD89-A397-A8CD9750B2B9}"/>
              </a:ext>
            </a:extLst>
          </p:cNvPr>
          <p:cNvSpPr/>
          <p:nvPr/>
        </p:nvSpPr>
        <p:spPr>
          <a:xfrm>
            <a:off x="3449615" y="6504025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HttpC</a:t>
            </a:r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id="{3AA074D4-D1AF-7759-FA69-2B0DD4CAFC2D}"/>
              </a:ext>
            </a:extLst>
          </p:cNvPr>
          <p:cNvSpPr/>
          <p:nvPr/>
        </p:nvSpPr>
        <p:spPr>
          <a:xfrm>
            <a:off x="3449615" y="6103974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OpC</a:t>
            </a:r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39E2AB45-4CA3-5B9B-E66E-E425E390B46B}"/>
              </a:ext>
            </a:extLst>
          </p:cNvPr>
          <p:cNvSpPr/>
          <p:nvPr/>
        </p:nvSpPr>
        <p:spPr>
          <a:xfrm>
            <a:off x="4717044" y="6914709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TcpS</a:t>
            </a:r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554BD9F7-6B6B-B381-6EAD-966962D972D7}"/>
              </a:ext>
            </a:extLst>
          </p:cNvPr>
          <p:cNvSpPr/>
          <p:nvPr/>
        </p:nvSpPr>
        <p:spPr>
          <a:xfrm>
            <a:off x="4717044" y="6514658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HttpS</a:t>
            </a:r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FA081826-1714-5339-1A4A-A1B6EB3DD00D}"/>
              </a:ext>
            </a:extLst>
          </p:cNvPr>
          <p:cNvSpPr/>
          <p:nvPr/>
        </p:nvSpPr>
        <p:spPr>
          <a:xfrm>
            <a:off x="4717044" y="6114607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OpS</a:t>
            </a:r>
          </a:p>
        </p:txBody>
      </p:sp>
      <p:sp>
        <p:nvSpPr>
          <p:cNvPr id="22" name="Rechteck 21">
            <a:extLst>
              <a:ext uri="{FF2B5EF4-FFF2-40B4-BE49-F238E27FC236}">
                <a16:creationId xmlns:a16="http://schemas.microsoft.com/office/drawing/2014/main" id="{0DF739C3-C4E3-6849-2F41-DF62CEF1A558}"/>
              </a:ext>
            </a:extLst>
          </p:cNvPr>
          <p:cNvSpPr/>
          <p:nvPr/>
        </p:nvSpPr>
        <p:spPr>
          <a:xfrm>
            <a:off x="5540956" y="6914709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TcpC</a:t>
            </a:r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211DDACA-62B1-F5B0-EEC2-CD44D410F5D4}"/>
              </a:ext>
            </a:extLst>
          </p:cNvPr>
          <p:cNvSpPr/>
          <p:nvPr/>
        </p:nvSpPr>
        <p:spPr>
          <a:xfrm>
            <a:off x="5540956" y="6519641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NetC</a:t>
            </a:r>
          </a:p>
        </p:txBody>
      </p:sp>
      <p:sp>
        <p:nvSpPr>
          <p:cNvPr id="24" name="Rechteck 23">
            <a:extLst>
              <a:ext uri="{FF2B5EF4-FFF2-40B4-BE49-F238E27FC236}">
                <a16:creationId xmlns:a16="http://schemas.microsoft.com/office/drawing/2014/main" id="{A9DA1E85-2C49-6E8A-CFDB-48FE31EBD704}"/>
              </a:ext>
            </a:extLst>
          </p:cNvPr>
          <p:cNvSpPr/>
          <p:nvPr/>
        </p:nvSpPr>
        <p:spPr>
          <a:xfrm>
            <a:off x="7789016" y="6911850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TcpS</a:t>
            </a:r>
          </a:p>
        </p:txBody>
      </p:sp>
      <p:sp>
        <p:nvSpPr>
          <p:cNvPr id="25" name="Rechteck 24">
            <a:extLst>
              <a:ext uri="{FF2B5EF4-FFF2-40B4-BE49-F238E27FC236}">
                <a16:creationId xmlns:a16="http://schemas.microsoft.com/office/drawing/2014/main" id="{C143F202-5361-48B9-4F64-3AA6EF735AD8}"/>
              </a:ext>
            </a:extLst>
          </p:cNvPr>
          <p:cNvSpPr/>
          <p:nvPr/>
        </p:nvSpPr>
        <p:spPr>
          <a:xfrm>
            <a:off x="7789016" y="6516782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NetS</a:t>
            </a:r>
          </a:p>
        </p:txBody>
      </p:sp>
      <p:sp>
        <p:nvSpPr>
          <p:cNvPr id="26" name="Rechteck 25">
            <a:extLst>
              <a:ext uri="{FF2B5EF4-FFF2-40B4-BE49-F238E27FC236}">
                <a16:creationId xmlns:a16="http://schemas.microsoft.com/office/drawing/2014/main" id="{DECBD2DF-E4B2-0439-FF9C-36D68796843C}"/>
              </a:ext>
            </a:extLst>
          </p:cNvPr>
          <p:cNvSpPr/>
          <p:nvPr/>
        </p:nvSpPr>
        <p:spPr>
          <a:xfrm>
            <a:off x="8612928" y="6911850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TcpC</a:t>
            </a:r>
          </a:p>
        </p:txBody>
      </p:sp>
      <p:sp>
        <p:nvSpPr>
          <p:cNvPr id="27" name="Rechteck 26">
            <a:extLst>
              <a:ext uri="{FF2B5EF4-FFF2-40B4-BE49-F238E27FC236}">
                <a16:creationId xmlns:a16="http://schemas.microsoft.com/office/drawing/2014/main" id="{8C9B7C70-2BAF-3E76-BCAB-1FCC7BE517E5}"/>
              </a:ext>
            </a:extLst>
          </p:cNvPr>
          <p:cNvSpPr/>
          <p:nvPr/>
        </p:nvSpPr>
        <p:spPr>
          <a:xfrm>
            <a:off x="8612928" y="6516782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SnmpC</a:t>
            </a:r>
          </a:p>
        </p:txBody>
      </p:sp>
      <p:sp>
        <p:nvSpPr>
          <p:cNvPr id="28" name="Rechteck 27">
            <a:extLst>
              <a:ext uri="{FF2B5EF4-FFF2-40B4-BE49-F238E27FC236}">
                <a16:creationId xmlns:a16="http://schemas.microsoft.com/office/drawing/2014/main" id="{6A0BA429-EEC5-F81D-6AA8-80B5299E7BE5}"/>
              </a:ext>
            </a:extLst>
          </p:cNvPr>
          <p:cNvSpPr/>
          <p:nvPr/>
        </p:nvSpPr>
        <p:spPr>
          <a:xfrm>
            <a:off x="9868553" y="6901217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TcpS</a:t>
            </a:r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F30D131E-4A61-2933-7E0D-0D59F14C99BA}"/>
              </a:ext>
            </a:extLst>
          </p:cNvPr>
          <p:cNvSpPr/>
          <p:nvPr/>
        </p:nvSpPr>
        <p:spPr>
          <a:xfrm>
            <a:off x="9868553" y="6506149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SnmpS</a:t>
            </a:r>
          </a:p>
        </p:txBody>
      </p:sp>
      <p:sp>
        <p:nvSpPr>
          <p:cNvPr id="30" name="Rechteck 29">
            <a:extLst>
              <a:ext uri="{FF2B5EF4-FFF2-40B4-BE49-F238E27FC236}">
                <a16:creationId xmlns:a16="http://schemas.microsoft.com/office/drawing/2014/main" id="{23616450-B93D-DEBD-7CE3-CD7A817B8078}"/>
              </a:ext>
            </a:extLst>
          </p:cNvPr>
          <p:cNvSpPr/>
          <p:nvPr/>
        </p:nvSpPr>
        <p:spPr>
          <a:xfrm>
            <a:off x="11063713" y="7833736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AirI</a:t>
            </a:r>
          </a:p>
        </p:txBody>
      </p:sp>
      <p:sp>
        <p:nvSpPr>
          <p:cNvPr id="31" name="Rechteck 30">
            <a:extLst>
              <a:ext uri="{FF2B5EF4-FFF2-40B4-BE49-F238E27FC236}">
                <a16:creationId xmlns:a16="http://schemas.microsoft.com/office/drawing/2014/main" id="{2B2B469F-780C-7B6E-97F6-89C3641EDBC9}"/>
              </a:ext>
            </a:extLst>
          </p:cNvPr>
          <p:cNvSpPr/>
          <p:nvPr/>
        </p:nvSpPr>
        <p:spPr>
          <a:xfrm>
            <a:off x="11063713" y="7433685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PES</a:t>
            </a:r>
          </a:p>
        </p:txBody>
      </p:sp>
      <p:sp>
        <p:nvSpPr>
          <p:cNvPr id="32" name="Rechteck 31">
            <a:extLst>
              <a:ext uri="{FF2B5EF4-FFF2-40B4-BE49-F238E27FC236}">
                <a16:creationId xmlns:a16="http://schemas.microsoft.com/office/drawing/2014/main" id="{B66A4ECD-0416-DEC7-F62C-900B4B28A617}"/>
              </a:ext>
            </a:extLst>
          </p:cNvPr>
          <p:cNvSpPr/>
          <p:nvPr/>
        </p:nvSpPr>
        <p:spPr>
          <a:xfrm>
            <a:off x="11063713" y="7033634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EC</a:t>
            </a:r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FB164F71-093D-4EAD-77A0-7D44E762E72F}"/>
              </a:ext>
            </a:extLst>
          </p:cNvPr>
          <p:cNvSpPr/>
          <p:nvPr/>
        </p:nvSpPr>
        <p:spPr>
          <a:xfrm>
            <a:off x="11063712" y="6233532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VlanI</a:t>
            </a:r>
          </a:p>
        </p:txBody>
      </p:sp>
      <p:sp>
        <p:nvSpPr>
          <p:cNvPr id="34" name="Rechteck 33">
            <a:extLst>
              <a:ext uri="{FF2B5EF4-FFF2-40B4-BE49-F238E27FC236}">
                <a16:creationId xmlns:a16="http://schemas.microsoft.com/office/drawing/2014/main" id="{8A5166CA-90F8-FF86-8D3C-A9D517E4F906}"/>
              </a:ext>
            </a:extLst>
          </p:cNvPr>
          <p:cNvSpPr/>
          <p:nvPr/>
        </p:nvSpPr>
        <p:spPr>
          <a:xfrm>
            <a:off x="11063713" y="6633583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MacI</a:t>
            </a:r>
          </a:p>
        </p:txBody>
      </p:sp>
      <p:cxnSp>
        <p:nvCxnSpPr>
          <p:cNvPr id="35" name="Gerader Verbinder 34">
            <a:extLst>
              <a:ext uri="{FF2B5EF4-FFF2-40B4-BE49-F238E27FC236}">
                <a16:creationId xmlns:a16="http://schemas.microsoft.com/office/drawing/2014/main" id="{8122B215-EF92-DC6C-4D34-A3840F4E37F7}"/>
              </a:ext>
            </a:extLst>
          </p:cNvPr>
          <p:cNvCxnSpPr>
            <a:cxnSpLocks/>
          </p:cNvCxnSpPr>
          <p:nvPr/>
        </p:nvCxnSpPr>
        <p:spPr>
          <a:xfrm flipV="1">
            <a:off x="9691870" y="5662833"/>
            <a:ext cx="1629017" cy="234040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6" name="Gruppieren 35">
            <a:extLst>
              <a:ext uri="{FF2B5EF4-FFF2-40B4-BE49-F238E27FC236}">
                <a16:creationId xmlns:a16="http://schemas.microsoft.com/office/drawing/2014/main" id="{B0A7E131-9A2D-FE2E-8F00-AC5963385B56}"/>
              </a:ext>
            </a:extLst>
          </p:cNvPr>
          <p:cNvGrpSpPr/>
          <p:nvPr/>
        </p:nvGrpSpPr>
        <p:grpSpPr>
          <a:xfrm rot="5400000">
            <a:off x="8288101" y="5173535"/>
            <a:ext cx="338137" cy="998176"/>
            <a:chOff x="7267925" y="3123310"/>
            <a:chExt cx="338137" cy="998176"/>
          </a:xfrm>
        </p:grpSpPr>
        <p:sp>
          <p:nvSpPr>
            <p:cNvPr id="37" name="Rechteck 36">
              <a:extLst>
                <a:ext uri="{FF2B5EF4-FFF2-40B4-BE49-F238E27FC236}">
                  <a16:creationId xmlns:a16="http://schemas.microsoft.com/office/drawing/2014/main" id="{E40F123A-7D28-DAF0-30FD-0C20E4BD6108}"/>
                </a:ext>
              </a:extLst>
            </p:cNvPr>
            <p:cNvSpPr/>
            <p:nvPr/>
          </p:nvSpPr>
          <p:spPr>
            <a:xfrm>
              <a:off x="7267925" y="3923412"/>
              <a:ext cx="338137" cy="198074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600"/>
                <a:t>TcpS</a:t>
              </a:r>
            </a:p>
          </p:txBody>
        </p:sp>
        <p:sp>
          <p:nvSpPr>
            <p:cNvPr id="38" name="Rechteck 37">
              <a:extLst>
                <a:ext uri="{FF2B5EF4-FFF2-40B4-BE49-F238E27FC236}">
                  <a16:creationId xmlns:a16="http://schemas.microsoft.com/office/drawing/2014/main" id="{79339DC1-FB69-E4B3-2427-B0D9C1C3D60C}"/>
                </a:ext>
              </a:extLst>
            </p:cNvPr>
            <p:cNvSpPr/>
            <p:nvPr/>
          </p:nvSpPr>
          <p:spPr>
            <a:xfrm>
              <a:off x="7267925" y="3523361"/>
              <a:ext cx="338137" cy="198074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600"/>
                <a:t>HttpS</a:t>
              </a:r>
            </a:p>
          </p:txBody>
        </p:sp>
        <p:sp>
          <p:nvSpPr>
            <p:cNvPr id="39" name="Rechteck 38">
              <a:extLst>
                <a:ext uri="{FF2B5EF4-FFF2-40B4-BE49-F238E27FC236}">
                  <a16:creationId xmlns:a16="http://schemas.microsoft.com/office/drawing/2014/main" id="{A4C1EB5C-FBB1-A635-2577-1FDD4BB6C887}"/>
                </a:ext>
              </a:extLst>
            </p:cNvPr>
            <p:cNvSpPr/>
            <p:nvPr/>
          </p:nvSpPr>
          <p:spPr>
            <a:xfrm>
              <a:off x="7267925" y="3123310"/>
              <a:ext cx="338137" cy="198074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600"/>
                <a:t>OpS</a:t>
              </a:r>
            </a:p>
          </p:txBody>
        </p:sp>
      </p:grpSp>
      <p:cxnSp>
        <p:nvCxnSpPr>
          <p:cNvPr id="40" name="Gerader Verbinder 39">
            <a:extLst>
              <a:ext uri="{FF2B5EF4-FFF2-40B4-BE49-F238E27FC236}">
                <a16:creationId xmlns:a16="http://schemas.microsoft.com/office/drawing/2014/main" id="{68B5C107-E8B1-674E-0899-FA1D44E24ED9}"/>
              </a:ext>
            </a:extLst>
          </p:cNvPr>
          <p:cNvCxnSpPr>
            <a:cxnSpLocks/>
          </p:cNvCxnSpPr>
          <p:nvPr/>
        </p:nvCxnSpPr>
        <p:spPr>
          <a:xfrm>
            <a:off x="7622232" y="5998102"/>
            <a:ext cx="145800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echteck 40">
            <a:extLst>
              <a:ext uri="{FF2B5EF4-FFF2-40B4-BE49-F238E27FC236}">
                <a16:creationId xmlns:a16="http://schemas.microsoft.com/office/drawing/2014/main" id="{7A2DB98D-C693-6ABF-3F91-DC76D3BBE6EB}"/>
              </a:ext>
            </a:extLst>
          </p:cNvPr>
          <p:cNvSpPr/>
          <p:nvPr/>
        </p:nvSpPr>
        <p:spPr>
          <a:xfrm>
            <a:off x="7622233" y="2938462"/>
            <a:ext cx="1458000" cy="1620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1100">
                <a:solidFill>
                  <a:schemeClr val="accent6">
                    <a:lumMod val="75000"/>
                  </a:schemeClr>
                </a:solidFill>
              </a:rPr>
              <a:t>MM / NCM</a:t>
            </a:r>
          </a:p>
        </p:txBody>
      </p:sp>
      <p:grpSp>
        <p:nvGrpSpPr>
          <p:cNvPr id="42" name="Gruppieren 41">
            <a:extLst>
              <a:ext uri="{FF2B5EF4-FFF2-40B4-BE49-F238E27FC236}">
                <a16:creationId xmlns:a16="http://schemas.microsoft.com/office/drawing/2014/main" id="{EA305853-A808-AB18-03A6-51C5387C71C7}"/>
              </a:ext>
            </a:extLst>
          </p:cNvPr>
          <p:cNvGrpSpPr/>
          <p:nvPr/>
        </p:nvGrpSpPr>
        <p:grpSpPr>
          <a:xfrm rot="5400000">
            <a:off x="7876146" y="3360105"/>
            <a:ext cx="1162049" cy="998176"/>
            <a:chOff x="7115461" y="1735493"/>
            <a:chExt cx="1162049" cy="998176"/>
          </a:xfrm>
        </p:grpSpPr>
        <p:sp>
          <p:nvSpPr>
            <p:cNvPr id="43" name="Rechteck 42">
              <a:extLst>
                <a:ext uri="{FF2B5EF4-FFF2-40B4-BE49-F238E27FC236}">
                  <a16:creationId xmlns:a16="http://schemas.microsoft.com/office/drawing/2014/main" id="{7608F1F3-2180-5F13-7FFA-83A74EB34A0F}"/>
                </a:ext>
              </a:extLst>
            </p:cNvPr>
            <p:cNvSpPr/>
            <p:nvPr/>
          </p:nvSpPr>
          <p:spPr>
            <a:xfrm>
              <a:off x="7115461" y="2535595"/>
              <a:ext cx="338137" cy="198074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600"/>
                <a:t>TcpS</a:t>
              </a:r>
            </a:p>
          </p:txBody>
        </p:sp>
        <p:sp>
          <p:nvSpPr>
            <p:cNvPr id="44" name="Rechteck 43">
              <a:extLst>
                <a:ext uri="{FF2B5EF4-FFF2-40B4-BE49-F238E27FC236}">
                  <a16:creationId xmlns:a16="http://schemas.microsoft.com/office/drawing/2014/main" id="{7AB24ABE-364B-F6B4-0452-33DF8DC753D4}"/>
                </a:ext>
              </a:extLst>
            </p:cNvPr>
            <p:cNvSpPr/>
            <p:nvPr/>
          </p:nvSpPr>
          <p:spPr>
            <a:xfrm>
              <a:off x="7115461" y="2135544"/>
              <a:ext cx="338137" cy="198074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600"/>
                <a:t>HttpS</a:t>
              </a:r>
            </a:p>
          </p:txBody>
        </p:sp>
        <p:sp>
          <p:nvSpPr>
            <p:cNvPr id="45" name="Rechteck 44">
              <a:extLst>
                <a:ext uri="{FF2B5EF4-FFF2-40B4-BE49-F238E27FC236}">
                  <a16:creationId xmlns:a16="http://schemas.microsoft.com/office/drawing/2014/main" id="{527DA6FE-EEDD-B9E3-03DD-74D221727344}"/>
                </a:ext>
              </a:extLst>
            </p:cNvPr>
            <p:cNvSpPr/>
            <p:nvPr/>
          </p:nvSpPr>
          <p:spPr>
            <a:xfrm>
              <a:off x="7115461" y="1735493"/>
              <a:ext cx="338137" cy="198074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600"/>
                <a:t>OpS</a:t>
              </a:r>
            </a:p>
          </p:txBody>
        </p:sp>
        <p:sp>
          <p:nvSpPr>
            <p:cNvPr id="46" name="Rechteck 45">
              <a:extLst>
                <a:ext uri="{FF2B5EF4-FFF2-40B4-BE49-F238E27FC236}">
                  <a16:creationId xmlns:a16="http://schemas.microsoft.com/office/drawing/2014/main" id="{ABB2D503-B665-D77A-B86F-14E059956922}"/>
                </a:ext>
              </a:extLst>
            </p:cNvPr>
            <p:cNvSpPr/>
            <p:nvPr/>
          </p:nvSpPr>
          <p:spPr>
            <a:xfrm>
              <a:off x="7939373" y="2535595"/>
              <a:ext cx="338137" cy="198074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600"/>
                <a:t>TcpC</a:t>
              </a:r>
            </a:p>
          </p:txBody>
        </p:sp>
        <p:sp>
          <p:nvSpPr>
            <p:cNvPr id="47" name="Rechteck 46">
              <a:extLst>
                <a:ext uri="{FF2B5EF4-FFF2-40B4-BE49-F238E27FC236}">
                  <a16:creationId xmlns:a16="http://schemas.microsoft.com/office/drawing/2014/main" id="{83CC7ED1-F16A-1896-62C7-D546E44B5B0B}"/>
                </a:ext>
              </a:extLst>
            </p:cNvPr>
            <p:cNvSpPr/>
            <p:nvPr/>
          </p:nvSpPr>
          <p:spPr>
            <a:xfrm>
              <a:off x="7939373" y="2135544"/>
              <a:ext cx="338137" cy="198074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600"/>
                <a:t>HttpC</a:t>
              </a:r>
            </a:p>
          </p:txBody>
        </p:sp>
        <p:sp>
          <p:nvSpPr>
            <p:cNvPr id="48" name="Rechteck 47">
              <a:extLst>
                <a:ext uri="{FF2B5EF4-FFF2-40B4-BE49-F238E27FC236}">
                  <a16:creationId xmlns:a16="http://schemas.microsoft.com/office/drawing/2014/main" id="{13475550-2889-2F91-C960-D3DCA7DF8427}"/>
                </a:ext>
              </a:extLst>
            </p:cNvPr>
            <p:cNvSpPr/>
            <p:nvPr/>
          </p:nvSpPr>
          <p:spPr>
            <a:xfrm>
              <a:off x="7939373" y="1735493"/>
              <a:ext cx="338137" cy="198074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600"/>
                <a:t>OpC</a:t>
              </a:r>
            </a:p>
          </p:txBody>
        </p:sp>
      </p:grpSp>
      <p:sp>
        <p:nvSpPr>
          <p:cNvPr id="49" name="Rechteck 48">
            <a:extLst>
              <a:ext uri="{FF2B5EF4-FFF2-40B4-BE49-F238E27FC236}">
                <a16:creationId xmlns:a16="http://schemas.microsoft.com/office/drawing/2014/main" id="{06710257-94F2-6744-5C46-384800311A00}"/>
              </a:ext>
            </a:extLst>
          </p:cNvPr>
          <p:cNvSpPr/>
          <p:nvPr/>
        </p:nvSpPr>
        <p:spPr>
          <a:xfrm>
            <a:off x="4557012" y="2938462"/>
            <a:ext cx="1458000" cy="1620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1100">
                <a:solidFill>
                  <a:schemeClr val="accent6">
                    <a:lumMod val="75000"/>
                  </a:schemeClr>
                </a:solidFill>
              </a:rPr>
              <a:t>RCM</a:t>
            </a:r>
          </a:p>
        </p:txBody>
      </p:sp>
      <p:grpSp>
        <p:nvGrpSpPr>
          <p:cNvPr id="50" name="Gruppieren 49">
            <a:extLst>
              <a:ext uri="{FF2B5EF4-FFF2-40B4-BE49-F238E27FC236}">
                <a16:creationId xmlns:a16="http://schemas.microsoft.com/office/drawing/2014/main" id="{3BECA846-CE12-388B-D0A3-7DCF9503D532}"/>
              </a:ext>
            </a:extLst>
          </p:cNvPr>
          <p:cNvGrpSpPr/>
          <p:nvPr/>
        </p:nvGrpSpPr>
        <p:grpSpPr>
          <a:xfrm rot="5400000">
            <a:off x="4810925" y="3360105"/>
            <a:ext cx="1162049" cy="998176"/>
            <a:chOff x="7115461" y="1735493"/>
            <a:chExt cx="1162049" cy="998176"/>
          </a:xfrm>
        </p:grpSpPr>
        <p:sp>
          <p:nvSpPr>
            <p:cNvPr id="51" name="Rechteck 50">
              <a:extLst>
                <a:ext uri="{FF2B5EF4-FFF2-40B4-BE49-F238E27FC236}">
                  <a16:creationId xmlns:a16="http://schemas.microsoft.com/office/drawing/2014/main" id="{00C418EB-45BB-672B-9C17-4AA42BF9B100}"/>
                </a:ext>
              </a:extLst>
            </p:cNvPr>
            <p:cNvSpPr/>
            <p:nvPr/>
          </p:nvSpPr>
          <p:spPr>
            <a:xfrm>
              <a:off x="7115461" y="2535595"/>
              <a:ext cx="338137" cy="198074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600"/>
                <a:t>TcpS</a:t>
              </a:r>
            </a:p>
          </p:txBody>
        </p:sp>
        <p:sp>
          <p:nvSpPr>
            <p:cNvPr id="52" name="Rechteck 51">
              <a:extLst>
                <a:ext uri="{FF2B5EF4-FFF2-40B4-BE49-F238E27FC236}">
                  <a16:creationId xmlns:a16="http://schemas.microsoft.com/office/drawing/2014/main" id="{44340858-3359-78BC-0881-DF3CF6C4CE35}"/>
                </a:ext>
              </a:extLst>
            </p:cNvPr>
            <p:cNvSpPr/>
            <p:nvPr/>
          </p:nvSpPr>
          <p:spPr>
            <a:xfrm>
              <a:off x="7115461" y="2135544"/>
              <a:ext cx="338137" cy="198074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600"/>
                <a:t>HttpS</a:t>
              </a:r>
            </a:p>
          </p:txBody>
        </p:sp>
        <p:sp>
          <p:nvSpPr>
            <p:cNvPr id="53" name="Rechteck 52">
              <a:extLst>
                <a:ext uri="{FF2B5EF4-FFF2-40B4-BE49-F238E27FC236}">
                  <a16:creationId xmlns:a16="http://schemas.microsoft.com/office/drawing/2014/main" id="{9E2D812D-5420-32CE-48A0-1AE6BF2A7BF5}"/>
                </a:ext>
              </a:extLst>
            </p:cNvPr>
            <p:cNvSpPr/>
            <p:nvPr/>
          </p:nvSpPr>
          <p:spPr>
            <a:xfrm>
              <a:off x="7115461" y="1735493"/>
              <a:ext cx="338137" cy="198074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600"/>
                <a:t>OpS</a:t>
              </a:r>
            </a:p>
          </p:txBody>
        </p:sp>
        <p:sp>
          <p:nvSpPr>
            <p:cNvPr id="54" name="Rechteck 53">
              <a:extLst>
                <a:ext uri="{FF2B5EF4-FFF2-40B4-BE49-F238E27FC236}">
                  <a16:creationId xmlns:a16="http://schemas.microsoft.com/office/drawing/2014/main" id="{4E017906-1474-ACF0-D4F3-A464FE7CBFFF}"/>
                </a:ext>
              </a:extLst>
            </p:cNvPr>
            <p:cNvSpPr/>
            <p:nvPr/>
          </p:nvSpPr>
          <p:spPr>
            <a:xfrm>
              <a:off x="7939373" y="2535595"/>
              <a:ext cx="338137" cy="198074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600"/>
                <a:t>TcpC</a:t>
              </a:r>
            </a:p>
          </p:txBody>
        </p:sp>
        <p:sp>
          <p:nvSpPr>
            <p:cNvPr id="55" name="Rechteck 54">
              <a:extLst>
                <a:ext uri="{FF2B5EF4-FFF2-40B4-BE49-F238E27FC236}">
                  <a16:creationId xmlns:a16="http://schemas.microsoft.com/office/drawing/2014/main" id="{956CD8D0-9882-9742-5B49-B264ABEE6072}"/>
                </a:ext>
              </a:extLst>
            </p:cNvPr>
            <p:cNvSpPr/>
            <p:nvPr/>
          </p:nvSpPr>
          <p:spPr>
            <a:xfrm>
              <a:off x="7939373" y="2135544"/>
              <a:ext cx="338137" cy="198074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600"/>
                <a:t>HttpC</a:t>
              </a:r>
            </a:p>
          </p:txBody>
        </p:sp>
        <p:sp>
          <p:nvSpPr>
            <p:cNvPr id="56" name="Rechteck 55">
              <a:extLst>
                <a:ext uri="{FF2B5EF4-FFF2-40B4-BE49-F238E27FC236}">
                  <a16:creationId xmlns:a16="http://schemas.microsoft.com/office/drawing/2014/main" id="{63481912-FA6A-F7F7-3828-E9E8B8381C8B}"/>
                </a:ext>
              </a:extLst>
            </p:cNvPr>
            <p:cNvSpPr/>
            <p:nvPr/>
          </p:nvSpPr>
          <p:spPr>
            <a:xfrm>
              <a:off x="7939373" y="1735493"/>
              <a:ext cx="338137" cy="198074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600"/>
                <a:t>OpC</a:t>
              </a:r>
            </a:p>
          </p:txBody>
        </p:sp>
      </p:grpSp>
      <p:grpSp>
        <p:nvGrpSpPr>
          <p:cNvPr id="57" name="Gruppieren 56">
            <a:extLst>
              <a:ext uri="{FF2B5EF4-FFF2-40B4-BE49-F238E27FC236}">
                <a16:creationId xmlns:a16="http://schemas.microsoft.com/office/drawing/2014/main" id="{4ACE194F-09C5-4337-ABFD-DFEF72FE57AD}"/>
              </a:ext>
            </a:extLst>
          </p:cNvPr>
          <p:cNvGrpSpPr/>
          <p:nvPr/>
        </p:nvGrpSpPr>
        <p:grpSpPr>
          <a:xfrm rot="5400000">
            <a:off x="5232208" y="5173535"/>
            <a:ext cx="338137" cy="998176"/>
            <a:chOff x="7267925" y="3123310"/>
            <a:chExt cx="338137" cy="998176"/>
          </a:xfrm>
        </p:grpSpPr>
        <p:sp>
          <p:nvSpPr>
            <p:cNvPr id="58" name="Rechteck 57">
              <a:extLst>
                <a:ext uri="{FF2B5EF4-FFF2-40B4-BE49-F238E27FC236}">
                  <a16:creationId xmlns:a16="http://schemas.microsoft.com/office/drawing/2014/main" id="{86CF74E5-92A2-B2B4-84F2-A08711CE4576}"/>
                </a:ext>
              </a:extLst>
            </p:cNvPr>
            <p:cNvSpPr/>
            <p:nvPr/>
          </p:nvSpPr>
          <p:spPr>
            <a:xfrm>
              <a:off x="7267925" y="3923412"/>
              <a:ext cx="338137" cy="198074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600"/>
                <a:t>TcpS</a:t>
              </a:r>
            </a:p>
          </p:txBody>
        </p:sp>
        <p:sp>
          <p:nvSpPr>
            <p:cNvPr id="59" name="Rechteck 58">
              <a:extLst>
                <a:ext uri="{FF2B5EF4-FFF2-40B4-BE49-F238E27FC236}">
                  <a16:creationId xmlns:a16="http://schemas.microsoft.com/office/drawing/2014/main" id="{E723D154-0D75-5EA9-8CF6-4EE379C46676}"/>
                </a:ext>
              </a:extLst>
            </p:cNvPr>
            <p:cNvSpPr/>
            <p:nvPr/>
          </p:nvSpPr>
          <p:spPr>
            <a:xfrm>
              <a:off x="7267925" y="3523361"/>
              <a:ext cx="338137" cy="198074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600"/>
                <a:t>HttpS</a:t>
              </a:r>
            </a:p>
          </p:txBody>
        </p:sp>
        <p:sp>
          <p:nvSpPr>
            <p:cNvPr id="60" name="Rechteck 59">
              <a:extLst>
                <a:ext uri="{FF2B5EF4-FFF2-40B4-BE49-F238E27FC236}">
                  <a16:creationId xmlns:a16="http://schemas.microsoft.com/office/drawing/2014/main" id="{E5206EBD-D24E-28B5-568B-CB2C238F2C77}"/>
                </a:ext>
              </a:extLst>
            </p:cNvPr>
            <p:cNvSpPr/>
            <p:nvPr/>
          </p:nvSpPr>
          <p:spPr>
            <a:xfrm>
              <a:off x="7267925" y="3123310"/>
              <a:ext cx="338137" cy="198074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600"/>
                <a:t>OpS</a:t>
              </a:r>
            </a:p>
          </p:txBody>
        </p:sp>
      </p:grpSp>
      <p:cxnSp>
        <p:nvCxnSpPr>
          <p:cNvPr id="61" name="Gerader Verbinder 60">
            <a:extLst>
              <a:ext uri="{FF2B5EF4-FFF2-40B4-BE49-F238E27FC236}">
                <a16:creationId xmlns:a16="http://schemas.microsoft.com/office/drawing/2014/main" id="{3F94A723-31E5-282A-5981-B162DED911D4}"/>
              </a:ext>
            </a:extLst>
          </p:cNvPr>
          <p:cNvCxnSpPr>
            <a:cxnSpLocks/>
          </p:cNvCxnSpPr>
          <p:nvPr/>
        </p:nvCxnSpPr>
        <p:spPr>
          <a:xfrm>
            <a:off x="4566339" y="5998102"/>
            <a:ext cx="145800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Gerader Verbinder 61">
            <a:extLst>
              <a:ext uri="{FF2B5EF4-FFF2-40B4-BE49-F238E27FC236}">
                <a16:creationId xmlns:a16="http://schemas.microsoft.com/office/drawing/2014/main" id="{5346B5A3-4EA9-8FBD-0F76-B4EDA3A628C9}"/>
              </a:ext>
            </a:extLst>
          </p:cNvPr>
          <p:cNvCxnSpPr>
            <a:stCxn id="9" idx="3"/>
            <a:endCxn id="12" idx="1"/>
          </p:cNvCxnSpPr>
          <p:nvPr/>
        </p:nvCxnSpPr>
        <p:spPr>
          <a:xfrm>
            <a:off x="888580" y="6203011"/>
            <a:ext cx="485775" cy="0"/>
          </a:xfrm>
          <a:prstGeom prst="line">
            <a:avLst/>
          </a:prstGeom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63" name="Gerader Verbinder 62">
            <a:extLst>
              <a:ext uri="{FF2B5EF4-FFF2-40B4-BE49-F238E27FC236}">
                <a16:creationId xmlns:a16="http://schemas.microsoft.com/office/drawing/2014/main" id="{3308A1E7-F373-EE81-70DD-D860FE975724}"/>
              </a:ext>
            </a:extLst>
          </p:cNvPr>
          <p:cNvCxnSpPr>
            <a:cxnSpLocks/>
            <a:stCxn id="12" idx="3"/>
          </p:cNvCxnSpPr>
          <p:nvPr/>
        </p:nvCxnSpPr>
        <p:spPr>
          <a:xfrm flipV="1">
            <a:off x="1712492" y="6203013"/>
            <a:ext cx="913211" cy="1"/>
          </a:xfrm>
          <a:prstGeom prst="line">
            <a:avLst/>
          </a:prstGeom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64" name="Gerader Verbinder 63">
            <a:extLst>
              <a:ext uri="{FF2B5EF4-FFF2-40B4-BE49-F238E27FC236}">
                <a16:creationId xmlns:a16="http://schemas.microsoft.com/office/drawing/2014/main" id="{143B4FB2-12F8-7173-BA6F-335B26BFEBB3}"/>
              </a:ext>
            </a:extLst>
          </p:cNvPr>
          <p:cNvCxnSpPr>
            <a:cxnSpLocks/>
            <a:stCxn id="15" idx="3"/>
            <a:endCxn id="18" idx="1"/>
          </p:cNvCxnSpPr>
          <p:nvPr/>
        </p:nvCxnSpPr>
        <p:spPr>
          <a:xfrm>
            <a:off x="2963840" y="6203011"/>
            <a:ext cx="485775" cy="0"/>
          </a:xfrm>
          <a:prstGeom prst="line">
            <a:avLst/>
          </a:prstGeom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65" name="Gerader Verbinder 64">
            <a:extLst>
              <a:ext uri="{FF2B5EF4-FFF2-40B4-BE49-F238E27FC236}">
                <a16:creationId xmlns:a16="http://schemas.microsoft.com/office/drawing/2014/main" id="{19F5DEDC-F153-BEBB-1F1E-00186D344CDB}"/>
              </a:ext>
            </a:extLst>
          </p:cNvPr>
          <p:cNvCxnSpPr>
            <a:cxnSpLocks/>
            <a:stCxn id="18" idx="3"/>
            <a:endCxn id="21" idx="1"/>
          </p:cNvCxnSpPr>
          <p:nvPr/>
        </p:nvCxnSpPr>
        <p:spPr>
          <a:xfrm>
            <a:off x="3787749" y="6203014"/>
            <a:ext cx="929292" cy="10633"/>
          </a:xfrm>
          <a:prstGeom prst="line">
            <a:avLst/>
          </a:prstGeom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66" name="Gerader Verbinder 65">
            <a:extLst>
              <a:ext uri="{FF2B5EF4-FFF2-40B4-BE49-F238E27FC236}">
                <a16:creationId xmlns:a16="http://schemas.microsoft.com/office/drawing/2014/main" id="{2D93BD7A-37AB-F0E8-43D9-8825215C9245}"/>
              </a:ext>
            </a:extLst>
          </p:cNvPr>
          <p:cNvCxnSpPr>
            <a:cxnSpLocks/>
            <a:stCxn id="23" idx="3"/>
            <a:endCxn id="25" idx="1"/>
          </p:cNvCxnSpPr>
          <p:nvPr/>
        </p:nvCxnSpPr>
        <p:spPr>
          <a:xfrm flipV="1">
            <a:off x="5879093" y="6615822"/>
            <a:ext cx="1909923" cy="2859"/>
          </a:xfrm>
          <a:prstGeom prst="line">
            <a:avLst/>
          </a:prstGeom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67" name="Gerader Verbinder 66">
            <a:extLst>
              <a:ext uri="{FF2B5EF4-FFF2-40B4-BE49-F238E27FC236}">
                <a16:creationId xmlns:a16="http://schemas.microsoft.com/office/drawing/2014/main" id="{A56D196D-AE0B-D035-092B-4260E960363F}"/>
              </a:ext>
            </a:extLst>
          </p:cNvPr>
          <p:cNvCxnSpPr>
            <a:cxnSpLocks/>
            <a:stCxn id="27" idx="1"/>
            <a:endCxn id="25" idx="3"/>
          </p:cNvCxnSpPr>
          <p:nvPr/>
        </p:nvCxnSpPr>
        <p:spPr>
          <a:xfrm flipH="1">
            <a:off x="8127153" y="6615819"/>
            <a:ext cx="485775" cy="0"/>
          </a:xfrm>
          <a:prstGeom prst="line">
            <a:avLst/>
          </a:prstGeom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68" name="Gerader Verbinder 67">
            <a:extLst>
              <a:ext uri="{FF2B5EF4-FFF2-40B4-BE49-F238E27FC236}">
                <a16:creationId xmlns:a16="http://schemas.microsoft.com/office/drawing/2014/main" id="{12924405-E882-9CBE-75FE-D41CF011EFBE}"/>
              </a:ext>
            </a:extLst>
          </p:cNvPr>
          <p:cNvCxnSpPr>
            <a:cxnSpLocks/>
            <a:stCxn id="29" idx="1"/>
            <a:endCxn id="27" idx="3"/>
          </p:cNvCxnSpPr>
          <p:nvPr/>
        </p:nvCxnSpPr>
        <p:spPr>
          <a:xfrm flipH="1">
            <a:off x="8951062" y="6605189"/>
            <a:ext cx="917488" cy="10633"/>
          </a:xfrm>
          <a:prstGeom prst="line">
            <a:avLst/>
          </a:prstGeom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69" name="Gerader Verbinder 68">
            <a:extLst>
              <a:ext uri="{FF2B5EF4-FFF2-40B4-BE49-F238E27FC236}">
                <a16:creationId xmlns:a16="http://schemas.microsoft.com/office/drawing/2014/main" id="{8FCD2C10-717C-88E6-AFC8-560DB1181A3E}"/>
              </a:ext>
            </a:extLst>
          </p:cNvPr>
          <p:cNvCxnSpPr>
            <a:cxnSpLocks/>
            <a:stCxn id="53" idx="3"/>
            <a:endCxn id="56" idx="1"/>
          </p:cNvCxnSpPr>
          <p:nvPr/>
        </p:nvCxnSpPr>
        <p:spPr>
          <a:xfrm>
            <a:off x="5791998" y="3616309"/>
            <a:ext cx="0" cy="485775"/>
          </a:xfrm>
          <a:prstGeom prst="line">
            <a:avLst/>
          </a:prstGeom>
          <a:ln>
            <a:solidFill>
              <a:srgbClr val="FFC000"/>
            </a:solidFill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70" name="Gerader Verbinder 69">
            <a:extLst>
              <a:ext uri="{FF2B5EF4-FFF2-40B4-BE49-F238E27FC236}">
                <a16:creationId xmlns:a16="http://schemas.microsoft.com/office/drawing/2014/main" id="{62CC069B-5286-1DF7-37DC-08C2EE30445C}"/>
              </a:ext>
            </a:extLst>
          </p:cNvPr>
          <p:cNvCxnSpPr>
            <a:cxnSpLocks/>
            <a:stCxn id="56" idx="3"/>
            <a:endCxn id="60" idx="1"/>
          </p:cNvCxnSpPr>
          <p:nvPr/>
        </p:nvCxnSpPr>
        <p:spPr>
          <a:xfrm>
            <a:off x="5792001" y="4440221"/>
            <a:ext cx="9327" cy="1063337"/>
          </a:xfrm>
          <a:prstGeom prst="line">
            <a:avLst/>
          </a:prstGeom>
          <a:ln>
            <a:solidFill>
              <a:srgbClr val="FFC000"/>
            </a:solidFill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71" name="Gerader Verbinder 70">
            <a:extLst>
              <a:ext uri="{FF2B5EF4-FFF2-40B4-BE49-F238E27FC236}">
                <a16:creationId xmlns:a16="http://schemas.microsoft.com/office/drawing/2014/main" id="{BD8A7BEC-DB33-B090-03AB-F516A5AE0094}"/>
              </a:ext>
            </a:extLst>
          </p:cNvPr>
          <p:cNvCxnSpPr>
            <a:cxnSpLocks/>
            <a:stCxn id="45" idx="3"/>
          </p:cNvCxnSpPr>
          <p:nvPr/>
        </p:nvCxnSpPr>
        <p:spPr>
          <a:xfrm flipH="1">
            <a:off x="8857221" y="3616306"/>
            <a:ext cx="1" cy="485774"/>
          </a:xfrm>
          <a:prstGeom prst="line">
            <a:avLst/>
          </a:prstGeom>
          <a:ln>
            <a:solidFill>
              <a:srgbClr val="FFC000"/>
            </a:solidFill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72" name="Gerader Verbinder 71">
            <a:extLst>
              <a:ext uri="{FF2B5EF4-FFF2-40B4-BE49-F238E27FC236}">
                <a16:creationId xmlns:a16="http://schemas.microsoft.com/office/drawing/2014/main" id="{EFEA5A29-2F76-9B94-1657-646671B4A389}"/>
              </a:ext>
            </a:extLst>
          </p:cNvPr>
          <p:cNvCxnSpPr>
            <a:cxnSpLocks/>
            <a:stCxn id="48" idx="3"/>
            <a:endCxn id="39" idx="1"/>
          </p:cNvCxnSpPr>
          <p:nvPr/>
        </p:nvCxnSpPr>
        <p:spPr>
          <a:xfrm flipH="1">
            <a:off x="8857221" y="4440221"/>
            <a:ext cx="1" cy="1063337"/>
          </a:xfrm>
          <a:prstGeom prst="line">
            <a:avLst/>
          </a:prstGeom>
          <a:ln>
            <a:solidFill>
              <a:srgbClr val="FFC000"/>
            </a:solidFill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sp>
        <p:nvSpPr>
          <p:cNvPr id="74" name="Rechteck 73">
            <a:extLst>
              <a:ext uri="{FF2B5EF4-FFF2-40B4-BE49-F238E27FC236}">
                <a16:creationId xmlns:a16="http://schemas.microsoft.com/office/drawing/2014/main" id="{141BEA37-B8B7-2E75-E808-6581631CC6D3}"/>
              </a:ext>
            </a:extLst>
          </p:cNvPr>
          <p:cNvSpPr/>
          <p:nvPr/>
        </p:nvSpPr>
        <p:spPr>
          <a:xfrm>
            <a:off x="4561273" y="11355200"/>
            <a:ext cx="1456660" cy="207866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1100">
                <a:solidFill>
                  <a:schemeClr val="accent6">
                    <a:lumMod val="75000"/>
                  </a:schemeClr>
                </a:solidFill>
              </a:rPr>
              <a:t>Controller</a:t>
            </a:r>
          </a:p>
        </p:txBody>
      </p:sp>
      <p:sp>
        <p:nvSpPr>
          <p:cNvPr id="75" name="Rechteck 74">
            <a:extLst>
              <a:ext uri="{FF2B5EF4-FFF2-40B4-BE49-F238E27FC236}">
                <a16:creationId xmlns:a16="http://schemas.microsoft.com/office/drawing/2014/main" id="{6E4F015F-7EB0-1731-7016-76835118A137}"/>
              </a:ext>
            </a:extLst>
          </p:cNvPr>
          <p:cNvSpPr/>
          <p:nvPr/>
        </p:nvSpPr>
        <p:spPr>
          <a:xfrm>
            <a:off x="7628638" y="11355200"/>
            <a:ext cx="1458000" cy="2078664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800">
                <a:solidFill>
                  <a:schemeClr val="accent6">
                    <a:lumMod val="75000"/>
                  </a:schemeClr>
                </a:solidFill>
              </a:rPr>
              <a:t>MediatorInstanceManager</a:t>
            </a:r>
          </a:p>
          <a:p>
            <a:endParaRPr lang="de-DE" sz="800">
              <a:solidFill>
                <a:schemeClr val="accent6">
                  <a:lumMod val="75000"/>
                </a:schemeClr>
              </a:solidFill>
            </a:endParaRPr>
          </a:p>
          <a:p>
            <a:endParaRPr lang="de-DE" sz="800">
              <a:solidFill>
                <a:schemeClr val="accent6">
                  <a:lumMod val="75000"/>
                </a:schemeClr>
              </a:solidFill>
            </a:endParaRPr>
          </a:p>
          <a:p>
            <a:endParaRPr lang="de-DE" sz="800">
              <a:solidFill>
                <a:schemeClr val="accent6">
                  <a:lumMod val="75000"/>
                </a:schemeClr>
              </a:solidFill>
            </a:endParaRPr>
          </a:p>
          <a:p>
            <a:endParaRPr lang="de-DE" sz="800">
              <a:solidFill>
                <a:schemeClr val="accent6">
                  <a:lumMod val="75000"/>
                </a:schemeClr>
              </a:solidFill>
            </a:endParaRPr>
          </a:p>
          <a:p>
            <a:endParaRPr lang="de-DE" sz="800">
              <a:solidFill>
                <a:schemeClr val="accent6">
                  <a:lumMod val="75000"/>
                </a:schemeClr>
              </a:solidFill>
            </a:endParaRPr>
          </a:p>
          <a:p>
            <a:endParaRPr lang="de-DE" sz="800">
              <a:solidFill>
                <a:schemeClr val="accent6">
                  <a:lumMod val="75000"/>
                </a:schemeClr>
              </a:solidFill>
            </a:endParaRPr>
          </a:p>
          <a:p>
            <a:r>
              <a:rPr lang="de-DE" sz="800">
                <a:solidFill>
                  <a:schemeClr val="accent6">
                    <a:lumMod val="75000"/>
                  </a:schemeClr>
                </a:solidFill>
              </a:rPr>
              <a:t>mediatorProcesses</a:t>
            </a:r>
          </a:p>
        </p:txBody>
      </p:sp>
      <p:sp>
        <p:nvSpPr>
          <p:cNvPr id="76" name="Rechteck 75">
            <a:extLst>
              <a:ext uri="{FF2B5EF4-FFF2-40B4-BE49-F238E27FC236}">
                <a16:creationId xmlns:a16="http://schemas.microsoft.com/office/drawing/2014/main" id="{EFCEA3C8-B645-BF8C-2685-7FE19E5CE4FC}"/>
              </a:ext>
            </a:extLst>
          </p:cNvPr>
          <p:cNvSpPr/>
          <p:nvPr/>
        </p:nvSpPr>
        <p:spPr>
          <a:xfrm>
            <a:off x="9691868" y="11849612"/>
            <a:ext cx="1899264" cy="253068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1100">
                <a:solidFill>
                  <a:schemeClr val="accent6">
                    <a:lumMod val="75000"/>
                  </a:schemeClr>
                </a:solidFill>
              </a:rPr>
              <a:t>Device</a:t>
            </a:r>
          </a:p>
        </p:txBody>
      </p:sp>
      <p:sp>
        <p:nvSpPr>
          <p:cNvPr id="93" name="Rechteck 92">
            <a:extLst>
              <a:ext uri="{FF2B5EF4-FFF2-40B4-BE49-F238E27FC236}">
                <a16:creationId xmlns:a16="http://schemas.microsoft.com/office/drawing/2014/main" id="{34F69CE8-ED93-F830-873A-7C13AB12A20A}"/>
              </a:ext>
            </a:extLst>
          </p:cNvPr>
          <p:cNvSpPr/>
          <p:nvPr/>
        </p:nvSpPr>
        <p:spPr>
          <a:xfrm>
            <a:off x="5540956" y="13112122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TcpC</a:t>
            </a:r>
          </a:p>
        </p:txBody>
      </p:sp>
      <p:sp>
        <p:nvSpPr>
          <p:cNvPr id="94" name="Rechteck 93">
            <a:extLst>
              <a:ext uri="{FF2B5EF4-FFF2-40B4-BE49-F238E27FC236}">
                <a16:creationId xmlns:a16="http://schemas.microsoft.com/office/drawing/2014/main" id="{6DD63BA9-847D-1A2D-1C9A-FCA0DCF233B5}"/>
              </a:ext>
            </a:extLst>
          </p:cNvPr>
          <p:cNvSpPr/>
          <p:nvPr/>
        </p:nvSpPr>
        <p:spPr>
          <a:xfrm>
            <a:off x="5540956" y="12717054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NetC</a:t>
            </a:r>
          </a:p>
        </p:txBody>
      </p:sp>
      <p:sp>
        <p:nvSpPr>
          <p:cNvPr id="95" name="Rechteck 94">
            <a:extLst>
              <a:ext uri="{FF2B5EF4-FFF2-40B4-BE49-F238E27FC236}">
                <a16:creationId xmlns:a16="http://schemas.microsoft.com/office/drawing/2014/main" id="{0D437FAF-B507-C6CF-3948-A29EC8AF3A7B}"/>
              </a:ext>
            </a:extLst>
          </p:cNvPr>
          <p:cNvSpPr/>
          <p:nvPr/>
        </p:nvSpPr>
        <p:spPr>
          <a:xfrm>
            <a:off x="7789016" y="13109263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TcpS</a:t>
            </a:r>
          </a:p>
        </p:txBody>
      </p:sp>
      <p:sp>
        <p:nvSpPr>
          <p:cNvPr id="96" name="Rechteck 95">
            <a:extLst>
              <a:ext uri="{FF2B5EF4-FFF2-40B4-BE49-F238E27FC236}">
                <a16:creationId xmlns:a16="http://schemas.microsoft.com/office/drawing/2014/main" id="{DC5A0C8A-D84F-A1BA-1C7B-F23ABA66D30B}"/>
              </a:ext>
            </a:extLst>
          </p:cNvPr>
          <p:cNvSpPr/>
          <p:nvPr/>
        </p:nvSpPr>
        <p:spPr>
          <a:xfrm>
            <a:off x="7789016" y="12714195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NetS</a:t>
            </a:r>
          </a:p>
        </p:txBody>
      </p:sp>
      <p:sp>
        <p:nvSpPr>
          <p:cNvPr id="97" name="Rechteck 96">
            <a:extLst>
              <a:ext uri="{FF2B5EF4-FFF2-40B4-BE49-F238E27FC236}">
                <a16:creationId xmlns:a16="http://schemas.microsoft.com/office/drawing/2014/main" id="{C241DCC7-AAFF-3170-D434-F618D8A5DBD9}"/>
              </a:ext>
            </a:extLst>
          </p:cNvPr>
          <p:cNvSpPr/>
          <p:nvPr/>
        </p:nvSpPr>
        <p:spPr>
          <a:xfrm>
            <a:off x="8612928" y="13109263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TcpC</a:t>
            </a:r>
          </a:p>
        </p:txBody>
      </p:sp>
      <p:sp>
        <p:nvSpPr>
          <p:cNvPr id="98" name="Rechteck 97">
            <a:extLst>
              <a:ext uri="{FF2B5EF4-FFF2-40B4-BE49-F238E27FC236}">
                <a16:creationId xmlns:a16="http://schemas.microsoft.com/office/drawing/2014/main" id="{71ABFB95-8A94-31E5-3C83-3B14E2E5CDFD}"/>
              </a:ext>
            </a:extLst>
          </p:cNvPr>
          <p:cNvSpPr/>
          <p:nvPr/>
        </p:nvSpPr>
        <p:spPr>
          <a:xfrm>
            <a:off x="8612928" y="12714195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SnmpC</a:t>
            </a:r>
          </a:p>
        </p:txBody>
      </p:sp>
      <p:sp>
        <p:nvSpPr>
          <p:cNvPr id="99" name="Rechteck 98">
            <a:extLst>
              <a:ext uri="{FF2B5EF4-FFF2-40B4-BE49-F238E27FC236}">
                <a16:creationId xmlns:a16="http://schemas.microsoft.com/office/drawing/2014/main" id="{341C7B94-7B76-8229-4A2A-8134880B4926}"/>
              </a:ext>
            </a:extLst>
          </p:cNvPr>
          <p:cNvSpPr/>
          <p:nvPr/>
        </p:nvSpPr>
        <p:spPr>
          <a:xfrm>
            <a:off x="9868553" y="13098630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TcpS</a:t>
            </a:r>
          </a:p>
        </p:txBody>
      </p:sp>
      <p:sp>
        <p:nvSpPr>
          <p:cNvPr id="100" name="Rechteck 99">
            <a:extLst>
              <a:ext uri="{FF2B5EF4-FFF2-40B4-BE49-F238E27FC236}">
                <a16:creationId xmlns:a16="http://schemas.microsoft.com/office/drawing/2014/main" id="{0A6D84C4-1B1A-112F-0A67-A4735734FABF}"/>
              </a:ext>
            </a:extLst>
          </p:cNvPr>
          <p:cNvSpPr/>
          <p:nvPr/>
        </p:nvSpPr>
        <p:spPr>
          <a:xfrm>
            <a:off x="9868553" y="12703562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SnmpS</a:t>
            </a:r>
          </a:p>
        </p:txBody>
      </p:sp>
      <p:sp>
        <p:nvSpPr>
          <p:cNvPr id="101" name="Rechteck 100">
            <a:extLst>
              <a:ext uri="{FF2B5EF4-FFF2-40B4-BE49-F238E27FC236}">
                <a16:creationId xmlns:a16="http://schemas.microsoft.com/office/drawing/2014/main" id="{C1E45473-8297-A262-FFF9-E3B2B67A4F62}"/>
              </a:ext>
            </a:extLst>
          </p:cNvPr>
          <p:cNvSpPr/>
          <p:nvPr/>
        </p:nvSpPr>
        <p:spPr>
          <a:xfrm>
            <a:off x="11063713" y="14031149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AirI</a:t>
            </a:r>
          </a:p>
        </p:txBody>
      </p:sp>
      <p:sp>
        <p:nvSpPr>
          <p:cNvPr id="102" name="Rechteck 101">
            <a:extLst>
              <a:ext uri="{FF2B5EF4-FFF2-40B4-BE49-F238E27FC236}">
                <a16:creationId xmlns:a16="http://schemas.microsoft.com/office/drawing/2014/main" id="{87150E2D-EB67-7B24-E6A5-676B80CE5251}"/>
              </a:ext>
            </a:extLst>
          </p:cNvPr>
          <p:cNvSpPr/>
          <p:nvPr/>
        </p:nvSpPr>
        <p:spPr>
          <a:xfrm>
            <a:off x="11063713" y="13631098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PES</a:t>
            </a:r>
          </a:p>
        </p:txBody>
      </p:sp>
      <p:sp>
        <p:nvSpPr>
          <p:cNvPr id="103" name="Rechteck 102">
            <a:extLst>
              <a:ext uri="{FF2B5EF4-FFF2-40B4-BE49-F238E27FC236}">
                <a16:creationId xmlns:a16="http://schemas.microsoft.com/office/drawing/2014/main" id="{10AB6DFB-5CF2-D1E7-689E-3AA368C49408}"/>
              </a:ext>
            </a:extLst>
          </p:cNvPr>
          <p:cNvSpPr/>
          <p:nvPr/>
        </p:nvSpPr>
        <p:spPr>
          <a:xfrm>
            <a:off x="11063713" y="13231047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EC</a:t>
            </a:r>
          </a:p>
        </p:txBody>
      </p:sp>
      <p:sp>
        <p:nvSpPr>
          <p:cNvPr id="104" name="Rechteck 103">
            <a:extLst>
              <a:ext uri="{FF2B5EF4-FFF2-40B4-BE49-F238E27FC236}">
                <a16:creationId xmlns:a16="http://schemas.microsoft.com/office/drawing/2014/main" id="{0A3363A3-BA54-D35E-B388-C7321B9BE878}"/>
              </a:ext>
            </a:extLst>
          </p:cNvPr>
          <p:cNvSpPr/>
          <p:nvPr/>
        </p:nvSpPr>
        <p:spPr>
          <a:xfrm>
            <a:off x="11063712" y="12430945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VlanI</a:t>
            </a:r>
          </a:p>
        </p:txBody>
      </p:sp>
      <p:sp>
        <p:nvSpPr>
          <p:cNvPr id="105" name="Rechteck 104">
            <a:extLst>
              <a:ext uri="{FF2B5EF4-FFF2-40B4-BE49-F238E27FC236}">
                <a16:creationId xmlns:a16="http://schemas.microsoft.com/office/drawing/2014/main" id="{C6E9F742-DF08-789F-BC59-4FC946FC913F}"/>
              </a:ext>
            </a:extLst>
          </p:cNvPr>
          <p:cNvSpPr/>
          <p:nvPr/>
        </p:nvSpPr>
        <p:spPr>
          <a:xfrm>
            <a:off x="11063713" y="12830996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MacI</a:t>
            </a:r>
          </a:p>
        </p:txBody>
      </p:sp>
      <p:cxnSp>
        <p:nvCxnSpPr>
          <p:cNvPr id="106" name="Gerader Verbinder 105">
            <a:extLst>
              <a:ext uri="{FF2B5EF4-FFF2-40B4-BE49-F238E27FC236}">
                <a16:creationId xmlns:a16="http://schemas.microsoft.com/office/drawing/2014/main" id="{3BC68C30-1683-EA4C-845B-CB907CEC96F6}"/>
              </a:ext>
            </a:extLst>
          </p:cNvPr>
          <p:cNvCxnSpPr>
            <a:cxnSpLocks/>
          </p:cNvCxnSpPr>
          <p:nvPr/>
        </p:nvCxnSpPr>
        <p:spPr>
          <a:xfrm flipV="1">
            <a:off x="9691870" y="11860246"/>
            <a:ext cx="1629017" cy="234040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07" name="Gruppieren 106">
            <a:extLst>
              <a:ext uri="{FF2B5EF4-FFF2-40B4-BE49-F238E27FC236}">
                <a16:creationId xmlns:a16="http://schemas.microsoft.com/office/drawing/2014/main" id="{D6742ED2-F057-78A7-5150-A41844EF625C}"/>
              </a:ext>
            </a:extLst>
          </p:cNvPr>
          <p:cNvGrpSpPr/>
          <p:nvPr/>
        </p:nvGrpSpPr>
        <p:grpSpPr>
          <a:xfrm rot="5400000">
            <a:off x="8288101" y="11370948"/>
            <a:ext cx="338137" cy="998176"/>
            <a:chOff x="7267925" y="3123310"/>
            <a:chExt cx="338137" cy="998176"/>
          </a:xfrm>
        </p:grpSpPr>
        <p:sp>
          <p:nvSpPr>
            <p:cNvPr id="108" name="Rechteck 107">
              <a:extLst>
                <a:ext uri="{FF2B5EF4-FFF2-40B4-BE49-F238E27FC236}">
                  <a16:creationId xmlns:a16="http://schemas.microsoft.com/office/drawing/2014/main" id="{996873ED-9D66-B4CD-8D11-882288108F18}"/>
                </a:ext>
              </a:extLst>
            </p:cNvPr>
            <p:cNvSpPr/>
            <p:nvPr/>
          </p:nvSpPr>
          <p:spPr>
            <a:xfrm>
              <a:off x="7267925" y="3923412"/>
              <a:ext cx="338137" cy="198074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600"/>
                <a:t>TcpS</a:t>
              </a:r>
            </a:p>
          </p:txBody>
        </p:sp>
        <p:sp>
          <p:nvSpPr>
            <p:cNvPr id="109" name="Rechteck 108">
              <a:extLst>
                <a:ext uri="{FF2B5EF4-FFF2-40B4-BE49-F238E27FC236}">
                  <a16:creationId xmlns:a16="http://schemas.microsoft.com/office/drawing/2014/main" id="{E3161ECC-EE4D-308F-FC14-A34D5493E194}"/>
                </a:ext>
              </a:extLst>
            </p:cNvPr>
            <p:cNvSpPr/>
            <p:nvPr/>
          </p:nvSpPr>
          <p:spPr>
            <a:xfrm>
              <a:off x="7267925" y="3523361"/>
              <a:ext cx="338137" cy="198074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600"/>
                <a:t>HttpS</a:t>
              </a:r>
            </a:p>
          </p:txBody>
        </p:sp>
        <p:sp>
          <p:nvSpPr>
            <p:cNvPr id="110" name="Rechteck 109">
              <a:extLst>
                <a:ext uri="{FF2B5EF4-FFF2-40B4-BE49-F238E27FC236}">
                  <a16:creationId xmlns:a16="http://schemas.microsoft.com/office/drawing/2014/main" id="{5D5CBAFC-63CE-84E0-F817-9B8163E5A495}"/>
                </a:ext>
              </a:extLst>
            </p:cNvPr>
            <p:cNvSpPr/>
            <p:nvPr/>
          </p:nvSpPr>
          <p:spPr>
            <a:xfrm>
              <a:off x="7267925" y="3123310"/>
              <a:ext cx="338137" cy="198074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600"/>
                <a:t>OpS</a:t>
              </a:r>
            </a:p>
          </p:txBody>
        </p:sp>
      </p:grpSp>
      <p:cxnSp>
        <p:nvCxnSpPr>
          <p:cNvPr id="111" name="Gerader Verbinder 110">
            <a:extLst>
              <a:ext uri="{FF2B5EF4-FFF2-40B4-BE49-F238E27FC236}">
                <a16:creationId xmlns:a16="http://schemas.microsoft.com/office/drawing/2014/main" id="{E3F88B35-4DF8-36B9-FA1E-AF410D60D677}"/>
              </a:ext>
            </a:extLst>
          </p:cNvPr>
          <p:cNvCxnSpPr>
            <a:cxnSpLocks/>
          </p:cNvCxnSpPr>
          <p:nvPr/>
        </p:nvCxnSpPr>
        <p:spPr>
          <a:xfrm>
            <a:off x="7622232" y="12195515"/>
            <a:ext cx="145800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2" name="Rechteck 111">
            <a:extLst>
              <a:ext uri="{FF2B5EF4-FFF2-40B4-BE49-F238E27FC236}">
                <a16:creationId xmlns:a16="http://schemas.microsoft.com/office/drawing/2014/main" id="{047369EB-7578-A672-B628-5F3CF1FD0B7A}"/>
              </a:ext>
            </a:extLst>
          </p:cNvPr>
          <p:cNvSpPr/>
          <p:nvPr/>
        </p:nvSpPr>
        <p:spPr>
          <a:xfrm>
            <a:off x="7622233" y="9135875"/>
            <a:ext cx="1458000" cy="1620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1100">
                <a:solidFill>
                  <a:schemeClr val="accent6">
                    <a:lumMod val="75000"/>
                  </a:schemeClr>
                </a:solidFill>
              </a:rPr>
              <a:t>MM / NCM</a:t>
            </a:r>
          </a:p>
        </p:txBody>
      </p:sp>
      <p:grpSp>
        <p:nvGrpSpPr>
          <p:cNvPr id="113" name="Gruppieren 112">
            <a:extLst>
              <a:ext uri="{FF2B5EF4-FFF2-40B4-BE49-F238E27FC236}">
                <a16:creationId xmlns:a16="http://schemas.microsoft.com/office/drawing/2014/main" id="{97D29417-7626-C176-8171-B76EE10710D0}"/>
              </a:ext>
            </a:extLst>
          </p:cNvPr>
          <p:cNvGrpSpPr/>
          <p:nvPr/>
        </p:nvGrpSpPr>
        <p:grpSpPr>
          <a:xfrm rot="5400000">
            <a:off x="7876146" y="9557518"/>
            <a:ext cx="1162049" cy="998176"/>
            <a:chOff x="7115461" y="1735493"/>
            <a:chExt cx="1162049" cy="998176"/>
          </a:xfrm>
        </p:grpSpPr>
        <p:sp>
          <p:nvSpPr>
            <p:cNvPr id="114" name="Rechteck 113">
              <a:extLst>
                <a:ext uri="{FF2B5EF4-FFF2-40B4-BE49-F238E27FC236}">
                  <a16:creationId xmlns:a16="http://schemas.microsoft.com/office/drawing/2014/main" id="{FB43D1F3-B681-6EEA-3F0F-B493E6861262}"/>
                </a:ext>
              </a:extLst>
            </p:cNvPr>
            <p:cNvSpPr/>
            <p:nvPr/>
          </p:nvSpPr>
          <p:spPr>
            <a:xfrm>
              <a:off x="7115461" y="2535595"/>
              <a:ext cx="338137" cy="198074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600"/>
                <a:t>TcpS</a:t>
              </a:r>
            </a:p>
          </p:txBody>
        </p:sp>
        <p:sp>
          <p:nvSpPr>
            <p:cNvPr id="115" name="Rechteck 114">
              <a:extLst>
                <a:ext uri="{FF2B5EF4-FFF2-40B4-BE49-F238E27FC236}">
                  <a16:creationId xmlns:a16="http://schemas.microsoft.com/office/drawing/2014/main" id="{6C7F02BA-C5AC-616E-DDBB-974C28E821DC}"/>
                </a:ext>
              </a:extLst>
            </p:cNvPr>
            <p:cNvSpPr/>
            <p:nvPr/>
          </p:nvSpPr>
          <p:spPr>
            <a:xfrm>
              <a:off x="7115461" y="2135544"/>
              <a:ext cx="338137" cy="198074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600"/>
                <a:t>HttpS</a:t>
              </a:r>
            </a:p>
          </p:txBody>
        </p:sp>
        <p:sp>
          <p:nvSpPr>
            <p:cNvPr id="116" name="Rechteck 115">
              <a:extLst>
                <a:ext uri="{FF2B5EF4-FFF2-40B4-BE49-F238E27FC236}">
                  <a16:creationId xmlns:a16="http://schemas.microsoft.com/office/drawing/2014/main" id="{F2B3208E-962F-47AF-2FC5-F5F0E8CE1D8F}"/>
                </a:ext>
              </a:extLst>
            </p:cNvPr>
            <p:cNvSpPr/>
            <p:nvPr/>
          </p:nvSpPr>
          <p:spPr>
            <a:xfrm>
              <a:off x="7115461" y="1735493"/>
              <a:ext cx="338137" cy="198074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600"/>
                <a:t>OpS</a:t>
              </a:r>
            </a:p>
          </p:txBody>
        </p:sp>
        <p:sp>
          <p:nvSpPr>
            <p:cNvPr id="117" name="Rechteck 116">
              <a:extLst>
                <a:ext uri="{FF2B5EF4-FFF2-40B4-BE49-F238E27FC236}">
                  <a16:creationId xmlns:a16="http://schemas.microsoft.com/office/drawing/2014/main" id="{36ED8D34-FAB2-ECDA-7F59-469C3F477458}"/>
                </a:ext>
              </a:extLst>
            </p:cNvPr>
            <p:cNvSpPr/>
            <p:nvPr/>
          </p:nvSpPr>
          <p:spPr>
            <a:xfrm>
              <a:off x="7939373" y="2535595"/>
              <a:ext cx="338137" cy="198074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600"/>
                <a:t>TcpC</a:t>
              </a:r>
            </a:p>
          </p:txBody>
        </p:sp>
        <p:sp>
          <p:nvSpPr>
            <p:cNvPr id="118" name="Rechteck 117">
              <a:extLst>
                <a:ext uri="{FF2B5EF4-FFF2-40B4-BE49-F238E27FC236}">
                  <a16:creationId xmlns:a16="http://schemas.microsoft.com/office/drawing/2014/main" id="{97D57EA9-EF20-AB09-6218-B2C9760CA197}"/>
                </a:ext>
              </a:extLst>
            </p:cNvPr>
            <p:cNvSpPr/>
            <p:nvPr/>
          </p:nvSpPr>
          <p:spPr>
            <a:xfrm>
              <a:off x="7939373" y="2135544"/>
              <a:ext cx="338137" cy="198074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600"/>
                <a:t>HttpC</a:t>
              </a:r>
            </a:p>
          </p:txBody>
        </p:sp>
        <p:sp>
          <p:nvSpPr>
            <p:cNvPr id="119" name="Rechteck 118">
              <a:extLst>
                <a:ext uri="{FF2B5EF4-FFF2-40B4-BE49-F238E27FC236}">
                  <a16:creationId xmlns:a16="http://schemas.microsoft.com/office/drawing/2014/main" id="{7FD10FC3-ABF9-7B9C-D27A-9AF3D0750CDF}"/>
                </a:ext>
              </a:extLst>
            </p:cNvPr>
            <p:cNvSpPr/>
            <p:nvPr/>
          </p:nvSpPr>
          <p:spPr>
            <a:xfrm>
              <a:off x="7939373" y="1735493"/>
              <a:ext cx="338137" cy="198074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600"/>
                <a:t>OpC</a:t>
              </a:r>
            </a:p>
          </p:txBody>
        </p:sp>
      </p:grpSp>
      <p:cxnSp>
        <p:nvCxnSpPr>
          <p:cNvPr id="132" name="Gerader Verbinder 131">
            <a:extLst>
              <a:ext uri="{FF2B5EF4-FFF2-40B4-BE49-F238E27FC236}">
                <a16:creationId xmlns:a16="http://schemas.microsoft.com/office/drawing/2014/main" id="{EE2E9144-2E50-61D5-6EF0-4D405BB2ED93}"/>
              </a:ext>
            </a:extLst>
          </p:cNvPr>
          <p:cNvCxnSpPr>
            <a:cxnSpLocks/>
          </p:cNvCxnSpPr>
          <p:nvPr/>
        </p:nvCxnSpPr>
        <p:spPr>
          <a:xfrm>
            <a:off x="4566339" y="12195515"/>
            <a:ext cx="145800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7" name="Gerader Verbinder 136">
            <a:extLst>
              <a:ext uri="{FF2B5EF4-FFF2-40B4-BE49-F238E27FC236}">
                <a16:creationId xmlns:a16="http://schemas.microsoft.com/office/drawing/2014/main" id="{FA120268-DBD1-31E3-D560-DFCE67F86135}"/>
              </a:ext>
            </a:extLst>
          </p:cNvPr>
          <p:cNvCxnSpPr>
            <a:cxnSpLocks/>
            <a:stCxn id="94" idx="3"/>
            <a:endCxn id="96" idx="1"/>
          </p:cNvCxnSpPr>
          <p:nvPr/>
        </p:nvCxnSpPr>
        <p:spPr>
          <a:xfrm flipV="1">
            <a:off x="5879093" y="12813235"/>
            <a:ext cx="1909923" cy="2859"/>
          </a:xfrm>
          <a:prstGeom prst="line">
            <a:avLst/>
          </a:prstGeom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138" name="Gerader Verbinder 137">
            <a:extLst>
              <a:ext uri="{FF2B5EF4-FFF2-40B4-BE49-F238E27FC236}">
                <a16:creationId xmlns:a16="http://schemas.microsoft.com/office/drawing/2014/main" id="{FF6D5A19-3A23-06BE-47EA-CFC2DA6CE54F}"/>
              </a:ext>
            </a:extLst>
          </p:cNvPr>
          <p:cNvCxnSpPr>
            <a:cxnSpLocks/>
            <a:stCxn id="98" idx="1"/>
            <a:endCxn id="96" idx="3"/>
          </p:cNvCxnSpPr>
          <p:nvPr/>
        </p:nvCxnSpPr>
        <p:spPr>
          <a:xfrm flipH="1">
            <a:off x="8127153" y="12813232"/>
            <a:ext cx="485775" cy="0"/>
          </a:xfrm>
          <a:prstGeom prst="line">
            <a:avLst/>
          </a:prstGeom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139" name="Gerader Verbinder 138">
            <a:extLst>
              <a:ext uri="{FF2B5EF4-FFF2-40B4-BE49-F238E27FC236}">
                <a16:creationId xmlns:a16="http://schemas.microsoft.com/office/drawing/2014/main" id="{9AF164CF-4371-1D84-FE7D-B883D938C666}"/>
              </a:ext>
            </a:extLst>
          </p:cNvPr>
          <p:cNvCxnSpPr>
            <a:cxnSpLocks/>
            <a:stCxn id="100" idx="1"/>
            <a:endCxn id="98" idx="3"/>
          </p:cNvCxnSpPr>
          <p:nvPr/>
        </p:nvCxnSpPr>
        <p:spPr>
          <a:xfrm flipH="1">
            <a:off x="8951062" y="12802602"/>
            <a:ext cx="917488" cy="10633"/>
          </a:xfrm>
          <a:prstGeom prst="line">
            <a:avLst/>
          </a:prstGeom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142" name="Gerader Verbinder 141">
            <a:extLst>
              <a:ext uri="{FF2B5EF4-FFF2-40B4-BE49-F238E27FC236}">
                <a16:creationId xmlns:a16="http://schemas.microsoft.com/office/drawing/2014/main" id="{D00B38C7-6860-5F20-0291-BDDAD5ADC652}"/>
              </a:ext>
            </a:extLst>
          </p:cNvPr>
          <p:cNvCxnSpPr>
            <a:cxnSpLocks/>
            <a:stCxn id="116" idx="3"/>
          </p:cNvCxnSpPr>
          <p:nvPr/>
        </p:nvCxnSpPr>
        <p:spPr>
          <a:xfrm flipH="1">
            <a:off x="8857221" y="9813719"/>
            <a:ext cx="1" cy="485774"/>
          </a:xfrm>
          <a:prstGeom prst="line">
            <a:avLst/>
          </a:prstGeom>
          <a:ln>
            <a:solidFill>
              <a:srgbClr val="FFC000"/>
            </a:solidFill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143" name="Gerader Verbinder 142">
            <a:extLst>
              <a:ext uri="{FF2B5EF4-FFF2-40B4-BE49-F238E27FC236}">
                <a16:creationId xmlns:a16="http://schemas.microsoft.com/office/drawing/2014/main" id="{5024DC42-ED37-5014-2ACF-25AB816D582D}"/>
              </a:ext>
            </a:extLst>
          </p:cNvPr>
          <p:cNvCxnSpPr>
            <a:cxnSpLocks/>
            <a:stCxn id="119" idx="3"/>
            <a:endCxn id="110" idx="1"/>
          </p:cNvCxnSpPr>
          <p:nvPr/>
        </p:nvCxnSpPr>
        <p:spPr>
          <a:xfrm flipH="1">
            <a:off x="8857221" y="10637634"/>
            <a:ext cx="1" cy="1063337"/>
          </a:xfrm>
          <a:prstGeom prst="line">
            <a:avLst/>
          </a:prstGeom>
          <a:ln>
            <a:solidFill>
              <a:srgbClr val="FFC000"/>
            </a:solidFill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7055639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Rechteck 289">
            <a:extLst>
              <a:ext uri="{FF2B5EF4-FFF2-40B4-BE49-F238E27FC236}">
                <a16:creationId xmlns:a16="http://schemas.microsoft.com/office/drawing/2014/main" id="{AD55E515-56A7-41AB-80D9-5F2EEBA06909}"/>
              </a:ext>
            </a:extLst>
          </p:cNvPr>
          <p:cNvSpPr/>
          <p:nvPr/>
        </p:nvSpPr>
        <p:spPr>
          <a:xfrm>
            <a:off x="1647834" y="11872349"/>
            <a:ext cx="6311488" cy="1952970"/>
          </a:xfrm>
          <a:prstGeom prst="rect">
            <a:avLst/>
          </a:prstGeom>
          <a:solidFill>
            <a:schemeClr val="accent5">
              <a:lumMod val="40000"/>
              <a:lumOff val="60000"/>
              <a:alpha val="50196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Link</a:t>
            </a:r>
          </a:p>
        </p:txBody>
      </p:sp>
      <p:sp>
        <p:nvSpPr>
          <p:cNvPr id="289" name="Rechteck 288">
            <a:extLst>
              <a:ext uri="{FF2B5EF4-FFF2-40B4-BE49-F238E27FC236}">
                <a16:creationId xmlns:a16="http://schemas.microsoft.com/office/drawing/2014/main" id="{F7F77AA1-771F-42F7-8FB9-D67AE4A16483}"/>
              </a:ext>
            </a:extLst>
          </p:cNvPr>
          <p:cNvSpPr/>
          <p:nvPr/>
        </p:nvSpPr>
        <p:spPr>
          <a:xfrm>
            <a:off x="11256181" y="11872349"/>
            <a:ext cx="6311488" cy="1952970"/>
          </a:xfrm>
          <a:prstGeom prst="rect">
            <a:avLst/>
          </a:prstGeom>
          <a:solidFill>
            <a:schemeClr val="accent5">
              <a:lumMod val="40000"/>
              <a:lumOff val="60000"/>
              <a:alpha val="50196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Link</a:t>
            </a:r>
          </a:p>
        </p:txBody>
      </p:sp>
      <p:sp>
        <p:nvSpPr>
          <p:cNvPr id="288" name="Rechteck 287">
            <a:extLst>
              <a:ext uri="{FF2B5EF4-FFF2-40B4-BE49-F238E27FC236}">
                <a16:creationId xmlns:a16="http://schemas.microsoft.com/office/drawing/2014/main" id="{3A9B4262-A48D-FB94-6E29-10CE9577508C}"/>
              </a:ext>
            </a:extLst>
          </p:cNvPr>
          <p:cNvSpPr/>
          <p:nvPr/>
        </p:nvSpPr>
        <p:spPr>
          <a:xfrm>
            <a:off x="14795726" y="7526337"/>
            <a:ext cx="6629959" cy="4343400"/>
          </a:xfrm>
          <a:prstGeom prst="rect">
            <a:avLst/>
          </a:prstGeom>
          <a:solidFill>
            <a:srgbClr val="00B0F0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Device</a:t>
            </a:r>
          </a:p>
        </p:txBody>
      </p:sp>
      <p:grpSp>
        <p:nvGrpSpPr>
          <p:cNvPr id="287" name="Gruppieren 286">
            <a:extLst>
              <a:ext uri="{FF2B5EF4-FFF2-40B4-BE49-F238E27FC236}">
                <a16:creationId xmlns:a16="http://schemas.microsoft.com/office/drawing/2014/main" id="{F10524AF-7993-403E-9151-7990C002DAC3}"/>
              </a:ext>
            </a:extLst>
          </p:cNvPr>
          <p:cNvGrpSpPr/>
          <p:nvPr/>
        </p:nvGrpSpPr>
        <p:grpSpPr>
          <a:xfrm>
            <a:off x="5232959" y="3563937"/>
            <a:ext cx="11204167" cy="8305800"/>
            <a:chOff x="5066703" y="863600"/>
            <a:chExt cx="11204167" cy="8305800"/>
          </a:xfrm>
        </p:grpSpPr>
        <p:sp>
          <p:nvSpPr>
            <p:cNvPr id="281" name="Rechteck 280">
              <a:extLst>
                <a:ext uri="{FF2B5EF4-FFF2-40B4-BE49-F238E27FC236}">
                  <a16:creationId xmlns:a16="http://schemas.microsoft.com/office/drawing/2014/main" id="{2D320F09-9AA6-A469-D6F0-BE4E94481CB3}"/>
                </a:ext>
              </a:extLst>
            </p:cNvPr>
            <p:cNvSpPr/>
            <p:nvPr/>
          </p:nvSpPr>
          <p:spPr>
            <a:xfrm>
              <a:off x="5066703" y="863600"/>
              <a:ext cx="8738197" cy="8305800"/>
            </a:xfrm>
            <a:prstGeom prst="rect">
              <a:avLst/>
            </a:prstGeom>
            <a:solidFill>
              <a:srgbClr val="92D050">
                <a:alpha val="50196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r>
                <a:rPr lang="de-DE" sz="1400">
                  <a:solidFill>
                    <a:schemeClr val="tx1"/>
                  </a:solidFill>
                </a:rPr>
                <a:t>MediatorVM</a:t>
              </a:r>
            </a:p>
          </p:txBody>
        </p:sp>
        <p:sp>
          <p:nvSpPr>
            <p:cNvPr id="282" name="Rechteck 281">
              <a:extLst>
                <a:ext uri="{FF2B5EF4-FFF2-40B4-BE49-F238E27FC236}">
                  <a16:creationId xmlns:a16="http://schemas.microsoft.com/office/drawing/2014/main" id="{C9453577-A74B-CA25-645C-51DCBD053ABB}"/>
                </a:ext>
              </a:extLst>
            </p:cNvPr>
            <p:cNvSpPr/>
            <p:nvPr/>
          </p:nvSpPr>
          <p:spPr>
            <a:xfrm>
              <a:off x="13804900" y="863600"/>
              <a:ext cx="2465970" cy="2986805"/>
            </a:xfrm>
            <a:prstGeom prst="rect">
              <a:avLst/>
            </a:prstGeom>
            <a:solidFill>
              <a:srgbClr val="92D050">
                <a:alpha val="50196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r"/>
              <a:endParaRPr lang="de-DE" sz="1400">
                <a:solidFill>
                  <a:schemeClr val="tx1"/>
                </a:solidFill>
              </a:endParaRPr>
            </a:p>
          </p:txBody>
        </p:sp>
      </p:grpSp>
      <p:sp>
        <p:nvSpPr>
          <p:cNvPr id="286" name="Rechteck 285">
            <a:extLst>
              <a:ext uri="{FF2B5EF4-FFF2-40B4-BE49-F238E27FC236}">
                <a16:creationId xmlns:a16="http://schemas.microsoft.com/office/drawing/2014/main" id="{D8AE4052-8F1E-F4E2-B431-FFA8193EC50D}"/>
              </a:ext>
            </a:extLst>
          </p:cNvPr>
          <p:cNvSpPr/>
          <p:nvPr/>
        </p:nvSpPr>
        <p:spPr>
          <a:xfrm>
            <a:off x="5372744" y="8132719"/>
            <a:ext cx="8496789" cy="363833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1400">
                <a:solidFill>
                  <a:schemeClr val="tx1"/>
                </a:solidFill>
              </a:rPr>
              <a:t>MediatorProcess [*]</a:t>
            </a:r>
          </a:p>
        </p:txBody>
      </p:sp>
      <p:sp>
        <p:nvSpPr>
          <p:cNvPr id="279" name="Rechteck 278">
            <a:extLst>
              <a:ext uri="{FF2B5EF4-FFF2-40B4-BE49-F238E27FC236}">
                <a16:creationId xmlns:a16="http://schemas.microsoft.com/office/drawing/2014/main" id="{C83F54BE-E7F0-D9AE-A1D5-FC225483FC63}"/>
              </a:ext>
            </a:extLst>
          </p:cNvPr>
          <p:cNvSpPr/>
          <p:nvPr/>
        </p:nvSpPr>
        <p:spPr>
          <a:xfrm>
            <a:off x="166255" y="3563937"/>
            <a:ext cx="4283165" cy="8305800"/>
          </a:xfrm>
          <a:prstGeom prst="rect">
            <a:avLst/>
          </a:prstGeom>
          <a:solidFill>
            <a:srgbClr val="FFC000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Controller</a:t>
            </a:r>
          </a:p>
        </p:txBody>
      </p:sp>
      <p:sp>
        <p:nvSpPr>
          <p:cNvPr id="280" name="Rechteck 279">
            <a:extLst>
              <a:ext uri="{FF2B5EF4-FFF2-40B4-BE49-F238E27FC236}">
                <a16:creationId xmlns:a16="http://schemas.microsoft.com/office/drawing/2014/main" id="{92D55D44-2758-C888-E7D3-17F8487BBFAA}"/>
              </a:ext>
            </a:extLst>
          </p:cNvPr>
          <p:cNvSpPr/>
          <p:nvPr/>
        </p:nvSpPr>
        <p:spPr>
          <a:xfrm>
            <a:off x="247625" y="8923179"/>
            <a:ext cx="4084142" cy="2852949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MountPoint [*]</a:t>
            </a:r>
          </a:p>
        </p:txBody>
      </p:sp>
      <p:sp>
        <p:nvSpPr>
          <p:cNvPr id="56" name="Abgerundetes Rechteck 1">
            <a:extLst>
              <a:ext uri="{FF2B5EF4-FFF2-40B4-BE49-F238E27FC236}">
                <a16:creationId xmlns:a16="http://schemas.microsoft.com/office/drawing/2014/main" id="{5403E44F-74C3-C3A1-D91F-775BF540BEEE}"/>
              </a:ext>
            </a:extLst>
          </p:cNvPr>
          <p:cNvSpPr/>
          <p:nvPr/>
        </p:nvSpPr>
        <p:spPr>
          <a:xfrm>
            <a:off x="355208" y="3946237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 dirty="0">
                <a:solidFill>
                  <a:prstClr val="white"/>
                </a:solidFill>
                <a:latin typeface="Calibri" panose="020F0502020204030204"/>
              </a:rPr>
              <a:t>CC</a:t>
            </a:r>
          </a:p>
        </p:txBody>
      </p:sp>
      <p:sp>
        <p:nvSpPr>
          <p:cNvPr id="57" name="Abgerundetes Rechteck 2">
            <a:extLst>
              <a:ext uri="{FF2B5EF4-FFF2-40B4-BE49-F238E27FC236}">
                <a16:creationId xmlns:a16="http://schemas.microsoft.com/office/drawing/2014/main" id="{D8ECBA16-38C1-6E5C-4344-15952AA848A3}"/>
              </a:ext>
            </a:extLst>
          </p:cNvPr>
          <p:cNvSpPr/>
          <p:nvPr/>
        </p:nvSpPr>
        <p:spPr>
          <a:xfrm>
            <a:off x="355208" y="9159432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LTP</a:t>
            </a:r>
          </a:p>
        </p:txBody>
      </p:sp>
      <p:sp>
        <p:nvSpPr>
          <p:cNvPr id="58" name="Abgerundetes Rechteck 3">
            <a:extLst>
              <a:ext uri="{FF2B5EF4-FFF2-40B4-BE49-F238E27FC236}">
                <a16:creationId xmlns:a16="http://schemas.microsoft.com/office/drawing/2014/main" id="{42B12C50-5935-2305-7271-A9353E3F5DF4}"/>
              </a:ext>
            </a:extLst>
          </p:cNvPr>
          <p:cNvSpPr/>
          <p:nvPr/>
        </p:nvSpPr>
        <p:spPr>
          <a:xfrm>
            <a:off x="355208" y="10413691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LP</a:t>
            </a:r>
          </a:p>
        </p:txBody>
      </p:sp>
      <p:cxnSp>
        <p:nvCxnSpPr>
          <p:cNvPr id="59" name="Gerade Verbindung mit Pfeil 58">
            <a:extLst>
              <a:ext uri="{FF2B5EF4-FFF2-40B4-BE49-F238E27FC236}">
                <a16:creationId xmlns:a16="http://schemas.microsoft.com/office/drawing/2014/main" id="{F05705B2-207A-7473-B0D3-D0E210757D90}"/>
              </a:ext>
            </a:extLst>
          </p:cNvPr>
          <p:cNvCxnSpPr>
            <a:stCxn id="56" idx="2"/>
            <a:endCxn id="57" idx="0"/>
          </p:cNvCxnSpPr>
          <p:nvPr/>
        </p:nvCxnSpPr>
        <p:spPr>
          <a:xfrm>
            <a:off x="623856" y="4391811"/>
            <a:ext cx="0" cy="4767623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60" name="Gerade Verbindung mit Pfeil 59">
            <a:extLst>
              <a:ext uri="{FF2B5EF4-FFF2-40B4-BE49-F238E27FC236}">
                <a16:creationId xmlns:a16="http://schemas.microsoft.com/office/drawing/2014/main" id="{31F39F20-E4F1-A8E9-AE0E-229810F32A73}"/>
              </a:ext>
            </a:extLst>
          </p:cNvPr>
          <p:cNvCxnSpPr>
            <a:stCxn id="57" idx="2"/>
            <a:endCxn id="58" idx="0"/>
          </p:cNvCxnSpPr>
          <p:nvPr/>
        </p:nvCxnSpPr>
        <p:spPr>
          <a:xfrm>
            <a:off x="623856" y="9605006"/>
            <a:ext cx="0" cy="808687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62" name="Abgerundetes Rechteck 8">
            <a:extLst>
              <a:ext uri="{FF2B5EF4-FFF2-40B4-BE49-F238E27FC236}">
                <a16:creationId xmlns:a16="http://schemas.microsoft.com/office/drawing/2014/main" id="{D931E7C7-2676-B390-3748-944ED677BBE8}"/>
              </a:ext>
            </a:extLst>
          </p:cNvPr>
          <p:cNvSpPr/>
          <p:nvPr/>
        </p:nvSpPr>
        <p:spPr>
          <a:xfrm>
            <a:off x="1444674" y="10414469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NetconfClient [1]</a:t>
            </a:r>
          </a:p>
        </p:txBody>
      </p:sp>
      <p:sp>
        <p:nvSpPr>
          <p:cNvPr id="63" name="Abgerundetes Rechteck 9">
            <a:extLst>
              <a:ext uri="{FF2B5EF4-FFF2-40B4-BE49-F238E27FC236}">
                <a16:creationId xmlns:a16="http://schemas.microsoft.com/office/drawing/2014/main" id="{CD324EEE-7E30-AD7C-F620-BB3FA6A55BF3}"/>
              </a:ext>
            </a:extLst>
          </p:cNvPr>
          <p:cNvSpPr/>
          <p:nvPr/>
        </p:nvSpPr>
        <p:spPr>
          <a:xfrm>
            <a:off x="1444674" y="11134708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TcpClient [1]</a:t>
            </a:r>
          </a:p>
        </p:txBody>
      </p:sp>
      <p:cxnSp>
        <p:nvCxnSpPr>
          <p:cNvPr id="65" name="Gerade Verbindung mit Pfeil 64">
            <a:extLst>
              <a:ext uri="{FF2B5EF4-FFF2-40B4-BE49-F238E27FC236}">
                <a16:creationId xmlns:a16="http://schemas.microsoft.com/office/drawing/2014/main" id="{6CAB819F-3E7C-B92D-18BD-47685B07CF72}"/>
              </a:ext>
            </a:extLst>
          </p:cNvPr>
          <p:cNvCxnSpPr>
            <a:stCxn id="62" idx="1"/>
            <a:endCxn id="58" idx="3"/>
          </p:cNvCxnSpPr>
          <p:nvPr/>
        </p:nvCxnSpPr>
        <p:spPr>
          <a:xfrm flipH="1" flipV="1">
            <a:off x="892505" y="10636477"/>
            <a:ext cx="552168" cy="778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66" name="Gerade Verbindung mit Pfeil 65">
            <a:extLst>
              <a:ext uri="{FF2B5EF4-FFF2-40B4-BE49-F238E27FC236}">
                <a16:creationId xmlns:a16="http://schemas.microsoft.com/office/drawing/2014/main" id="{EBC282F3-5516-9CD9-4A58-3B1D951F6FD4}"/>
              </a:ext>
            </a:extLst>
          </p:cNvPr>
          <p:cNvCxnSpPr>
            <a:stCxn id="63" idx="1"/>
            <a:endCxn id="58" idx="3"/>
          </p:cNvCxnSpPr>
          <p:nvPr/>
        </p:nvCxnSpPr>
        <p:spPr>
          <a:xfrm flipH="1" flipV="1">
            <a:off x="892505" y="10636479"/>
            <a:ext cx="552168" cy="721017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sp>
        <p:nvSpPr>
          <p:cNvPr id="67" name="Rechteck 66">
            <a:extLst>
              <a:ext uri="{FF2B5EF4-FFF2-40B4-BE49-F238E27FC236}">
                <a16:creationId xmlns:a16="http://schemas.microsoft.com/office/drawing/2014/main" id="{0E6B0DC9-48D2-9B58-0F1D-1EA4D398F1D3}"/>
              </a:ext>
            </a:extLst>
          </p:cNvPr>
          <p:cNvSpPr/>
          <p:nvPr/>
        </p:nvSpPr>
        <p:spPr>
          <a:xfrm>
            <a:off x="1444672" y="4053743"/>
            <a:ext cx="1471132" cy="33607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>
                <a:solidFill>
                  <a:prstClr val="black"/>
                </a:solidFill>
                <a:latin typeface="Calibri" panose="020F0502020204030204"/>
              </a:rPr>
              <a:t>ControlConstructPac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externalLabel=controllerName</a:t>
            </a:r>
          </a:p>
        </p:txBody>
      </p:sp>
      <p:cxnSp>
        <p:nvCxnSpPr>
          <p:cNvPr id="69" name="Gerade Verbindung mit Pfeil 68">
            <a:extLst>
              <a:ext uri="{FF2B5EF4-FFF2-40B4-BE49-F238E27FC236}">
                <a16:creationId xmlns:a16="http://schemas.microsoft.com/office/drawing/2014/main" id="{61405C5D-4998-3705-F84F-AA9A6D7300F6}"/>
              </a:ext>
            </a:extLst>
          </p:cNvPr>
          <p:cNvCxnSpPr>
            <a:cxnSpLocks/>
            <a:stCxn id="63" idx="3"/>
            <a:endCxn id="73" idx="1"/>
          </p:cNvCxnSpPr>
          <p:nvPr/>
        </p:nvCxnSpPr>
        <p:spPr>
          <a:xfrm>
            <a:off x="2606125" y="11357494"/>
            <a:ext cx="571738" cy="3864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71" name="Gerade Verbindung mit Pfeil 70">
            <a:extLst>
              <a:ext uri="{FF2B5EF4-FFF2-40B4-BE49-F238E27FC236}">
                <a16:creationId xmlns:a16="http://schemas.microsoft.com/office/drawing/2014/main" id="{25DCB85E-D87D-CC40-1FF0-DD6FDC0AF410}"/>
              </a:ext>
            </a:extLst>
          </p:cNvPr>
          <p:cNvCxnSpPr>
            <a:cxnSpLocks/>
            <a:stCxn id="56" idx="3"/>
            <a:endCxn id="67" idx="1"/>
          </p:cNvCxnSpPr>
          <p:nvPr/>
        </p:nvCxnSpPr>
        <p:spPr>
          <a:xfrm>
            <a:off x="892507" y="4169025"/>
            <a:ext cx="552167" cy="52757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73" name="Rechteck 72">
            <a:extLst>
              <a:ext uri="{FF2B5EF4-FFF2-40B4-BE49-F238E27FC236}">
                <a16:creationId xmlns:a16="http://schemas.microsoft.com/office/drawing/2014/main" id="{D4C53D9F-5A49-C19A-5474-E3DC89FF2AB8}"/>
              </a:ext>
            </a:extLst>
          </p:cNvPr>
          <p:cNvSpPr/>
          <p:nvPr/>
        </p:nvSpPr>
        <p:spPr>
          <a:xfrm>
            <a:off x="3177865" y="11140728"/>
            <a:ext cx="893641" cy="441260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 dirty="0" err="1">
                <a:solidFill>
                  <a:prstClr val="black"/>
                </a:solidFill>
                <a:latin typeface="Calibri" panose="020F0502020204030204"/>
              </a:rPr>
              <a:t>Configuration</a:t>
            </a:r>
            <a:endParaRPr lang="de-DE" sz="800" u="sng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 dirty="0" err="1">
                <a:solidFill>
                  <a:prstClr val="black"/>
                </a:solidFill>
                <a:latin typeface="Calibri" panose="020F0502020204030204"/>
              </a:rPr>
              <a:t>remoteAddress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 dirty="0" err="1">
                <a:solidFill>
                  <a:prstClr val="black"/>
                </a:solidFill>
                <a:latin typeface="Calibri" panose="020F0502020204030204"/>
              </a:rPr>
              <a:t>remotePort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0" name="Rechteck 89">
            <a:extLst>
              <a:ext uri="{FF2B5EF4-FFF2-40B4-BE49-F238E27FC236}">
                <a16:creationId xmlns:a16="http://schemas.microsoft.com/office/drawing/2014/main" id="{8E303147-0B25-3184-7D85-94E7D636036D}"/>
              </a:ext>
            </a:extLst>
          </p:cNvPr>
          <p:cNvSpPr/>
          <p:nvPr/>
        </p:nvSpPr>
        <p:spPr>
          <a:xfrm>
            <a:off x="3177865" y="10413853"/>
            <a:ext cx="893641" cy="312109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 dirty="0" err="1">
                <a:solidFill>
                  <a:prstClr val="black"/>
                </a:solidFill>
                <a:latin typeface="Calibri" panose="020F0502020204030204"/>
              </a:rPr>
              <a:t>Capability</a:t>
            </a:r>
            <a:endParaRPr lang="de-DE" sz="800" u="sng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deviceName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91" name="Gerade Verbindung mit Pfeil 90">
            <a:extLst>
              <a:ext uri="{FF2B5EF4-FFF2-40B4-BE49-F238E27FC236}">
                <a16:creationId xmlns:a16="http://schemas.microsoft.com/office/drawing/2014/main" id="{3065BECA-C0D8-DABC-4838-03A9DADBC8E4}"/>
              </a:ext>
            </a:extLst>
          </p:cNvPr>
          <p:cNvCxnSpPr>
            <a:cxnSpLocks/>
            <a:stCxn id="62" idx="3"/>
            <a:endCxn id="90" idx="1"/>
          </p:cNvCxnSpPr>
          <p:nvPr/>
        </p:nvCxnSpPr>
        <p:spPr>
          <a:xfrm flipV="1">
            <a:off x="2606125" y="10569908"/>
            <a:ext cx="571738" cy="67349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6" name="Abgerundetes Rechteck 8">
            <a:extLst>
              <a:ext uri="{FF2B5EF4-FFF2-40B4-BE49-F238E27FC236}">
                <a16:creationId xmlns:a16="http://schemas.microsoft.com/office/drawing/2014/main" id="{FA04FE7A-8C91-5969-0B4C-381A07F25EF4}"/>
              </a:ext>
            </a:extLst>
          </p:cNvPr>
          <p:cNvSpPr/>
          <p:nvPr/>
        </p:nvSpPr>
        <p:spPr>
          <a:xfrm>
            <a:off x="10413398" y="10416787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SnmpClient [1]</a:t>
            </a:r>
          </a:p>
        </p:txBody>
      </p:sp>
      <p:sp>
        <p:nvSpPr>
          <p:cNvPr id="17" name="Abgerundetes Rechteck 9">
            <a:extLst>
              <a:ext uri="{FF2B5EF4-FFF2-40B4-BE49-F238E27FC236}">
                <a16:creationId xmlns:a16="http://schemas.microsoft.com/office/drawing/2014/main" id="{DB15B1A3-8090-1C0B-973D-BF8F69FAEBA4}"/>
              </a:ext>
            </a:extLst>
          </p:cNvPr>
          <p:cNvSpPr/>
          <p:nvPr/>
        </p:nvSpPr>
        <p:spPr>
          <a:xfrm>
            <a:off x="10413398" y="11137026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TcpClient [1]</a:t>
            </a:r>
          </a:p>
        </p:txBody>
      </p:sp>
      <p:cxnSp>
        <p:nvCxnSpPr>
          <p:cNvPr id="19" name="Gerade Verbindung mit Pfeil 18">
            <a:extLst>
              <a:ext uri="{FF2B5EF4-FFF2-40B4-BE49-F238E27FC236}">
                <a16:creationId xmlns:a16="http://schemas.microsoft.com/office/drawing/2014/main" id="{BF281436-8991-1735-21B9-A5BE2EAAC435}"/>
              </a:ext>
            </a:extLst>
          </p:cNvPr>
          <p:cNvCxnSpPr>
            <a:cxnSpLocks/>
            <a:stCxn id="16" idx="1"/>
            <a:endCxn id="131" idx="3"/>
          </p:cNvCxnSpPr>
          <p:nvPr/>
        </p:nvCxnSpPr>
        <p:spPr>
          <a:xfrm flipH="1" flipV="1">
            <a:off x="9861228" y="10636290"/>
            <a:ext cx="552168" cy="328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20" name="Gerade Verbindung mit Pfeil 19">
            <a:extLst>
              <a:ext uri="{FF2B5EF4-FFF2-40B4-BE49-F238E27FC236}">
                <a16:creationId xmlns:a16="http://schemas.microsoft.com/office/drawing/2014/main" id="{AE011974-68D0-2B66-DFDD-EA1837A3A003}"/>
              </a:ext>
            </a:extLst>
          </p:cNvPr>
          <p:cNvCxnSpPr>
            <a:cxnSpLocks/>
            <a:stCxn id="17" idx="1"/>
            <a:endCxn id="131" idx="3"/>
          </p:cNvCxnSpPr>
          <p:nvPr/>
        </p:nvCxnSpPr>
        <p:spPr>
          <a:xfrm flipH="1" flipV="1">
            <a:off x="9861228" y="10636288"/>
            <a:ext cx="552168" cy="723524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23" name="Gerade Verbindung mit Pfeil 22">
            <a:extLst>
              <a:ext uri="{FF2B5EF4-FFF2-40B4-BE49-F238E27FC236}">
                <a16:creationId xmlns:a16="http://schemas.microsoft.com/office/drawing/2014/main" id="{70F4C1EE-BA58-27B6-3CEB-D51FD6F237BD}"/>
              </a:ext>
            </a:extLst>
          </p:cNvPr>
          <p:cNvCxnSpPr>
            <a:stCxn id="17" idx="3"/>
            <a:endCxn id="27" idx="1"/>
          </p:cNvCxnSpPr>
          <p:nvPr/>
        </p:nvCxnSpPr>
        <p:spPr>
          <a:xfrm>
            <a:off x="11574849" y="11359812"/>
            <a:ext cx="571738" cy="6464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7" name="Rechteck 26">
            <a:extLst>
              <a:ext uri="{FF2B5EF4-FFF2-40B4-BE49-F238E27FC236}">
                <a16:creationId xmlns:a16="http://schemas.microsoft.com/office/drawing/2014/main" id="{141A7E87-1BDC-31FA-FF1D-F3854B2C1EF8}"/>
              </a:ext>
            </a:extLst>
          </p:cNvPr>
          <p:cNvSpPr/>
          <p:nvPr/>
        </p:nvSpPr>
        <p:spPr>
          <a:xfrm>
            <a:off x="12146587" y="11145646"/>
            <a:ext cx="1425832" cy="441260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 dirty="0" err="1">
                <a:solidFill>
                  <a:prstClr val="black"/>
                </a:solidFill>
                <a:latin typeface="Calibri" panose="020F0502020204030204"/>
              </a:rPr>
              <a:t>Configuration</a:t>
            </a:r>
            <a:endParaRPr lang="de-DE" sz="800" u="sng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 dirty="0" err="1">
                <a:solidFill>
                  <a:prstClr val="black"/>
                </a:solidFill>
                <a:latin typeface="Calibri" panose="020F0502020204030204"/>
              </a:rPr>
              <a:t>remoteAddress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 dirty="0" err="1">
                <a:solidFill>
                  <a:prstClr val="black"/>
                </a:solidFill>
                <a:latin typeface="Calibri" panose="020F0502020204030204"/>
              </a:rPr>
              <a:t>remotePort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8" name="Abgerundetes Rechteck 88">
            <a:extLst>
              <a:ext uri="{FF2B5EF4-FFF2-40B4-BE49-F238E27FC236}">
                <a16:creationId xmlns:a16="http://schemas.microsoft.com/office/drawing/2014/main" id="{E0866C50-0FC1-8A65-C2E4-AFEDC9C879A3}"/>
              </a:ext>
            </a:extLst>
          </p:cNvPr>
          <p:cNvSpPr/>
          <p:nvPr/>
        </p:nvSpPr>
        <p:spPr>
          <a:xfrm>
            <a:off x="7610312" y="11137026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TcpServer [1]</a:t>
            </a:r>
          </a:p>
        </p:txBody>
      </p:sp>
      <p:sp>
        <p:nvSpPr>
          <p:cNvPr id="29" name="Abgerundetes Rechteck 89">
            <a:extLst>
              <a:ext uri="{FF2B5EF4-FFF2-40B4-BE49-F238E27FC236}">
                <a16:creationId xmlns:a16="http://schemas.microsoft.com/office/drawing/2014/main" id="{0CCFFAAB-77ED-5692-76E1-51970536581E}"/>
              </a:ext>
            </a:extLst>
          </p:cNvPr>
          <p:cNvSpPr/>
          <p:nvPr/>
        </p:nvSpPr>
        <p:spPr>
          <a:xfrm>
            <a:off x="7610312" y="10416009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NetconfServer[1]</a:t>
            </a:r>
          </a:p>
        </p:txBody>
      </p:sp>
      <p:cxnSp>
        <p:nvCxnSpPr>
          <p:cNvPr id="30" name="Gerade Verbindung mit Pfeil 29">
            <a:extLst>
              <a:ext uri="{FF2B5EF4-FFF2-40B4-BE49-F238E27FC236}">
                <a16:creationId xmlns:a16="http://schemas.microsoft.com/office/drawing/2014/main" id="{54AFCF35-5CC9-CCE5-6728-1FEC39A555FE}"/>
              </a:ext>
            </a:extLst>
          </p:cNvPr>
          <p:cNvCxnSpPr>
            <a:cxnSpLocks/>
            <a:stCxn id="29" idx="3"/>
            <a:endCxn id="131" idx="1"/>
          </p:cNvCxnSpPr>
          <p:nvPr/>
        </p:nvCxnSpPr>
        <p:spPr>
          <a:xfrm flipV="1">
            <a:off x="8771763" y="10636290"/>
            <a:ext cx="552166" cy="2507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31" name="Gerade Verbindung mit Pfeil 30">
            <a:extLst>
              <a:ext uri="{FF2B5EF4-FFF2-40B4-BE49-F238E27FC236}">
                <a16:creationId xmlns:a16="http://schemas.microsoft.com/office/drawing/2014/main" id="{C69A5856-7D4F-2BF7-2F35-56BB361F0DE2}"/>
              </a:ext>
            </a:extLst>
          </p:cNvPr>
          <p:cNvCxnSpPr>
            <a:cxnSpLocks/>
            <a:stCxn id="28" idx="3"/>
            <a:endCxn id="131" idx="1"/>
          </p:cNvCxnSpPr>
          <p:nvPr/>
        </p:nvCxnSpPr>
        <p:spPr>
          <a:xfrm flipV="1">
            <a:off x="8771763" y="10636288"/>
            <a:ext cx="552166" cy="723524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sp>
        <p:nvSpPr>
          <p:cNvPr id="36" name="Rechteck 35">
            <a:extLst>
              <a:ext uri="{FF2B5EF4-FFF2-40B4-BE49-F238E27FC236}">
                <a16:creationId xmlns:a16="http://schemas.microsoft.com/office/drawing/2014/main" id="{7839F9AB-0E9E-3CD3-0688-75C82B3622F5}"/>
              </a:ext>
            </a:extLst>
          </p:cNvPr>
          <p:cNvSpPr/>
          <p:nvPr/>
        </p:nvSpPr>
        <p:spPr>
          <a:xfrm>
            <a:off x="5610876" y="11133703"/>
            <a:ext cx="1425832" cy="432491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 dirty="0" err="1">
                <a:solidFill>
                  <a:prstClr val="black"/>
                </a:solidFill>
                <a:latin typeface="Calibri" panose="020F0502020204030204"/>
              </a:rPr>
              <a:t>Configuration</a:t>
            </a:r>
            <a:endParaRPr lang="de-DE" sz="800" u="sng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localAddress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localPort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37" name="Gerade Verbindung mit Pfeil 36">
            <a:extLst>
              <a:ext uri="{FF2B5EF4-FFF2-40B4-BE49-F238E27FC236}">
                <a16:creationId xmlns:a16="http://schemas.microsoft.com/office/drawing/2014/main" id="{6893C73A-48A8-6D1F-40D2-0A9F5851FE5C}"/>
              </a:ext>
            </a:extLst>
          </p:cNvPr>
          <p:cNvCxnSpPr>
            <a:cxnSpLocks/>
            <a:stCxn id="28" idx="1"/>
            <a:endCxn id="36" idx="3"/>
          </p:cNvCxnSpPr>
          <p:nvPr/>
        </p:nvCxnSpPr>
        <p:spPr>
          <a:xfrm flipH="1" flipV="1">
            <a:off x="7036708" y="11349949"/>
            <a:ext cx="573602" cy="986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38" name="Rechteck 37">
            <a:extLst>
              <a:ext uri="{FF2B5EF4-FFF2-40B4-BE49-F238E27FC236}">
                <a16:creationId xmlns:a16="http://schemas.microsoft.com/office/drawing/2014/main" id="{D6180C09-80DE-B8FB-D98B-2D79204A965B}"/>
              </a:ext>
            </a:extLst>
          </p:cNvPr>
          <p:cNvSpPr/>
          <p:nvPr/>
        </p:nvSpPr>
        <p:spPr>
          <a:xfrm>
            <a:off x="5610876" y="10127098"/>
            <a:ext cx="1425832" cy="367656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 dirty="0" err="1">
                <a:solidFill>
                  <a:prstClr val="black"/>
                </a:solidFill>
                <a:latin typeface="Calibri" panose="020F0502020204030204"/>
              </a:rPr>
              <a:t>Capability</a:t>
            </a:r>
            <a:endParaRPr lang="de-DE" sz="800" u="sng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deviceName</a:t>
            </a:r>
          </a:p>
        </p:txBody>
      </p:sp>
      <p:cxnSp>
        <p:nvCxnSpPr>
          <p:cNvPr id="41" name="Gerade Verbindung mit Pfeil 40">
            <a:extLst>
              <a:ext uri="{FF2B5EF4-FFF2-40B4-BE49-F238E27FC236}">
                <a16:creationId xmlns:a16="http://schemas.microsoft.com/office/drawing/2014/main" id="{12D49DF6-85AB-4875-3211-DF09274DF36A}"/>
              </a:ext>
            </a:extLst>
          </p:cNvPr>
          <p:cNvCxnSpPr>
            <a:cxnSpLocks/>
            <a:stCxn id="29" idx="1"/>
            <a:endCxn id="38" idx="3"/>
          </p:cNvCxnSpPr>
          <p:nvPr/>
        </p:nvCxnSpPr>
        <p:spPr>
          <a:xfrm flipH="1" flipV="1">
            <a:off x="7036708" y="10310928"/>
            <a:ext cx="573602" cy="327869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44" name="Rechteck 43">
            <a:extLst>
              <a:ext uri="{FF2B5EF4-FFF2-40B4-BE49-F238E27FC236}">
                <a16:creationId xmlns:a16="http://schemas.microsoft.com/office/drawing/2014/main" id="{DDD580D5-0B17-FEDA-A7D7-84BCAB8DD12F}"/>
              </a:ext>
            </a:extLst>
          </p:cNvPr>
          <p:cNvSpPr/>
          <p:nvPr/>
        </p:nvSpPr>
        <p:spPr>
          <a:xfrm>
            <a:off x="12146587" y="10416170"/>
            <a:ext cx="1425832" cy="33607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 dirty="0" err="1">
                <a:solidFill>
                  <a:prstClr val="black"/>
                </a:solidFill>
                <a:latin typeface="Calibri" panose="020F0502020204030204"/>
              </a:rPr>
              <a:t>Capability</a:t>
            </a:r>
            <a:endParaRPr lang="de-DE" sz="800" u="sng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deviceName</a:t>
            </a:r>
          </a:p>
        </p:txBody>
      </p:sp>
      <p:cxnSp>
        <p:nvCxnSpPr>
          <p:cNvPr id="45" name="Gerade Verbindung mit Pfeil 44">
            <a:extLst>
              <a:ext uri="{FF2B5EF4-FFF2-40B4-BE49-F238E27FC236}">
                <a16:creationId xmlns:a16="http://schemas.microsoft.com/office/drawing/2014/main" id="{BA13D890-B8BA-7E5D-B4EB-3559460FEA0B}"/>
              </a:ext>
            </a:extLst>
          </p:cNvPr>
          <p:cNvCxnSpPr>
            <a:cxnSpLocks/>
            <a:stCxn id="16" idx="3"/>
            <a:endCxn id="44" idx="1"/>
          </p:cNvCxnSpPr>
          <p:nvPr/>
        </p:nvCxnSpPr>
        <p:spPr>
          <a:xfrm flipV="1">
            <a:off x="11574849" y="10584207"/>
            <a:ext cx="571738" cy="55366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29" name="Abgerundetes Rechteck 1">
            <a:extLst>
              <a:ext uri="{FF2B5EF4-FFF2-40B4-BE49-F238E27FC236}">
                <a16:creationId xmlns:a16="http://schemas.microsoft.com/office/drawing/2014/main" id="{0B3696B8-459B-81BC-F007-25C4FCAE7AF6}"/>
              </a:ext>
            </a:extLst>
          </p:cNvPr>
          <p:cNvSpPr/>
          <p:nvPr/>
        </p:nvSpPr>
        <p:spPr>
          <a:xfrm>
            <a:off x="9323931" y="3948120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 dirty="0">
                <a:solidFill>
                  <a:prstClr val="white"/>
                </a:solidFill>
                <a:latin typeface="Calibri" panose="020F0502020204030204"/>
              </a:rPr>
              <a:t>CC</a:t>
            </a:r>
          </a:p>
        </p:txBody>
      </p:sp>
      <p:sp>
        <p:nvSpPr>
          <p:cNvPr id="130" name="Abgerundetes Rechteck 2">
            <a:extLst>
              <a:ext uri="{FF2B5EF4-FFF2-40B4-BE49-F238E27FC236}">
                <a16:creationId xmlns:a16="http://schemas.microsoft.com/office/drawing/2014/main" id="{44E9B2AD-2D82-4A80-07DA-1326EE5556DF}"/>
              </a:ext>
            </a:extLst>
          </p:cNvPr>
          <p:cNvSpPr/>
          <p:nvPr/>
        </p:nvSpPr>
        <p:spPr>
          <a:xfrm>
            <a:off x="9323931" y="9161315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LTP</a:t>
            </a:r>
          </a:p>
        </p:txBody>
      </p:sp>
      <p:sp>
        <p:nvSpPr>
          <p:cNvPr id="131" name="Abgerundetes Rechteck 3">
            <a:extLst>
              <a:ext uri="{FF2B5EF4-FFF2-40B4-BE49-F238E27FC236}">
                <a16:creationId xmlns:a16="http://schemas.microsoft.com/office/drawing/2014/main" id="{38AABEEE-D5A9-7960-91DE-A0715B1E1097}"/>
              </a:ext>
            </a:extLst>
          </p:cNvPr>
          <p:cNvSpPr/>
          <p:nvPr/>
        </p:nvSpPr>
        <p:spPr>
          <a:xfrm>
            <a:off x="9323931" y="10413502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LP</a:t>
            </a:r>
          </a:p>
        </p:txBody>
      </p:sp>
      <p:cxnSp>
        <p:nvCxnSpPr>
          <p:cNvPr id="132" name="Gerade Verbindung mit Pfeil 131">
            <a:extLst>
              <a:ext uri="{FF2B5EF4-FFF2-40B4-BE49-F238E27FC236}">
                <a16:creationId xmlns:a16="http://schemas.microsoft.com/office/drawing/2014/main" id="{24B8BA13-AD4E-5D96-4439-B969CB4D0F1B}"/>
              </a:ext>
            </a:extLst>
          </p:cNvPr>
          <p:cNvCxnSpPr>
            <a:stCxn id="129" idx="2"/>
            <a:endCxn id="130" idx="0"/>
          </p:cNvCxnSpPr>
          <p:nvPr/>
        </p:nvCxnSpPr>
        <p:spPr>
          <a:xfrm>
            <a:off x="9592579" y="4393694"/>
            <a:ext cx="0" cy="4767623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33" name="Gerade Verbindung mit Pfeil 132">
            <a:extLst>
              <a:ext uri="{FF2B5EF4-FFF2-40B4-BE49-F238E27FC236}">
                <a16:creationId xmlns:a16="http://schemas.microsoft.com/office/drawing/2014/main" id="{F9346835-875D-6801-F071-4CB2B804900B}"/>
              </a:ext>
            </a:extLst>
          </p:cNvPr>
          <p:cNvCxnSpPr>
            <a:stCxn id="130" idx="2"/>
            <a:endCxn id="131" idx="0"/>
          </p:cNvCxnSpPr>
          <p:nvPr/>
        </p:nvCxnSpPr>
        <p:spPr>
          <a:xfrm>
            <a:off x="9592579" y="9606889"/>
            <a:ext cx="0" cy="80661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45" name="Abgerundetes Rechteck 74">
            <a:extLst>
              <a:ext uri="{FF2B5EF4-FFF2-40B4-BE49-F238E27FC236}">
                <a16:creationId xmlns:a16="http://schemas.microsoft.com/office/drawing/2014/main" id="{9F76D0E1-4E66-342A-E3B2-52119B669652}"/>
              </a:ext>
            </a:extLst>
          </p:cNvPr>
          <p:cNvSpPr/>
          <p:nvPr/>
        </p:nvSpPr>
        <p:spPr>
          <a:xfrm>
            <a:off x="7610311" y="5735621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 err="1">
                <a:solidFill>
                  <a:prstClr val="white"/>
                </a:solidFill>
                <a:latin typeface="Calibri" panose="020F0502020204030204"/>
              </a:rPr>
              <a:t>OperationServer</a:t>
            </a:r>
            <a:endParaRPr lang="de-DE" sz="1050" kern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47" name="Abgerundetes Rechteck 88">
            <a:extLst>
              <a:ext uri="{FF2B5EF4-FFF2-40B4-BE49-F238E27FC236}">
                <a16:creationId xmlns:a16="http://schemas.microsoft.com/office/drawing/2014/main" id="{8BC9E276-53B6-5995-622D-0AC9EB9DE1B3}"/>
              </a:ext>
            </a:extLst>
          </p:cNvPr>
          <p:cNvSpPr/>
          <p:nvPr/>
        </p:nvSpPr>
        <p:spPr>
          <a:xfrm>
            <a:off x="7610311" y="7177655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 err="1">
                <a:solidFill>
                  <a:prstClr val="white"/>
                </a:solidFill>
                <a:latin typeface="Calibri" panose="020F0502020204030204"/>
              </a:rPr>
              <a:t>TcpServer</a:t>
            </a:r>
            <a:endParaRPr lang="de-DE" sz="1050" kern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48" name="Abgerundetes Rechteck 89">
            <a:extLst>
              <a:ext uri="{FF2B5EF4-FFF2-40B4-BE49-F238E27FC236}">
                <a16:creationId xmlns:a16="http://schemas.microsoft.com/office/drawing/2014/main" id="{14E901DD-3FD2-DD78-E2D1-8BE2B4D09279}"/>
              </a:ext>
            </a:extLst>
          </p:cNvPr>
          <p:cNvSpPr/>
          <p:nvPr/>
        </p:nvSpPr>
        <p:spPr>
          <a:xfrm>
            <a:off x="7610311" y="6456638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 err="1">
                <a:solidFill>
                  <a:prstClr val="white"/>
                </a:solidFill>
                <a:latin typeface="Calibri" panose="020F0502020204030204"/>
              </a:rPr>
              <a:t>HttpServer</a:t>
            </a:r>
            <a:endParaRPr lang="de-DE" sz="1050" kern="0">
              <a:solidFill>
                <a:prstClr val="white"/>
              </a:solidFill>
              <a:latin typeface="Calibri" panose="020F0502020204030204"/>
            </a:endParaRPr>
          </a:p>
        </p:txBody>
      </p:sp>
      <p:cxnSp>
        <p:nvCxnSpPr>
          <p:cNvPr id="149" name="Gerade Verbindung mit Pfeil 148">
            <a:extLst>
              <a:ext uri="{FF2B5EF4-FFF2-40B4-BE49-F238E27FC236}">
                <a16:creationId xmlns:a16="http://schemas.microsoft.com/office/drawing/2014/main" id="{77D0C046-112B-F61C-51ED-422966C3B7D4}"/>
              </a:ext>
            </a:extLst>
          </p:cNvPr>
          <p:cNvCxnSpPr>
            <a:stCxn id="148" idx="3"/>
            <a:endCxn id="131" idx="1"/>
          </p:cNvCxnSpPr>
          <p:nvPr/>
        </p:nvCxnSpPr>
        <p:spPr>
          <a:xfrm>
            <a:off x="8771764" y="6679424"/>
            <a:ext cx="552167" cy="3956864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150" name="Gerade Verbindung mit Pfeil 149">
            <a:extLst>
              <a:ext uri="{FF2B5EF4-FFF2-40B4-BE49-F238E27FC236}">
                <a16:creationId xmlns:a16="http://schemas.microsoft.com/office/drawing/2014/main" id="{89E76792-F816-11E2-7AD6-F99179AC2EAF}"/>
              </a:ext>
            </a:extLst>
          </p:cNvPr>
          <p:cNvCxnSpPr>
            <a:stCxn id="147" idx="3"/>
            <a:endCxn id="131" idx="1"/>
          </p:cNvCxnSpPr>
          <p:nvPr/>
        </p:nvCxnSpPr>
        <p:spPr>
          <a:xfrm>
            <a:off x="8771764" y="7400443"/>
            <a:ext cx="552167" cy="3235847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151" name="Gerade Verbindung mit Pfeil 150">
            <a:extLst>
              <a:ext uri="{FF2B5EF4-FFF2-40B4-BE49-F238E27FC236}">
                <a16:creationId xmlns:a16="http://schemas.microsoft.com/office/drawing/2014/main" id="{FB99CDA0-2D2C-C26F-89EE-72E2DAEA2188}"/>
              </a:ext>
            </a:extLst>
          </p:cNvPr>
          <p:cNvCxnSpPr>
            <a:stCxn id="145" idx="3"/>
            <a:endCxn id="131" idx="1"/>
          </p:cNvCxnSpPr>
          <p:nvPr/>
        </p:nvCxnSpPr>
        <p:spPr>
          <a:xfrm>
            <a:off x="8771764" y="5958409"/>
            <a:ext cx="552167" cy="4677881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sp>
        <p:nvSpPr>
          <p:cNvPr id="152" name="Rechteck 151">
            <a:extLst>
              <a:ext uri="{FF2B5EF4-FFF2-40B4-BE49-F238E27FC236}">
                <a16:creationId xmlns:a16="http://schemas.microsoft.com/office/drawing/2014/main" id="{E3E04050-9C25-B09E-3C76-37E1DD41737D}"/>
              </a:ext>
            </a:extLst>
          </p:cNvPr>
          <p:cNvSpPr/>
          <p:nvPr/>
        </p:nvSpPr>
        <p:spPr>
          <a:xfrm>
            <a:off x="5610875" y="4503195"/>
            <a:ext cx="1425832" cy="327678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 err="1">
                <a:solidFill>
                  <a:prstClr val="black"/>
                </a:solidFill>
                <a:latin typeface="Calibri" panose="020F0502020204030204"/>
              </a:rPr>
              <a:t>Capability</a:t>
            </a:r>
            <a:endParaRPr lang="de-DE" sz="800" u="sng" kern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 err="1">
                <a:solidFill>
                  <a:prstClr val="black"/>
                </a:solidFill>
                <a:latin typeface="Calibri" panose="020F0502020204030204"/>
              </a:rPr>
              <a:t>operationName</a:t>
            </a:r>
            <a:endParaRPr lang="de-DE" sz="800" kern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53" name="Rechteck 152">
            <a:extLst>
              <a:ext uri="{FF2B5EF4-FFF2-40B4-BE49-F238E27FC236}">
                <a16:creationId xmlns:a16="http://schemas.microsoft.com/office/drawing/2014/main" id="{4DFA1D3E-C6E5-809E-760C-5C9B254E07A8}"/>
              </a:ext>
            </a:extLst>
          </p:cNvPr>
          <p:cNvSpPr/>
          <p:nvPr/>
        </p:nvSpPr>
        <p:spPr>
          <a:xfrm>
            <a:off x="5610875" y="4858709"/>
            <a:ext cx="1425832" cy="704655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 dirty="0" err="1">
                <a:solidFill>
                  <a:prstClr val="black"/>
                </a:solidFill>
                <a:latin typeface="Calibri" panose="020F0502020204030204"/>
              </a:rPr>
              <a:t>Configuration</a:t>
            </a:r>
            <a:endParaRPr lang="de-DE" sz="800" u="sng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 dirty="0" err="1">
                <a:solidFill>
                  <a:prstClr val="black"/>
                </a:solidFill>
                <a:latin typeface="Calibri" panose="020F0502020204030204"/>
              </a:rPr>
              <a:t>lifeCycleState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operation-key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54" name="Rechteck 153">
            <a:extLst>
              <a:ext uri="{FF2B5EF4-FFF2-40B4-BE49-F238E27FC236}">
                <a16:creationId xmlns:a16="http://schemas.microsoft.com/office/drawing/2014/main" id="{603038BB-B38F-04CB-CE97-EB1D3BC5A2ED}"/>
              </a:ext>
            </a:extLst>
          </p:cNvPr>
          <p:cNvSpPr/>
          <p:nvPr/>
        </p:nvSpPr>
        <p:spPr>
          <a:xfrm>
            <a:off x="5610875" y="6688555"/>
            <a:ext cx="1425832" cy="68387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 dirty="0" err="1">
                <a:solidFill>
                  <a:prstClr val="black"/>
                </a:solidFill>
                <a:latin typeface="Calibri" panose="020F0502020204030204"/>
              </a:rPr>
              <a:t>Configuration</a:t>
            </a:r>
            <a:endParaRPr lang="de-DE" sz="800" u="sng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description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localProtocol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localAddress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localPort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155" name="Gerade Verbindung mit Pfeil 154">
            <a:extLst>
              <a:ext uri="{FF2B5EF4-FFF2-40B4-BE49-F238E27FC236}">
                <a16:creationId xmlns:a16="http://schemas.microsoft.com/office/drawing/2014/main" id="{AE72E1DE-8F09-CAEE-F70B-BD74C656E315}"/>
              </a:ext>
            </a:extLst>
          </p:cNvPr>
          <p:cNvCxnSpPr>
            <a:cxnSpLocks/>
            <a:stCxn id="147" idx="1"/>
            <a:endCxn id="154" idx="3"/>
          </p:cNvCxnSpPr>
          <p:nvPr/>
        </p:nvCxnSpPr>
        <p:spPr>
          <a:xfrm flipH="1" flipV="1">
            <a:off x="7036707" y="7030494"/>
            <a:ext cx="573602" cy="369949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56" name="Rechteck 155">
            <a:extLst>
              <a:ext uri="{FF2B5EF4-FFF2-40B4-BE49-F238E27FC236}">
                <a16:creationId xmlns:a16="http://schemas.microsoft.com/office/drawing/2014/main" id="{A2DD233B-D011-6931-E9B5-093D279C83E7}"/>
              </a:ext>
            </a:extLst>
          </p:cNvPr>
          <p:cNvSpPr/>
          <p:nvPr/>
        </p:nvSpPr>
        <p:spPr>
          <a:xfrm>
            <a:off x="5610875" y="5604036"/>
            <a:ext cx="1425832" cy="105148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 dirty="0" err="1">
                <a:solidFill>
                  <a:prstClr val="black"/>
                </a:solidFill>
                <a:latin typeface="Calibri" panose="020F0502020204030204"/>
              </a:rPr>
              <a:t>Capability</a:t>
            </a:r>
            <a:endParaRPr lang="de-DE" sz="800" u="sng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applicationName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releaseNumber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applicationPurpose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dataUpdatePeriod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ownerName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ownerEmailAddress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releaseList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157" name="Gerade Verbindung mit Pfeil 156">
            <a:extLst>
              <a:ext uri="{FF2B5EF4-FFF2-40B4-BE49-F238E27FC236}">
                <a16:creationId xmlns:a16="http://schemas.microsoft.com/office/drawing/2014/main" id="{016EC4D1-F635-FB0B-C4C9-8B3006B16E87}"/>
              </a:ext>
            </a:extLst>
          </p:cNvPr>
          <p:cNvCxnSpPr>
            <a:stCxn id="145" idx="1"/>
            <a:endCxn id="153" idx="3"/>
          </p:cNvCxnSpPr>
          <p:nvPr/>
        </p:nvCxnSpPr>
        <p:spPr>
          <a:xfrm flipH="1" flipV="1">
            <a:off x="7036707" y="5211035"/>
            <a:ext cx="573602" cy="747372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58" name="Gerade Verbindung mit Pfeil 157">
            <a:extLst>
              <a:ext uri="{FF2B5EF4-FFF2-40B4-BE49-F238E27FC236}">
                <a16:creationId xmlns:a16="http://schemas.microsoft.com/office/drawing/2014/main" id="{7F8AF69D-63A6-BB6A-B020-F4C20183069E}"/>
              </a:ext>
            </a:extLst>
          </p:cNvPr>
          <p:cNvCxnSpPr>
            <a:cxnSpLocks/>
            <a:stCxn id="145" idx="1"/>
            <a:endCxn id="152" idx="3"/>
          </p:cNvCxnSpPr>
          <p:nvPr/>
        </p:nvCxnSpPr>
        <p:spPr>
          <a:xfrm flipH="1" flipV="1">
            <a:off x="7036707" y="4667036"/>
            <a:ext cx="573602" cy="1291373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59" name="Gerade Verbindung mit Pfeil 158">
            <a:extLst>
              <a:ext uri="{FF2B5EF4-FFF2-40B4-BE49-F238E27FC236}">
                <a16:creationId xmlns:a16="http://schemas.microsoft.com/office/drawing/2014/main" id="{E0072063-E071-5BFA-07F7-75E642B28E77}"/>
              </a:ext>
            </a:extLst>
          </p:cNvPr>
          <p:cNvCxnSpPr>
            <a:cxnSpLocks/>
            <a:stCxn id="148" idx="1"/>
            <a:endCxn id="156" idx="3"/>
          </p:cNvCxnSpPr>
          <p:nvPr/>
        </p:nvCxnSpPr>
        <p:spPr>
          <a:xfrm flipH="1" flipV="1">
            <a:off x="7036707" y="6129778"/>
            <a:ext cx="573602" cy="549646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64" name="Abgerundetes Rechteck 45">
            <a:extLst>
              <a:ext uri="{FF2B5EF4-FFF2-40B4-BE49-F238E27FC236}">
                <a16:creationId xmlns:a16="http://schemas.microsoft.com/office/drawing/2014/main" id="{6EC8F9F0-0814-58A0-1A03-1B7B7F229B7A}"/>
              </a:ext>
            </a:extLst>
          </p:cNvPr>
          <p:cNvSpPr/>
          <p:nvPr/>
        </p:nvSpPr>
        <p:spPr>
          <a:xfrm>
            <a:off x="10669917" y="3948120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 dirty="0">
                <a:solidFill>
                  <a:prstClr val="white"/>
                </a:solidFill>
                <a:latin typeface="Calibri" panose="020F0502020204030204"/>
              </a:rPr>
              <a:t>PC</a:t>
            </a:r>
          </a:p>
        </p:txBody>
      </p:sp>
      <p:sp>
        <p:nvSpPr>
          <p:cNvPr id="165" name="Abgerundetes Rechteck 46">
            <a:extLst>
              <a:ext uri="{FF2B5EF4-FFF2-40B4-BE49-F238E27FC236}">
                <a16:creationId xmlns:a16="http://schemas.microsoft.com/office/drawing/2014/main" id="{3A261E11-A8FF-8461-9D6C-DB4253244219}"/>
              </a:ext>
            </a:extLst>
          </p:cNvPr>
          <p:cNvSpPr/>
          <p:nvPr/>
        </p:nvSpPr>
        <p:spPr>
          <a:xfrm>
            <a:off x="12015903" y="3952557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 dirty="0">
                <a:solidFill>
                  <a:prstClr val="white"/>
                </a:solidFill>
                <a:latin typeface="Calibri" panose="020F0502020204030204"/>
              </a:rPr>
              <a:t>P</a:t>
            </a:r>
          </a:p>
        </p:txBody>
      </p:sp>
      <p:cxnSp>
        <p:nvCxnSpPr>
          <p:cNvPr id="166" name="Gerade Verbindung mit Pfeil 165">
            <a:extLst>
              <a:ext uri="{FF2B5EF4-FFF2-40B4-BE49-F238E27FC236}">
                <a16:creationId xmlns:a16="http://schemas.microsoft.com/office/drawing/2014/main" id="{1D0C2E28-ECAC-7C41-C57C-93E87A3CDD27}"/>
              </a:ext>
            </a:extLst>
          </p:cNvPr>
          <p:cNvCxnSpPr>
            <a:stCxn id="129" idx="3"/>
            <a:endCxn id="164" idx="1"/>
          </p:cNvCxnSpPr>
          <p:nvPr/>
        </p:nvCxnSpPr>
        <p:spPr>
          <a:xfrm>
            <a:off x="9861230" y="4170906"/>
            <a:ext cx="808687" cy="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67" name="Gerade Verbindung mit Pfeil 166">
            <a:extLst>
              <a:ext uri="{FF2B5EF4-FFF2-40B4-BE49-F238E27FC236}">
                <a16:creationId xmlns:a16="http://schemas.microsoft.com/office/drawing/2014/main" id="{F54F4961-4CD8-1757-6D3E-4ED507AC3D06}"/>
              </a:ext>
            </a:extLst>
          </p:cNvPr>
          <p:cNvCxnSpPr>
            <a:stCxn id="164" idx="3"/>
            <a:endCxn id="165" idx="1"/>
          </p:cNvCxnSpPr>
          <p:nvPr/>
        </p:nvCxnSpPr>
        <p:spPr>
          <a:xfrm>
            <a:off x="11207216" y="4170908"/>
            <a:ext cx="808687" cy="4437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68" name="Rechteck 167">
            <a:extLst>
              <a:ext uri="{FF2B5EF4-FFF2-40B4-BE49-F238E27FC236}">
                <a16:creationId xmlns:a16="http://schemas.microsoft.com/office/drawing/2014/main" id="{CF8AC0D9-3EBA-3573-B442-A8577BA331CA}"/>
              </a:ext>
            </a:extLst>
          </p:cNvPr>
          <p:cNvSpPr/>
          <p:nvPr/>
        </p:nvSpPr>
        <p:spPr>
          <a:xfrm>
            <a:off x="7223735" y="3967698"/>
            <a:ext cx="1425832" cy="327678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operationalState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lifecycleState</a:t>
            </a:r>
          </a:p>
        </p:txBody>
      </p:sp>
      <p:cxnSp>
        <p:nvCxnSpPr>
          <p:cNvPr id="169" name="Gerade Verbindung mit Pfeil 168">
            <a:extLst>
              <a:ext uri="{FF2B5EF4-FFF2-40B4-BE49-F238E27FC236}">
                <a16:creationId xmlns:a16="http://schemas.microsoft.com/office/drawing/2014/main" id="{BA0DE7E0-3E00-4D1E-00E4-096475C7D555}"/>
              </a:ext>
            </a:extLst>
          </p:cNvPr>
          <p:cNvCxnSpPr>
            <a:cxnSpLocks/>
            <a:stCxn id="168" idx="3"/>
            <a:endCxn id="129" idx="1"/>
          </p:cNvCxnSpPr>
          <p:nvPr/>
        </p:nvCxnSpPr>
        <p:spPr>
          <a:xfrm>
            <a:off x="8649567" y="4131539"/>
            <a:ext cx="674362" cy="39369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70" name="Abgerundetes Rechteck 66">
            <a:extLst>
              <a:ext uri="{FF2B5EF4-FFF2-40B4-BE49-F238E27FC236}">
                <a16:creationId xmlns:a16="http://schemas.microsoft.com/office/drawing/2014/main" id="{E923FF91-857D-1980-0058-CEC6AE11A650}"/>
              </a:ext>
            </a:extLst>
          </p:cNvPr>
          <p:cNvSpPr/>
          <p:nvPr/>
        </p:nvSpPr>
        <p:spPr>
          <a:xfrm>
            <a:off x="13107120" y="3963816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 dirty="0" err="1">
                <a:solidFill>
                  <a:prstClr val="white"/>
                </a:solidFill>
                <a:latin typeface="Calibri" panose="020F0502020204030204"/>
              </a:rPr>
              <a:t>StringProfile</a:t>
            </a:r>
            <a:endParaRPr lang="de-DE" sz="1050" kern="0" dirty="0">
              <a:solidFill>
                <a:prstClr val="white"/>
              </a:solidFill>
              <a:latin typeface="Calibri" panose="020F0502020204030204"/>
            </a:endParaRPr>
          </a:p>
        </p:txBody>
      </p:sp>
      <p:cxnSp>
        <p:nvCxnSpPr>
          <p:cNvPr id="171" name="Gerade Verbindung mit Pfeil 170">
            <a:extLst>
              <a:ext uri="{FF2B5EF4-FFF2-40B4-BE49-F238E27FC236}">
                <a16:creationId xmlns:a16="http://schemas.microsoft.com/office/drawing/2014/main" id="{57E5131C-F4A7-B1C2-99E2-BDAAC61E1664}"/>
              </a:ext>
            </a:extLst>
          </p:cNvPr>
          <p:cNvCxnSpPr>
            <a:cxnSpLocks/>
            <a:stCxn id="170" idx="1"/>
            <a:endCxn id="165" idx="3"/>
          </p:cNvCxnSpPr>
          <p:nvPr/>
        </p:nvCxnSpPr>
        <p:spPr>
          <a:xfrm flipH="1" flipV="1">
            <a:off x="12553200" y="4175345"/>
            <a:ext cx="553918" cy="11259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sp>
        <p:nvSpPr>
          <p:cNvPr id="172" name="Rechteck 171">
            <a:extLst>
              <a:ext uri="{FF2B5EF4-FFF2-40B4-BE49-F238E27FC236}">
                <a16:creationId xmlns:a16="http://schemas.microsoft.com/office/drawing/2014/main" id="{EB4B0C19-05A4-9F67-7DF1-843375E09128}"/>
              </a:ext>
            </a:extLst>
          </p:cNvPr>
          <p:cNvSpPr/>
          <p:nvPr/>
        </p:nvSpPr>
        <p:spPr>
          <a:xfrm>
            <a:off x="14843522" y="3988189"/>
            <a:ext cx="1425832" cy="678846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 dirty="0" err="1">
                <a:solidFill>
                  <a:prstClr val="black"/>
                </a:solidFill>
                <a:latin typeface="Calibri" panose="020F0502020204030204"/>
              </a:rPr>
              <a:t>Capability</a:t>
            </a:r>
            <a:endParaRPr lang="de-DE" sz="800" u="sng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stringName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- mediatorVmTemplateName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- mediatorUserName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- mediatorUserPassword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73" name="Rechteck 172">
            <a:extLst>
              <a:ext uri="{FF2B5EF4-FFF2-40B4-BE49-F238E27FC236}">
                <a16:creationId xmlns:a16="http://schemas.microsoft.com/office/drawing/2014/main" id="{4CBD0BBA-3755-9310-47FE-8B5EF03DB68E}"/>
              </a:ext>
            </a:extLst>
          </p:cNvPr>
          <p:cNvSpPr/>
          <p:nvPr/>
        </p:nvSpPr>
        <p:spPr>
          <a:xfrm>
            <a:off x="14843522" y="4716070"/>
            <a:ext cx="1425832" cy="33607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 dirty="0" err="1">
                <a:solidFill>
                  <a:prstClr val="black"/>
                </a:solidFill>
                <a:latin typeface="Calibri" panose="020F0502020204030204"/>
              </a:rPr>
              <a:t>Configuration</a:t>
            </a:r>
            <a:endParaRPr lang="de-DE" sz="800" u="sng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 dirty="0" err="1">
                <a:solidFill>
                  <a:prstClr val="black"/>
                </a:solidFill>
                <a:latin typeface="Calibri" panose="020F0502020204030204"/>
              </a:rPr>
              <a:t>stringValue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174" name="Gerade Verbindung mit Pfeil 173">
            <a:extLst>
              <a:ext uri="{FF2B5EF4-FFF2-40B4-BE49-F238E27FC236}">
                <a16:creationId xmlns:a16="http://schemas.microsoft.com/office/drawing/2014/main" id="{3E00DD38-E312-FDAE-E0CF-019349FE88A3}"/>
              </a:ext>
            </a:extLst>
          </p:cNvPr>
          <p:cNvCxnSpPr>
            <a:cxnSpLocks/>
            <a:stCxn id="170" idx="3"/>
            <a:endCxn id="172" idx="1"/>
          </p:cNvCxnSpPr>
          <p:nvPr/>
        </p:nvCxnSpPr>
        <p:spPr>
          <a:xfrm>
            <a:off x="14268573" y="4186602"/>
            <a:ext cx="574951" cy="14101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75" name="Gerade Verbindung mit Pfeil 174">
            <a:extLst>
              <a:ext uri="{FF2B5EF4-FFF2-40B4-BE49-F238E27FC236}">
                <a16:creationId xmlns:a16="http://schemas.microsoft.com/office/drawing/2014/main" id="{134A9A26-D904-FED7-A00D-A8B5BACBD1F1}"/>
              </a:ext>
            </a:extLst>
          </p:cNvPr>
          <p:cNvCxnSpPr>
            <a:stCxn id="170" idx="3"/>
            <a:endCxn id="173" idx="1"/>
          </p:cNvCxnSpPr>
          <p:nvPr/>
        </p:nvCxnSpPr>
        <p:spPr>
          <a:xfrm>
            <a:off x="14268573" y="4186604"/>
            <a:ext cx="574951" cy="69750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78" name="Abgerundetes Rechteck 2">
            <a:extLst>
              <a:ext uri="{FF2B5EF4-FFF2-40B4-BE49-F238E27FC236}">
                <a16:creationId xmlns:a16="http://schemas.microsoft.com/office/drawing/2014/main" id="{5D271881-6F30-DFD6-72F1-3F674E68933F}"/>
              </a:ext>
            </a:extLst>
          </p:cNvPr>
          <p:cNvSpPr/>
          <p:nvPr/>
        </p:nvSpPr>
        <p:spPr>
          <a:xfrm>
            <a:off x="10669916" y="5202378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FD</a:t>
            </a:r>
          </a:p>
        </p:txBody>
      </p:sp>
      <p:cxnSp>
        <p:nvCxnSpPr>
          <p:cNvPr id="179" name="Gerade Verbindung mit Pfeil 178">
            <a:extLst>
              <a:ext uri="{FF2B5EF4-FFF2-40B4-BE49-F238E27FC236}">
                <a16:creationId xmlns:a16="http://schemas.microsoft.com/office/drawing/2014/main" id="{140A27B0-12E3-6EFB-FFEB-53372328F579}"/>
              </a:ext>
            </a:extLst>
          </p:cNvPr>
          <p:cNvCxnSpPr>
            <a:cxnSpLocks/>
            <a:stCxn id="129" idx="2"/>
            <a:endCxn id="178" idx="0"/>
          </p:cNvCxnSpPr>
          <p:nvPr/>
        </p:nvCxnSpPr>
        <p:spPr>
          <a:xfrm>
            <a:off x="9592581" y="4393692"/>
            <a:ext cx="1345985" cy="808686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83" name="Abgerundetes Rechteck 2">
            <a:extLst>
              <a:ext uri="{FF2B5EF4-FFF2-40B4-BE49-F238E27FC236}">
                <a16:creationId xmlns:a16="http://schemas.microsoft.com/office/drawing/2014/main" id="{081EC501-C2CA-9E15-39FF-56B5A787FDD0}"/>
              </a:ext>
            </a:extLst>
          </p:cNvPr>
          <p:cNvSpPr/>
          <p:nvPr/>
        </p:nvSpPr>
        <p:spPr>
          <a:xfrm>
            <a:off x="10669916" y="8477606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FC</a:t>
            </a:r>
          </a:p>
        </p:txBody>
      </p:sp>
      <p:cxnSp>
        <p:nvCxnSpPr>
          <p:cNvPr id="190" name="Gerade Verbindung mit Pfeil 189">
            <a:extLst>
              <a:ext uri="{FF2B5EF4-FFF2-40B4-BE49-F238E27FC236}">
                <a16:creationId xmlns:a16="http://schemas.microsoft.com/office/drawing/2014/main" id="{296A82BB-6F95-7547-C6E1-A06AE5A97651}"/>
              </a:ext>
            </a:extLst>
          </p:cNvPr>
          <p:cNvCxnSpPr>
            <a:cxnSpLocks/>
            <a:stCxn id="178" idx="2"/>
            <a:endCxn id="183" idx="0"/>
          </p:cNvCxnSpPr>
          <p:nvPr/>
        </p:nvCxnSpPr>
        <p:spPr>
          <a:xfrm>
            <a:off x="10938564" y="5647950"/>
            <a:ext cx="0" cy="2829656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93" name="Rechteck 192">
            <a:extLst>
              <a:ext uri="{FF2B5EF4-FFF2-40B4-BE49-F238E27FC236}">
                <a16:creationId xmlns:a16="http://schemas.microsoft.com/office/drawing/2014/main" id="{0EBFB0DE-9E6A-84BE-0CC5-FB4877E6209C}"/>
              </a:ext>
            </a:extLst>
          </p:cNvPr>
          <p:cNvSpPr/>
          <p:nvPr/>
        </p:nvSpPr>
        <p:spPr>
          <a:xfrm>
            <a:off x="12146587" y="8536254"/>
            <a:ext cx="1425832" cy="33607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name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- deviceName</a:t>
            </a:r>
          </a:p>
        </p:txBody>
      </p:sp>
      <p:cxnSp>
        <p:nvCxnSpPr>
          <p:cNvPr id="194" name="Gerade Verbindung mit Pfeil 193">
            <a:extLst>
              <a:ext uri="{FF2B5EF4-FFF2-40B4-BE49-F238E27FC236}">
                <a16:creationId xmlns:a16="http://schemas.microsoft.com/office/drawing/2014/main" id="{30D22D7A-9AC9-DD60-5253-1BC73B206C29}"/>
              </a:ext>
            </a:extLst>
          </p:cNvPr>
          <p:cNvCxnSpPr>
            <a:cxnSpLocks/>
            <a:stCxn id="183" idx="3"/>
            <a:endCxn id="193" idx="1"/>
          </p:cNvCxnSpPr>
          <p:nvPr/>
        </p:nvCxnSpPr>
        <p:spPr>
          <a:xfrm>
            <a:off x="11207213" y="8700394"/>
            <a:ext cx="939374" cy="3899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99" name="Abgerundetes Rechteck 2">
            <a:extLst>
              <a:ext uri="{FF2B5EF4-FFF2-40B4-BE49-F238E27FC236}">
                <a16:creationId xmlns:a16="http://schemas.microsoft.com/office/drawing/2014/main" id="{B08CDC80-9681-7C36-4CBD-B2099103EA1A}"/>
              </a:ext>
            </a:extLst>
          </p:cNvPr>
          <p:cNvSpPr/>
          <p:nvPr/>
        </p:nvSpPr>
        <p:spPr>
          <a:xfrm>
            <a:off x="10669916" y="9592103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FCP</a:t>
            </a:r>
          </a:p>
        </p:txBody>
      </p:sp>
      <p:cxnSp>
        <p:nvCxnSpPr>
          <p:cNvPr id="202" name="Gerade Verbindung mit Pfeil 201">
            <a:extLst>
              <a:ext uri="{FF2B5EF4-FFF2-40B4-BE49-F238E27FC236}">
                <a16:creationId xmlns:a16="http://schemas.microsoft.com/office/drawing/2014/main" id="{71E46005-C51C-4CCB-EF13-C0C55DA3B420}"/>
              </a:ext>
            </a:extLst>
          </p:cNvPr>
          <p:cNvCxnSpPr>
            <a:cxnSpLocks/>
            <a:stCxn id="183" idx="2"/>
            <a:endCxn id="199" idx="0"/>
          </p:cNvCxnSpPr>
          <p:nvPr/>
        </p:nvCxnSpPr>
        <p:spPr>
          <a:xfrm>
            <a:off x="10938564" y="8923180"/>
            <a:ext cx="0" cy="66892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205" name="Gerade Verbindung mit Pfeil 204">
            <a:extLst>
              <a:ext uri="{FF2B5EF4-FFF2-40B4-BE49-F238E27FC236}">
                <a16:creationId xmlns:a16="http://schemas.microsoft.com/office/drawing/2014/main" id="{6788FE90-8D70-D6A1-9340-2FB938146C10}"/>
              </a:ext>
            </a:extLst>
          </p:cNvPr>
          <p:cNvCxnSpPr>
            <a:cxnSpLocks/>
            <a:stCxn id="199" idx="1"/>
            <a:endCxn id="131" idx="3"/>
          </p:cNvCxnSpPr>
          <p:nvPr/>
        </p:nvCxnSpPr>
        <p:spPr>
          <a:xfrm flipH="1">
            <a:off x="9861228" y="9814891"/>
            <a:ext cx="808686" cy="821399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ysDash"/>
            <a:miter lim="800000"/>
            <a:tailEnd type="arrow"/>
          </a:ln>
          <a:effectLst/>
        </p:spPr>
      </p:cxnSp>
      <p:sp>
        <p:nvSpPr>
          <p:cNvPr id="210" name="Rechteck 209">
            <a:extLst>
              <a:ext uri="{FF2B5EF4-FFF2-40B4-BE49-F238E27FC236}">
                <a16:creationId xmlns:a16="http://schemas.microsoft.com/office/drawing/2014/main" id="{9BC48371-0AF2-465F-826E-D379F9BB6507}"/>
              </a:ext>
            </a:extLst>
          </p:cNvPr>
          <p:cNvSpPr/>
          <p:nvPr/>
        </p:nvSpPr>
        <p:spPr>
          <a:xfrm>
            <a:off x="5610875" y="10538335"/>
            <a:ext cx="1425832" cy="307488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 dirty="0">
                <a:solidFill>
                  <a:prstClr val="black"/>
                </a:solidFill>
                <a:latin typeface="Calibri" panose="020F0502020204030204"/>
              </a:rPr>
              <a:t>Status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interfaceStatus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211" name="Gerade Verbindung mit Pfeil 210">
            <a:extLst>
              <a:ext uri="{FF2B5EF4-FFF2-40B4-BE49-F238E27FC236}">
                <a16:creationId xmlns:a16="http://schemas.microsoft.com/office/drawing/2014/main" id="{FD15BF2E-431D-FF86-B0A9-F508E3870F53}"/>
              </a:ext>
            </a:extLst>
          </p:cNvPr>
          <p:cNvCxnSpPr>
            <a:cxnSpLocks/>
            <a:stCxn id="29" idx="1"/>
            <a:endCxn id="210" idx="3"/>
          </p:cNvCxnSpPr>
          <p:nvPr/>
        </p:nvCxnSpPr>
        <p:spPr>
          <a:xfrm flipH="1">
            <a:off x="7036709" y="10638795"/>
            <a:ext cx="573603" cy="53284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16" name="Abgerundetes Rechteck 1">
            <a:extLst>
              <a:ext uri="{FF2B5EF4-FFF2-40B4-BE49-F238E27FC236}">
                <a16:creationId xmlns:a16="http://schemas.microsoft.com/office/drawing/2014/main" id="{E4A62BC8-924C-84E9-9ED3-A6A081AB7FE4}"/>
              </a:ext>
            </a:extLst>
          </p:cNvPr>
          <p:cNvSpPr/>
          <p:nvPr/>
        </p:nvSpPr>
        <p:spPr>
          <a:xfrm>
            <a:off x="18682094" y="7903820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 dirty="0">
                <a:solidFill>
                  <a:prstClr val="white"/>
                </a:solidFill>
                <a:latin typeface="Calibri" panose="020F0502020204030204"/>
              </a:rPr>
              <a:t>CC</a:t>
            </a:r>
          </a:p>
        </p:txBody>
      </p:sp>
      <p:sp>
        <p:nvSpPr>
          <p:cNvPr id="217" name="Abgerundetes Rechteck 2">
            <a:extLst>
              <a:ext uri="{FF2B5EF4-FFF2-40B4-BE49-F238E27FC236}">
                <a16:creationId xmlns:a16="http://schemas.microsoft.com/office/drawing/2014/main" id="{99DFCE16-D31D-A2C4-AF66-C2D2E0DD8F69}"/>
              </a:ext>
            </a:extLst>
          </p:cNvPr>
          <p:cNvSpPr/>
          <p:nvPr/>
        </p:nvSpPr>
        <p:spPr>
          <a:xfrm>
            <a:off x="18682094" y="9158079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LTP</a:t>
            </a:r>
          </a:p>
        </p:txBody>
      </p:sp>
      <p:sp>
        <p:nvSpPr>
          <p:cNvPr id="218" name="Abgerundetes Rechteck 3">
            <a:extLst>
              <a:ext uri="{FF2B5EF4-FFF2-40B4-BE49-F238E27FC236}">
                <a16:creationId xmlns:a16="http://schemas.microsoft.com/office/drawing/2014/main" id="{D91288CE-E056-17B7-03D1-9F4B70721B71}"/>
              </a:ext>
            </a:extLst>
          </p:cNvPr>
          <p:cNvSpPr/>
          <p:nvPr/>
        </p:nvSpPr>
        <p:spPr>
          <a:xfrm>
            <a:off x="18682094" y="10412338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LP</a:t>
            </a:r>
          </a:p>
        </p:txBody>
      </p:sp>
      <p:cxnSp>
        <p:nvCxnSpPr>
          <p:cNvPr id="219" name="Gerade Verbindung mit Pfeil 218">
            <a:extLst>
              <a:ext uri="{FF2B5EF4-FFF2-40B4-BE49-F238E27FC236}">
                <a16:creationId xmlns:a16="http://schemas.microsoft.com/office/drawing/2014/main" id="{F3812ADC-C552-3888-AD96-B6C6C4A66D2D}"/>
              </a:ext>
            </a:extLst>
          </p:cNvPr>
          <p:cNvCxnSpPr>
            <a:stCxn id="216" idx="2"/>
            <a:endCxn id="217" idx="0"/>
          </p:cNvCxnSpPr>
          <p:nvPr/>
        </p:nvCxnSpPr>
        <p:spPr>
          <a:xfrm>
            <a:off x="18950741" y="8349392"/>
            <a:ext cx="0" cy="808686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220" name="Gerade Verbindung mit Pfeil 219">
            <a:extLst>
              <a:ext uri="{FF2B5EF4-FFF2-40B4-BE49-F238E27FC236}">
                <a16:creationId xmlns:a16="http://schemas.microsoft.com/office/drawing/2014/main" id="{58DA10C6-91F7-D5E5-C61D-C688A420AA08}"/>
              </a:ext>
            </a:extLst>
          </p:cNvPr>
          <p:cNvCxnSpPr>
            <a:stCxn id="217" idx="2"/>
            <a:endCxn id="218" idx="0"/>
          </p:cNvCxnSpPr>
          <p:nvPr/>
        </p:nvCxnSpPr>
        <p:spPr>
          <a:xfrm>
            <a:off x="18950741" y="9603653"/>
            <a:ext cx="0" cy="808687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22" name="Abgerundetes Rechteck 88">
            <a:extLst>
              <a:ext uri="{FF2B5EF4-FFF2-40B4-BE49-F238E27FC236}">
                <a16:creationId xmlns:a16="http://schemas.microsoft.com/office/drawing/2014/main" id="{CA0AEA30-500F-B7AD-AACA-E7D8EDE7AACC}"/>
              </a:ext>
            </a:extLst>
          </p:cNvPr>
          <p:cNvSpPr/>
          <p:nvPr/>
        </p:nvSpPr>
        <p:spPr>
          <a:xfrm>
            <a:off x="16968474" y="11133355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TcpServer [1]</a:t>
            </a:r>
          </a:p>
        </p:txBody>
      </p:sp>
      <p:sp>
        <p:nvSpPr>
          <p:cNvPr id="223" name="Abgerundetes Rechteck 89">
            <a:extLst>
              <a:ext uri="{FF2B5EF4-FFF2-40B4-BE49-F238E27FC236}">
                <a16:creationId xmlns:a16="http://schemas.microsoft.com/office/drawing/2014/main" id="{044D5B40-A091-29AF-E39A-C4A69555BAD1}"/>
              </a:ext>
            </a:extLst>
          </p:cNvPr>
          <p:cNvSpPr/>
          <p:nvPr/>
        </p:nvSpPr>
        <p:spPr>
          <a:xfrm>
            <a:off x="16968474" y="10412338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SnmpServer [*]</a:t>
            </a:r>
          </a:p>
        </p:txBody>
      </p:sp>
      <p:cxnSp>
        <p:nvCxnSpPr>
          <p:cNvPr id="224" name="Gerade Verbindung mit Pfeil 223">
            <a:extLst>
              <a:ext uri="{FF2B5EF4-FFF2-40B4-BE49-F238E27FC236}">
                <a16:creationId xmlns:a16="http://schemas.microsoft.com/office/drawing/2014/main" id="{C4923F46-6E35-ECDC-0AF1-6BAC283218B2}"/>
              </a:ext>
            </a:extLst>
          </p:cNvPr>
          <p:cNvCxnSpPr>
            <a:stCxn id="223" idx="3"/>
            <a:endCxn id="218" idx="1"/>
          </p:cNvCxnSpPr>
          <p:nvPr/>
        </p:nvCxnSpPr>
        <p:spPr>
          <a:xfrm>
            <a:off x="18129924" y="10635124"/>
            <a:ext cx="552168" cy="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225" name="Gerade Verbindung mit Pfeil 224">
            <a:extLst>
              <a:ext uri="{FF2B5EF4-FFF2-40B4-BE49-F238E27FC236}">
                <a16:creationId xmlns:a16="http://schemas.microsoft.com/office/drawing/2014/main" id="{C9D65C52-F7D7-4E03-4D70-221077F95329}"/>
              </a:ext>
            </a:extLst>
          </p:cNvPr>
          <p:cNvCxnSpPr>
            <a:stCxn id="222" idx="3"/>
            <a:endCxn id="218" idx="1"/>
          </p:cNvCxnSpPr>
          <p:nvPr/>
        </p:nvCxnSpPr>
        <p:spPr>
          <a:xfrm flipV="1">
            <a:off x="18129924" y="10635126"/>
            <a:ext cx="552168" cy="721017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sp>
        <p:nvSpPr>
          <p:cNvPr id="230" name="Rechteck 229">
            <a:extLst>
              <a:ext uri="{FF2B5EF4-FFF2-40B4-BE49-F238E27FC236}">
                <a16:creationId xmlns:a16="http://schemas.microsoft.com/office/drawing/2014/main" id="{3A0F905E-26BB-EADC-40B0-7140549F1DE4}"/>
              </a:ext>
            </a:extLst>
          </p:cNvPr>
          <p:cNvSpPr/>
          <p:nvPr/>
        </p:nvSpPr>
        <p:spPr>
          <a:xfrm>
            <a:off x="14969038" y="11130032"/>
            <a:ext cx="1425832" cy="432965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 dirty="0" err="1">
                <a:solidFill>
                  <a:prstClr val="black"/>
                </a:solidFill>
                <a:latin typeface="Calibri" panose="020F0502020204030204"/>
              </a:rPr>
              <a:t>Configuration</a:t>
            </a:r>
            <a:endParaRPr lang="de-DE" sz="800" u="sng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localAddress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localPort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231" name="Gerade Verbindung mit Pfeil 230">
            <a:extLst>
              <a:ext uri="{FF2B5EF4-FFF2-40B4-BE49-F238E27FC236}">
                <a16:creationId xmlns:a16="http://schemas.microsoft.com/office/drawing/2014/main" id="{E2AA1378-2624-C82E-46F5-DAE3598C92F9}"/>
              </a:ext>
            </a:extLst>
          </p:cNvPr>
          <p:cNvCxnSpPr>
            <a:stCxn id="222" idx="1"/>
            <a:endCxn id="230" idx="3"/>
          </p:cNvCxnSpPr>
          <p:nvPr/>
        </p:nvCxnSpPr>
        <p:spPr>
          <a:xfrm flipH="1" flipV="1">
            <a:off x="16394870" y="11346513"/>
            <a:ext cx="573602" cy="9628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32" name="Rechteck 231">
            <a:extLst>
              <a:ext uri="{FF2B5EF4-FFF2-40B4-BE49-F238E27FC236}">
                <a16:creationId xmlns:a16="http://schemas.microsoft.com/office/drawing/2014/main" id="{D24AFCEE-3415-2633-C02F-42F690432881}"/>
              </a:ext>
            </a:extLst>
          </p:cNvPr>
          <p:cNvSpPr/>
          <p:nvPr/>
        </p:nvSpPr>
        <p:spPr>
          <a:xfrm>
            <a:off x="14969038" y="10399834"/>
            <a:ext cx="1425832" cy="474769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 dirty="0" err="1">
                <a:solidFill>
                  <a:prstClr val="black"/>
                </a:solidFill>
                <a:latin typeface="Calibri" panose="020F0502020204030204"/>
              </a:rPr>
              <a:t>Capability</a:t>
            </a:r>
            <a:endParaRPr lang="de-DE" sz="800" u="sng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mediatorUserName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mediatorUserPassword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235" name="Gerade Verbindung mit Pfeil 234">
            <a:extLst>
              <a:ext uri="{FF2B5EF4-FFF2-40B4-BE49-F238E27FC236}">
                <a16:creationId xmlns:a16="http://schemas.microsoft.com/office/drawing/2014/main" id="{4A5D1682-99D1-7876-EEFC-EA1180222379}"/>
              </a:ext>
            </a:extLst>
          </p:cNvPr>
          <p:cNvCxnSpPr>
            <a:cxnSpLocks/>
            <a:stCxn id="223" idx="1"/>
            <a:endCxn id="232" idx="3"/>
          </p:cNvCxnSpPr>
          <p:nvPr/>
        </p:nvCxnSpPr>
        <p:spPr>
          <a:xfrm flipH="1">
            <a:off x="16394870" y="10635126"/>
            <a:ext cx="573602" cy="2093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41" name="Rechteck 240">
            <a:extLst>
              <a:ext uri="{FF2B5EF4-FFF2-40B4-BE49-F238E27FC236}">
                <a16:creationId xmlns:a16="http://schemas.microsoft.com/office/drawing/2014/main" id="{8AE67609-FF85-AA36-4EAC-A2C055DD14DD}"/>
              </a:ext>
            </a:extLst>
          </p:cNvPr>
          <p:cNvSpPr/>
          <p:nvPr/>
        </p:nvSpPr>
        <p:spPr>
          <a:xfrm>
            <a:off x="19771558" y="7903181"/>
            <a:ext cx="1471132" cy="445572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>
                <a:solidFill>
                  <a:prstClr val="black"/>
                </a:solidFill>
                <a:latin typeface="Calibri" panose="020F0502020204030204"/>
              </a:rPr>
              <a:t>ControlConstructPac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externalLabel=deviceName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deviceModelName</a:t>
            </a:r>
          </a:p>
        </p:txBody>
      </p:sp>
      <p:cxnSp>
        <p:nvCxnSpPr>
          <p:cNvPr id="242" name="Gerade Verbindung mit Pfeil 241">
            <a:extLst>
              <a:ext uri="{FF2B5EF4-FFF2-40B4-BE49-F238E27FC236}">
                <a16:creationId xmlns:a16="http://schemas.microsoft.com/office/drawing/2014/main" id="{D02907C9-C5BE-29CD-04AE-14DC78D81D7F}"/>
              </a:ext>
            </a:extLst>
          </p:cNvPr>
          <p:cNvCxnSpPr>
            <a:cxnSpLocks/>
            <a:stCxn id="216" idx="3"/>
            <a:endCxn id="241" idx="1"/>
          </p:cNvCxnSpPr>
          <p:nvPr/>
        </p:nvCxnSpPr>
        <p:spPr>
          <a:xfrm flipV="1">
            <a:off x="19219393" y="8125969"/>
            <a:ext cx="552167" cy="639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55" name="Abgerundetes Rechteck 1">
            <a:extLst>
              <a:ext uri="{FF2B5EF4-FFF2-40B4-BE49-F238E27FC236}">
                <a16:creationId xmlns:a16="http://schemas.microsoft.com/office/drawing/2014/main" id="{0624A5C3-D3B9-BB7E-0BD0-0012F0BB8FBE}"/>
              </a:ext>
            </a:extLst>
          </p:cNvPr>
          <p:cNvSpPr/>
          <p:nvPr/>
        </p:nvSpPr>
        <p:spPr>
          <a:xfrm>
            <a:off x="14134736" y="11982055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</a:t>
            </a:r>
            <a:endParaRPr lang="de-DE" sz="1050" kern="0" dirty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56" name="Abgerundetes Rechteck 2">
            <a:extLst>
              <a:ext uri="{FF2B5EF4-FFF2-40B4-BE49-F238E27FC236}">
                <a16:creationId xmlns:a16="http://schemas.microsoft.com/office/drawing/2014/main" id="{5FD1B592-B627-5A5A-AA41-A7B91547AE68}"/>
              </a:ext>
            </a:extLst>
          </p:cNvPr>
          <p:cNvSpPr/>
          <p:nvPr/>
        </p:nvSpPr>
        <p:spPr>
          <a:xfrm>
            <a:off x="14134736" y="13236314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EPL</a:t>
            </a:r>
          </a:p>
        </p:txBody>
      </p:sp>
      <p:cxnSp>
        <p:nvCxnSpPr>
          <p:cNvPr id="257" name="Gerade Verbindung mit Pfeil 256">
            <a:extLst>
              <a:ext uri="{FF2B5EF4-FFF2-40B4-BE49-F238E27FC236}">
                <a16:creationId xmlns:a16="http://schemas.microsoft.com/office/drawing/2014/main" id="{B48E44D1-8330-80C7-3E84-A5EF43DBA4E1}"/>
              </a:ext>
            </a:extLst>
          </p:cNvPr>
          <p:cNvCxnSpPr>
            <a:stCxn id="255" idx="2"/>
            <a:endCxn id="256" idx="0"/>
          </p:cNvCxnSpPr>
          <p:nvPr/>
        </p:nvCxnSpPr>
        <p:spPr>
          <a:xfrm>
            <a:off x="14403383" y="12427627"/>
            <a:ext cx="0" cy="808686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58" name="Abgerundetes Rechteck 8">
            <a:extLst>
              <a:ext uri="{FF2B5EF4-FFF2-40B4-BE49-F238E27FC236}">
                <a16:creationId xmlns:a16="http://schemas.microsoft.com/office/drawing/2014/main" id="{1DB5ECCE-0529-9E73-AE92-2C49B712E8E7}"/>
              </a:ext>
            </a:extLst>
          </p:cNvPr>
          <p:cNvSpPr/>
          <p:nvPr/>
        </p:nvSpPr>
        <p:spPr>
          <a:xfrm>
            <a:off x="15224201" y="13220920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/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SnmpServer [1]</a:t>
            </a:r>
          </a:p>
        </p:txBody>
      </p:sp>
      <p:cxnSp>
        <p:nvCxnSpPr>
          <p:cNvPr id="259" name="Gerade Verbindung mit Pfeil 258">
            <a:extLst>
              <a:ext uri="{FF2B5EF4-FFF2-40B4-BE49-F238E27FC236}">
                <a16:creationId xmlns:a16="http://schemas.microsoft.com/office/drawing/2014/main" id="{48192E11-C1F9-7526-1DD7-BDA73B10C866}"/>
              </a:ext>
            </a:extLst>
          </p:cNvPr>
          <p:cNvCxnSpPr>
            <a:cxnSpLocks/>
            <a:stCxn id="258" idx="1"/>
            <a:endCxn id="256" idx="3"/>
          </p:cNvCxnSpPr>
          <p:nvPr/>
        </p:nvCxnSpPr>
        <p:spPr>
          <a:xfrm flipH="1">
            <a:off x="14672033" y="13443706"/>
            <a:ext cx="552166" cy="15394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sp>
        <p:nvSpPr>
          <p:cNvPr id="260" name="Abgerundetes Rechteck 89">
            <a:extLst>
              <a:ext uri="{FF2B5EF4-FFF2-40B4-BE49-F238E27FC236}">
                <a16:creationId xmlns:a16="http://schemas.microsoft.com/office/drawing/2014/main" id="{B422358F-0F33-890D-60EB-ADF8DB6F886F}"/>
              </a:ext>
            </a:extLst>
          </p:cNvPr>
          <p:cNvSpPr/>
          <p:nvPr/>
        </p:nvSpPr>
        <p:spPr>
          <a:xfrm>
            <a:off x="12422111" y="13223061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/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SnmpClient [1]</a:t>
            </a:r>
          </a:p>
        </p:txBody>
      </p:sp>
      <p:cxnSp>
        <p:nvCxnSpPr>
          <p:cNvPr id="261" name="Gerade Verbindung mit Pfeil 260">
            <a:extLst>
              <a:ext uri="{FF2B5EF4-FFF2-40B4-BE49-F238E27FC236}">
                <a16:creationId xmlns:a16="http://schemas.microsoft.com/office/drawing/2014/main" id="{135B6C77-E883-AABF-A35F-24D77B29B66F}"/>
              </a:ext>
            </a:extLst>
          </p:cNvPr>
          <p:cNvCxnSpPr>
            <a:cxnSpLocks/>
            <a:stCxn id="260" idx="3"/>
            <a:endCxn id="256" idx="1"/>
          </p:cNvCxnSpPr>
          <p:nvPr/>
        </p:nvCxnSpPr>
        <p:spPr>
          <a:xfrm>
            <a:off x="13583562" y="13445849"/>
            <a:ext cx="551172" cy="13253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sp>
        <p:nvSpPr>
          <p:cNvPr id="262" name="Rechteck 261">
            <a:extLst>
              <a:ext uri="{FF2B5EF4-FFF2-40B4-BE49-F238E27FC236}">
                <a16:creationId xmlns:a16="http://schemas.microsoft.com/office/drawing/2014/main" id="{87873D30-2BDD-9834-C7A7-EA52C14A631E}"/>
              </a:ext>
            </a:extLst>
          </p:cNvPr>
          <p:cNvSpPr/>
          <p:nvPr/>
        </p:nvSpPr>
        <p:spPr>
          <a:xfrm>
            <a:off x="16957389" y="13222132"/>
            <a:ext cx="432000" cy="432000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_CC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_LTP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_LP</a:t>
            </a:r>
          </a:p>
          <a:p>
            <a:pPr defTabSz="914400">
              <a:defRPr/>
            </a:pP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263" name="Gerade Verbindung mit Pfeil 262">
            <a:extLst>
              <a:ext uri="{FF2B5EF4-FFF2-40B4-BE49-F238E27FC236}">
                <a16:creationId xmlns:a16="http://schemas.microsoft.com/office/drawing/2014/main" id="{94D7A550-857D-353A-FF4B-C684C85B73B7}"/>
              </a:ext>
            </a:extLst>
          </p:cNvPr>
          <p:cNvCxnSpPr>
            <a:cxnSpLocks/>
            <a:stCxn id="258" idx="3"/>
            <a:endCxn id="262" idx="1"/>
          </p:cNvCxnSpPr>
          <p:nvPr/>
        </p:nvCxnSpPr>
        <p:spPr>
          <a:xfrm flipV="1">
            <a:off x="16385654" y="13438132"/>
            <a:ext cx="571737" cy="5574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64" name="Rechteck 263">
            <a:extLst>
              <a:ext uri="{FF2B5EF4-FFF2-40B4-BE49-F238E27FC236}">
                <a16:creationId xmlns:a16="http://schemas.microsoft.com/office/drawing/2014/main" id="{EBFEF96A-5427-2197-E648-918795AE37B3}"/>
              </a:ext>
            </a:extLst>
          </p:cNvPr>
          <p:cNvSpPr/>
          <p:nvPr/>
        </p:nvSpPr>
        <p:spPr>
          <a:xfrm>
            <a:off x="11398770" y="13225908"/>
            <a:ext cx="432000" cy="432965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_CC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_LTP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_LP</a:t>
            </a:r>
          </a:p>
        </p:txBody>
      </p:sp>
      <p:cxnSp>
        <p:nvCxnSpPr>
          <p:cNvPr id="265" name="Gerade Verbindung mit Pfeil 264">
            <a:extLst>
              <a:ext uri="{FF2B5EF4-FFF2-40B4-BE49-F238E27FC236}">
                <a16:creationId xmlns:a16="http://schemas.microsoft.com/office/drawing/2014/main" id="{91102010-72C4-FF4E-77F7-A592036BAC6A}"/>
              </a:ext>
            </a:extLst>
          </p:cNvPr>
          <p:cNvCxnSpPr>
            <a:cxnSpLocks/>
            <a:stCxn id="260" idx="1"/>
            <a:endCxn id="264" idx="3"/>
          </p:cNvCxnSpPr>
          <p:nvPr/>
        </p:nvCxnSpPr>
        <p:spPr>
          <a:xfrm flipH="1" flipV="1">
            <a:off x="11830772" y="13442389"/>
            <a:ext cx="591339" cy="3458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66" name="Abgerundetes Rechteck 1">
            <a:extLst>
              <a:ext uri="{FF2B5EF4-FFF2-40B4-BE49-F238E27FC236}">
                <a16:creationId xmlns:a16="http://schemas.microsoft.com/office/drawing/2014/main" id="{B5F6C23A-180F-DEDC-F09E-C8DCBAB3658B}"/>
              </a:ext>
            </a:extLst>
          </p:cNvPr>
          <p:cNvSpPr/>
          <p:nvPr/>
        </p:nvSpPr>
        <p:spPr>
          <a:xfrm>
            <a:off x="4539859" y="11964127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</a:t>
            </a:r>
            <a:endParaRPr lang="de-DE" sz="1050" kern="0" dirty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67" name="Abgerundetes Rechteck 2">
            <a:extLst>
              <a:ext uri="{FF2B5EF4-FFF2-40B4-BE49-F238E27FC236}">
                <a16:creationId xmlns:a16="http://schemas.microsoft.com/office/drawing/2014/main" id="{9985935D-8D52-01AF-312B-9F91D95BB509}"/>
              </a:ext>
            </a:extLst>
          </p:cNvPr>
          <p:cNvSpPr/>
          <p:nvPr/>
        </p:nvSpPr>
        <p:spPr>
          <a:xfrm>
            <a:off x="4539859" y="13218386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EPL</a:t>
            </a:r>
          </a:p>
        </p:txBody>
      </p:sp>
      <p:cxnSp>
        <p:nvCxnSpPr>
          <p:cNvPr id="268" name="Gerade Verbindung mit Pfeil 267">
            <a:extLst>
              <a:ext uri="{FF2B5EF4-FFF2-40B4-BE49-F238E27FC236}">
                <a16:creationId xmlns:a16="http://schemas.microsoft.com/office/drawing/2014/main" id="{A2807A54-9F60-B09B-A668-827575138DB5}"/>
              </a:ext>
            </a:extLst>
          </p:cNvPr>
          <p:cNvCxnSpPr>
            <a:stCxn id="266" idx="2"/>
            <a:endCxn id="267" idx="0"/>
          </p:cNvCxnSpPr>
          <p:nvPr/>
        </p:nvCxnSpPr>
        <p:spPr>
          <a:xfrm>
            <a:off x="4808506" y="12409699"/>
            <a:ext cx="0" cy="808686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69" name="Abgerundetes Rechteck 8">
            <a:extLst>
              <a:ext uri="{FF2B5EF4-FFF2-40B4-BE49-F238E27FC236}">
                <a16:creationId xmlns:a16="http://schemas.microsoft.com/office/drawing/2014/main" id="{AD2F12B9-6272-42FF-221E-C3C61690E8DD}"/>
              </a:ext>
            </a:extLst>
          </p:cNvPr>
          <p:cNvSpPr/>
          <p:nvPr/>
        </p:nvSpPr>
        <p:spPr>
          <a:xfrm>
            <a:off x="5629324" y="13202992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/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NetconfServer[1]</a:t>
            </a:r>
          </a:p>
        </p:txBody>
      </p:sp>
      <p:cxnSp>
        <p:nvCxnSpPr>
          <p:cNvPr id="270" name="Gerade Verbindung mit Pfeil 269">
            <a:extLst>
              <a:ext uri="{FF2B5EF4-FFF2-40B4-BE49-F238E27FC236}">
                <a16:creationId xmlns:a16="http://schemas.microsoft.com/office/drawing/2014/main" id="{93A98F19-9A41-C011-58EF-3E80CE45C755}"/>
              </a:ext>
            </a:extLst>
          </p:cNvPr>
          <p:cNvCxnSpPr>
            <a:cxnSpLocks/>
            <a:stCxn id="269" idx="1"/>
            <a:endCxn id="267" idx="3"/>
          </p:cNvCxnSpPr>
          <p:nvPr/>
        </p:nvCxnSpPr>
        <p:spPr>
          <a:xfrm flipH="1">
            <a:off x="5077156" y="13425778"/>
            <a:ext cx="552166" cy="15394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sp>
        <p:nvSpPr>
          <p:cNvPr id="271" name="Abgerundetes Rechteck 89">
            <a:extLst>
              <a:ext uri="{FF2B5EF4-FFF2-40B4-BE49-F238E27FC236}">
                <a16:creationId xmlns:a16="http://schemas.microsoft.com/office/drawing/2014/main" id="{D3682311-09F4-75FF-E492-B072762E8AE2}"/>
              </a:ext>
            </a:extLst>
          </p:cNvPr>
          <p:cNvSpPr/>
          <p:nvPr/>
        </p:nvSpPr>
        <p:spPr>
          <a:xfrm>
            <a:off x="2827234" y="13205133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/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NetconfClient [1]</a:t>
            </a:r>
          </a:p>
        </p:txBody>
      </p:sp>
      <p:cxnSp>
        <p:nvCxnSpPr>
          <p:cNvPr id="272" name="Gerade Verbindung mit Pfeil 271">
            <a:extLst>
              <a:ext uri="{FF2B5EF4-FFF2-40B4-BE49-F238E27FC236}">
                <a16:creationId xmlns:a16="http://schemas.microsoft.com/office/drawing/2014/main" id="{F968136D-DA1C-FDD9-C94E-320407CB7B47}"/>
              </a:ext>
            </a:extLst>
          </p:cNvPr>
          <p:cNvCxnSpPr>
            <a:cxnSpLocks/>
            <a:stCxn id="271" idx="3"/>
            <a:endCxn id="267" idx="1"/>
          </p:cNvCxnSpPr>
          <p:nvPr/>
        </p:nvCxnSpPr>
        <p:spPr>
          <a:xfrm>
            <a:off x="3988685" y="13427921"/>
            <a:ext cx="551172" cy="13253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sp>
        <p:nvSpPr>
          <p:cNvPr id="273" name="Rechteck 272">
            <a:extLst>
              <a:ext uri="{FF2B5EF4-FFF2-40B4-BE49-F238E27FC236}">
                <a16:creationId xmlns:a16="http://schemas.microsoft.com/office/drawing/2014/main" id="{771A5464-1E30-00C6-4AFD-A73D41A929FC}"/>
              </a:ext>
            </a:extLst>
          </p:cNvPr>
          <p:cNvSpPr/>
          <p:nvPr/>
        </p:nvSpPr>
        <p:spPr>
          <a:xfrm>
            <a:off x="7362512" y="13204204"/>
            <a:ext cx="432000" cy="432000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_CC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_LTP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_LP</a:t>
            </a:r>
          </a:p>
          <a:p>
            <a:pPr defTabSz="914400">
              <a:defRPr/>
            </a:pP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274" name="Gerade Verbindung mit Pfeil 273">
            <a:extLst>
              <a:ext uri="{FF2B5EF4-FFF2-40B4-BE49-F238E27FC236}">
                <a16:creationId xmlns:a16="http://schemas.microsoft.com/office/drawing/2014/main" id="{EC7C8802-3E9D-E370-EA0D-2699CDEFB92A}"/>
              </a:ext>
            </a:extLst>
          </p:cNvPr>
          <p:cNvCxnSpPr>
            <a:cxnSpLocks/>
            <a:stCxn id="269" idx="3"/>
            <a:endCxn id="273" idx="1"/>
          </p:cNvCxnSpPr>
          <p:nvPr/>
        </p:nvCxnSpPr>
        <p:spPr>
          <a:xfrm flipV="1">
            <a:off x="6790777" y="13420204"/>
            <a:ext cx="571737" cy="5574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75" name="Rechteck 274">
            <a:extLst>
              <a:ext uri="{FF2B5EF4-FFF2-40B4-BE49-F238E27FC236}">
                <a16:creationId xmlns:a16="http://schemas.microsoft.com/office/drawing/2014/main" id="{FF45B9B1-440A-4FCD-45D5-59915C7C53C8}"/>
              </a:ext>
            </a:extLst>
          </p:cNvPr>
          <p:cNvSpPr/>
          <p:nvPr/>
        </p:nvSpPr>
        <p:spPr>
          <a:xfrm>
            <a:off x="1803893" y="13207980"/>
            <a:ext cx="432000" cy="432965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_CC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_LTP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_LP</a:t>
            </a:r>
          </a:p>
        </p:txBody>
      </p:sp>
      <p:cxnSp>
        <p:nvCxnSpPr>
          <p:cNvPr id="276" name="Gerade Verbindung mit Pfeil 275">
            <a:extLst>
              <a:ext uri="{FF2B5EF4-FFF2-40B4-BE49-F238E27FC236}">
                <a16:creationId xmlns:a16="http://schemas.microsoft.com/office/drawing/2014/main" id="{5ADE99BC-C10A-7918-9434-FFD8A652FF10}"/>
              </a:ext>
            </a:extLst>
          </p:cNvPr>
          <p:cNvCxnSpPr>
            <a:cxnSpLocks/>
            <a:stCxn id="271" idx="1"/>
            <a:endCxn id="275" idx="3"/>
          </p:cNvCxnSpPr>
          <p:nvPr/>
        </p:nvCxnSpPr>
        <p:spPr>
          <a:xfrm flipH="1" flipV="1">
            <a:off x="2235895" y="13424461"/>
            <a:ext cx="591339" cy="3458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" name="Rechteck 1">
            <a:extLst>
              <a:ext uri="{FF2B5EF4-FFF2-40B4-BE49-F238E27FC236}">
                <a16:creationId xmlns:a16="http://schemas.microsoft.com/office/drawing/2014/main" id="{646DBA9D-E880-728B-E6F0-CC597E215D41}"/>
              </a:ext>
            </a:extLst>
          </p:cNvPr>
          <p:cNvSpPr/>
          <p:nvPr/>
        </p:nvSpPr>
        <p:spPr>
          <a:xfrm>
            <a:off x="6018057" y="12013142"/>
            <a:ext cx="817085" cy="33607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name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- deviceName</a:t>
            </a:r>
          </a:p>
        </p:txBody>
      </p:sp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90995353-8E96-46F2-FD06-4585E41DE660}"/>
              </a:ext>
            </a:extLst>
          </p:cNvPr>
          <p:cNvCxnSpPr>
            <a:cxnSpLocks/>
            <a:endCxn id="2" idx="1"/>
          </p:cNvCxnSpPr>
          <p:nvPr/>
        </p:nvCxnSpPr>
        <p:spPr>
          <a:xfrm flipV="1">
            <a:off x="5077158" y="12181179"/>
            <a:ext cx="940899" cy="5734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9" name="Rechteck 8">
            <a:extLst>
              <a:ext uri="{FF2B5EF4-FFF2-40B4-BE49-F238E27FC236}">
                <a16:creationId xmlns:a16="http://schemas.microsoft.com/office/drawing/2014/main" id="{AC07F7C7-09C5-CE6A-BB5C-15DF3424A6DB}"/>
              </a:ext>
            </a:extLst>
          </p:cNvPr>
          <p:cNvSpPr/>
          <p:nvPr/>
        </p:nvSpPr>
        <p:spPr>
          <a:xfrm>
            <a:off x="15599273" y="12040386"/>
            <a:ext cx="817085" cy="33607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name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- deviceName</a:t>
            </a:r>
          </a:p>
        </p:txBody>
      </p:sp>
      <p:cxnSp>
        <p:nvCxnSpPr>
          <p:cNvPr id="10" name="Gerade Verbindung mit Pfeil 9">
            <a:extLst>
              <a:ext uri="{FF2B5EF4-FFF2-40B4-BE49-F238E27FC236}">
                <a16:creationId xmlns:a16="http://schemas.microsoft.com/office/drawing/2014/main" id="{E0C4C5C4-5CF3-C93C-84DF-AFA8E24F54EA}"/>
              </a:ext>
            </a:extLst>
          </p:cNvPr>
          <p:cNvCxnSpPr>
            <a:cxnSpLocks/>
            <a:endCxn id="9" idx="1"/>
          </p:cNvCxnSpPr>
          <p:nvPr/>
        </p:nvCxnSpPr>
        <p:spPr>
          <a:xfrm>
            <a:off x="14672033" y="12204841"/>
            <a:ext cx="927238" cy="3582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</p:spTree>
    <p:extLst>
      <p:ext uri="{BB962C8B-B14F-4D97-AF65-F5344CB8AC3E}">
        <p14:creationId xmlns:p14="http://schemas.microsoft.com/office/powerpoint/2010/main" val="125616059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Rechteck 289">
            <a:extLst>
              <a:ext uri="{FF2B5EF4-FFF2-40B4-BE49-F238E27FC236}">
                <a16:creationId xmlns:a16="http://schemas.microsoft.com/office/drawing/2014/main" id="{AD55E515-56A7-41AB-80D9-5F2EEBA06909}"/>
              </a:ext>
            </a:extLst>
          </p:cNvPr>
          <p:cNvSpPr/>
          <p:nvPr/>
        </p:nvSpPr>
        <p:spPr>
          <a:xfrm>
            <a:off x="1647834" y="11872349"/>
            <a:ext cx="6311488" cy="1952970"/>
          </a:xfrm>
          <a:prstGeom prst="rect">
            <a:avLst/>
          </a:prstGeom>
          <a:solidFill>
            <a:schemeClr val="accent5">
              <a:lumMod val="40000"/>
              <a:lumOff val="60000"/>
              <a:alpha val="50196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Link</a:t>
            </a:r>
          </a:p>
        </p:txBody>
      </p:sp>
      <p:sp>
        <p:nvSpPr>
          <p:cNvPr id="289" name="Rechteck 288">
            <a:extLst>
              <a:ext uri="{FF2B5EF4-FFF2-40B4-BE49-F238E27FC236}">
                <a16:creationId xmlns:a16="http://schemas.microsoft.com/office/drawing/2014/main" id="{F7F77AA1-771F-42F7-8FB9-D67AE4A16483}"/>
              </a:ext>
            </a:extLst>
          </p:cNvPr>
          <p:cNvSpPr/>
          <p:nvPr/>
        </p:nvSpPr>
        <p:spPr>
          <a:xfrm>
            <a:off x="11256181" y="11872349"/>
            <a:ext cx="6311488" cy="1952970"/>
          </a:xfrm>
          <a:prstGeom prst="rect">
            <a:avLst/>
          </a:prstGeom>
          <a:solidFill>
            <a:schemeClr val="accent5">
              <a:lumMod val="40000"/>
              <a:lumOff val="60000"/>
              <a:alpha val="50196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Link</a:t>
            </a:r>
          </a:p>
        </p:txBody>
      </p:sp>
      <p:sp>
        <p:nvSpPr>
          <p:cNvPr id="288" name="Rechteck 287">
            <a:extLst>
              <a:ext uri="{FF2B5EF4-FFF2-40B4-BE49-F238E27FC236}">
                <a16:creationId xmlns:a16="http://schemas.microsoft.com/office/drawing/2014/main" id="{3A9B4262-A48D-FB94-6E29-10CE9577508C}"/>
              </a:ext>
            </a:extLst>
          </p:cNvPr>
          <p:cNvSpPr/>
          <p:nvPr/>
        </p:nvSpPr>
        <p:spPr>
          <a:xfrm>
            <a:off x="14795726" y="7526337"/>
            <a:ext cx="6629959" cy="4343400"/>
          </a:xfrm>
          <a:prstGeom prst="rect">
            <a:avLst/>
          </a:prstGeom>
          <a:solidFill>
            <a:srgbClr val="00B0F0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Device</a:t>
            </a:r>
          </a:p>
        </p:txBody>
      </p:sp>
      <p:grpSp>
        <p:nvGrpSpPr>
          <p:cNvPr id="287" name="Gruppieren 286">
            <a:extLst>
              <a:ext uri="{FF2B5EF4-FFF2-40B4-BE49-F238E27FC236}">
                <a16:creationId xmlns:a16="http://schemas.microsoft.com/office/drawing/2014/main" id="{F10524AF-7993-403E-9151-7990C002DAC3}"/>
              </a:ext>
            </a:extLst>
          </p:cNvPr>
          <p:cNvGrpSpPr/>
          <p:nvPr/>
        </p:nvGrpSpPr>
        <p:grpSpPr>
          <a:xfrm>
            <a:off x="5232959" y="3563937"/>
            <a:ext cx="11204167" cy="8305800"/>
            <a:chOff x="5066703" y="863600"/>
            <a:chExt cx="11204167" cy="8305800"/>
          </a:xfrm>
        </p:grpSpPr>
        <p:sp>
          <p:nvSpPr>
            <p:cNvPr id="281" name="Rechteck 280">
              <a:extLst>
                <a:ext uri="{FF2B5EF4-FFF2-40B4-BE49-F238E27FC236}">
                  <a16:creationId xmlns:a16="http://schemas.microsoft.com/office/drawing/2014/main" id="{2D320F09-9AA6-A469-D6F0-BE4E94481CB3}"/>
                </a:ext>
              </a:extLst>
            </p:cNvPr>
            <p:cNvSpPr/>
            <p:nvPr/>
          </p:nvSpPr>
          <p:spPr>
            <a:xfrm>
              <a:off x="5066703" y="863600"/>
              <a:ext cx="8738197" cy="8305800"/>
            </a:xfrm>
            <a:prstGeom prst="rect">
              <a:avLst/>
            </a:prstGeom>
            <a:solidFill>
              <a:srgbClr val="92D050">
                <a:alpha val="50196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r>
                <a:rPr lang="de-DE" sz="1400">
                  <a:solidFill>
                    <a:schemeClr val="tx1"/>
                  </a:solidFill>
                </a:rPr>
                <a:t>MediatorVM</a:t>
              </a:r>
            </a:p>
          </p:txBody>
        </p:sp>
        <p:sp>
          <p:nvSpPr>
            <p:cNvPr id="282" name="Rechteck 281">
              <a:extLst>
                <a:ext uri="{FF2B5EF4-FFF2-40B4-BE49-F238E27FC236}">
                  <a16:creationId xmlns:a16="http://schemas.microsoft.com/office/drawing/2014/main" id="{C9453577-A74B-CA25-645C-51DCBD053ABB}"/>
                </a:ext>
              </a:extLst>
            </p:cNvPr>
            <p:cNvSpPr/>
            <p:nvPr/>
          </p:nvSpPr>
          <p:spPr>
            <a:xfrm>
              <a:off x="13804900" y="863600"/>
              <a:ext cx="2465970" cy="2986805"/>
            </a:xfrm>
            <a:prstGeom prst="rect">
              <a:avLst/>
            </a:prstGeom>
            <a:solidFill>
              <a:srgbClr val="92D050">
                <a:alpha val="50196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r"/>
              <a:endParaRPr lang="de-DE" sz="1400">
                <a:solidFill>
                  <a:schemeClr val="tx1"/>
                </a:solidFill>
              </a:endParaRPr>
            </a:p>
          </p:txBody>
        </p:sp>
      </p:grpSp>
      <p:sp>
        <p:nvSpPr>
          <p:cNvPr id="286" name="Rechteck 285">
            <a:extLst>
              <a:ext uri="{FF2B5EF4-FFF2-40B4-BE49-F238E27FC236}">
                <a16:creationId xmlns:a16="http://schemas.microsoft.com/office/drawing/2014/main" id="{D8AE4052-8F1E-F4E2-B431-FFA8193EC50D}"/>
              </a:ext>
            </a:extLst>
          </p:cNvPr>
          <p:cNvSpPr/>
          <p:nvPr/>
        </p:nvSpPr>
        <p:spPr>
          <a:xfrm>
            <a:off x="5372744" y="8132719"/>
            <a:ext cx="8496789" cy="363833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1400">
                <a:solidFill>
                  <a:schemeClr val="tx1"/>
                </a:solidFill>
              </a:rPr>
              <a:t>MediatorProcess [*]</a:t>
            </a:r>
          </a:p>
        </p:txBody>
      </p:sp>
      <p:sp>
        <p:nvSpPr>
          <p:cNvPr id="279" name="Rechteck 278">
            <a:extLst>
              <a:ext uri="{FF2B5EF4-FFF2-40B4-BE49-F238E27FC236}">
                <a16:creationId xmlns:a16="http://schemas.microsoft.com/office/drawing/2014/main" id="{C83F54BE-E7F0-D9AE-A1D5-FC225483FC63}"/>
              </a:ext>
            </a:extLst>
          </p:cNvPr>
          <p:cNvSpPr/>
          <p:nvPr/>
        </p:nvSpPr>
        <p:spPr>
          <a:xfrm>
            <a:off x="166255" y="3563937"/>
            <a:ext cx="4283165" cy="8305800"/>
          </a:xfrm>
          <a:prstGeom prst="rect">
            <a:avLst/>
          </a:prstGeom>
          <a:solidFill>
            <a:srgbClr val="FFC000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Controller</a:t>
            </a:r>
          </a:p>
        </p:txBody>
      </p:sp>
      <p:sp>
        <p:nvSpPr>
          <p:cNvPr id="280" name="Rechteck 279">
            <a:extLst>
              <a:ext uri="{FF2B5EF4-FFF2-40B4-BE49-F238E27FC236}">
                <a16:creationId xmlns:a16="http://schemas.microsoft.com/office/drawing/2014/main" id="{92D55D44-2758-C888-E7D3-17F8487BBFAA}"/>
              </a:ext>
            </a:extLst>
          </p:cNvPr>
          <p:cNvSpPr/>
          <p:nvPr/>
        </p:nvSpPr>
        <p:spPr>
          <a:xfrm>
            <a:off x="247625" y="8923179"/>
            <a:ext cx="4084142" cy="2852949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MountPoint [*]</a:t>
            </a:r>
          </a:p>
        </p:txBody>
      </p:sp>
      <p:sp>
        <p:nvSpPr>
          <p:cNvPr id="56" name="Abgerundetes Rechteck 1">
            <a:extLst>
              <a:ext uri="{FF2B5EF4-FFF2-40B4-BE49-F238E27FC236}">
                <a16:creationId xmlns:a16="http://schemas.microsoft.com/office/drawing/2014/main" id="{5403E44F-74C3-C3A1-D91F-775BF540BEEE}"/>
              </a:ext>
            </a:extLst>
          </p:cNvPr>
          <p:cNvSpPr/>
          <p:nvPr/>
        </p:nvSpPr>
        <p:spPr>
          <a:xfrm>
            <a:off x="355208" y="3946237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 dirty="0">
                <a:solidFill>
                  <a:prstClr val="white"/>
                </a:solidFill>
                <a:latin typeface="Calibri" panose="020F0502020204030204"/>
              </a:rPr>
              <a:t>CC</a:t>
            </a:r>
          </a:p>
        </p:txBody>
      </p:sp>
      <p:sp>
        <p:nvSpPr>
          <p:cNvPr id="57" name="Abgerundetes Rechteck 2">
            <a:extLst>
              <a:ext uri="{FF2B5EF4-FFF2-40B4-BE49-F238E27FC236}">
                <a16:creationId xmlns:a16="http://schemas.microsoft.com/office/drawing/2014/main" id="{D8ECBA16-38C1-6E5C-4344-15952AA848A3}"/>
              </a:ext>
            </a:extLst>
          </p:cNvPr>
          <p:cNvSpPr/>
          <p:nvPr/>
        </p:nvSpPr>
        <p:spPr>
          <a:xfrm>
            <a:off x="355208" y="9159432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LTP</a:t>
            </a:r>
          </a:p>
        </p:txBody>
      </p:sp>
      <p:sp>
        <p:nvSpPr>
          <p:cNvPr id="58" name="Abgerundetes Rechteck 3">
            <a:extLst>
              <a:ext uri="{FF2B5EF4-FFF2-40B4-BE49-F238E27FC236}">
                <a16:creationId xmlns:a16="http://schemas.microsoft.com/office/drawing/2014/main" id="{42B12C50-5935-2305-7271-A9353E3F5DF4}"/>
              </a:ext>
            </a:extLst>
          </p:cNvPr>
          <p:cNvSpPr/>
          <p:nvPr/>
        </p:nvSpPr>
        <p:spPr>
          <a:xfrm>
            <a:off x="355208" y="10413691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LP</a:t>
            </a:r>
          </a:p>
        </p:txBody>
      </p:sp>
      <p:cxnSp>
        <p:nvCxnSpPr>
          <p:cNvPr id="59" name="Gerade Verbindung mit Pfeil 58">
            <a:extLst>
              <a:ext uri="{FF2B5EF4-FFF2-40B4-BE49-F238E27FC236}">
                <a16:creationId xmlns:a16="http://schemas.microsoft.com/office/drawing/2014/main" id="{F05705B2-207A-7473-B0D3-D0E210757D90}"/>
              </a:ext>
            </a:extLst>
          </p:cNvPr>
          <p:cNvCxnSpPr>
            <a:stCxn id="56" idx="2"/>
            <a:endCxn id="57" idx="0"/>
          </p:cNvCxnSpPr>
          <p:nvPr/>
        </p:nvCxnSpPr>
        <p:spPr>
          <a:xfrm>
            <a:off x="623856" y="4391811"/>
            <a:ext cx="0" cy="4767623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60" name="Gerade Verbindung mit Pfeil 59">
            <a:extLst>
              <a:ext uri="{FF2B5EF4-FFF2-40B4-BE49-F238E27FC236}">
                <a16:creationId xmlns:a16="http://schemas.microsoft.com/office/drawing/2014/main" id="{31F39F20-E4F1-A8E9-AE0E-229810F32A73}"/>
              </a:ext>
            </a:extLst>
          </p:cNvPr>
          <p:cNvCxnSpPr>
            <a:stCxn id="57" idx="2"/>
            <a:endCxn id="58" idx="0"/>
          </p:cNvCxnSpPr>
          <p:nvPr/>
        </p:nvCxnSpPr>
        <p:spPr>
          <a:xfrm>
            <a:off x="623856" y="9605006"/>
            <a:ext cx="0" cy="808687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62" name="Abgerundetes Rechteck 8">
            <a:extLst>
              <a:ext uri="{FF2B5EF4-FFF2-40B4-BE49-F238E27FC236}">
                <a16:creationId xmlns:a16="http://schemas.microsoft.com/office/drawing/2014/main" id="{D931E7C7-2676-B390-3748-944ED677BBE8}"/>
              </a:ext>
            </a:extLst>
          </p:cNvPr>
          <p:cNvSpPr/>
          <p:nvPr/>
        </p:nvSpPr>
        <p:spPr>
          <a:xfrm>
            <a:off x="1444674" y="10414469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NetconfClient [1]</a:t>
            </a:r>
          </a:p>
        </p:txBody>
      </p:sp>
      <p:sp>
        <p:nvSpPr>
          <p:cNvPr id="63" name="Abgerundetes Rechteck 9">
            <a:extLst>
              <a:ext uri="{FF2B5EF4-FFF2-40B4-BE49-F238E27FC236}">
                <a16:creationId xmlns:a16="http://schemas.microsoft.com/office/drawing/2014/main" id="{CD324EEE-7E30-AD7C-F620-BB3FA6A55BF3}"/>
              </a:ext>
            </a:extLst>
          </p:cNvPr>
          <p:cNvSpPr/>
          <p:nvPr/>
        </p:nvSpPr>
        <p:spPr>
          <a:xfrm>
            <a:off x="1444674" y="11134708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TcpClient [1]</a:t>
            </a:r>
          </a:p>
        </p:txBody>
      </p:sp>
      <p:cxnSp>
        <p:nvCxnSpPr>
          <p:cNvPr id="65" name="Gerade Verbindung mit Pfeil 64">
            <a:extLst>
              <a:ext uri="{FF2B5EF4-FFF2-40B4-BE49-F238E27FC236}">
                <a16:creationId xmlns:a16="http://schemas.microsoft.com/office/drawing/2014/main" id="{6CAB819F-3E7C-B92D-18BD-47685B07CF72}"/>
              </a:ext>
            </a:extLst>
          </p:cNvPr>
          <p:cNvCxnSpPr>
            <a:stCxn id="62" idx="1"/>
            <a:endCxn id="58" idx="3"/>
          </p:cNvCxnSpPr>
          <p:nvPr/>
        </p:nvCxnSpPr>
        <p:spPr>
          <a:xfrm flipH="1" flipV="1">
            <a:off x="892505" y="10636477"/>
            <a:ext cx="552168" cy="778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66" name="Gerade Verbindung mit Pfeil 65">
            <a:extLst>
              <a:ext uri="{FF2B5EF4-FFF2-40B4-BE49-F238E27FC236}">
                <a16:creationId xmlns:a16="http://schemas.microsoft.com/office/drawing/2014/main" id="{EBC282F3-5516-9CD9-4A58-3B1D951F6FD4}"/>
              </a:ext>
            </a:extLst>
          </p:cNvPr>
          <p:cNvCxnSpPr>
            <a:stCxn id="63" idx="1"/>
            <a:endCxn id="58" idx="3"/>
          </p:cNvCxnSpPr>
          <p:nvPr/>
        </p:nvCxnSpPr>
        <p:spPr>
          <a:xfrm flipH="1" flipV="1">
            <a:off x="892505" y="10636479"/>
            <a:ext cx="552168" cy="721017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sp>
        <p:nvSpPr>
          <p:cNvPr id="67" name="Rechteck 66">
            <a:extLst>
              <a:ext uri="{FF2B5EF4-FFF2-40B4-BE49-F238E27FC236}">
                <a16:creationId xmlns:a16="http://schemas.microsoft.com/office/drawing/2014/main" id="{0E6B0DC9-48D2-9B58-0F1D-1EA4D398F1D3}"/>
              </a:ext>
            </a:extLst>
          </p:cNvPr>
          <p:cNvSpPr/>
          <p:nvPr/>
        </p:nvSpPr>
        <p:spPr>
          <a:xfrm>
            <a:off x="1444672" y="4053743"/>
            <a:ext cx="1471132" cy="33607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>
                <a:solidFill>
                  <a:prstClr val="black"/>
                </a:solidFill>
                <a:latin typeface="Calibri" panose="020F0502020204030204"/>
              </a:rPr>
              <a:t>ControlConstructPac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externalLabel=controllerName</a:t>
            </a:r>
          </a:p>
        </p:txBody>
      </p:sp>
      <p:cxnSp>
        <p:nvCxnSpPr>
          <p:cNvPr id="69" name="Gerade Verbindung mit Pfeil 68">
            <a:extLst>
              <a:ext uri="{FF2B5EF4-FFF2-40B4-BE49-F238E27FC236}">
                <a16:creationId xmlns:a16="http://schemas.microsoft.com/office/drawing/2014/main" id="{61405C5D-4998-3705-F84F-AA9A6D7300F6}"/>
              </a:ext>
            </a:extLst>
          </p:cNvPr>
          <p:cNvCxnSpPr>
            <a:cxnSpLocks/>
            <a:stCxn id="63" idx="3"/>
            <a:endCxn id="73" idx="1"/>
          </p:cNvCxnSpPr>
          <p:nvPr/>
        </p:nvCxnSpPr>
        <p:spPr>
          <a:xfrm>
            <a:off x="2606125" y="11357494"/>
            <a:ext cx="571738" cy="3864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71" name="Gerade Verbindung mit Pfeil 70">
            <a:extLst>
              <a:ext uri="{FF2B5EF4-FFF2-40B4-BE49-F238E27FC236}">
                <a16:creationId xmlns:a16="http://schemas.microsoft.com/office/drawing/2014/main" id="{25DCB85E-D87D-CC40-1FF0-DD6FDC0AF410}"/>
              </a:ext>
            </a:extLst>
          </p:cNvPr>
          <p:cNvCxnSpPr>
            <a:cxnSpLocks/>
            <a:stCxn id="56" idx="3"/>
            <a:endCxn id="67" idx="1"/>
          </p:cNvCxnSpPr>
          <p:nvPr/>
        </p:nvCxnSpPr>
        <p:spPr>
          <a:xfrm>
            <a:off x="892507" y="4169025"/>
            <a:ext cx="552167" cy="52757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73" name="Rechteck 72">
            <a:extLst>
              <a:ext uri="{FF2B5EF4-FFF2-40B4-BE49-F238E27FC236}">
                <a16:creationId xmlns:a16="http://schemas.microsoft.com/office/drawing/2014/main" id="{D4C53D9F-5A49-C19A-5474-E3DC89FF2AB8}"/>
              </a:ext>
            </a:extLst>
          </p:cNvPr>
          <p:cNvSpPr/>
          <p:nvPr/>
        </p:nvSpPr>
        <p:spPr>
          <a:xfrm>
            <a:off x="3177865" y="11140728"/>
            <a:ext cx="893641" cy="441260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 dirty="0" err="1">
                <a:solidFill>
                  <a:prstClr val="black"/>
                </a:solidFill>
                <a:latin typeface="Calibri" panose="020F0502020204030204"/>
              </a:rPr>
              <a:t>Configuration</a:t>
            </a:r>
            <a:endParaRPr lang="de-DE" sz="800" u="sng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 dirty="0" err="1">
                <a:solidFill>
                  <a:prstClr val="black"/>
                </a:solidFill>
                <a:latin typeface="Calibri" panose="020F0502020204030204"/>
              </a:rPr>
              <a:t>remoteAddress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 dirty="0" err="1">
                <a:solidFill>
                  <a:prstClr val="black"/>
                </a:solidFill>
                <a:latin typeface="Calibri" panose="020F0502020204030204"/>
              </a:rPr>
              <a:t>remotePort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0" name="Rechteck 89">
            <a:extLst>
              <a:ext uri="{FF2B5EF4-FFF2-40B4-BE49-F238E27FC236}">
                <a16:creationId xmlns:a16="http://schemas.microsoft.com/office/drawing/2014/main" id="{8E303147-0B25-3184-7D85-94E7D636036D}"/>
              </a:ext>
            </a:extLst>
          </p:cNvPr>
          <p:cNvSpPr/>
          <p:nvPr/>
        </p:nvSpPr>
        <p:spPr>
          <a:xfrm>
            <a:off x="3177865" y="10413853"/>
            <a:ext cx="893641" cy="312109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 dirty="0" err="1">
                <a:solidFill>
                  <a:prstClr val="black"/>
                </a:solidFill>
                <a:latin typeface="Calibri" panose="020F0502020204030204"/>
              </a:rPr>
              <a:t>Capability</a:t>
            </a:r>
            <a:endParaRPr lang="de-DE" sz="800" u="sng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deviceName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91" name="Gerade Verbindung mit Pfeil 90">
            <a:extLst>
              <a:ext uri="{FF2B5EF4-FFF2-40B4-BE49-F238E27FC236}">
                <a16:creationId xmlns:a16="http://schemas.microsoft.com/office/drawing/2014/main" id="{3065BECA-C0D8-DABC-4838-03A9DADBC8E4}"/>
              </a:ext>
            </a:extLst>
          </p:cNvPr>
          <p:cNvCxnSpPr>
            <a:cxnSpLocks/>
            <a:stCxn id="62" idx="3"/>
            <a:endCxn id="90" idx="1"/>
          </p:cNvCxnSpPr>
          <p:nvPr/>
        </p:nvCxnSpPr>
        <p:spPr>
          <a:xfrm flipV="1">
            <a:off x="2606125" y="10569908"/>
            <a:ext cx="571738" cy="67349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6" name="Abgerundetes Rechteck 8">
            <a:extLst>
              <a:ext uri="{FF2B5EF4-FFF2-40B4-BE49-F238E27FC236}">
                <a16:creationId xmlns:a16="http://schemas.microsoft.com/office/drawing/2014/main" id="{FA04FE7A-8C91-5969-0B4C-381A07F25EF4}"/>
              </a:ext>
            </a:extLst>
          </p:cNvPr>
          <p:cNvSpPr/>
          <p:nvPr/>
        </p:nvSpPr>
        <p:spPr>
          <a:xfrm>
            <a:off x="10413398" y="10416787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SnmpClient [1]</a:t>
            </a:r>
          </a:p>
        </p:txBody>
      </p:sp>
      <p:sp>
        <p:nvSpPr>
          <p:cNvPr id="17" name="Abgerundetes Rechteck 9">
            <a:extLst>
              <a:ext uri="{FF2B5EF4-FFF2-40B4-BE49-F238E27FC236}">
                <a16:creationId xmlns:a16="http://schemas.microsoft.com/office/drawing/2014/main" id="{DB15B1A3-8090-1C0B-973D-BF8F69FAEBA4}"/>
              </a:ext>
            </a:extLst>
          </p:cNvPr>
          <p:cNvSpPr/>
          <p:nvPr/>
        </p:nvSpPr>
        <p:spPr>
          <a:xfrm>
            <a:off x="10413398" y="11137026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TcpClient [1]</a:t>
            </a:r>
          </a:p>
        </p:txBody>
      </p:sp>
      <p:cxnSp>
        <p:nvCxnSpPr>
          <p:cNvPr id="19" name="Gerade Verbindung mit Pfeil 18">
            <a:extLst>
              <a:ext uri="{FF2B5EF4-FFF2-40B4-BE49-F238E27FC236}">
                <a16:creationId xmlns:a16="http://schemas.microsoft.com/office/drawing/2014/main" id="{BF281436-8991-1735-21B9-A5BE2EAAC435}"/>
              </a:ext>
            </a:extLst>
          </p:cNvPr>
          <p:cNvCxnSpPr>
            <a:cxnSpLocks/>
            <a:stCxn id="16" idx="1"/>
            <a:endCxn id="131" idx="3"/>
          </p:cNvCxnSpPr>
          <p:nvPr/>
        </p:nvCxnSpPr>
        <p:spPr>
          <a:xfrm flipH="1" flipV="1">
            <a:off x="9861228" y="10636290"/>
            <a:ext cx="552168" cy="328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20" name="Gerade Verbindung mit Pfeil 19">
            <a:extLst>
              <a:ext uri="{FF2B5EF4-FFF2-40B4-BE49-F238E27FC236}">
                <a16:creationId xmlns:a16="http://schemas.microsoft.com/office/drawing/2014/main" id="{AE011974-68D0-2B66-DFDD-EA1837A3A003}"/>
              </a:ext>
            </a:extLst>
          </p:cNvPr>
          <p:cNvCxnSpPr>
            <a:cxnSpLocks/>
            <a:stCxn id="17" idx="1"/>
            <a:endCxn id="131" idx="3"/>
          </p:cNvCxnSpPr>
          <p:nvPr/>
        </p:nvCxnSpPr>
        <p:spPr>
          <a:xfrm flipH="1" flipV="1">
            <a:off x="9861228" y="10636288"/>
            <a:ext cx="552168" cy="723524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23" name="Gerade Verbindung mit Pfeil 22">
            <a:extLst>
              <a:ext uri="{FF2B5EF4-FFF2-40B4-BE49-F238E27FC236}">
                <a16:creationId xmlns:a16="http://schemas.microsoft.com/office/drawing/2014/main" id="{70F4C1EE-BA58-27B6-3CEB-D51FD6F237BD}"/>
              </a:ext>
            </a:extLst>
          </p:cNvPr>
          <p:cNvCxnSpPr>
            <a:stCxn id="17" idx="3"/>
            <a:endCxn id="27" idx="1"/>
          </p:cNvCxnSpPr>
          <p:nvPr/>
        </p:nvCxnSpPr>
        <p:spPr>
          <a:xfrm>
            <a:off x="11574849" y="11359812"/>
            <a:ext cx="571738" cy="6464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7" name="Rechteck 26">
            <a:extLst>
              <a:ext uri="{FF2B5EF4-FFF2-40B4-BE49-F238E27FC236}">
                <a16:creationId xmlns:a16="http://schemas.microsoft.com/office/drawing/2014/main" id="{141A7E87-1BDC-31FA-FF1D-F3854B2C1EF8}"/>
              </a:ext>
            </a:extLst>
          </p:cNvPr>
          <p:cNvSpPr/>
          <p:nvPr/>
        </p:nvSpPr>
        <p:spPr>
          <a:xfrm>
            <a:off x="12146587" y="11145646"/>
            <a:ext cx="1425832" cy="441260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 dirty="0" err="1">
                <a:solidFill>
                  <a:prstClr val="black"/>
                </a:solidFill>
                <a:latin typeface="Calibri" panose="020F0502020204030204"/>
              </a:rPr>
              <a:t>Configuration</a:t>
            </a:r>
            <a:endParaRPr lang="de-DE" sz="800" u="sng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 dirty="0" err="1">
                <a:solidFill>
                  <a:prstClr val="black"/>
                </a:solidFill>
                <a:latin typeface="Calibri" panose="020F0502020204030204"/>
              </a:rPr>
              <a:t>remoteAddress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 dirty="0" err="1">
                <a:solidFill>
                  <a:prstClr val="black"/>
                </a:solidFill>
                <a:latin typeface="Calibri" panose="020F0502020204030204"/>
              </a:rPr>
              <a:t>remotePort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8" name="Abgerundetes Rechteck 88">
            <a:extLst>
              <a:ext uri="{FF2B5EF4-FFF2-40B4-BE49-F238E27FC236}">
                <a16:creationId xmlns:a16="http://schemas.microsoft.com/office/drawing/2014/main" id="{E0866C50-0FC1-8A65-C2E4-AFEDC9C879A3}"/>
              </a:ext>
            </a:extLst>
          </p:cNvPr>
          <p:cNvSpPr/>
          <p:nvPr/>
        </p:nvSpPr>
        <p:spPr>
          <a:xfrm>
            <a:off x="7610312" y="11137026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TcpServer [1]</a:t>
            </a:r>
          </a:p>
        </p:txBody>
      </p:sp>
      <p:sp>
        <p:nvSpPr>
          <p:cNvPr id="29" name="Abgerundetes Rechteck 89">
            <a:extLst>
              <a:ext uri="{FF2B5EF4-FFF2-40B4-BE49-F238E27FC236}">
                <a16:creationId xmlns:a16="http://schemas.microsoft.com/office/drawing/2014/main" id="{0CCFFAAB-77ED-5692-76E1-51970536581E}"/>
              </a:ext>
            </a:extLst>
          </p:cNvPr>
          <p:cNvSpPr/>
          <p:nvPr/>
        </p:nvSpPr>
        <p:spPr>
          <a:xfrm>
            <a:off x="7610312" y="10416009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NetconfServer[1]</a:t>
            </a:r>
          </a:p>
        </p:txBody>
      </p:sp>
      <p:cxnSp>
        <p:nvCxnSpPr>
          <p:cNvPr id="30" name="Gerade Verbindung mit Pfeil 29">
            <a:extLst>
              <a:ext uri="{FF2B5EF4-FFF2-40B4-BE49-F238E27FC236}">
                <a16:creationId xmlns:a16="http://schemas.microsoft.com/office/drawing/2014/main" id="{54AFCF35-5CC9-CCE5-6728-1FEC39A555FE}"/>
              </a:ext>
            </a:extLst>
          </p:cNvPr>
          <p:cNvCxnSpPr>
            <a:cxnSpLocks/>
            <a:stCxn id="29" idx="3"/>
            <a:endCxn id="131" idx="1"/>
          </p:cNvCxnSpPr>
          <p:nvPr/>
        </p:nvCxnSpPr>
        <p:spPr>
          <a:xfrm flipV="1">
            <a:off x="8771763" y="10636290"/>
            <a:ext cx="552166" cy="2507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31" name="Gerade Verbindung mit Pfeil 30">
            <a:extLst>
              <a:ext uri="{FF2B5EF4-FFF2-40B4-BE49-F238E27FC236}">
                <a16:creationId xmlns:a16="http://schemas.microsoft.com/office/drawing/2014/main" id="{C69A5856-7D4F-2BF7-2F35-56BB361F0DE2}"/>
              </a:ext>
            </a:extLst>
          </p:cNvPr>
          <p:cNvCxnSpPr>
            <a:cxnSpLocks/>
            <a:stCxn id="28" idx="3"/>
            <a:endCxn id="131" idx="1"/>
          </p:cNvCxnSpPr>
          <p:nvPr/>
        </p:nvCxnSpPr>
        <p:spPr>
          <a:xfrm flipV="1">
            <a:off x="8771763" y="10636288"/>
            <a:ext cx="552166" cy="723524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sp>
        <p:nvSpPr>
          <p:cNvPr id="36" name="Rechteck 35">
            <a:extLst>
              <a:ext uri="{FF2B5EF4-FFF2-40B4-BE49-F238E27FC236}">
                <a16:creationId xmlns:a16="http://schemas.microsoft.com/office/drawing/2014/main" id="{7839F9AB-0E9E-3CD3-0688-75C82B3622F5}"/>
              </a:ext>
            </a:extLst>
          </p:cNvPr>
          <p:cNvSpPr/>
          <p:nvPr/>
        </p:nvSpPr>
        <p:spPr>
          <a:xfrm>
            <a:off x="5610876" y="11133703"/>
            <a:ext cx="1425832" cy="432491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 dirty="0" err="1">
                <a:solidFill>
                  <a:prstClr val="black"/>
                </a:solidFill>
                <a:latin typeface="Calibri" panose="020F0502020204030204"/>
              </a:rPr>
              <a:t>Configuration</a:t>
            </a:r>
            <a:endParaRPr lang="de-DE" sz="800" u="sng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localAddress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localPort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37" name="Gerade Verbindung mit Pfeil 36">
            <a:extLst>
              <a:ext uri="{FF2B5EF4-FFF2-40B4-BE49-F238E27FC236}">
                <a16:creationId xmlns:a16="http://schemas.microsoft.com/office/drawing/2014/main" id="{6893C73A-48A8-6D1F-40D2-0A9F5851FE5C}"/>
              </a:ext>
            </a:extLst>
          </p:cNvPr>
          <p:cNvCxnSpPr>
            <a:cxnSpLocks/>
            <a:stCxn id="28" idx="1"/>
            <a:endCxn id="36" idx="3"/>
          </p:cNvCxnSpPr>
          <p:nvPr/>
        </p:nvCxnSpPr>
        <p:spPr>
          <a:xfrm flipH="1" flipV="1">
            <a:off x="7036708" y="11349949"/>
            <a:ext cx="573602" cy="986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38" name="Rechteck 37">
            <a:extLst>
              <a:ext uri="{FF2B5EF4-FFF2-40B4-BE49-F238E27FC236}">
                <a16:creationId xmlns:a16="http://schemas.microsoft.com/office/drawing/2014/main" id="{D6180C09-80DE-B8FB-D98B-2D79204A965B}"/>
              </a:ext>
            </a:extLst>
          </p:cNvPr>
          <p:cNvSpPr/>
          <p:nvPr/>
        </p:nvSpPr>
        <p:spPr>
          <a:xfrm>
            <a:off x="5610876" y="10127098"/>
            <a:ext cx="1425832" cy="367656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 dirty="0" err="1">
                <a:solidFill>
                  <a:prstClr val="black"/>
                </a:solidFill>
                <a:latin typeface="Calibri" panose="020F0502020204030204"/>
              </a:rPr>
              <a:t>Capability</a:t>
            </a:r>
            <a:endParaRPr lang="de-DE" sz="800" u="sng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deviceName</a:t>
            </a:r>
          </a:p>
        </p:txBody>
      </p:sp>
      <p:cxnSp>
        <p:nvCxnSpPr>
          <p:cNvPr id="41" name="Gerade Verbindung mit Pfeil 40">
            <a:extLst>
              <a:ext uri="{FF2B5EF4-FFF2-40B4-BE49-F238E27FC236}">
                <a16:creationId xmlns:a16="http://schemas.microsoft.com/office/drawing/2014/main" id="{12D49DF6-85AB-4875-3211-DF09274DF36A}"/>
              </a:ext>
            </a:extLst>
          </p:cNvPr>
          <p:cNvCxnSpPr>
            <a:cxnSpLocks/>
            <a:stCxn id="29" idx="1"/>
            <a:endCxn id="38" idx="3"/>
          </p:cNvCxnSpPr>
          <p:nvPr/>
        </p:nvCxnSpPr>
        <p:spPr>
          <a:xfrm flipH="1" flipV="1">
            <a:off x="7036708" y="10310928"/>
            <a:ext cx="573602" cy="327869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44" name="Rechteck 43">
            <a:extLst>
              <a:ext uri="{FF2B5EF4-FFF2-40B4-BE49-F238E27FC236}">
                <a16:creationId xmlns:a16="http://schemas.microsoft.com/office/drawing/2014/main" id="{DDD580D5-0B17-FEDA-A7D7-84BCAB8DD12F}"/>
              </a:ext>
            </a:extLst>
          </p:cNvPr>
          <p:cNvSpPr/>
          <p:nvPr/>
        </p:nvSpPr>
        <p:spPr>
          <a:xfrm>
            <a:off x="12146587" y="10416170"/>
            <a:ext cx="1425832" cy="33607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 dirty="0" err="1">
                <a:solidFill>
                  <a:prstClr val="black"/>
                </a:solidFill>
                <a:latin typeface="Calibri" panose="020F0502020204030204"/>
              </a:rPr>
              <a:t>Capability</a:t>
            </a:r>
            <a:endParaRPr lang="de-DE" sz="800" u="sng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deviceName</a:t>
            </a:r>
          </a:p>
        </p:txBody>
      </p:sp>
      <p:cxnSp>
        <p:nvCxnSpPr>
          <p:cNvPr id="45" name="Gerade Verbindung mit Pfeil 44">
            <a:extLst>
              <a:ext uri="{FF2B5EF4-FFF2-40B4-BE49-F238E27FC236}">
                <a16:creationId xmlns:a16="http://schemas.microsoft.com/office/drawing/2014/main" id="{BA13D890-B8BA-7E5D-B4EB-3559460FEA0B}"/>
              </a:ext>
            </a:extLst>
          </p:cNvPr>
          <p:cNvCxnSpPr>
            <a:cxnSpLocks/>
            <a:stCxn id="16" idx="3"/>
            <a:endCxn id="44" idx="1"/>
          </p:cNvCxnSpPr>
          <p:nvPr/>
        </p:nvCxnSpPr>
        <p:spPr>
          <a:xfrm flipV="1">
            <a:off x="11574849" y="10584207"/>
            <a:ext cx="571738" cy="55366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29" name="Abgerundetes Rechteck 1">
            <a:extLst>
              <a:ext uri="{FF2B5EF4-FFF2-40B4-BE49-F238E27FC236}">
                <a16:creationId xmlns:a16="http://schemas.microsoft.com/office/drawing/2014/main" id="{0B3696B8-459B-81BC-F007-25C4FCAE7AF6}"/>
              </a:ext>
            </a:extLst>
          </p:cNvPr>
          <p:cNvSpPr/>
          <p:nvPr/>
        </p:nvSpPr>
        <p:spPr>
          <a:xfrm>
            <a:off x="9323931" y="3948120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 dirty="0">
                <a:solidFill>
                  <a:prstClr val="white"/>
                </a:solidFill>
                <a:latin typeface="Calibri" panose="020F0502020204030204"/>
              </a:rPr>
              <a:t>CC</a:t>
            </a:r>
          </a:p>
        </p:txBody>
      </p:sp>
      <p:sp>
        <p:nvSpPr>
          <p:cNvPr id="130" name="Abgerundetes Rechteck 2">
            <a:extLst>
              <a:ext uri="{FF2B5EF4-FFF2-40B4-BE49-F238E27FC236}">
                <a16:creationId xmlns:a16="http://schemas.microsoft.com/office/drawing/2014/main" id="{44E9B2AD-2D82-4A80-07DA-1326EE5556DF}"/>
              </a:ext>
            </a:extLst>
          </p:cNvPr>
          <p:cNvSpPr/>
          <p:nvPr/>
        </p:nvSpPr>
        <p:spPr>
          <a:xfrm>
            <a:off x="9323931" y="9161315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LTP</a:t>
            </a:r>
          </a:p>
        </p:txBody>
      </p:sp>
      <p:sp>
        <p:nvSpPr>
          <p:cNvPr id="131" name="Abgerundetes Rechteck 3">
            <a:extLst>
              <a:ext uri="{FF2B5EF4-FFF2-40B4-BE49-F238E27FC236}">
                <a16:creationId xmlns:a16="http://schemas.microsoft.com/office/drawing/2014/main" id="{38AABEEE-D5A9-7960-91DE-A0715B1E1097}"/>
              </a:ext>
            </a:extLst>
          </p:cNvPr>
          <p:cNvSpPr/>
          <p:nvPr/>
        </p:nvSpPr>
        <p:spPr>
          <a:xfrm>
            <a:off x="9323931" y="10413502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LP</a:t>
            </a:r>
          </a:p>
        </p:txBody>
      </p:sp>
      <p:cxnSp>
        <p:nvCxnSpPr>
          <p:cNvPr id="132" name="Gerade Verbindung mit Pfeil 131">
            <a:extLst>
              <a:ext uri="{FF2B5EF4-FFF2-40B4-BE49-F238E27FC236}">
                <a16:creationId xmlns:a16="http://schemas.microsoft.com/office/drawing/2014/main" id="{24B8BA13-AD4E-5D96-4439-B969CB4D0F1B}"/>
              </a:ext>
            </a:extLst>
          </p:cNvPr>
          <p:cNvCxnSpPr>
            <a:stCxn id="129" idx="2"/>
            <a:endCxn id="130" idx="0"/>
          </p:cNvCxnSpPr>
          <p:nvPr/>
        </p:nvCxnSpPr>
        <p:spPr>
          <a:xfrm>
            <a:off x="9592579" y="4393694"/>
            <a:ext cx="0" cy="4767623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33" name="Gerade Verbindung mit Pfeil 132">
            <a:extLst>
              <a:ext uri="{FF2B5EF4-FFF2-40B4-BE49-F238E27FC236}">
                <a16:creationId xmlns:a16="http://schemas.microsoft.com/office/drawing/2014/main" id="{F9346835-875D-6801-F071-4CB2B804900B}"/>
              </a:ext>
            </a:extLst>
          </p:cNvPr>
          <p:cNvCxnSpPr>
            <a:stCxn id="130" idx="2"/>
            <a:endCxn id="131" idx="0"/>
          </p:cNvCxnSpPr>
          <p:nvPr/>
        </p:nvCxnSpPr>
        <p:spPr>
          <a:xfrm>
            <a:off x="9592579" y="9606889"/>
            <a:ext cx="0" cy="80661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45" name="Abgerundetes Rechteck 74">
            <a:extLst>
              <a:ext uri="{FF2B5EF4-FFF2-40B4-BE49-F238E27FC236}">
                <a16:creationId xmlns:a16="http://schemas.microsoft.com/office/drawing/2014/main" id="{9F76D0E1-4E66-342A-E3B2-52119B669652}"/>
              </a:ext>
            </a:extLst>
          </p:cNvPr>
          <p:cNvSpPr/>
          <p:nvPr/>
        </p:nvSpPr>
        <p:spPr>
          <a:xfrm>
            <a:off x="7610311" y="5735621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 err="1">
                <a:solidFill>
                  <a:prstClr val="white"/>
                </a:solidFill>
                <a:latin typeface="Calibri" panose="020F0502020204030204"/>
              </a:rPr>
              <a:t>OperationServer</a:t>
            </a:r>
            <a:endParaRPr lang="de-DE" sz="1050" kern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47" name="Abgerundetes Rechteck 88">
            <a:extLst>
              <a:ext uri="{FF2B5EF4-FFF2-40B4-BE49-F238E27FC236}">
                <a16:creationId xmlns:a16="http://schemas.microsoft.com/office/drawing/2014/main" id="{8BC9E276-53B6-5995-622D-0AC9EB9DE1B3}"/>
              </a:ext>
            </a:extLst>
          </p:cNvPr>
          <p:cNvSpPr/>
          <p:nvPr/>
        </p:nvSpPr>
        <p:spPr>
          <a:xfrm>
            <a:off x="7610311" y="7177655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 err="1">
                <a:solidFill>
                  <a:prstClr val="white"/>
                </a:solidFill>
                <a:latin typeface="Calibri" panose="020F0502020204030204"/>
              </a:rPr>
              <a:t>TcpServer</a:t>
            </a:r>
            <a:endParaRPr lang="de-DE" sz="1050" kern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48" name="Abgerundetes Rechteck 89">
            <a:extLst>
              <a:ext uri="{FF2B5EF4-FFF2-40B4-BE49-F238E27FC236}">
                <a16:creationId xmlns:a16="http://schemas.microsoft.com/office/drawing/2014/main" id="{14E901DD-3FD2-DD78-E2D1-8BE2B4D09279}"/>
              </a:ext>
            </a:extLst>
          </p:cNvPr>
          <p:cNvSpPr/>
          <p:nvPr/>
        </p:nvSpPr>
        <p:spPr>
          <a:xfrm>
            <a:off x="7610311" y="6456638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 err="1">
                <a:solidFill>
                  <a:prstClr val="white"/>
                </a:solidFill>
                <a:latin typeface="Calibri" panose="020F0502020204030204"/>
              </a:rPr>
              <a:t>HttpServer</a:t>
            </a:r>
            <a:endParaRPr lang="de-DE" sz="1050" kern="0">
              <a:solidFill>
                <a:prstClr val="white"/>
              </a:solidFill>
              <a:latin typeface="Calibri" panose="020F0502020204030204"/>
            </a:endParaRPr>
          </a:p>
        </p:txBody>
      </p:sp>
      <p:cxnSp>
        <p:nvCxnSpPr>
          <p:cNvPr id="149" name="Gerade Verbindung mit Pfeil 148">
            <a:extLst>
              <a:ext uri="{FF2B5EF4-FFF2-40B4-BE49-F238E27FC236}">
                <a16:creationId xmlns:a16="http://schemas.microsoft.com/office/drawing/2014/main" id="{77D0C046-112B-F61C-51ED-422966C3B7D4}"/>
              </a:ext>
            </a:extLst>
          </p:cNvPr>
          <p:cNvCxnSpPr>
            <a:stCxn id="148" idx="3"/>
            <a:endCxn id="131" idx="1"/>
          </p:cNvCxnSpPr>
          <p:nvPr/>
        </p:nvCxnSpPr>
        <p:spPr>
          <a:xfrm>
            <a:off x="8771764" y="6679424"/>
            <a:ext cx="552167" cy="3956864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150" name="Gerade Verbindung mit Pfeil 149">
            <a:extLst>
              <a:ext uri="{FF2B5EF4-FFF2-40B4-BE49-F238E27FC236}">
                <a16:creationId xmlns:a16="http://schemas.microsoft.com/office/drawing/2014/main" id="{89E76792-F816-11E2-7AD6-F99179AC2EAF}"/>
              </a:ext>
            </a:extLst>
          </p:cNvPr>
          <p:cNvCxnSpPr>
            <a:stCxn id="147" idx="3"/>
            <a:endCxn id="131" idx="1"/>
          </p:cNvCxnSpPr>
          <p:nvPr/>
        </p:nvCxnSpPr>
        <p:spPr>
          <a:xfrm>
            <a:off x="8771764" y="7400443"/>
            <a:ext cx="552167" cy="3235847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151" name="Gerade Verbindung mit Pfeil 150">
            <a:extLst>
              <a:ext uri="{FF2B5EF4-FFF2-40B4-BE49-F238E27FC236}">
                <a16:creationId xmlns:a16="http://schemas.microsoft.com/office/drawing/2014/main" id="{FB99CDA0-2D2C-C26F-89EE-72E2DAEA2188}"/>
              </a:ext>
            </a:extLst>
          </p:cNvPr>
          <p:cNvCxnSpPr>
            <a:stCxn id="145" idx="3"/>
            <a:endCxn id="131" idx="1"/>
          </p:cNvCxnSpPr>
          <p:nvPr/>
        </p:nvCxnSpPr>
        <p:spPr>
          <a:xfrm>
            <a:off x="8771764" y="5958409"/>
            <a:ext cx="552167" cy="4677881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sp>
        <p:nvSpPr>
          <p:cNvPr id="152" name="Rechteck 151">
            <a:extLst>
              <a:ext uri="{FF2B5EF4-FFF2-40B4-BE49-F238E27FC236}">
                <a16:creationId xmlns:a16="http://schemas.microsoft.com/office/drawing/2014/main" id="{E3E04050-9C25-B09E-3C76-37E1DD41737D}"/>
              </a:ext>
            </a:extLst>
          </p:cNvPr>
          <p:cNvSpPr/>
          <p:nvPr/>
        </p:nvSpPr>
        <p:spPr>
          <a:xfrm>
            <a:off x="5610875" y="4503195"/>
            <a:ext cx="1425832" cy="327678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 err="1">
                <a:solidFill>
                  <a:prstClr val="black"/>
                </a:solidFill>
                <a:latin typeface="Calibri" panose="020F0502020204030204"/>
              </a:rPr>
              <a:t>Capability</a:t>
            </a:r>
            <a:endParaRPr lang="de-DE" sz="800" u="sng" kern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 err="1">
                <a:solidFill>
                  <a:prstClr val="black"/>
                </a:solidFill>
                <a:latin typeface="Calibri" panose="020F0502020204030204"/>
              </a:rPr>
              <a:t>operationName</a:t>
            </a:r>
            <a:endParaRPr lang="de-DE" sz="800" kern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53" name="Rechteck 152">
            <a:extLst>
              <a:ext uri="{FF2B5EF4-FFF2-40B4-BE49-F238E27FC236}">
                <a16:creationId xmlns:a16="http://schemas.microsoft.com/office/drawing/2014/main" id="{4DFA1D3E-C6E5-809E-760C-5C9B254E07A8}"/>
              </a:ext>
            </a:extLst>
          </p:cNvPr>
          <p:cNvSpPr/>
          <p:nvPr/>
        </p:nvSpPr>
        <p:spPr>
          <a:xfrm>
            <a:off x="5610875" y="4858709"/>
            <a:ext cx="1425832" cy="704655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 dirty="0" err="1">
                <a:solidFill>
                  <a:prstClr val="black"/>
                </a:solidFill>
                <a:latin typeface="Calibri" panose="020F0502020204030204"/>
              </a:rPr>
              <a:t>Configuration</a:t>
            </a:r>
            <a:endParaRPr lang="de-DE" sz="800" u="sng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 dirty="0" err="1">
                <a:solidFill>
                  <a:prstClr val="black"/>
                </a:solidFill>
                <a:latin typeface="Calibri" panose="020F0502020204030204"/>
              </a:rPr>
              <a:t>lifeCycleState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operation-key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54" name="Rechteck 153">
            <a:extLst>
              <a:ext uri="{FF2B5EF4-FFF2-40B4-BE49-F238E27FC236}">
                <a16:creationId xmlns:a16="http://schemas.microsoft.com/office/drawing/2014/main" id="{603038BB-B38F-04CB-CE97-EB1D3BC5A2ED}"/>
              </a:ext>
            </a:extLst>
          </p:cNvPr>
          <p:cNvSpPr/>
          <p:nvPr/>
        </p:nvSpPr>
        <p:spPr>
          <a:xfrm>
            <a:off x="5610875" y="6688555"/>
            <a:ext cx="1425832" cy="68387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 dirty="0" err="1">
                <a:solidFill>
                  <a:prstClr val="black"/>
                </a:solidFill>
                <a:latin typeface="Calibri" panose="020F0502020204030204"/>
              </a:rPr>
              <a:t>Configuration</a:t>
            </a:r>
            <a:endParaRPr lang="de-DE" sz="800" u="sng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description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localProtocol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localAddress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localPort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155" name="Gerade Verbindung mit Pfeil 154">
            <a:extLst>
              <a:ext uri="{FF2B5EF4-FFF2-40B4-BE49-F238E27FC236}">
                <a16:creationId xmlns:a16="http://schemas.microsoft.com/office/drawing/2014/main" id="{AE72E1DE-8F09-CAEE-F70B-BD74C656E315}"/>
              </a:ext>
            </a:extLst>
          </p:cNvPr>
          <p:cNvCxnSpPr>
            <a:cxnSpLocks/>
            <a:stCxn id="147" idx="1"/>
            <a:endCxn id="154" idx="3"/>
          </p:cNvCxnSpPr>
          <p:nvPr/>
        </p:nvCxnSpPr>
        <p:spPr>
          <a:xfrm flipH="1" flipV="1">
            <a:off x="7036707" y="7030494"/>
            <a:ext cx="573602" cy="369949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56" name="Rechteck 155">
            <a:extLst>
              <a:ext uri="{FF2B5EF4-FFF2-40B4-BE49-F238E27FC236}">
                <a16:creationId xmlns:a16="http://schemas.microsoft.com/office/drawing/2014/main" id="{A2DD233B-D011-6931-E9B5-093D279C83E7}"/>
              </a:ext>
            </a:extLst>
          </p:cNvPr>
          <p:cNvSpPr/>
          <p:nvPr/>
        </p:nvSpPr>
        <p:spPr>
          <a:xfrm>
            <a:off x="5610875" y="5604036"/>
            <a:ext cx="1425832" cy="105148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 dirty="0" err="1">
                <a:solidFill>
                  <a:prstClr val="black"/>
                </a:solidFill>
                <a:latin typeface="Calibri" panose="020F0502020204030204"/>
              </a:rPr>
              <a:t>Capability</a:t>
            </a:r>
            <a:endParaRPr lang="de-DE" sz="800" u="sng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applicationName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releaseNumber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applicationPurpose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dataUpdatePeriod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ownerName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ownerEmailAddress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releaseList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157" name="Gerade Verbindung mit Pfeil 156">
            <a:extLst>
              <a:ext uri="{FF2B5EF4-FFF2-40B4-BE49-F238E27FC236}">
                <a16:creationId xmlns:a16="http://schemas.microsoft.com/office/drawing/2014/main" id="{016EC4D1-F635-FB0B-C4C9-8B3006B16E87}"/>
              </a:ext>
            </a:extLst>
          </p:cNvPr>
          <p:cNvCxnSpPr>
            <a:stCxn id="145" idx="1"/>
            <a:endCxn id="153" idx="3"/>
          </p:cNvCxnSpPr>
          <p:nvPr/>
        </p:nvCxnSpPr>
        <p:spPr>
          <a:xfrm flipH="1" flipV="1">
            <a:off x="7036707" y="5211035"/>
            <a:ext cx="573602" cy="747372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58" name="Gerade Verbindung mit Pfeil 157">
            <a:extLst>
              <a:ext uri="{FF2B5EF4-FFF2-40B4-BE49-F238E27FC236}">
                <a16:creationId xmlns:a16="http://schemas.microsoft.com/office/drawing/2014/main" id="{7F8AF69D-63A6-BB6A-B020-F4C20183069E}"/>
              </a:ext>
            </a:extLst>
          </p:cNvPr>
          <p:cNvCxnSpPr>
            <a:cxnSpLocks/>
            <a:stCxn id="145" idx="1"/>
            <a:endCxn id="152" idx="3"/>
          </p:cNvCxnSpPr>
          <p:nvPr/>
        </p:nvCxnSpPr>
        <p:spPr>
          <a:xfrm flipH="1" flipV="1">
            <a:off x="7036707" y="4667036"/>
            <a:ext cx="573602" cy="1291373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59" name="Gerade Verbindung mit Pfeil 158">
            <a:extLst>
              <a:ext uri="{FF2B5EF4-FFF2-40B4-BE49-F238E27FC236}">
                <a16:creationId xmlns:a16="http://schemas.microsoft.com/office/drawing/2014/main" id="{E0072063-E071-5BFA-07F7-75E642B28E77}"/>
              </a:ext>
            </a:extLst>
          </p:cNvPr>
          <p:cNvCxnSpPr>
            <a:cxnSpLocks/>
            <a:stCxn id="148" idx="1"/>
            <a:endCxn id="156" idx="3"/>
          </p:cNvCxnSpPr>
          <p:nvPr/>
        </p:nvCxnSpPr>
        <p:spPr>
          <a:xfrm flipH="1" flipV="1">
            <a:off x="7036707" y="6129778"/>
            <a:ext cx="573602" cy="549646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64" name="Abgerundetes Rechteck 45">
            <a:extLst>
              <a:ext uri="{FF2B5EF4-FFF2-40B4-BE49-F238E27FC236}">
                <a16:creationId xmlns:a16="http://schemas.microsoft.com/office/drawing/2014/main" id="{6EC8F9F0-0814-58A0-1A03-1B7B7F229B7A}"/>
              </a:ext>
            </a:extLst>
          </p:cNvPr>
          <p:cNvSpPr/>
          <p:nvPr/>
        </p:nvSpPr>
        <p:spPr>
          <a:xfrm>
            <a:off x="10669917" y="3948120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 dirty="0">
                <a:solidFill>
                  <a:prstClr val="white"/>
                </a:solidFill>
                <a:latin typeface="Calibri" panose="020F0502020204030204"/>
              </a:rPr>
              <a:t>PC</a:t>
            </a:r>
          </a:p>
        </p:txBody>
      </p:sp>
      <p:sp>
        <p:nvSpPr>
          <p:cNvPr id="165" name="Abgerundetes Rechteck 46">
            <a:extLst>
              <a:ext uri="{FF2B5EF4-FFF2-40B4-BE49-F238E27FC236}">
                <a16:creationId xmlns:a16="http://schemas.microsoft.com/office/drawing/2014/main" id="{3A261E11-A8FF-8461-9D6C-DB4253244219}"/>
              </a:ext>
            </a:extLst>
          </p:cNvPr>
          <p:cNvSpPr/>
          <p:nvPr/>
        </p:nvSpPr>
        <p:spPr>
          <a:xfrm>
            <a:off x="12015903" y="3952557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 dirty="0">
                <a:solidFill>
                  <a:prstClr val="white"/>
                </a:solidFill>
                <a:latin typeface="Calibri" panose="020F0502020204030204"/>
              </a:rPr>
              <a:t>P</a:t>
            </a:r>
          </a:p>
        </p:txBody>
      </p:sp>
      <p:cxnSp>
        <p:nvCxnSpPr>
          <p:cNvPr id="166" name="Gerade Verbindung mit Pfeil 165">
            <a:extLst>
              <a:ext uri="{FF2B5EF4-FFF2-40B4-BE49-F238E27FC236}">
                <a16:creationId xmlns:a16="http://schemas.microsoft.com/office/drawing/2014/main" id="{1D0C2E28-ECAC-7C41-C57C-93E87A3CDD27}"/>
              </a:ext>
            </a:extLst>
          </p:cNvPr>
          <p:cNvCxnSpPr>
            <a:stCxn id="129" idx="3"/>
            <a:endCxn id="164" idx="1"/>
          </p:cNvCxnSpPr>
          <p:nvPr/>
        </p:nvCxnSpPr>
        <p:spPr>
          <a:xfrm>
            <a:off x="9861230" y="4170906"/>
            <a:ext cx="808687" cy="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67" name="Gerade Verbindung mit Pfeil 166">
            <a:extLst>
              <a:ext uri="{FF2B5EF4-FFF2-40B4-BE49-F238E27FC236}">
                <a16:creationId xmlns:a16="http://schemas.microsoft.com/office/drawing/2014/main" id="{F54F4961-4CD8-1757-6D3E-4ED507AC3D06}"/>
              </a:ext>
            </a:extLst>
          </p:cNvPr>
          <p:cNvCxnSpPr>
            <a:stCxn id="164" idx="3"/>
            <a:endCxn id="165" idx="1"/>
          </p:cNvCxnSpPr>
          <p:nvPr/>
        </p:nvCxnSpPr>
        <p:spPr>
          <a:xfrm>
            <a:off x="11207216" y="4170908"/>
            <a:ext cx="808687" cy="4437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68" name="Rechteck 167">
            <a:extLst>
              <a:ext uri="{FF2B5EF4-FFF2-40B4-BE49-F238E27FC236}">
                <a16:creationId xmlns:a16="http://schemas.microsoft.com/office/drawing/2014/main" id="{CF8AC0D9-3EBA-3573-B442-A8577BA331CA}"/>
              </a:ext>
            </a:extLst>
          </p:cNvPr>
          <p:cNvSpPr/>
          <p:nvPr/>
        </p:nvSpPr>
        <p:spPr>
          <a:xfrm>
            <a:off x="7223735" y="3967698"/>
            <a:ext cx="1425832" cy="327678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operationalState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lifecycleState</a:t>
            </a:r>
          </a:p>
        </p:txBody>
      </p:sp>
      <p:cxnSp>
        <p:nvCxnSpPr>
          <p:cNvPr id="169" name="Gerade Verbindung mit Pfeil 168">
            <a:extLst>
              <a:ext uri="{FF2B5EF4-FFF2-40B4-BE49-F238E27FC236}">
                <a16:creationId xmlns:a16="http://schemas.microsoft.com/office/drawing/2014/main" id="{BA0DE7E0-3E00-4D1E-00E4-096475C7D555}"/>
              </a:ext>
            </a:extLst>
          </p:cNvPr>
          <p:cNvCxnSpPr>
            <a:cxnSpLocks/>
            <a:stCxn id="168" idx="3"/>
            <a:endCxn id="129" idx="1"/>
          </p:cNvCxnSpPr>
          <p:nvPr/>
        </p:nvCxnSpPr>
        <p:spPr>
          <a:xfrm>
            <a:off x="8649567" y="4131539"/>
            <a:ext cx="674362" cy="39369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70" name="Abgerundetes Rechteck 66">
            <a:extLst>
              <a:ext uri="{FF2B5EF4-FFF2-40B4-BE49-F238E27FC236}">
                <a16:creationId xmlns:a16="http://schemas.microsoft.com/office/drawing/2014/main" id="{E923FF91-857D-1980-0058-CEC6AE11A650}"/>
              </a:ext>
            </a:extLst>
          </p:cNvPr>
          <p:cNvSpPr/>
          <p:nvPr/>
        </p:nvSpPr>
        <p:spPr>
          <a:xfrm>
            <a:off x="13107120" y="3963816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 dirty="0" err="1">
                <a:solidFill>
                  <a:prstClr val="white"/>
                </a:solidFill>
                <a:latin typeface="Calibri" panose="020F0502020204030204"/>
              </a:rPr>
              <a:t>StringProfile</a:t>
            </a:r>
            <a:endParaRPr lang="de-DE" sz="1050" kern="0" dirty="0">
              <a:solidFill>
                <a:prstClr val="white"/>
              </a:solidFill>
              <a:latin typeface="Calibri" panose="020F0502020204030204"/>
            </a:endParaRPr>
          </a:p>
        </p:txBody>
      </p:sp>
      <p:cxnSp>
        <p:nvCxnSpPr>
          <p:cNvPr id="171" name="Gerade Verbindung mit Pfeil 170">
            <a:extLst>
              <a:ext uri="{FF2B5EF4-FFF2-40B4-BE49-F238E27FC236}">
                <a16:creationId xmlns:a16="http://schemas.microsoft.com/office/drawing/2014/main" id="{57E5131C-F4A7-B1C2-99E2-BDAAC61E1664}"/>
              </a:ext>
            </a:extLst>
          </p:cNvPr>
          <p:cNvCxnSpPr>
            <a:cxnSpLocks/>
            <a:stCxn id="170" idx="1"/>
            <a:endCxn id="165" idx="3"/>
          </p:cNvCxnSpPr>
          <p:nvPr/>
        </p:nvCxnSpPr>
        <p:spPr>
          <a:xfrm flipH="1" flipV="1">
            <a:off x="12553200" y="4175345"/>
            <a:ext cx="553918" cy="11259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sp>
        <p:nvSpPr>
          <p:cNvPr id="172" name="Rechteck 171">
            <a:extLst>
              <a:ext uri="{FF2B5EF4-FFF2-40B4-BE49-F238E27FC236}">
                <a16:creationId xmlns:a16="http://schemas.microsoft.com/office/drawing/2014/main" id="{EB4B0C19-05A4-9F67-7DF1-843375E09128}"/>
              </a:ext>
            </a:extLst>
          </p:cNvPr>
          <p:cNvSpPr/>
          <p:nvPr/>
        </p:nvSpPr>
        <p:spPr>
          <a:xfrm>
            <a:off x="14843522" y="3988189"/>
            <a:ext cx="1425832" cy="678846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 dirty="0" err="1">
                <a:solidFill>
                  <a:prstClr val="black"/>
                </a:solidFill>
                <a:latin typeface="Calibri" panose="020F0502020204030204"/>
              </a:rPr>
              <a:t>Capability</a:t>
            </a:r>
            <a:endParaRPr lang="de-DE" sz="800" u="sng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stringName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- mediatorVmTemplateName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- mediatorUserName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- mediatorUserPassword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73" name="Rechteck 172">
            <a:extLst>
              <a:ext uri="{FF2B5EF4-FFF2-40B4-BE49-F238E27FC236}">
                <a16:creationId xmlns:a16="http://schemas.microsoft.com/office/drawing/2014/main" id="{4CBD0BBA-3755-9310-47FE-8B5EF03DB68E}"/>
              </a:ext>
            </a:extLst>
          </p:cNvPr>
          <p:cNvSpPr/>
          <p:nvPr/>
        </p:nvSpPr>
        <p:spPr>
          <a:xfrm>
            <a:off x="14843522" y="4716070"/>
            <a:ext cx="1425832" cy="33607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 dirty="0" err="1">
                <a:solidFill>
                  <a:prstClr val="black"/>
                </a:solidFill>
                <a:latin typeface="Calibri" panose="020F0502020204030204"/>
              </a:rPr>
              <a:t>Configuration</a:t>
            </a:r>
            <a:endParaRPr lang="de-DE" sz="800" u="sng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 dirty="0" err="1">
                <a:solidFill>
                  <a:prstClr val="black"/>
                </a:solidFill>
                <a:latin typeface="Calibri" panose="020F0502020204030204"/>
              </a:rPr>
              <a:t>stringValue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174" name="Gerade Verbindung mit Pfeil 173">
            <a:extLst>
              <a:ext uri="{FF2B5EF4-FFF2-40B4-BE49-F238E27FC236}">
                <a16:creationId xmlns:a16="http://schemas.microsoft.com/office/drawing/2014/main" id="{3E00DD38-E312-FDAE-E0CF-019349FE88A3}"/>
              </a:ext>
            </a:extLst>
          </p:cNvPr>
          <p:cNvCxnSpPr>
            <a:cxnSpLocks/>
            <a:stCxn id="170" idx="3"/>
            <a:endCxn id="172" idx="1"/>
          </p:cNvCxnSpPr>
          <p:nvPr/>
        </p:nvCxnSpPr>
        <p:spPr>
          <a:xfrm>
            <a:off x="14268573" y="4186602"/>
            <a:ext cx="574951" cy="14101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75" name="Gerade Verbindung mit Pfeil 174">
            <a:extLst>
              <a:ext uri="{FF2B5EF4-FFF2-40B4-BE49-F238E27FC236}">
                <a16:creationId xmlns:a16="http://schemas.microsoft.com/office/drawing/2014/main" id="{134A9A26-D904-FED7-A00D-A8B5BACBD1F1}"/>
              </a:ext>
            </a:extLst>
          </p:cNvPr>
          <p:cNvCxnSpPr>
            <a:stCxn id="170" idx="3"/>
            <a:endCxn id="173" idx="1"/>
          </p:cNvCxnSpPr>
          <p:nvPr/>
        </p:nvCxnSpPr>
        <p:spPr>
          <a:xfrm>
            <a:off x="14268573" y="4186604"/>
            <a:ext cx="574951" cy="69750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78" name="Abgerundetes Rechteck 2">
            <a:extLst>
              <a:ext uri="{FF2B5EF4-FFF2-40B4-BE49-F238E27FC236}">
                <a16:creationId xmlns:a16="http://schemas.microsoft.com/office/drawing/2014/main" id="{5D271881-6F30-DFD6-72F1-3F674E68933F}"/>
              </a:ext>
            </a:extLst>
          </p:cNvPr>
          <p:cNvSpPr/>
          <p:nvPr/>
        </p:nvSpPr>
        <p:spPr>
          <a:xfrm>
            <a:off x="10669916" y="5202378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FD</a:t>
            </a:r>
          </a:p>
        </p:txBody>
      </p:sp>
      <p:cxnSp>
        <p:nvCxnSpPr>
          <p:cNvPr id="179" name="Gerade Verbindung mit Pfeil 178">
            <a:extLst>
              <a:ext uri="{FF2B5EF4-FFF2-40B4-BE49-F238E27FC236}">
                <a16:creationId xmlns:a16="http://schemas.microsoft.com/office/drawing/2014/main" id="{140A27B0-12E3-6EFB-FFEB-53372328F579}"/>
              </a:ext>
            </a:extLst>
          </p:cNvPr>
          <p:cNvCxnSpPr>
            <a:cxnSpLocks/>
            <a:stCxn id="129" idx="2"/>
            <a:endCxn id="178" idx="0"/>
          </p:cNvCxnSpPr>
          <p:nvPr/>
        </p:nvCxnSpPr>
        <p:spPr>
          <a:xfrm>
            <a:off x="9592581" y="4393692"/>
            <a:ext cx="1345985" cy="808686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83" name="Abgerundetes Rechteck 2">
            <a:extLst>
              <a:ext uri="{FF2B5EF4-FFF2-40B4-BE49-F238E27FC236}">
                <a16:creationId xmlns:a16="http://schemas.microsoft.com/office/drawing/2014/main" id="{081EC501-C2CA-9E15-39FF-56B5A787FDD0}"/>
              </a:ext>
            </a:extLst>
          </p:cNvPr>
          <p:cNvSpPr/>
          <p:nvPr/>
        </p:nvSpPr>
        <p:spPr>
          <a:xfrm>
            <a:off x="10669916" y="8477606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FC</a:t>
            </a:r>
          </a:p>
        </p:txBody>
      </p:sp>
      <p:cxnSp>
        <p:nvCxnSpPr>
          <p:cNvPr id="190" name="Gerade Verbindung mit Pfeil 189">
            <a:extLst>
              <a:ext uri="{FF2B5EF4-FFF2-40B4-BE49-F238E27FC236}">
                <a16:creationId xmlns:a16="http://schemas.microsoft.com/office/drawing/2014/main" id="{296A82BB-6F95-7547-C6E1-A06AE5A97651}"/>
              </a:ext>
            </a:extLst>
          </p:cNvPr>
          <p:cNvCxnSpPr>
            <a:cxnSpLocks/>
            <a:stCxn id="178" idx="2"/>
            <a:endCxn id="183" idx="0"/>
          </p:cNvCxnSpPr>
          <p:nvPr/>
        </p:nvCxnSpPr>
        <p:spPr>
          <a:xfrm>
            <a:off x="10938564" y="5647950"/>
            <a:ext cx="0" cy="2829656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93" name="Rechteck 192">
            <a:extLst>
              <a:ext uri="{FF2B5EF4-FFF2-40B4-BE49-F238E27FC236}">
                <a16:creationId xmlns:a16="http://schemas.microsoft.com/office/drawing/2014/main" id="{0EBFB0DE-9E6A-84BE-0CC5-FB4877E6209C}"/>
              </a:ext>
            </a:extLst>
          </p:cNvPr>
          <p:cNvSpPr/>
          <p:nvPr/>
        </p:nvSpPr>
        <p:spPr>
          <a:xfrm>
            <a:off x="12146587" y="8536254"/>
            <a:ext cx="1425832" cy="33607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name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- deviceName</a:t>
            </a:r>
          </a:p>
        </p:txBody>
      </p:sp>
      <p:cxnSp>
        <p:nvCxnSpPr>
          <p:cNvPr id="194" name="Gerade Verbindung mit Pfeil 193">
            <a:extLst>
              <a:ext uri="{FF2B5EF4-FFF2-40B4-BE49-F238E27FC236}">
                <a16:creationId xmlns:a16="http://schemas.microsoft.com/office/drawing/2014/main" id="{30D22D7A-9AC9-DD60-5253-1BC73B206C29}"/>
              </a:ext>
            </a:extLst>
          </p:cNvPr>
          <p:cNvCxnSpPr>
            <a:cxnSpLocks/>
            <a:stCxn id="183" idx="3"/>
            <a:endCxn id="193" idx="1"/>
          </p:cNvCxnSpPr>
          <p:nvPr/>
        </p:nvCxnSpPr>
        <p:spPr>
          <a:xfrm>
            <a:off x="11207213" y="8700394"/>
            <a:ext cx="939374" cy="3899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99" name="Abgerundetes Rechteck 2">
            <a:extLst>
              <a:ext uri="{FF2B5EF4-FFF2-40B4-BE49-F238E27FC236}">
                <a16:creationId xmlns:a16="http://schemas.microsoft.com/office/drawing/2014/main" id="{B08CDC80-9681-7C36-4CBD-B2099103EA1A}"/>
              </a:ext>
            </a:extLst>
          </p:cNvPr>
          <p:cNvSpPr/>
          <p:nvPr/>
        </p:nvSpPr>
        <p:spPr>
          <a:xfrm>
            <a:off x="10669916" y="9592103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FCP</a:t>
            </a:r>
          </a:p>
        </p:txBody>
      </p:sp>
      <p:cxnSp>
        <p:nvCxnSpPr>
          <p:cNvPr id="202" name="Gerade Verbindung mit Pfeil 201">
            <a:extLst>
              <a:ext uri="{FF2B5EF4-FFF2-40B4-BE49-F238E27FC236}">
                <a16:creationId xmlns:a16="http://schemas.microsoft.com/office/drawing/2014/main" id="{71E46005-C51C-4CCB-EF13-C0C55DA3B420}"/>
              </a:ext>
            </a:extLst>
          </p:cNvPr>
          <p:cNvCxnSpPr>
            <a:cxnSpLocks/>
            <a:stCxn id="183" idx="2"/>
            <a:endCxn id="199" idx="0"/>
          </p:cNvCxnSpPr>
          <p:nvPr/>
        </p:nvCxnSpPr>
        <p:spPr>
          <a:xfrm>
            <a:off x="10938564" y="8923180"/>
            <a:ext cx="0" cy="66892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205" name="Gerade Verbindung mit Pfeil 204">
            <a:extLst>
              <a:ext uri="{FF2B5EF4-FFF2-40B4-BE49-F238E27FC236}">
                <a16:creationId xmlns:a16="http://schemas.microsoft.com/office/drawing/2014/main" id="{6788FE90-8D70-D6A1-9340-2FB938146C10}"/>
              </a:ext>
            </a:extLst>
          </p:cNvPr>
          <p:cNvCxnSpPr>
            <a:cxnSpLocks/>
            <a:stCxn id="199" idx="1"/>
            <a:endCxn id="131" idx="3"/>
          </p:cNvCxnSpPr>
          <p:nvPr/>
        </p:nvCxnSpPr>
        <p:spPr>
          <a:xfrm flipH="1">
            <a:off x="9861228" y="9814891"/>
            <a:ext cx="808686" cy="821399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ysDash"/>
            <a:miter lim="800000"/>
            <a:tailEnd type="arrow"/>
          </a:ln>
          <a:effectLst/>
        </p:spPr>
      </p:cxnSp>
      <p:sp>
        <p:nvSpPr>
          <p:cNvPr id="210" name="Rechteck 209">
            <a:extLst>
              <a:ext uri="{FF2B5EF4-FFF2-40B4-BE49-F238E27FC236}">
                <a16:creationId xmlns:a16="http://schemas.microsoft.com/office/drawing/2014/main" id="{9BC48371-0AF2-465F-826E-D379F9BB6507}"/>
              </a:ext>
            </a:extLst>
          </p:cNvPr>
          <p:cNvSpPr/>
          <p:nvPr/>
        </p:nvSpPr>
        <p:spPr>
          <a:xfrm>
            <a:off x="5610875" y="10538335"/>
            <a:ext cx="1425832" cy="307488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 dirty="0">
                <a:solidFill>
                  <a:prstClr val="black"/>
                </a:solidFill>
                <a:latin typeface="Calibri" panose="020F0502020204030204"/>
              </a:rPr>
              <a:t>Status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interfaceStatus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211" name="Gerade Verbindung mit Pfeil 210">
            <a:extLst>
              <a:ext uri="{FF2B5EF4-FFF2-40B4-BE49-F238E27FC236}">
                <a16:creationId xmlns:a16="http://schemas.microsoft.com/office/drawing/2014/main" id="{FD15BF2E-431D-FF86-B0A9-F508E3870F53}"/>
              </a:ext>
            </a:extLst>
          </p:cNvPr>
          <p:cNvCxnSpPr>
            <a:cxnSpLocks/>
            <a:stCxn id="29" idx="1"/>
            <a:endCxn id="210" idx="3"/>
          </p:cNvCxnSpPr>
          <p:nvPr/>
        </p:nvCxnSpPr>
        <p:spPr>
          <a:xfrm flipH="1">
            <a:off x="7036709" y="10638795"/>
            <a:ext cx="573603" cy="53284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16" name="Abgerundetes Rechteck 1">
            <a:extLst>
              <a:ext uri="{FF2B5EF4-FFF2-40B4-BE49-F238E27FC236}">
                <a16:creationId xmlns:a16="http://schemas.microsoft.com/office/drawing/2014/main" id="{E4A62BC8-924C-84E9-9ED3-A6A081AB7FE4}"/>
              </a:ext>
            </a:extLst>
          </p:cNvPr>
          <p:cNvSpPr/>
          <p:nvPr/>
        </p:nvSpPr>
        <p:spPr>
          <a:xfrm>
            <a:off x="18682094" y="7903820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 dirty="0">
                <a:solidFill>
                  <a:prstClr val="white"/>
                </a:solidFill>
                <a:latin typeface="Calibri" panose="020F0502020204030204"/>
              </a:rPr>
              <a:t>CC</a:t>
            </a:r>
          </a:p>
        </p:txBody>
      </p:sp>
      <p:sp>
        <p:nvSpPr>
          <p:cNvPr id="217" name="Abgerundetes Rechteck 2">
            <a:extLst>
              <a:ext uri="{FF2B5EF4-FFF2-40B4-BE49-F238E27FC236}">
                <a16:creationId xmlns:a16="http://schemas.microsoft.com/office/drawing/2014/main" id="{99DFCE16-D31D-A2C4-AF66-C2D2E0DD8F69}"/>
              </a:ext>
            </a:extLst>
          </p:cNvPr>
          <p:cNvSpPr/>
          <p:nvPr/>
        </p:nvSpPr>
        <p:spPr>
          <a:xfrm>
            <a:off x="18682094" y="9158079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LTP</a:t>
            </a:r>
          </a:p>
        </p:txBody>
      </p:sp>
      <p:sp>
        <p:nvSpPr>
          <p:cNvPr id="218" name="Abgerundetes Rechteck 3">
            <a:extLst>
              <a:ext uri="{FF2B5EF4-FFF2-40B4-BE49-F238E27FC236}">
                <a16:creationId xmlns:a16="http://schemas.microsoft.com/office/drawing/2014/main" id="{D91288CE-E056-17B7-03D1-9F4B70721B71}"/>
              </a:ext>
            </a:extLst>
          </p:cNvPr>
          <p:cNvSpPr/>
          <p:nvPr/>
        </p:nvSpPr>
        <p:spPr>
          <a:xfrm>
            <a:off x="18682094" y="10412338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LP</a:t>
            </a:r>
          </a:p>
        </p:txBody>
      </p:sp>
      <p:cxnSp>
        <p:nvCxnSpPr>
          <p:cNvPr id="219" name="Gerade Verbindung mit Pfeil 218">
            <a:extLst>
              <a:ext uri="{FF2B5EF4-FFF2-40B4-BE49-F238E27FC236}">
                <a16:creationId xmlns:a16="http://schemas.microsoft.com/office/drawing/2014/main" id="{F3812ADC-C552-3888-AD96-B6C6C4A66D2D}"/>
              </a:ext>
            </a:extLst>
          </p:cNvPr>
          <p:cNvCxnSpPr>
            <a:stCxn id="216" idx="2"/>
            <a:endCxn id="217" idx="0"/>
          </p:cNvCxnSpPr>
          <p:nvPr/>
        </p:nvCxnSpPr>
        <p:spPr>
          <a:xfrm>
            <a:off x="18950741" y="8349392"/>
            <a:ext cx="0" cy="808686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220" name="Gerade Verbindung mit Pfeil 219">
            <a:extLst>
              <a:ext uri="{FF2B5EF4-FFF2-40B4-BE49-F238E27FC236}">
                <a16:creationId xmlns:a16="http://schemas.microsoft.com/office/drawing/2014/main" id="{58DA10C6-91F7-D5E5-C61D-C688A420AA08}"/>
              </a:ext>
            </a:extLst>
          </p:cNvPr>
          <p:cNvCxnSpPr>
            <a:stCxn id="217" idx="2"/>
            <a:endCxn id="218" idx="0"/>
          </p:cNvCxnSpPr>
          <p:nvPr/>
        </p:nvCxnSpPr>
        <p:spPr>
          <a:xfrm>
            <a:off x="18950741" y="9603653"/>
            <a:ext cx="0" cy="808687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22" name="Abgerundetes Rechteck 88">
            <a:extLst>
              <a:ext uri="{FF2B5EF4-FFF2-40B4-BE49-F238E27FC236}">
                <a16:creationId xmlns:a16="http://schemas.microsoft.com/office/drawing/2014/main" id="{CA0AEA30-500F-B7AD-AACA-E7D8EDE7AACC}"/>
              </a:ext>
            </a:extLst>
          </p:cNvPr>
          <p:cNvSpPr/>
          <p:nvPr/>
        </p:nvSpPr>
        <p:spPr>
          <a:xfrm>
            <a:off x="16968474" y="11133355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TcpServer [1]</a:t>
            </a:r>
          </a:p>
        </p:txBody>
      </p:sp>
      <p:sp>
        <p:nvSpPr>
          <p:cNvPr id="223" name="Abgerundetes Rechteck 89">
            <a:extLst>
              <a:ext uri="{FF2B5EF4-FFF2-40B4-BE49-F238E27FC236}">
                <a16:creationId xmlns:a16="http://schemas.microsoft.com/office/drawing/2014/main" id="{044D5B40-A091-29AF-E39A-C4A69555BAD1}"/>
              </a:ext>
            </a:extLst>
          </p:cNvPr>
          <p:cNvSpPr/>
          <p:nvPr/>
        </p:nvSpPr>
        <p:spPr>
          <a:xfrm>
            <a:off x="16968474" y="10412338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SnmpServer [*]</a:t>
            </a:r>
          </a:p>
        </p:txBody>
      </p:sp>
      <p:cxnSp>
        <p:nvCxnSpPr>
          <p:cNvPr id="224" name="Gerade Verbindung mit Pfeil 223">
            <a:extLst>
              <a:ext uri="{FF2B5EF4-FFF2-40B4-BE49-F238E27FC236}">
                <a16:creationId xmlns:a16="http://schemas.microsoft.com/office/drawing/2014/main" id="{C4923F46-6E35-ECDC-0AF1-6BAC283218B2}"/>
              </a:ext>
            </a:extLst>
          </p:cNvPr>
          <p:cNvCxnSpPr>
            <a:stCxn id="223" idx="3"/>
            <a:endCxn id="218" idx="1"/>
          </p:cNvCxnSpPr>
          <p:nvPr/>
        </p:nvCxnSpPr>
        <p:spPr>
          <a:xfrm>
            <a:off x="18129924" y="10635124"/>
            <a:ext cx="552168" cy="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225" name="Gerade Verbindung mit Pfeil 224">
            <a:extLst>
              <a:ext uri="{FF2B5EF4-FFF2-40B4-BE49-F238E27FC236}">
                <a16:creationId xmlns:a16="http://schemas.microsoft.com/office/drawing/2014/main" id="{C9D65C52-F7D7-4E03-4D70-221077F95329}"/>
              </a:ext>
            </a:extLst>
          </p:cNvPr>
          <p:cNvCxnSpPr>
            <a:stCxn id="222" idx="3"/>
            <a:endCxn id="218" idx="1"/>
          </p:cNvCxnSpPr>
          <p:nvPr/>
        </p:nvCxnSpPr>
        <p:spPr>
          <a:xfrm flipV="1">
            <a:off x="18129924" y="10635126"/>
            <a:ext cx="552168" cy="721017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sp>
        <p:nvSpPr>
          <p:cNvPr id="230" name="Rechteck 229">
            <a:extLst>
              <a:ext uri="{FF2B5EF4-FFF2-40B4-BE49-F238E27FC236}">
                <a16:creationId xmlns:a16="http://schemas.microsoft.com/office/drawing/2014/main" id="{3A0F905E-26BB-EADC-40B0-7140549F1DE4}"/>
              </a:ext>
            </a:extLst>
          </p:cNvPr>
          <p:cNvSpPr/>
          <p:nvPr/>
        </p:nvSpPr>
        <p:spPr>
          <a:xfrm>
            <a:off x="14969038" y="11130032"/>
            <a:ext cx="1425832" cy="432965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 dirty="0" err="1">
                <a:solidFill>
                  <a:prstClr val="black"/>
                </a:solidFill>
                <a:latin typeface="Calibri" panose="020F0502020204030204"/>
              </a:rPr>
              <a:t>Configuration</a:t>
            </a:r>
            <a:endParaRPr lang="de-DE" sz="800" u="sng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localAddress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localPort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231" name="Gerade Verbindung mit Pfeil 230">
            <a:extLst>
              <a:ext uri="{FF2B5EF4-FFF2-40B4-BE49-F238E27FC236}">
                <a16:creationId xmlns:a16="http://schemas.microsoft.com/office/drawing/2014/main" id="{E2AA1378-2624-C82E-46F5-DAE3598C92F9}"/>
              </a:ext>
            </a:extLst>
          </p:cNvPr>
          <p:cNvCxnSpPr>
            <a:stCxn id="222" idx="1"/>
            <a:endCxn id="230" idx="3"/>
          </p:cNvCxnSpPr>
          <p:nvPr/>
        </p:nvCxnSpPr>
        <p:spPr>
          <a:xfrm flipH="1" flipV="1">
            <a:off x="16394870" y="11346513"/>
            <a:ext cx="573602" cy="9628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32" name="Rechteck 231">
            <a:extLst>
              <a:ext uri="{FF2B5EF4-FFF2-40B4-BE49-F238E27FC236}">
                <a16:creationId xmlns:a16="http://schemas.microsoft.com/office/drawing/2014/main" id="{D24AFCEE-3415-2633-C02F-42F690432881}"/>
              </a:ext>
            </a:extLst>
          </p:cNvPr>
          <p:cNvSpPr/>
          <p:nvPr/>
        </p:nvSpPr>
        <p:spPr>
          <a:xfrm>
            <a:off x="14969038" y="10399834"/>
            <a:ext cx="1425832" cy="474769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 dirty="0" err="1">
                <a:solidFill>
                  <a:prstClr val="black"/>
                </a:solidFill>
                <a:latin typeface="Calibri" panose="020F0502020204030204"/>
              </a:rPr>
              <a:t>Capability</a:t>
            </a:r>
            <a:endParaRPr lang="de-DE" sz="800" u="sng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mediatorUserName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mediatorUserPassword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235" name="Gerade Verbindung mit Pfeil 234">
            <a:extLst>
              <a:ext uri="{FF2B5EF4-FFF2-40B4-BE49-F238E27FC236}">
                <a16:creationId xmlns:a16="http://schemas.microsoft.com/office/drawing/2014/main" id="{4A5D1682-99D1-7876-EEFC-EA1180222379}"/>
              </a:ext>
            </a:extLst>
          </p:cNvPr>
          <p:cNvCxnSpPr>
            <a:cxnSpLocks/>
            <a:stCxn id="223" idx="1"/>
            <a:endCxn id="232" idx="3"/>
          </p:cNvCxnSpPr>
          <p:nvPr/>
        </p:nvCxnSpPr>
        <p:spPr>
          <a:xfrm flipH="1">
            <a:off x="16394870" y="10635126"/>
            <a:ext cx="573602" cy="2093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41" name="Rechteck 240">
            <a:extLst>
              <a:ext uri="{FF2B5EF4-FFF2-40B4-BE49-F238E27FC236}">
                <a16:creationId xmlns:a16="http://schemas.microsoft.com/office/drawing/2014/main" id="{8AE67609-FF85-AA36-4EAC-A2C055DD14DD}"/>
              </a:ext>
            </a:extLst>
          </p:cNvPr>
          <p:cNvSpPr/>
          <p:nvPr/>
        </p:nvSpPr>
        <p:spPr>
          <a:xfrm>
            <a:off x="19771558" y="7903181"/>
            <a:ext cx="1471132" cy="445572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>
                <a:solidFill>
                  <a:prstClr val="black"/>
                </a:solidFill>
                <a:latin typeface="Calibri" panose="020F0502020204030204"/>
              </a:rPr>
              <a:t>ControlConstructPac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externalLabel=deviceName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deviceModelName</a:t>
            </a:r>
          </a:p>
        </p:txBody>
      </p:sp>
      <p:cxnSp>
        <p:nvCxnSpPr>
          <p:cNvPr id="242" name="Gerade Verbindung mit Pfeil 241">
            <a:extLst>
              <a:ext uri="{FF2B5EF4-FFF2-40B4-BE49-F238E27FC236}">
                <a16:creationId xmlns:a16="http://schemas.microsoft.com/office/drawing/2014/main" id="{D02907C9-C5BE-29CD-04AE-14DC78D81D7F}"/>
              </a:ext>
            </a:extLst>
          </p:cNvPr>
          <p:cNvCxnSpPr>
            <a:cxnSpLocks/>
            <a:stCxn id="216" idx="3"/>
            <a:endCxn id="241" idx="1"/>
          </p:cNvCxnSpPr>
          <p:nvPr/>
        </p:nvCxnSpPr>
        <p:spPr>
          <a:xfrm flipV="1">
            <a:off x="19219393" y="8125969"/>
            <a:ext cx="552167" cy="639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55" name="Abgerundetes Rechteck 1">
            <a:extLst>
              <a:ext uri="{FF2B5EF4-FFF2-40B4-BE49-F238E27FC236}">
                <a16:creationId xmlns:a16="http://schemas.microsoft.com/office/drawing/2014/main" id="{0624A5C3-D3B9-BB7E-0BD0-0012F0BB8FBE}"/>
              </a:ext>
            </a:extLst>
          </p:cNvPr>
          <p:cNvSpPr/>
          <p:nvPr/>
        </p:nvSpPr>
        <p:spPr>
          <a:xfrm>
            <a:off x="14134736" y="11982055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</a:t>
            </a:r>
            <a:endParaRPr lang="de-DE" sz="1050" kern="0" dirty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56" name="Abgerundetes Rechteck 2">
            <a:extLst>
              <a:ext uri="{FF2B5EF4-FFF2-40B4-BE49-F238E27FC236}">
                <a16:creationId xmlns:a16="http://schemas.microsoft.com/office/drawing/2014/main" id="{5FD1B592-B627-5A5A-AA41-A7B91547AE68}"/>
              </a:ext>
            </a:extLst>
          </p:cNvPr>
          <p:cNvSpPr/>
          <p:nvPr/>
        </p:nvSpPr>
        <p:spPr>
          <a:xfrm>
            <a:off x="14134736" y="13236314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EPL</a:t>
            </a:r>
          </a:p>
        </p:txBody>
      </p:sp>
      <p:cxnSp>
        <p:nvCxnSpPr>
          <p:cNvPr id="257" name="Gerade Verbindung mit Pfeil 256">
            <a:extLst>
              <a:ext uri="{FF2B5EF4-FFF2-40B4-BE49-F238E27FC236}">
                <a16:creationId xmlns:a16="http://schemas.microsoft.com/office/drawing/2014/main" id="{B48E44D1-8330-80C7-3E84-A5EF43DBA4E1}"/>
              </a:ext>
            </a:extLst>
          </p:cNvPr>
          <p:cNvCxnSpPr>
            <a:stCxn id="255" idx="2"/>
            <a:endCxn id="256" idx="0"/>
          </p:cNvCxnSpPr>
          <p:nvPr/>
        </p:nvCxnSpPr>
        <p:spPr>
          <a:xfrm>
            <a:off x="14403383" y="12427627"/>
            <a:ext cx="0" cy="808686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58" name="Abgerundetes Rechteck 8">
            <a:extLst>
              <a:ext uri="{FF2B5EF4-FFF2-40B4-BE49-F238E27FC236}">
                <a16:creationId xmlns:a16="http://schemas.microsoft.com/office/drawing/2014/main" id="{1DB5ECCE-0529-9E73-AE92-2C49B712E8E7}"/>
              </a:ext>
            </a:extLst>
          </p:cNvPr>
          <p:cNvSpPr/>
          <p:nvPr/>
        </p:nvSpPr>
        <p:spPr>
          <a:xfrm>
            <a:off x="15224201" y="13220920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/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SnmpServer [1]</a:t>
            </a:r>
          </a:p>
        </p:txBody>
      </p:sp>
      <p:cxnSp>
        <p:nvCxnSpPr>
          <p:cNvPr id="259" name="Gerade Verbindung mit Pfeil 258">
            <a:extLst>
              <a:ext uri="{FF2B5EF4-FFF2-40B4-BE49-F238E27FC236}">
                <a16:creationId xmlns:a16="http://schemas.microsoft.com/office/drawing/2014/main" id="{48192E11-C1F9-7526-1DD7-BDA73B10C866}"/>
              </a:ext>
            </a:extLst>
          </p:cNvPr>
          <p:cNvCxnSpPr>
            <a:cxnSpLocks/>
            <a:stCxn id="258" idx="1"/>
            <a:endCxn id="256" idx="3"/>
          </p:cNvCxnSpPr>
          <p:nvPr/>
        </p:nvCxnSpPr>
        <p:spPr>
          <a:xfrm flipH="1">
            <a:off x="14672033" y="13443706"/>
            <a:ext cx="552166" cy="15394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sp>
        <p:nvSpPr>
          <p:cNvPr id="260" name="Abgerundetes Rechteck 89">
            <a:extLst>
              <a:ext uri="{FF2B5EF4-FFF2-40B4-BE49-F238E27FC236}">
                <a16:creationId xmlns:a16="http://schemas.microsoft.com/office/drawing/2014/main" id="{B422358F-0F33-890D-60EB-ADF8DB6F886F}"/>
              </a:ext>
            </a:extLst>
          </p:cNvPr>
          <p:cNvSpPr/>
          <p:nvPr/>
        </p:nvSpPr>
        <p:spPr>
          <a:xfrm>
            <a:off x="12422111" y="13223061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/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SnmpClient [1]</a:t>
            </a:r>
          </a:p>
        </p:txBody>
      </p:sp>
      <p:cxnSp>
        <p:nvCxnSpPr>
          <p:cNvPr id="261" name="Gerade Verbindung mit Pfeil 260">
            <a:extLst>
              <a:ext uri="{FF2B5EF4-FFF2-40B4-BE49-F238E27FC236}">
                <a16:creationId xmlns:a16="http://schemas.microsoft.com/office/drawing/2014/main" id="{135B6C77-E883-AABF-A35F-24D77B29B66F}"/>
              </a:ext>
            </a:extLst>
          </p:cNvPr>
          <p:cNvCxnSpPr>
            <a:cxnSpLocks/>
            <a:stCxn id="260" idx="3"/>
            <a:endCxn id="256" idx="1"/>
          </p:cNvCxnSpPr>
          <p:nvPr/>
        </p:nvCxnSpPr>
        <p:spPr>
          <a:xfrm>
            <a:off x="13583562" y="13445849"/>
            <a:ext cx="551172" cy="13253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sp>
        <p:nvSpPr>
          <p:cNvPr id="262" name="Rechteck 261">
            <a:extLst>
              <a:ext uri="{FF2B5EF4-FFF2-40B4-BE49-F238E27FC236}">
                <a16:creationId xmlns:a16="http://schemas.microsoft.com/office/drawing/2014/main" id="{87873D30-2BDD-9834-C7A7-EA52C14A631E}"/>
              </a:ext>
            </a:extLst>
          </p:cNvPr>
          <p:cNvSpPr/>
          <p:nvPr/>
        </p:nvSpPr>
        <p:spPr>
          <a:xfrm>
            <a:off x="16957389" y="13222132"/>
            <a:ext cx="432000" cy="432000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_CC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_LTP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_LP</a:t>
            </a:r>
          </a:p>
          <a:p>
            <a:pPr defTabSz="914400">
              <a:defRPr/>
            </a:pP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263" name="Gerade Verbindung mit Pfeil 262">
            <a:extLst>
              <a:ext uri="{FF2B5EF4-FFF2-40B4-BE49-F238E27FC236}">
                <a16:creationId xmlns:a16="http://schemas.microsoft.com/office/drawing/2014/main" id="{94D7A550-857D-353A-FF4B-C684C85B73B7}"/>
              </a:ext>
            </a:extLst>
          </p:cNvPr>
          <p:cNvCxnSpPr>
            <a:cxnSpLocks/>
            <a:stCxn id="258" idx="3"/>
            <a:endCxn id="262" idx="1"/>
          </p:cNvCxnSpPr>
          <p:nvPr/>
        </p:nvCxnSpPr>
        <p:spPr>
          <a:xfrm flipV="1">
            <a:off x="16385654" y="13438132"/>
            <a:ext cx="571737" cy="5574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64" name="Rechteck 263">
            <a:extLst>
              <a:ext uri="{FF2B5EF4-FFF2-40B4-BE49-F238E27FC236}">
                <a16:creationId xmlns:a16="http://schemas.microsoft.com/office/drawing/2014/main" id="{EBFEF96A-5427-2197-E648-918795AE37B3}"/>
              </a:ext>
            </a:extLst>
          </p:cNvPr>
          <p:cNvSpPr/>
          <p:nvPr/>
        </p:nvSpPr>
        <p:spPr>
          <a:xfrm>
            <a:off x="11398770" y="13225908"/>
            <a:ext cx="432000" cy="432965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_CC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_LTP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_LP</a:t>
            </a:r>
          </a:p>
        </p:txBody>
      </p:sp>
      <p:cxnSp>
        <p:nvCxnSpPr>
          <p:cNvPr id="265" name="Gerade Verbindung mit Pfeil 264">
            <a:extLst>
              <a:ext uri="{FF2B5EF4-FFF2-40B4-BE49-F238E27FC236}">
                <a16:creationId xmlns:a16="http://schemas.microsoft.com/office/drawing/2014/main" id="{91102010-72C4-FF4E-77F7-A592036BAC6A}"/>
              </a:ext>
            </a:extLst>
          </p:cNvPr>
          <p:cNvCxnSpPr>
            <a:cxnSpLocks/>
            <a:stCxn id="260" idx="1"/>
            <a:endCxn id="264" idx="3"/>
          </p:cNvCxnSpPr>
          <p:nvPr/>
        </p:nvCxnSpPr>
        <p:spPr>
          <a:xfrm flipH="1" flipV="1">
            <a:off x="11830772" y="13442389"/>
            <a:ext cx="591339" cy="3458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66" name="Abgerundetes Rechteck 1">
            <a:extLst>
              <a:ext uri="{FF2B5EF4-FFF2-40B4-BE49-F238E27FC236}">
                <a16:creationId xmlns:a16="http://schemas.microsoft.com/office/drawing/2014/main" id="{B5F6C23A-180F-DEDC-F09E-C8DCBAB3658B}"/>
              </a:ext>
            </a:extLst>
          </p:cNvPr>
          <p:cNvSpPr/>
          <p:nvPr/>
        </p:nvSpPr>
        <p:spPr>
          <a:xfrm>
            <a:off x="4539859" y="11964127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</a:t>
            </a:r>
            <a:endParaRPr lang="de-DE" sz="1050" kern="0" dirty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67" name="Abgerundetes Rechteck 2">
            <a:extLst>
              <a:ext uri="{FF2B5EF4-FFF2-40B4-BE49-F238E27FC236}">
                <a16:creationId xmlns:a16="http://schemas.microsoft.com/office/drawing/2014/main" id="{9985935D-8D52-01AF-312B-9F91D95BB509}"/>
              </a:ext>
            </a:extLst>
          </p:cNvPr>
          <p:cNvSpPr/>
          <p:nvPr/>
        </p:nvSpPr>
        <p:spPr>
          <a:xfrm>
            <a:off x="4539859" y="13218386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EPL</a:t>
            </a:r>
          </a:p>
        </p:txBody>
      </p:sp>
      <p:cxnSp>
        <p:nvCxnSpPr>
          <p:cNvPr id="268" name="Gerade Verbindung mit Pfeil 267">
            <a:extLst>
              <a:ext uri="{FF2B5EF4-FFF2-40B4-BE49-F238E27FC236}">
                <a16:creationId xmlns:a16="http://schemas.microsoft.com/office/drawing/2014/main" id="{A2807A54-9F60-B09B-A668-827575138DB5}"/>
              </a:ext>
            </a:extLst>
          </p:cNvPr>
          <p:cNvCxnSpPr>
            <a:stCxn id="266" idx="2"/>
            <a:endCxn id="267" idx="0"/>
          </p:cNvCxnSpPr>
          <p:nvPr/>
        </p:nvCxnSpPr>
        <p:spPr>
          <a:xfrm>
            <a:off x="4808506" y="12409699"/>
            <a:ext cx="0" cy="808686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69" name="Abgerundetes Rechteck 8">
            <a:extLst>
              <a:ext uri="{FF2B5EF4-FFF2-40B4-BE49-F238E27FC236}">
                <a16:creationId xmlns:a16="http://schemas.microsoft.com/office/drawing/2014/main" id="{AD2F12B9-6272-42FF-221E-C3C61690E8DD}"/>
              </a:ext>
            </a:extLst>
          </p:cNvPr>
          <p:cNvSpPr/>
          <p:nvPr/>
        </p:nvSpPr>
        <p:spPr>
          <a:xfrm>
            <a:off x="5629324" y="13202992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/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NetconfServer[1]</a:t>
            </a:r>
          </a:p>
        </p:txBody>
      </p:sp>
      <p:cxnSp>
        <p:nvCxnSpPr>
          <p:cNvPr id="270" name="Gerade Verbindung mit Pfeil 269">
            <a:extLst>
              <a:ext uri="{FF2B5EF4-FFF2-40B4-BE49-F238E27FC236}">
                <a16:creationId xmlns:a16="http://schemas.microsoft.com/office/drawing/2014/main" id="{93A98F19-9A41-C011-58EF-3E80CE45C755}"/>
              </a:ext>
            </a:extLst>
          </p:cNvPr>
          <p:cNvCxnSpPr>
            <a:cxnSpLocks/>
            <a:stCxn id="269" idx="1"/>
            <a:endCxn id="267" idx="3"/>
          </p:cNvCxnSpPr>
          <p:nvPr/>
        </p:nvCxnSpPr>
        <p:spPr>
          <a:xfrm flipH="1">
            <a:off x="5077156" y="13425778"/>
            <a:ext cx="552166" cy="15394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sp>
        <p:nvSpPr>
          <p:cNvPr id="271" name="Abgerundetes Rechteck 89">
            <a:extLst>
              <a:ext uri="{FF2B5EF4-FFF2-40B4-BE49-F238E27FC236}">
                <a16:creationId xmlns:a16="http://schemas.microsoft.com/office/drawing/2014/main" id="{D3682311-09F4-75FF-E492-B072762E8AE2}"/>
              </a:ext>
            </a:extLst>
          </p:cNvPr>
          <p:cNvSpPr/>
          <p:nvPr/>
        </p:nvSpPr>
        <p:spPr>
          <a:xfrm>
            <a:off x="2827234" y="13205133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/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NetconfClient [1]</a:t>
            </a:r>
          </a:p>
        </p:txBody>
      </p:sp>
      <p:cxnSp>
        <p:nvCxnSpPr>
          <p:cNvPr id="272" name="Gerade Verbindung mit Pfeil 271">
            <a:extLst>
              <a:ext uri="{FF2B5EF4-FFF2-40B4-BE49-F238E27FC236}">
                <a16:creationId xmlns:a16="http://schemas.microsoft.com/office/drawing/2014/main" id="{F968136D-DA1C-FDD9-C94E-320407CB7B47}"/>
              </a:ext>
            </a:extLst>
          </p:cNvPr>
          <p:cNvCxnSpPr>
            <a:cxnSpLocks/>
            <a:stCxn id="271" idx="3"/>
            <a:endCxn id="267" idx="1"/>
          </p:cNvCxnSpPr>
          <p:nvPr/>
        </p:nvCxnSpPr>
        <p:spPr>
          <a:xfrm>
            <a:off x="3988685" y="13427921"/>
            <a:ext cx="551172" cy="13253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sp>
        <p:nvSpPr>
          <p:cNvPr id="273" name="Rechteck 272">
            <a:extLst>
              <a:ext uri="{FF2B5EF4-FFF2-40B4-BE49-F238E27FC236}">
                <a16:creationId xmlns:a16="http://schemas.microsoft.com/office/drawing/2014/main" id="{771A5464-1E30-00C6-4AFD-A73D41A929FC}"/>
              </a:ext>
            </a:extLst>
          </p:cNvPr>
          <p:cNvSpPr/>
          <p:nvPr/>
        </p:nvSpPr>
        <p:spPr>
          <a:xfrm>
            <a:off x="7362512" y="13204204"/>
            <a:ext cx="432000" cy="432000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_CC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_LTP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_LP</a:t>
            </a:r>
          </a:p>
          <a:p>
            <a:pPr defTabSz="914400">
              <a:defRPr/>
            </a:pP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274" name="Gerade Verbindung mit Pfeil 273">
            <a:extLst>
              <a:ext uri="{FF2B5EF4-FFF2-40B4-BE49-F238E27FC236}">
                <a16:creationId xmlns:a16="http://schemas.microsoft.com/office/drawing/2014/main" id="{EC7C8802-3E9D-E370-EA0D-2699CDEFB92A}"/>
              </a:ext>
            </a:extLst>
          </p:cNvPr>
          <p:cNvCxnSpPr>
            <a:cxnSpLocks/>
            <a:stCxn id="269" idx="3"/>
            <a:endCxn id="273" idx="1"/>
          </p:cNvCxnSpPr>
          <p:nvPr/>
        </p:nvCxnSpPr>
        <p:spPr>
          <a:xfrm flipV="1">
            <a:off x="6790777" y="13420204"/>
            <a:ext cx="571737" cy="5574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75" name="Rechteck 274">
            <a:extLst>
              <a:ext uri="{FF2B5EF4-FFF2-40B4-BE49-F238E27FC236}">
                <a16:creationId xmlns:a16="http://schemas.microsoft.com/office/drawing/2014/main" id="{FF45B9B1-440A-4FCD-45D5-59915C7C53C8}"/>
              </a:ext>
            </a:extLst>
          </p:cNvPr>
          <p:cNvSpPr/>
          <p:nvPr/>
        </p:nvSpPr>
        <p:spPr>
          <a:xfrm>
            <a:off x="1803893" y="13207980"/>
            <a:ext cx="432000" cy="432965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_CC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_LTP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_LP</a:t>
            </a:r>
          </a:p>
        </p:txBody>
      </p:sp>
      <p:cxnSp>
        <p:nvCxnSpPr>
          <p:cNvPr id="276" name="Gerade Verbindung mit Pfeil 275">
            <a:extLst>
              <a:ext uri="{FF2B5EF4-FFF2-40B4-BE49-F238E27FC236}">
                <a16:creationId xmlns:a16="http://schemas.microsoft.com/office/drawing/2014/main" id="{5ADE99BC-C10A-7918-9434-FFD8A652FF10}"/>
              </a:ext>
            </a:extLst>
          </p:cNvPr>
          <p:cNvCxnSpPr>
            <a:cxnSpLocks/>
            <a:stCxn id="271" idx="1"/>
            <a:endCxn id="275" idx="3"/>
          </p:cNvCxnSpPr>
          <p:nvPr/>
        </p:nvCxnSpPr>
        <p:spPr>
          <a:xfrm flipH="1" flipV="1">
            <a:off x="2235895" y="13424461"/>
            <a:ext cx="591339" cy="3458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" name="Rechteck 1">
            <a:extLst>
              <a:ext uri="{FF2B5EF4-FFF2-40B4-BE49-F238E27FC236}">
                <a16:creationId xmlns:a16="http://schemas.microsoft.com/office/drawing/2014/main" id="{646DBA9D-E880-728B-E6F0-CC597E215D41}"/>
              </a:ext>
            </a:extLst>
          </p:cNvPr>
          <p:cNvSpPr/>
          <p:nvPr/>
        </p:nvSpPr>
        <p:spPr>
          <a:xfrm>
            <a:off x="6018057" y="12013142"/>
            <a:ext cx="817085" cy="33607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name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- deviceName</a:t>
            </a:r>
          </a:p>
        </p:txBody>
      </p:sp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90995353-8E96-46F2-FD06-4585E41DE660}"/>
              </a:ext>
            </a:extLst>
          </p:cNvPr>
          <p:cNvCxnSpPr>
            <a:cxnSpLocks/>
            <a:endCxn id="2" idx="1"/>
          </p:cNvCxnSpPr>
          <p:nvPr/>
        </p:nvCxnSpPr>
        <p:spPr>
          <a:xfrm flipV="1">
            <a:off x="5077158" y="12181179"/>
            <a:ext cx="940899" cy="5734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9" name="Rechteck 8">
            <a:extLst>
              <a:ext uri="{FF2B5EF4-FFF2-40B4-BE49-F238E27FC236}">
                <a16:creationId xmlns:a16="http://schemas.microsoft.com/office/drawing/2014/main" id="{AC07F7C7-09C5-CE6A-BB5C-15DF3424A6DB}"/>
              </a:ext>
            </a:extLst>
          </p:cNvPr>
          <p:cNvSpPr/>
          <p:nvPr/>
        </p:nvSpPr>
        <p:spPr>
          <a:xfrm>
            <a:off x="15599273" y="12040386"/>
            <a:ext cx="817085" cy="33607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name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- deviceName</a:t>
            </a:r>
          </a:p>
        </p:txBody>
      </p:sp>
      <p:cxnSp>
        <p:nvCxnSpPr>
          <p:cNvPr id="10" name="Gerade Verbindung mit Pfeil 9">
            <a:extLst>
              <a:ext uri="{FF2B5EF4-FFF2-40B4-BE49-F238E27FC236}">
                <a16:creationId xmlns:a16="http://schemas.microsoft.com/office/drawing/2014/main" id="{E0C4C5C4-5CF3-C93C-84DF-AFA8E24F54EA}"/>
              </a:ext>
            </a:extLst>
          </p:cNvPr>
          <p:cNvCxnSpPr>
            <a:cxnSpLocks/>
            <a:endCxn id="9" idx="1"/>
          </p:cNvCxnSpPr>
          <p:nvPr/>
        </p:nvCxnSpPr>
        <p:spPr>
          <a:xfrm>
            <a:off x="14672033" y="12204841"/>
            <a:ext cx="927238" cy="3582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3" name="Textfeld 2">
            <a:extLst>
              <a:ext uri="{FF2B5EF4-FFF2-40B4-BE49-F238E27FC236}">
                <a16:creationId xmlns:a16="http://schemas.microsoft.com/office/drawing/2014/main" id="{5109D698-528E-8C16-FDD2-EFF5529DF8F6}"/>
              </a:ext>
            </a:extLst>
          </p:cNvPr>
          <p:cNvSpPr txBox="1"/>
          <p:nvPr/>
        </p:nvSpPr>
        <p:spPr>
          <a:xfrm>
            <a:off x="1438334" y="6585649"/>
            <a:ext cx="3755514" cy="1923604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de-DE" sz="700">
                <a:solidFill>
                  <a:srgbClr val="242424"/>
                </a:solidFill>
                <a:latin typeface="Cascadia Mono" panose="020B0609020000020004" pitchFamily="49" charset="0"/>
              </a:rPr>
              <a:t>{</a:t>
            </a:r>
            <a:br>
              <a:rPr lang="de-DE" sz="700"/>
            </a:br>
            <a:r>
              <a:rPr lang="de-DE" sz="700">
                <a:solidFill>
                  <a:srgbClr val="242424"/>
                </a:solidFill>
                <a:latin typeface="Cascadia Mono" panose="020B0609020000020004" pitchFamily="49" charset="0"/>
              </a:rPr>
              <a:t>    "network-topology:node": [</a:t>
            </a:r>
            <a:br>
              <a:rPr lang="de-DE" sz="700"/>
            </a:br>
            <a:r>
              <a:rPr lang="de-DE" sz="700">
                <a:solidFill>
                  <a:srgbClr val="242424"/>
                </a:solidFill>
                <a:latin typeface="Cascadia Mono" panose="020B0609020000020004" pitchFamily="49" charset="0"/>
              </a:rPr>
              <a:t>        {</a:t>
            </a:r>
            <a:br>
              <a:rPr lang="de-DE" sz="700"/>
            </a:br>
            <a:r>
              <a:rPr lang="de-DE" sz="700">
                <a:solidFill>
                  <a:srgbClr val="242424"/>
                </a:solidFill>
                <a:latin typeface="Cascadia Mono" panose="020B0609020000020004" pitchFamily="49" charset="0"/>
              </a:rPr>
              <a:t>            "node-id": "&lt;&lt;nodename&gt;&gt;",</a:t>
            </a:r>
            <a:br>
              <a:rPr lang="de-DE" sz="700"/>
            </a:br>
            <a:r>
              <a:rPr lang="de-DE" sz="700">
                <a:solidFill>
                  <a:srgbClr val="242424"/>
                </a:solidFill>
                <a:latin typeface="Cascadia Mono" panose="020B0609020000020004" pitchFamily="49" charset="0"/>
              </a:rPr>
              <a:t>            "netconf-node-topology:sleep-factor": "1",</a:t>
            </a:r>
            <a:br>
              <a:rPr lang="de-DE" sz="700"/>
            </a:br>
            <a:r>
              <a:rPr lang="de-DE" sz="700">
                <a:solidFill>
                  <a:srgbClr val="242424"/>
                </a:solidFill>
                <a:latin typeface="Cascadia Mono" panose="020B0609020000020004" pitchFamily="49" charset="0"/>
              </a:rPr>
              <a:t>            "netconf-node-topology:max-connection-attempts": 8,</a:t>
            </a:r>
            <a:br>
              <a:rPr lang="de-DE" sz="700"/>
            </a:br>
            <a:r>
              <a:rPr lang="de-DE" sz="700">
                <a:solidFill>
                  <a:srgbClr val="242424"/>
                </a:solidFill>
                <a:latin typeface="Cascadia Mono" panose="020B0609020000020004" pitchFamily="49" charset="0"/>
              </a:rPr>
              <a:t>            "netconf-node-topology:username": "&lt;&lt;username&gt;&gt;",</a:t>
            </a:r>
            <a:br>
              <a:rPr lang="de-DE" sz="700"/>
            </a:br>
            <a:r>
              <a:rPr lang="de-DE" sz="700">
                <a:solidFill>
                  <a:srgbClr val="242424"/>
                </a:solidFill>
                <a:latin typeface="Cascadia Mono" panose="020B0609020000020004" pitchFamily="49" charset="0"/>
              </a:rPr>
              <a:t>            "netconf-node-topology:password": "&lt;&lt;password&gt;&gt;",</a:t>
            </a:r>
            <a:br>
              <a:rPr lang="de-DE" sz="700"/>
            </a:br>
            <a:r>
              <a:rPr lang="de-DE" sz="700">
                <a:solidFill>
                  <a:srgbClr val="242424"/>
                </a:solidFill>
                <a:latin typeface="Cascadia Mono" panose="020B0609020000020004" pitchFamily="49" charset="0"/>
              </a:rPr>
              <a:t>            "netconf-node-topology:port": &lt;&lt;netconf_port&gt;&gt;,</a:t>
            </a:r>
            <a:br>
              <a:rPr lang="de-DE" sz="700"/>
            </a:br>
            <a:r>
              <a:rPr lang="de-DE" sz="700">
                <a:solidFill>
                  <a:srgbClr val="242424"/>
                </a:solidFill>
                <a:latin typeface="Cascadia Mono" panose="020B0609020000020004" pitchFamily="49" charset="0"/>
              </a:rPr>
              <a:t>            "netconf-node-topology:host": "&lt;&lt;mediatror_IP&gt;&gt;",</a:t>
            </a:r>
            <a:br>
              <a:rPr lang="de-DE" sz="700"/>
            </a:br>
            <a:r>
              <a:rPr lang="de-DE" sz="700">
                <a:solidFill>
                  <a:srgbClr val="242424"/>
                </a:solidFill>
                <a:latin typeface="Cascadia Mono" panose="020B0609020000020004" pitchFamily="49" charset="0"/>
              </a:rPr>
              <a:t>            "netconf-node-optional:notification": {</a:t>
            </a:r>
            <a:br>
              <a:rPr lang="de-DE" sz="700"/>
            </a:br>
            <a:r>
              <a:rPr lang="de-DE" sz="700">
                <a:solidFill>
                  <a:srgbClr val="242424"/>
                </a:solidFill>
                <a:latin typeface="Cascadia Mono" panose="020B0609020000020004" pitchFamily="49" charset="0"/>
              </a:rPr>
              <a:t>                "subscribe": true,</a:t>
            </a:r>
            <a:br>
              <a:rPr lang="de-DE" sz="700"/>
            </a:br>
            <a:r>
              <a:rPr lang="de-DE" sz="700">
                <a:solidFill>
                  <a:srgbClr val="242424"/>
                </a:solidFill>
                <a:latin typeface="Cascadia Mono" panose="020B0609020000020004" pitchFamily="49" charset="0"/>
              </a:rPr>
              <a:t>                "stream-name": "NETCONF"</a:t>
            </a:r>
            <a:br>
              <a:rPr lang="de-DE" sz="700"/>
            </a:br>
            <a:r>
              <a:rPr lang="de-DE" sz="700">
                <a:solidFill>
                  <a:srgbClr val="242424"/>
                </a:solidFill>
                <a:latin typeface="Cascadia Mono" panose="020B0609020000020004" pitchFamily="49" charset="0"/>
              </a:rPr>
              <a:t>            }</a:t>
            </a:r>
            <a:br>
              <a:rPr lang="de-DE" sz="700"/>
            </a:br>
            <a:r>
              <a:rPr lang="de-DE" sz="700">
                <a:solidFill>
                  <a:srgbClr val="242424"/>
                </a:solidFill>
                <a:latin typeface="Cascadia Mono" panose="020B0609020000020004" pitchFamily="49" charset="0"/>
              </a:rPr>
              <a:t>        }</a:t>
            </a:r>
            <a:br>
              <a:rPr lang="de-DE" sz="700"/>
            </a:br>
            <a:r>
              <a:rPr lang="de-DE" sz="700">
                <a:solidFill>
                  <a:srgbClr val="242424"/>
                </a:solidFill>
                <a:latin typeface="Cascadia Mono" panose="020B0609020000020004" pitchFamily="49" charset="0"/>
              </a:rPr>
              <a:t>    ]</a:t>
            </a:r>
            <a:br>
              <a:rPr lang="de-DE" sz="700"/>
            </a:br>
            <a:r>
              <a:rPr lang="de-DE" sz="700">
                <a:solidFill>
                  <a:srgbClr val="242424"/>
                </a:solidFill>
                <a:latin typeface="Cascadia Mono" panose="020B0609020000020004" pitchFamily="49" charset="0"/>
              </a:rPr>
              <a:t>}</a:t>
            </a:r>
            <a:endParaRPr lang="de-DE" sz="700"/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6D070BBD-EEC8-9487-4EAA-3C8B3EA833EC}"/>
              </a:ext>
            </a:extLst>
          </p:cNvPr>
          <p:cNvSpPr/>
          <p:nvPr/>
        </p:nvSpPr>
        <p:spPr>
          <a:xfrm>
            <a:off x="13204102" y="5563362"/>
            <a:ext cx="774699" cy="389868"/>
          </a:xfrm>
          <a:prstGeom prst="rect">
            <a:avLst/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>
                <a:solidFill>
                  <a:schemeClr val="tx1"/>
                </a:solidFill>
              </a:rPr>
              <a:t>mediatorPro.</a:t>
            </a:r>
          </a:p>
        </p:txBody>
      </p:sp>
      <p:sp>
        <p:nvSpPr>
          <p:cNvPr id="5" name="Pfeil: nach rechts 4">
            <a:extLst>
              <a:ext uri="{FF2B5EF4-FFF2-40B4-BE49-F238E27FC236}">
                <a16:creationId xmlns:a16="http://schemas.microsoft.com/office/drawing/2014/main" id="{5B0F67CA-A739-2B99-AFB2-A1728196BFF5}"/>
              </a:ext>
            </a:extLst>
          </p:cNvPr>
          <p:cNvSpPr/>
          <p:nvPr/>
        </p:nvSpPr>
        <p:spPr>
          <a:xfrm>
            <a:off x="14077951" y="5647950"/>
            <a:ext cx="889000" cy="177816"/>
          </a:xfrm>
          <a:prstGeom prst="rightArrow">
            <a:avLst/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sp>
        <p:nvSpPr>
          <p:cNvPr id="6" name="Pfeil: nach rechts 5">
            <a:extLst>
              <a:ext uri="{FF2B5EF4-FFF2-40B4-BE49-F238E27FC236}">
                <a16:creationId xmlns:a16="http://schemas.microsoft.com/office/drawing/2014/main" id="{D00725B0-9E0A-8A72-ACE0-ECE86F9A3354}"/>
              </a:ext>
            </a:extLst>
          </p:cNvPr>
          <p:cNvSpPr/>
          <p:nvPr/>
        </p:nvSpPr>
        <p:spPr>
          <a:xfrm>
            <a:off x="12218118" y="5673592"/>
            <a:ext cx="889000" cy="177816"/>
          </a:xfrm>
          <a:prstGeom prst="rightArrow">
            <a:avLst/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671960F0-87FE-CE9E-E331-11A52423DF4A}"/>
              </a:ext>
            </a:extLst>
          </p:cNvPr>
          <p:cNvSpPr txBox="1"/>
          <p:nvPr/>
        </p:nvSpPr>
        <p:spPr>
          <a:xfrm>
            <a:off x="14158721" y="5496316"/>
            <a:ext cx="68480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800"/>
              <a:t>deviceUser</a:t>
            </a:r>
          </a:p>
          <a:p>
            <a:endParaRPr lang="de-DE" sz="800"/>
          </a:p>
          <a:p>
            <a:endParaRPr lang="de-DE" sz="800"/>
          </a:p>
          <a:p>
            <a:r>
              <a:rPr lang="de-DE" sz="800"/>
              <a:t>= sdn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B3D98611-7D1F-A60C-987A-C86ED92738DD}"/>
              </a:ext>
            </a:extLst>
          </p:cNvPr>
          <p:cNvSpPr txBox="1"/>
          <p:nvPr/>
        </p:nvSpPr>
        <p:spPr>
          <a:xfrm>
            <a:off x="11475863" y="5515002"/>
            <a:ext cx="14981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800"/>
              <a:t>netconfUser</a:t>
            </a:r>
          </a:p>
          <a:p>
            <a:endParaRPr lang="de-DE" sz="800"/>
          </a:p>
          <a:p>
            <a:endParaRPr lang="de-DE" sz="800"/>
          </a:p>
          <a:p>
            <a:r>
              <a:rPr lang="de-DE" sz="800"/>
              <a:t>= admin</a:t>
            </a:r>
          </a:p>
        </p:txBody>
      </p:sp>
    </p:spTree>
    <p:extLst>
      <p:ext uri="{BB962C8B-B14F-4D97-AF65-F5344CB8AC3E}">
        <p14:creationId xmlns:p14="http://schemas.microsoft.com/office/powerpoint/2010/main" val="419661782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9744600e-3e04-492e-baa1-25ec245c6f10}" enabled="0" method="" siteId="{9744600e-3e04-492e-baa1-25ec245c6f10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2016</Words>
  <Application>Microsoft Office PowerPoint</Application>
  <PresentationFormat>Benutzerdefiniert</PresentationFormat>
  <Paragraphs>863</Paragraphs>
  <Slides>13</Slides>
  <Notes>2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5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13</vt:i4>
      </vt:variant>
    </vt:vector>
  </HeadingPairs>
  <TitlesOfParts>
    <vt:vector size="19" baseType="lpstr">
      <vt:lpstr>Aptos</vt:lpstr>
      <vt:lpstr>Aptos Display</vt:lpstr>
      <vt:lpstr>Arial</vt:lpstr>
      <vt:lpstr>Calibri</vt:lpstr>
      <vt:lpstr>Cascadia Mono</vt:lpstr>
      <vt:lpstr>Office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>Telefónica Germany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Thorsten Heinze</dc:creator>
  <cp:lastModifiedBy>Thorsten Heinze</cp:lastModifiedBy>
  <cp:revision>46</cp:revision>
  <dcterms:created xsi:type="dcterms:W3CDTF">2025-01-24T13:53:29Z</dcterms:created>
  <dcterms:modified xsi:type="dcterms:W3CDTF">2025-04-04T16:00:36Z</dcterms:modified>
</cp:coreProperties>
</file>