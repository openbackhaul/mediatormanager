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7"/>
  </p:notesMasterIdLst>
  <p:sldIdLst>
    <p:sldId id="258" r:id="rId2"/>
    <p:sldId id="291" r:id="rId3"/>
    <p:sldId id="292" r:id="rId4"/>
    <p:sldId id="293" r:id="rId5"/>
    <p:sldId id="295" r:id="rId6"/>
    <p:sldId id="296" r:id="rId7"/>
    <p:sldId id="294" r:id="rId8"/>
    <p:sldId id="297" r:id="rId9"/>
    <p:sldId id="287" r:id="rId10"/>
    <p:sldId id="299" r:id="rId11"/>
    <p:sldId id="298" r:id="rId12"/>
    <p:sldId id="280" r:id="rId13"/>
    <p:sldId id="286" r:id="rId14"/>
    <p:sldId id="282" r:id="rId15"/>
    <p:sldId id="285" r:id="rId16"/>
  </p:sldIdLst>
  <p:sldSz cx="23399750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71"/>
    <a:srgbClr val="FFC000"/>
    <a:srgbClr val="04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11" autoAdjust="0"/>
    <p:restoredTop sz="96370" autoAdjust="0"/>
  </p:normalViewPr>
  <p:slideViewPr>
    <p:cSldViewPr snapToGrid="0">
      <p:cViewPr>
        <p:scale>
          <a:sx n="75" d="100"/>
          <a:sy n="75" d="100"/>
        </p:scale>
        <p:origin x="720" y="-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CF725-7468-4D3D-9E24-A16745BBBA77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423988" y="1143000"/>
            <a:ext cx="4010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594DA-F4C5-4E81-884D-2CC9FB11C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0396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23988" y="1143000"/>
            <a:ext cx="4010025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F0BDF-D3AA-4378-A5EA-B01B2486D80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2194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4981" y="2945943"/>
            <a:ext cx="19889788" cy="6266897"/>
          </a:xfrm>
        </p:spPr>
        <p:txBody>
          <a:bodyPr anchor="b"/>
          <a:lstStyle>
            <a:lvl1pPr algn="ctr">
              <a:defRPr sz="1535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969" y="9454516"/>
            <a:ext cx="17549813" cy="4345992"/>
          </a:xfrm>
        </p:spPr>
        <p:txBody>
          <a:bodyPr/>
          <a:lstStyle>
            <a:lvl1pPr marL="0" indent="0" algn="ctr">
              <a:buNone/>
              <a:defRPr sz="6142"/>
            </a:lvl1pPr>
            <a:lvl2pPr marL="1169975" indent="0" algn="ctr">
              <a:buNone/>
              <a:defRPr sz="5118"/>
            </a:lvl2pPr>
            <a:lvl3pPr marL="2339950" indent="0" algn="ctr">
              <a:buNone/>
              <a:defRPr sz="4606"/>
            </a:lvl3pPr>
            <a:lvl4pPr marL="3509924" indent="0" algn="ctr">
              <a:buNone/>
              <a:defRPr sz="4094"/>
            </a:lvl4pPr>
            <a:lvl5pPr marL="4679899" indent="0" algn="ctr">
              <a:buNone/>
              <a:defRPr sz="4094"/>
            </a:lvl5pPr>
            <a:lvl6pPr marL="5849874" indent="0" algn="ctr">
              <a:buNone/>
              <a:defRPr sz="4094"/>
            </a:lvl6pPr>
            <a:lvl7pPr marL="7019849" indent="0" algn="ctr">
              <a:buNone/>
              <a:defRPr sz="4094"/>
            </a:lvl7pPr>
            <a:lvl8pPr marL="8189824" indent="0" algn="ctr">
              <a:buNone/>
              <a:defRPr sz="4094"/>
            </a:lvl8pPr>
            <a:lvl9pPr marL="9359798" indent="0" algn="ctr">
              <a:buNone/>
              <a:defRPr sz="409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533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526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6547" y="4487671"/>
            <a:ext cx="20182284" cy="7487774"/>
          </a:xfrm>
        </p:spPr>
        <p:txBody>
          <a:bodyPr anchor="b"/>
          <a:lstStyle>
            <a:lvl1pPr>
              <a:defRPr sz="1535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6547" y="12046282"/>
            <a:ext cx="20182284" cy="3937644"/>
          </a:xfrm>
        </p:spPr>
        <p:txBody>
          <a:bodyPr/>
          <a:lstStyle>
            <a:lvl1pPr marL="0" indent="0">
              <a:buNone/>
              <a:defRPr sz="6142">
                <a:solidFill>
                  <a:schemeClr val="tx1">
                    <a:tint val="82000"/>
                  </a:schemeClr>
                </a:solidFill>
              </a:defRPr>
            </a:lvl1pPr>
            <a:lvl2pPr marL="1169975" indent="0">
              <a:buNone/>
              <a:defRPr sz="5118">
                <a:solidFill>
                  <a:schemeClr val="tx1">
                    <a:tint val="82000"/>
                  </a:schemeClr>
                </a:solidFill>
              </a:defRPr>
            </a:lvl2pPr>
            <a:lvl3pPr marL="2339950" indent="0">
              <a:buNone/>
              <a:defRPr sz="4606">
                <a:solidFill>
                  <a:schemeClr val="tx1">
                    <a:tint val="82000"/>
                  </a:schemeClr>
                </a:solidFill>
              </a:defRPr>
            </a:lvl3pPr>
            <a:lvl4pPr marL="3509924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4pPr>
            <a:lvl5pPr marL="4679899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5pPr>
            <a:lvl6pPr marL="5849874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6pPr>
            <a:lvl7pPr marL="7019849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7pPr>
            <a:lvl8pPr marL="8189824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8pPr>
            <a:lvl9pPr marL="9359798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429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8733" y="4791843"/>
            <a:ext cx="9944894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46123" y="4791843"/>
            <a:ext cx="9944894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09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958373"/>
            <a:ext cx="20182284" cy="347929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1783" y="4412664"/>
            <a:ext cx="9899190" cy="2162578"/>
          </a:xfrm>
        </p:spPr>
        <p:txBody>
          <a:bodyPr anchor="b"/>
          <a:lstStyle>
            <a:lvl1pPr marL="0" indent="0">
              <a:buNone/>
              <a:defRPr sz="6142" b="1"/>
            </a:lvl1pPr>
            <a:lvl2pPr marL="1169975" indent="0">
              <a:buNone/>
              <a:defRPr sz="5118" b="1"/>
            </a:lvl2pPr>
            <a:lvl3pPr marL="2339950" indent="0">
              <a:buNone/>
              <a:defRPr sz="4606" b="1"/>
            </a:lvl3pPr>
            <a:lvl4pPr marL="3509924" indent="0">
              <a:buNone/>
              <a:defRPr sz="4094" b="1"/>
            </a:lvl4pPr>
            <a:lvl5pPr marL="4679899" indent="0">
              <a:buNone/>
              <a:defRPr sz="4094" b="1"/>
            </a:lvl5pPr>
            <a:lvl6pPr marL="5849874" indent="0">
              <a:buNone/>
              <a:defRPr sz="4094" b="1"/>
            </a:lvl6pPr>
            <a:lvl7pPr marL="7019849" indent="0">
              <a:buNone/>
              <a:defRPr sz="4094" b="1"/>
            </a:lvl7pPr>
            <a:lvl8pPr marL="8189824" indent="0">
              <a:buNone/>
              <a:defRPr sz="4094" b="1"/>
            </a:lvl8pPr>
            <a:lvl9pPr marL="9359798" indent="0">
              <a:buNone/>
              <a:defRPr sz="40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1783" y="6575242"/>
            <a:ext cx="9899190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846124" y="4412664"/>
            <a:ext cx="9947942" cy="2162578"/>
          </a:xfrm>
        </p:spPr>
        <p:txBody>
          <a:bodyPr anchor="b"/>
          <a:lstStyle>
            <a:lvl1pPr marL="0" indent="0">
              <a:buNone/>
              <a:defRPr sz="6142" b="1"/>
            </a:lvl1pPr>
            <a:lvl2pPr marL="1169975" indent="0">
              <a:buNone/>
              <a:defRPr sz="5118" b="1"/>
            </a:lvl2pPr>
            <a:lvl3pPr marL="2339950" indent="0">
              <a:buNone/>
              <a:defRPr sz="4606" b="1"/>
            </a:lvl3pPr>
            <a:lvl4pPr marL="3509924" indent="0">
              <a:buNone/>
              <a:defRPr sz="4094" b="1"/>
            </a:lvl4pPr>
            <a:lvl5pPr marL="4679899" indent="0">
              <a:buNone/>
              <a:defRPr sz="4094" b="1"/>
            </a:lvl5pPr>
            <a:lvl6pPr marL="5849874" indent="0">
              <a:buNone/>
              <a:defRPr sz="4094" b="1"/>
            </a:lvl6pPr>
            <a:lvl7pPr marL="7019849" indent="0">
              <a:buNone/>
              <a:defRPr sz="4094" b="1"/>
            </a:lvl7pPr>
            <a:lvl8pPr marL="8189824" indent="0">
              <a:buNone/>
              <a:defRPr sz="4094" b="1"/>
            </a:lvl8pPr>
            <a:lvl9pPr marL="9359798" indent="0">
              <a:buNone/>
              <a:defRPr sz="40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846124" y="6575242"/>
            <a:ext cx="9947942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0923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792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342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1200044"/>
            <a:ext cx="7547028" cy="4200155"/>
          </a:xfrm>
        </p:spPr>
        <p:txBody>
          <a:bodyPr anchor="b"/>
          <a:lstStyle>
            <a:lvl1pPr>
              <a:defRPr sz="818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7942" y="2591766"/>
            <a:ext cx="11846123" cy="12792138"/>
          </a:xfrm>
        </p:spPr>
        <p:txBody>
          <a:bodyPr/>
          <a:lstStyle>
            <a:lvl1pPr>
              <a:defRPr sz="8189"/>
            </a:lvl1pPr>
            <a:lvl2pPr>
              <a:defRPr sz="7165"/>
            </a:lvl2pPr>
            <a:lvl3pPr>
              <a:defRPr sz="6142"/>
            </a:lvl3pPr>
            <a:lvl4pPr>
              <a:defRPr sz="5118"/>
            </a:lvl4pPr>
            <a:lvl5pPr>
              <a:defRPr sz="5118"/>
            </a:lvl5pPr>
            <a:lvl6pPr>
              <a:defRPr sz="5118"/>
            </a:lvl6pPr>
            <a:lvl7pPr>
              <a:defRPr sz="5118"/>
            </a:lvl7pPr>
            <a:lvl8pPr>
              <a:defRPr sz="5118"/>
            </a:lvl8pPr>
            <a:lvl9pPr>
              <a:defRPr sz="511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5400199"/>
            <a:ext cx="7547028" cy="10004536"/>
          </a:xfrm>
        </p:spPr>
        <p:txBody>
          <a:bodyPr/>
          <a:lstStyle>
            <a:lvl1pPr marL="0" indent="0">
              <a:buNone/>
              <a:defRPr sz="4094"/>
            </a:lvl1pPr>
            <a:lvl2pPr marL="1169975" indent="0">
              <a:buNone/>
              <a:defRPr sz="3583"/>
            </a:lvl2pPr>
            <a:lvl3pPr marL="2339950" indent="0">
              <a:buNone/>
              <a:defRPr sz="3071"/>
            </a:lvl3pPr>
            <a:lvl4pPr marL="3509924" indent="0">
              <a:buNone/>
              <a:defRPr sz="2559"/>
            </a:lvl4pPr>
            <a:lvl5pPr marL="4679899" indent="0">
              <a:buNone/>
              <a:defRPr sz="2559"/>
            </a:lvl5pPr>
            <a:lvl6pPr marL="5849874" indent="0">
              <a:buNone/>
              <a:defRPr sz="2559"/>
            </a:lvl6pPr>
            <a:lvl7pPr marL="7019849" indent="0">
              <a:buNone/>
              <a:defRPr sz="2559"/>
            </a:lvl7pPr>
            <a:lvl8pPr marL="8189824" indent="0">
              <a:buNone/>
              <a:defRPr sz="2559"/>
            </a:lvl8pPr>
            <a:lvl9pPr marL="9359798" indent="0">
              <a:buNone/>
              <a:defRPr sz="2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641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1200044"/>
            <a:ext cx="7547028" cy="4200155"/>
          </a:xfrm>
        </p:spPr>
        <p:txBody>
          <a:bodyPr anchor="b"/>
          <a:lstStyle>
            <a:lvl1pPr>
              <a:defRPr sz="818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947942" y="2591766"/>
            <a:ext cx="11846123" cy="12792138"/>
          </a:xfrm>
        </p:spPr>
        <p:txBody>
          <a:bodyPr anchor="t"/>
          <a:lstStyle>
            <a:lvl1pPr marL="0" indent="0">
              <a:buNone/>
              <a:defRPr sz="8189"/>
            </a:lvl1pPr>
            <a:lvl2pPr marL="1169975" indent="0">
              <a:buNone/>
              <a:defRPr sz="7165"/>
            </a:lvl2pPr>
            <a:lvl3pPr marL="2339950" indent="0">
              <a:buNone/>
              <a:defRPr sz="6142"/>
            </a:lvl3pPr>
            <a:lvl4pPr marL="3509924" indent="0">
              <a:buNone/>
              <a:defRPr sz="5118"/>
            </a:lvl4pPr>
            <a:lvl5pPr marL="4679899" indent="0">
              <a:buNone/>
              <a:defRPr sz="5118"/>
            </a:lvl5pPr>
            <a:lvl6pPr marL="5849874" indent="0">
              <a:buNone/>
              <a:defRPr sz="5118"/>
            </a:lvl6pPr>
            <a:lvl7pPr marL="7019849" indent="0">
              <a:buNone/>
              <a:defRPr sz="5118"/>
            </a:lvl7pPr>
            <a:lvl8pPr marL="8189824" indent="0">
              <a:buNone/>
              <a:defRPr sz="5118"/>
            </a:lvl8pPr>
            <a:lvl9pPr marL="9359798" indent="0">
              <a:buNone/>
              <a:defRPr sz="511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5400199"/>
            <a:ext cx="7547028" cy="10004536"/>
          </a:xfrm>
        </p:spPr>
        <p:txBody>
          <a:bodyPr/>
          <a:lstStyle>
            <a:lvl1pPr marL="0" indent="0">
              <a:buNone/>
              <a:defRPr sz="4094"/>
            </a:lvl1pPr>
            <a:lvl2pPr marL="1169975" indent="0">
              <a:buNone/>
              <a:defRPr sz="3583"/>
            </a:lvl2pPr>
            <a:lvl3pPr marL="2339950" indent="0">
              <a:buNone/>
              <a:defRPr sz="3071"/>
            </a:lvl3pPr>
            <a:lvl4pPr marL="3509924" indent="0">
              <a:buNone/>
              <a:defRPr sz="2559"/>
            </a:lvl4pPr>
            <a:lvl5pPr marL="4679899" indent="0">
              <a:buNone/>
              <a:defRPr sz="2559"/>
            </a:lvl5pPr>
            <a:lvl6pPr marL="5849874" indent="0">
              <a:buNone/>
              <a:defRPr sz="2559"/>
            </a:lvl6pPr>
            <a:lvl7pPr marL="7019849" indent="0">
              <a:buNone/>
              <a:defRPr sz="2559"/>
            </a:lvl7pPr>
            <a:lvl8pPr marL="8189824" indent="0">
              <a:buNone/>
              <a:defRPr sz="2559"/>
            </a:lvl8pPr>
            <a:lvl9pPr marL="9359798" indent="0">
              <a:buNone/>
              <a:defRPr sz="2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696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2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745447" y="958369"/>
            <a:ext cx="5045571" cy="1525473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8734" y="958369"/>
            <a:ext cx="14844216" cy="1525473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1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8733" y="958373"/>
            <a:ext cx="20182284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8733" y="4791843"/>
            <a:ext cx="20182284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08733" y="16683952"/>
            <a:ext cx="526494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764DB-E7DF-4EA7-A1AF-05A77C280FCA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51167" y="16683952"/>
            <a:ext cx="7897416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526073" y="16683952"/>
            <a:ext cx="526494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81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339950" rtl="0" eaLnBrk="1" latinLnBrk="0" hangingPunct="1">
        <a:lnSpc>
          <a:spcPct val="90000"/>
        </a:lnSpc>
        <a:spcBef>
          <a:spcPct val="0"/>
        </a:spcBef>
        <a:buNone/>
        <a:defRPr sz="112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4987" indent="-584987" algn="l" defTabSz="2339950" rtl="0" eaLnBrk="1" latinLnBrk="0" hangingPunct="1">
        <a:lnSpc>
          <a:spcPct val="90000"/>
        </a:lnSpc>
        <a:spcBef>
          <a:spcPts val="2559"/>
        </a:spcBef>
        <a:buFont typeface="Arial" panose="020B0604020202020204" pitchFamily="34" charset="0"/>
        <a:buChar char="•"/>
        <a:defRPr sz="7165" kern="1200">
          <a:solidFill>
            <a:schemeClr val="tx1"/>
          </a:solidFill>
          <a:latin typeface="+mn-lt"/>
          <a:ea typeface="+mn-ea"/>
          <a:cs typeface="+mn-cs"/>
        </a:defRPr>
      </a:lvl1pPr>
      <a:lvl2pPr marL="1754962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2pPr>
      <a:lvl3pPr marL="2924937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5118" kern="1200">
          <a:solidFill>
            <a:schemeClr val="tx1"/>
          </a:solidFill>
          <a:latin typeface="+mn-lt"/>
          <a:ea typeface="+mn-ea"/>
          <a:cs typeface="+mn-cs"/>
        </a:defRPr>
      </a:lvl3pPr>
      <a:lvl4pPr marL="4094912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4pPr>
      <a:lvl5pPr marL="5264887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5pPr>
      <a:lvl6pPr marL="6434861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6pPr>
      <a:lvl7pPr marL="7604836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7pPr>
      <a:lvl8pPr marL="8774811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8pPr>
      <a:lvl9pPr marL="9944786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1pPr>
      <a:lvl2pPr marL="1169975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2pPr>
      <a:lvl3pPr marL="2339950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3pPr>
      <a:lvl4pPr marL="3509924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4pPr>
      <a:lvl5pPr marL="4679899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5pPr>
      <a:lvl6pPr marL="5849874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6pPr>
      <a:lvl7pPr marL="7019849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7pPr>
      <a:lvl8pPr marL="8189824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8pPr>
      <a:lvl9pPr marL="9359798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94075D25-CDA8-F234-39C9-86E1C2A49D1B}"/>
              </a:ext>
            </a:extLst>
          </p:cNvPr>
          <p:cNvSpPr/>
          <p:nvPr/>
        </p:nvSpPr>
        <p:spPr>
          <a:xfrm>
            <a:off x="6310177" y="7349419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7C349C4-9D91-1431-A139-33AEE673A522}"/>
              </a:ext>
            </a:extLst>
          </p:cNvPr>
          <p:cNvSpPr/>
          <p:nvPr/>
        </p:nvSpPr>
        <p:spPr>
          <a:xfrm>
            <a:off x="2419123" y="7349420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F6D26E3-0A36-6BB9-CF33-F53D492067FF}"/>
              </a:ext>
            </a:extLst>
          </p:cNvPr>
          <p:cNvSpPr/>
          <p:nvPr/>
        </p:nvSpPr>
        <p:spPr>
          <a:xfrm>
            <a:off x="3837389" y="8032640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93278D7-67C4-F0B3-F6BF-FFCCB4978F19}"/>
              </a:ext>
            </a:extLst>
          </p:cNvPr>
          <p:cNvSpPr/>
          <p:nvPr/>
        </p:nvSpPr>
        <p:spPr>
          <a:xfrm>
            <a:off x="2419123" y="5858526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de-DE" sz="1260">
                <a:solidFill>
                  <a:schemeClr val="tx1">
                    <a:lumMod val="75000"/>
                    <a:lumOff val="25000"/>
                  </a:schemeClr>
                </a:solidFill>
              </a:rPr>
              <a:t>mountPoint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B2D5C2F-E116-89BE-29E4-4B519C2CF449}"/>
              </a:ext>
            </a:extLst>
          </p:cNvPr>
          <p:cNvSpPr/>
          <p:nvPr/>
        </p:nvSpPr>
        <p:spPr>
          <a:xfrm>
            <a:off x="3739843" y="6490948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Zylinder 7">
            <a:extLst>
              <a:ext uri="{FF2B5EF4-FFF2-40B4-BE49-F238E27FC236}">
                <a16:creationId xmlns:a16="http://schemas.microsoft.com/office/drawing/2014/main" id="{D161311A-2E17-E871-FE81-80AA99818B20}"/>
              </a:ext>
            </a:extLst>
          </p:cNvPr>
          <p:cNvSpPr/>
          <p:nvPr/>
        </p:nvSpPr>
        <p:spPr>
          <a:xfrm>
            <a:off x="2510554" y="8995244"/>
            <a:ext cx="1493432" cy="497810"/>
          </a:xfrm>
          <a:prstGeom prst="can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Device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CAE96537-E936-312C-60B5-FE43AD1A2FC6}"/>
              </a:ext>
            </a:extLst>
          </p:cNvPr>
          <p:cNvCxnSpPr>
            <a:stCxn id="7" idx="4"/>
            <a:endCxn id="5" idx="0"/>
          </p:cNvCxnSpPr>
          <p:nvPr/>
        </p:nvCxnSpPr>
        <p:spPr>
          <a:xfrm>
            <a:off x="3882075" y="6755090"/>
            <a:ext cx="97546" cy="1277548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1800BDA-43AD-0104-65C4-D6CFC3B1562D}"/>
              </a:ext>
            </a:extLst>
          </p:cNvPr>
          <p:cNvCxnSpPr>
            <a:cxnSpLocks/>
            <a:endCxn id="8" idx="1"/>
          </p:cNvCxnSpPr>
          <p:nvPr/>
        </p:nvCxnSpPr>
        <p:spPr>
          <a:xfrm flipH="1">
            <a:off x="3257273" y="8302540"/>
            <a:ext cx="761787" cy="692704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3A05DC17-DAE3-78F9-5748-64AE45B31731}"/>
              </a:ext>
            </a:extLst>
          </p:cNvPr>
          <p:cNvSpPr/>
          <p:nvPr/>
        </p:nvSpPr>
        <p:spPr>
          <a:xfrm>
            <a:off x="4334173" y="7349420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EF28868-5936-866F-7C3F-0E410A50F686}"/>
              </a:ext>
            </a:extLst>
          </p:cNvPr>
          <p:cNvSpPr/>
          <p:nvPr/>
        </p:nvSpPr>
        <p:spPr>
          <a:xfrm>
            <a:off x="5764555" y="7991462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224F990-E855-9514-65F0-543CB1D3B36A}"/>
              </a:ext>
            </a:extLst>
          </p:cNvPr>
          <p:cNvSpPr/>
          <p:nvPr/>
        </p:nvSpPr>
        <p:spPr>
          <a:xfrm>
            <a:off x="4334173" y="5858526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de-DE" sz="1260">
                <a:solidFill>
                  <a:schemeClr val="tx1">
                    <a:lumMod val="75000"/>
                    <a:lumOff val="25000"/>
                  </a:schemeClr>
                </a:solidFill>
              </a:rPr>
              <a:t>mountPoint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52F294C-EC06-861E-F435-8E1EEF0B5924}"/>
              </a:ext>
            </a:extLst>
          </p:cNvPr>
          <p:cNvSpPr/>
          <p:nvPr/>
        </p:nvSpPr>
        <p:spPr>
          <a:xfrm>
            <a:off x="5675213" y="6559819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Zylinder 19">
            <a:extLst>
              <a:ext uri="{FF2B5EF4-FFF2-40B4-BE49-F238E27FC236}">
                <a16:creationId xmlns:a16="http://schemas.microsoft.com/office/drawing/2014/main" id="{19AA76ED-7D66-4FA0-0A22-04EE5B4EB5E7}"/>
              </a:ext>
            </a:extLst>
          </p:cNvPr>
          <p:cNvSpPr/>
          <p:nvPr/>
        </p:nvSpPr>
        <p:spPr>
          <a:xfrm>
            <a:off x="4975239" y="9040960"/>
            <a:ext cx="1493432" cy="497810"/>
          </a:xfrm>
          <a:prstGeom prst="can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Device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28C82D3-6157-62FF-5BC4-2C8D8C11AD9F}"/>
              </a:ext>
            </a:extLst>
          </p:cNvPr>
          <p:cNvCxnSpPr>
            <a:cxnSpLocks/>
            <a:stCxn id="19" idx="4"/>
            <a:endCxn id="17" idx="0"/>
          </p:cNvCxnSpPr>
          <p:nvPr/>
        </p:nvCxnSpPr>
        <p:spPr>
          <a:xfrm>
            <a:off x="5817445" y="6823966"/>
            <a:ext cx="89342" cy="1167499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B5706053-3CA9-33BC-F1AF-03A1A31229D2}"/>
              </a:ext>
            </a:extLst>
          </p:cNvPr>
          <p:cNvCxnSpPr>
            <a:cxnSpLocks/>
            <a:stCxn id="17" idx="4"/>
            <a:endCxn id="20" idx="1"/>
          </p:cNvCxnSpPr>
          <p:nvPr/>
        </p:nvCxnSpPr>
        <p:spPr>
          <a:xfrm flipH="1">
            <a:off x="5721955" y="8255604"/>
            <a:ext cx="184830" cy="78535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Ellipse 25">
            <a:extLst>
              <a:ext uri="{FF2B5EF4-FFF2-40B4-BE49-F238E27FC236}">
                <a16:creationId xmlns:a16="http://schemas.microsoft.com/office/drawing/2014/main" id="{B87B4BB5-AC70-B25B-DDF9-EF790103BC1F}"/>
              </a:ext>
            </a:extLst>
          </p:cNvPr>
          <p:cNvSpPr/>
          <p:nvPr/>
        </p:nvSpPr>
        <p:spPr>
          <a:xfrm>
            <a:off x="7716773" y="7991462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2042BB0D-49EF-61D5-8DCF-4632CF1E0EC2}"/>
              </a:ext>
            </a:extLst>
          </p:cNvPr>
          <p:cNvCxnSpPr>
            <a:cxnSpLocks/>
            <a:stCxn id="26" idx="4"/>
            <a:endCxn id="20" idx="1"/>
          </p:cNvCxnSpPr>
          <p:nvPr/>
        </p:nvCxnSpPr>
        <p:spPr>
          <a:xfrm flipH="1">
            <a:off x="5721955" y="8255606"/>
            <a:ext cx="2137050" cy="785354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E93C0B71-E0BF-D97B-B0EE-B313C364AC2E}"/>
              </a:ext>
            </a:extLst>
          </p:cNvPr>
          <p:cNvSpPr/>
          <p:nvPr/>
        </p:nvSpPr>
        <p:spPr>
          <a:xfrm>
            <a:off x="8230308" y="7349420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A18DF9C9-1030-8F4C-1A21-64AC0FFBDCD5}"/>
              </a:ext>
            </a:extLst>
          </p:cNvPr>
          <p:cNvSpPr/>
          <p:nvPr/>
        </p:nvSpPr>
        <p:spPr>
          <a:xfrm>
            <a:off x="9624170" y="7952712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AEE19B6F-403D-1598-718B-9BBA177643B9}"/>
              </a:ext>
            </a:extLst>
          </p:cNvPr>
          <p:cNvSpPr/>
          <p:nvPr/>
        </p:nvSpPr>
        <p:spPr>
          <a:xfrm>
            <a:off x="8230308" y="5858526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de-DE" sz="1260">
                <a:solidFill>
                  <a:schemeClr val="tx1">
                    <a:lumMod val="75000"/>
                    <a:lumOff val="25000"/>
                  </a:schemeClr>
                </a:solidFill>
              </a:rPr>
              <a:t>mountPoint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E7C64477-9CE2-C926-A0C1-67AB78210D07}"/>
              </a:ext>
            </a:extLst>
          </p:cNvPr>
          <p:cNvSpPr/>
          <p:nvPr/>
        </p:nvSpPr>
        <p:spPr>
          <a:xfrm>
            <a:off x="9571547" y="6579424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Zylinder 41">
            <a:extLst>
              <a:ext uri="{FF2B5EF4-FFF2-40B4-BE49-F238E27FC236}">
                <a16:creationId xmlns:a16="http://schemas.microsoft.com/office/drawing/2014/main" id="{7CFD1A68-A4B8-1784-05D5-10C1CB2E49DD}"/>
              </a:ext>
            </a:extLst>
          </p:cNvPr>
          <p:cNvSpPr/>
          <p:nvPr/>
        </p:nvSpPr>
        <p:spPr>
          <a:xfrm>
            <a:off x="8938476" y="9071437"/>
            <a:ext cx="1493432" cy="497810"/>
          </a:xfrm>
          <a:prstGeom prst="can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Device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413A8BC9-CE02-780A-C1DA-91D909D2FA52}"/>
              </a:ext>
            </a:extLst>
          </p:cNvPr>
          <p:cNvCxnSpPr>
            <a:cxnSpLocks/>
            <a:stCxn id="39" idx="4"/>
            <a:endCxn id="42" idx="1"/>
          </p:cNvCxnSpPr>
          <p:nvPr/>
        </p:nvCxnSpPr>
        <p:spPr>
          <a:xfrm flipH="1">
            <a:off x="9685194" y="8216857"/>
            <a:ext cx="81209" cy="854583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5" name="Rechteck 44">
            <a:extLst>
              <a:ext uri="{FF2B5EF4-FFF2-40B4-BE49-F238E27FC236}">
                <a16:creationId xmlns:a16="http://schemas.microsoft.com/office/drawing/2014/main" id="{DC9D3973-C0FB-B4D9-78CA-126B6555F912}"/>
              </a:ext>
            </a:extLst>
          </p:cNvPr>
          <p:cNvSpPr/>
          <p:nvPr/>
        </p:nvSpPr>
        <p:spPr>
          <a:xfrm>
            <a:off x="10206312" y="7349419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46DFFB4E-977E-9DC9-A3B7-B6EC25621D5A}"/>
              </a:ext>
            </a:extLst>
          </p:cNvPr>
          <p:cNvSpPr/>
          <p:nvPr/>
        </p:nvSpPr>
        <p:spPr>
          <a:xfrm>
            <a:off x="11619003" y="8091055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F062F8D0-B3DD-E184-09B4-16CC109D8EB0}"/>
              </a:ext>
            </a:extLst>
          </p:cNvPr>
          <p:cNvCxnSpPr>
            <a:cxnSpLocks/>
            <a:stCxn id="46" idx="2"/>
            <a:endCxn id="42" idx="1"/>
          </p:cNvCxnSpPr>
          <p:nvPr/>
        </p:nvCxnSpPr>
        <p:spPr>
          <a:xfrm flipH="1">
            <a:off x="9685195" y="8223127"/>
            <a:ext cx="1933811" cy="84831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3F506CE4-9050-3E1A-7709-FA037DC2D9BA}"/>
              </a:ext>
            </a:extLst>
          </p:cNvPr>
          <p:cNvCxnSpPr>
            <a:cxnSpLocks/>
            <a:stCxn id="41" idx="4"/>
          </p:cNvCxnSpPr>
          <p:nvPr/>
        </p:nvCxnSpPr>
        <p:spPr>
          <a:xfrm>
            <a:off x="9713782" y="6843568"/>
            <a:ext cx="1055917" cy="1147894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18189E7C-C9B6-7EC8-C814-44E1E84D7C4E}"/>
              </a:ext>
            </a:extLst>
          </p:cNvPr>
          <p:cNvCxnSpPr/>
          <p:nvPr/>
        </p:nvCxnSpPr>
        <p:spPr>
          <a:xfrm>
            <a:off x="4222414" y="5097844"/>
            <a:ext cx="0" cy="48981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76985AFB-6F05-C92E-F1A7-C2E049F6C3D0}"/>
              </a:ext>
            </a:extLst>
          </p:cNvPr>
          <p:cNvCxnSpPr/>
          <p:nvPr/>
        </p:nvCxnSpPr>
        <p:spPr>
          <a:xfrm>
            <a:off x="8113472" y="5102927"/>
            <a:ext cx="0" cy="48981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feld 75">
            <a:extLst>
              <a:ext uri="{FF2B5EF4-FFF2-40B4-BE49-F238E27FC236}">
                <a16:creationId xmlns:a16="http://schemas.microsoft.com/office/drawing/2014/main" id="{189D6A6E-DA6D-0D05-8121-CD49CA608112}"/>
              </a:ext>
            </a:extLst>
          </p:cNvPr>
          <p:cNvSpPr txBox="1"/>
          <p:nvPr/>
        </p:nvSpPr>
        <p:spPr>
          <a:xfrm>
            <a:off x="2419124" y="5080092"/>
            <a:ext cx="86857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0"/>
              <a:t>Sate1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7B2C5807-4978-BFC4-0C9B-52EB3A1BD31F}"/>
              </a:ext>
            </a:extLst>
          </p:cNvPr>
          <p:cNvSpPr txBox="1"/>
          <p:nvPr/>
        </p:nvSpPr>
        <p:spPr>
          <a:xfrm>
            <a:off x="4522121" y="5072470"/>
            <a:ext cx="1013354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0"/>
              <a:t>State 2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9BC017A0-BBF2-3218-075F-C49555D27F7C}"/>
              </a:ext>
            </a:extLst>
          </p:cNvPr>
          <p:cNvSpPr txBox="1"/>
          <p:nvPr/>
        </p:nvSpPr>
        <p:spPr>
          <a:xfrm>
            <a:off x="8362384" y="5082631"/>
            <a:ext cx="42030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0"/>
              <a:t>…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CFA04D4-8464-CFF4-EF11-00806DD1F0E6}"/>
              </a:ext>
            </a:extLst>
          </p:cNvPr>
          <p:cNvSpPr/>
          <p:nvPr/>
        </p:nvSpPr>
        <p:spPr>
          <a:xfrm>
            <a:off x="12141908" y="7349420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FA8063DB-0350-14BA-00A7-1A33D8DD68D1}"/>
              </a:ext>
            </a:extLst>
          </p:cNvPr>
          <p:cNvSpPr/>
          <p:nvPr/>
        </p:nvSpPr>
        <p:spPr>
          <a:xfrm>
            <a:off x="13535770" y="7952712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86B998D-D668-245F-D642-BF661032B272}"/>
              </a:ext>
            </a:extLst>
          </p:cNvPr>
          <p:cNvSpPr/>
          <p:nvPr/>
        </p:nvSpPr>
        <p:spPr>
          <a:xfrm>
            <a:off x="12141908" y="5858526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de-DE" sz="1260">
                <a:solidFill>
                  <a:schemeClr val="tx1">
                    <a:lumMod val="75000"/>
                    <a:lumOff val="25000"/>
                  </a:schemeClr>
                </a:solidFill>
              </a:rPr>
              <a:t>mountPoint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98E40CAA-E109-688B-D101-83643A48623F}"/>
              </a:ext>
            </a:extLst>
          </p:cNvPr>
          <p:cNvSpPr/>
          <p:nvPr/>
        </p:nvSpPr>
        <p:spPr>
          <a:xfrm>
            <a:off x="13483147" y="6579424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Zylinder 31">
            <a:extLst>
              <a:ext uri="{FF2B5EF4-FFF2-40B4-BE49-F238E27FC236}">
                <a16:creationId xmlns:a16="http://schemas.microsoft.com/office/drawing/2014/main" id="{08C5657F-733F-CF27-87B6-B4CD926E6DBA}"/>
              </a:ext>
            </a:extLst>
          </p:cNvPr>
          <p:cNvSpPr/>
          <p:nvPr/>
        </p:nvSpPr>
        <p:spPr>
          <a:xfrm>
            <a:off x="12850076" y="9071437"/>
            <a:ext cx="1493432" cy="497810"/>
          </a:xfrm>
          <a:prstGeom prst="can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Device</a:t>
            </a: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E18F2D3E-B85D-85A7-6F69-4DEE2599B3F0}"/>
              </a:ext>
            </a:extLst>
          </p:cNvPr>
          <p:cNvCxnSpPr>
            <a:cxnSpLocks/>
            <a:stCxn id="29" idx="4"/>
            <a:endCxn id="32" idx="1"/>
          </p:cNvCxnSpPr>
          <p:nvPr/>
        </p:nvCxnSpPr>
        <p:spPr>
          <a:xfrm flipH="1">
            <a:off x="13596794" y="8216857"/>
            <a:ext cx="81209" cy="854583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65927F4D-6693-3B1A-72AA-47667F1B3C6D}"/>
              </a:ext>
            </a:extLst>
          </p:cNvPr>
          <p:cNvSpPr/>
          <p:nvPr/>
        </p:nvSpPr>
        <p:spPr>
          <a:xfrm>
            <a:off x="14117912" y="7349419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CD45C68A-5907-B2C9-7E47-D80D1AF79BA0}"/>
              </a:ext>
            </a:extLst>
          </p:cNvPr>
          <p:cNvSpPr/>
          <p:nvPr/>
        </p:nvSpPr>
        <p:spPr>
          <a:xfrm>
            <a:off x="15530603" y="8091055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5AC32AE9-C35E-662B-CE04-AF25FE7E44AF}"/>
              </a:ext>
            </a:extLst>
          </p:cNvPr>
          <p:cNvCxnSpPr>
            <a:cxnSpLocks/>
            <a:stCxn id="35" idx="2"/>
            <a:endCxn id="32" idx="1"/>
          </p:cNvCxnSpPr>
          <p:nvPr/>
        </p:nvCxnSpPr>
        <p:spPr>
          <a:xfrm flipH="1">
            <a:off x="13596795" y="8223127"/>
            <a:ext cx="1933811" cy="84831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7F51B4D-B23E-98A7-A78C-E7FE1E615931}"/>
              </a:ext>
            </a:extLst>
          </p:cNvPr>
          <p:cNvCxnSpPr>
            <a:cxnSpLocks/>
            <a:stCxn id="31" idx="4"/>
            <a:endCxn id="35" idx="1"/>
          </p:cNvCxnSpPr>
          <p:nvPr/>
        </p:nvCxnSpPr>
        <p:spPr>
          <a:xfrm>
            <a:off x="13625382" y="6843568"/>
            <a:ext cx="1946883" cy="128617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8" name="Rechteck 47">
            <a:extLst>
              <a:ext uri="{FF2B5EF4-FFF2-40B4-BE49-F238E27FC236}">
                <a16:creationId xmlns:a16="http://schemas.microsoft.com/office/drawing/2014/main" id="{3FB701FB-6985-6C08-2EF4-B83C5A03B45F}"/>
              </a:ext>
            </a:extLst>
          </p:cNvPr>
          <p:cNvSpPr/>
          <p:nvPr/>
        </p:nvSpPr>
        <p:spPr>
          <a:xfrm>
            <a:off x="15987247" y="7349420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endParaRPr lang="de-DE" sz="132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0F1571F3-7F52-8FC2-83B8-7F3582351EFE}"/>
              </a:ext>
            </a:extLst>
          </p:cNvPr>
          <p:cNvSpPr/>
          <p:nvPr/>
        </p:nvSpPr>
        <p:spPr>
          <a:xfrm>
            <a:off x="15987247" y="5858526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de-DE" sz="1260">
                <a:solidFill>
                  <a:schemeClr val="tx1">
                    <a:lumMod val="75000"/>
                    <a:lumOff val="25000"/>
                  </a:schemeClr>
                </a:solidFill>
              </a:rPr>
              <a:t>mountPoint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B4F67C50-22D3-3DD0-1B70-E21AA58E383E}"/>
              </a:ext>
            </a:extLst>
          </p:cNvPr>
          <p:cNvSpPr/>
          <p:nvPr/>
        </p:nvSpPr>
        <p:spPr>
          <a:xfrm>
            <a:off x="17297809" y="6531584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9" name="Zylinder 58">
            <a:extLst>
              <a:ext uri="{FF2B5EF4-FFF2-40B4-BE49-F238E27FC236}">
                <a16:creationId xmlns:a16="http://schemas.microsoft.com/office/drawing/2014/main" id="{296D4B84-45FB-F326-0011-A9722BE5F162}"/>
              </a:ext>
            </a:extLst>
          </p:cNvPr>
          <p:cNvSpPr/>
          <p:nvPr/>
        </p:nvSpPr>
        <p:spPr>
          <a:xfrm>
            <a:off x="16662847" y="9040960"/>
            <a:ext cx="1493432" cy="497810"/>
          </a:xfrm>
          <a:prstGeom prst="can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Device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6B8D4334-24BE-63F6-0351-BBC1E4026722}"/>
              </a:ext>
            </a:extLst>
          </p:cNvPr>
          <p:cNvSpPr/>
          <p:nvPr/>
        </p:nvSpPr>
        <p:spPr>
          <a:xfrm>
            <a:off x="17963252" y="7349419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9575412C-609D-E06C-40F6-04AAE4BABA67}"/>
              </a:ext>
            </a:extLst>
          </p:cNvPr>
          <p:cNvSpPr/>
          <p:nvPr/>
        </p:nvSpPr>
        <p:spPr>
          <a:xfrm>
            <a:off x="19327608" y="8061948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0FA22D83-E249-D68C-C407-44DE9F9DEDB5}"/>
              </a:ext>
            </a:extLst>
          </p:cNvPr>
          <p:cNvCxnSpPr>
            <a:cxnSpLocks/>
            <a:stCxn id="61" idx="2"/>
            <a:endCxn id="59" idx="1"/>
          </p:cNvCxnSpPr>
          <p:nvPr/>
        </p:nvCxnSpPr>
        <p:spPr>
          <a:xfrm flipH="1">
            <a:off x="17409566" y="8194020"/>
            <a:ext cx="1918045" cy="84694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49B3D795-1BD8-E0FC-B7B9-0E6BAC54303F}"/>
              </a:ext>
            </a:extLst>
          </p:cNvPr>
          <p:cNvCxnSpPr>
            <a:cxnSpLocks/>
            <a:stCxn id="54" idx="4"/>
            <a:endCxn id="61" idx="1"/>
          </p:cNvCxnSpPr>
          <p:nvPr/>
        </p:nvCxnSpPr>
        <p:spPr>
          <a:xfrm>
            <a:off x="17440041" y="6795731"/>
            <a:ext cx="1929226" cy="1304903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DBBE4409-667C-9E2E-3880-75471AAEDFE4}"/>
              </a:ext>
            </a:extLst>
          </p:cNvPr>
          <p:cNvCxnSpPr/>
          <p:nvPr/>
        </p:nvCxnSpPr>
        <p:spPr>
          <a:xfrm>
            <a:off x="12025072" y="5102927"/>
            <a:ext cx="0" cy="48981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7870ED2E-2366-F9BF-70EC-96AA5E0DCEF9}"/>
              </a:ext>
            </a:extLst>
          </p:cNvPr>
          <p:cNvCxnSpPr/>
          <p:nvPr/>
        </p:nvCxnSpPr>
        <p:spPr>
          <a:xfrm>
            <a:off x="15885645" y="5108002"/>
            <a:ext cx="0" cy="48981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feld 65">
            <a:extLst>
              <a:ext uri="{FF2B5EF4-FFF2-40B4-BE49-F238E27FC236}">
                <a16:creationId xmlns:a16="http://schemas.microsoft.com/office/drawing/2014/main" id="{B760A0B0-C77F-4115-9648-6048E0863E44}"/>
              </a:ext>
            </a:extLst>
          </p:cNvPr>
          <p:cNvSpPr txBox="1"/>
          <p:nvPr/>
        </p:nvSpPr>
        <p:spPr>
          <a:xfrm>
            <a:off x="12273984" y="5082631"/>
            <a:ext cx="1013354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0"/>
              <a:t>State 3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B0048E22-0A2D-74E6-3D21-0181016AD3B6}"/>
              </a:ext>
            </a:extLst>
          </p:cNvPr>
          <p:cNvSpPr txBox="1"/>
          <p:nvPr/>
        </p:nvSpPr>
        <p:spPr>
          <a:xfrm>
            <a:off x="16161461" y="5072470"/>
            <a:ext cx="1013354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0"/>
              <a:t>State 4</a:t>
            </a:r>
          </a:p>
        </p:txBody>
      </p:sp>
      <p:sp>
        <p:nvSpPr>
          <p:cNvPr id="69" name="Pfeil: nach oben 68">
            <a:extLst>
              <a:ext uri="{FF2B5EF4-FFF2-40B4-BE49-F238E27FC236}">
                <a16:creationId xmlns:a16="http://schemas.microsoft.com/office/drawing/2014/main" id="{8E659198-4832-FABD-6FC4-4C5B4FCBADCD}"/>
              </a:ext>
            </a:extLst>
          </p:cNvPr>
          <p:cNvSpPr/>
          <p:nvPr/>
        </p:nvSpPr>
        <p:spPr>
          <a:xfrm>
            <a:off x="9380343" y="5142287"/>
            <a:ext cx="326297" cy="695503"/>
          </a:xfrm>
          <a:prstGeom prst="upArrow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CB18D3D7-84D4-4E6E-CA57-BA4CC28D4132}"/>
              </a:ext>
            </a:extLst>
          </p:cNvPr>
          <p:cNvSpPr txBox="1"/>
          <p:nvPr/>
        </p:nvSpPr>
        <p:spPr>
          <a:xfrm>
            <a:off x="9642211" y="5277669"/>
            <a:ext cx="1586460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0"/>
              <a:t>Notification</a:t>
            </a:r>
          </a:p>
        </p:txBody>
      </p:sp>
      <p:sp>
        <p:nvSpPr>
          <p:cNvPr id="71" name="Gewitterblitz 70">
            <a:extLst>
              <a:ext uri="{FF2B5EF4-FFF2-40B4-BE49-F238E27FC236}">
                <a16:creationId xmlns:a16="http://schemas.microsoft.com/office/drawing/2014/main" id="{A357F203-11EC-F0F7-7992-A76C6B4D1C1F}"/>
              </a:ext>
            </a:extLst>
          </p:cNvPr>
          <p:cNvSpPr/>
          <p:nvPr/>
        </p:nvSpPr>
        <p:spPr>
          <a:xfrm>
            <a:off x="8867937" y="5417478"/>
            <a:ext cx="585738" cy="778431"/>
          </a:xfrm>
          <a:prstGeom prst="lightningBol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083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llipse 26">
            <a:extLst>
              <a:ext uri="{FF2B5EF4-FFF2-40B4-BE49-F238E27FC236}">
                <a16:creationId xmlns:a16="http://schemas.microsoft.com/office/drawing/2014/main" id="{15DF8775-8456-3A39-C387-9A6912D056E9}"/>
              </a:ext>
            </a:extLst>
          </p:cNvPr>
          <p:cNvSpPr/>
          <p:nvPr/>
        </p:nvSpPr>
        <p:spPr>
          <a:xfrm>
            <a:off x="6217383" y="6913065"/>
            <a:ext cx="3902904" cy="138000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ControllerDomainManager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AD05EB0-1C43-D322-A732-261066A2DF0F}"/>
              </a:ext>
            </a:extLst>
          </p:cNvPr>
          <p:cNvSpPr/>
          <p:nvPr/>
        </p:nvSpPr>
        <p:spPr>
          <a:xfrm>
            <a:off x="17641998" y="8778630"/>
            <a:ext cx="1255576" cy="452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Device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93D79AF-9840-B4AF-DF86-97495DC7E728}"/>
              </a:ext>
            </a:extLst>
          </p:cNvPr>
          <p:cNvSpPr/>
          <p:nvPr/>
        </p:nvSpPr>
        <p:spPr>
          <a:xfrm>
            <a:off x="13253356" y="8778630"/>
            <a:ext cx="1255576" cy="4524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Mediator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EA288BE-768B-B7C7-C6FD-32DC2F9FB279}"/>
              </a:ext>
            </a:extLst>
          </p:cNvPr>
          <p:cNvSpPr/>
          <p:nvPr/>
        </p:nvSpPr>
        <p:spPr>
          <a:xfrm>
            <a:off x="8864713" y="8778630"/>
            <a:ext cx="1255576" cy="45246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Controller</a:t>
            </a: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F9CD254C-5DC3-5E2F-29F4-F6DDF5F2842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10120289" y="9004860"/>
            <a:ext cx="3133066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B9345A38-7290-FBD7-F3A7-C9F883A43FFC}"/>
              </a:ext>
            </a:extLst>
          </p:cNvPr>
          <p:cNvCxnSpPr>
            <a:stCxn id="11" idx="3"/>
            <a:endCxn id="7" idx="1"/>
          </p:cNvCxnSpPr>
          <p:nvPr/>
        </p:nvCxnSpPr>
        <p:spPr>
          <a:xfrm>
            <a:off x="14508931" y="9004860"/>
            <a:ext cx="31330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583442E4-EFB5-9008-7E1D-1468FAE5EA69}"/>
              </a:ext>
            </a:extLst>
          </p:cNvPr>
          <p:cNvSpPr/>
          <p:nvPr/>
        </p:nvSpPr>
        <p:spPr>
          <a:xfrm>
            <a:off x="4961808" y="8778630"/>
            <a:ext cx="1255576" cy="45246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C3641E5C-EF3C-B0EE-624D-188F5F10047A}"/>
              </a:ext>
            </a:extLst>
          </p:cNvPr>
          <p:cNvCxnSpPr>
            <a:cxnSpLocks/>
            <a:stCxn id="29" idx="3"/>
            <a:endCxn id="12" idx="1"/>
          </p:cNvCxnSpPr>
          <p:nvPr/>
        </p:nvCxnSpPr>
        <p:spPr>
          <a:xfrm>
            <a:off x="6217387" y="9004860"/>
            <a:ext cx="264732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294E5044-37A3-930B-5093-B91957397826}"/>
              </a:ext>
            </a:extLst>
          </p:cNvPr>
          <p:cNvSpPr/>
          <p:nvPr/>
        </p:nvSpPr>
        <p:spPr>
          <a:xfrm>
            <a:off x="10672353" y="4868689"/>
            <a:ext cx="1255576" cy="45246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LiveDomainManager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7FDBE0D-9BAE-71BB-0399-953CABAEAA46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6217386" y="3920575"/>
            <a:ext cx="1142461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109D0C59-D120-76CC-3E13-2E8B044E2645}"/>
              </a:ext>
            </a:extLst>
          </p:cNvPr>
          <p:cNvSpPr/>
          <p:nvPr/>
        </p:nvSpPr>
        <p:spPr>
          <a:xfrm>
            <a:off x="4961807" y="3694345"/>
            <a:ext cx="1255576" cy="45246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4216C26-482B-3A23-53D0-0AC91F2E3317}"/>
              </a:ext>
            </a:extLst>
          </p:cNvPr>
          <p:cNvSpPr/>
          <p:nvPr/>
        </p:nvSpPr>
        <p:spPr>
          <a:xfrm>
            <a:off x="17641998" y="3694345"/>
            <a:ext cx="1255576" cy="452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Device</a:t>
            </a:r>
          </a:p>
        </p:txBody>
      </p:sp>
      <p:sp>
        <p:nvSpPr>
          <p:cNvPr id="47" name="Pfeil: nach unten 46">
            <a:extLst>
              <a:ext uri="{FF2B5EF4-FFF2-40B4-BE49-F238E27FC236}">
                <a16:creationId xmlns:a16="http://schemas.microsoft.com/office/drawing/2014/main" id="{9D742086-4DBE-B082-B3CE-0288C173FD75}"/>
              </a:ext>
            </a:extLst>
          </p:cNvPr>
          <p:cNvSpPr/>
          <p:nvPr/>
        </p:nvSpPr>
        <p:spPr>
          <a:xfrm rot="11161196">
            <a:off x="11164402" y="4200136"/>
            <a:ext cx="271476" cy="408147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48" name="Pfeil: nach unten 47">
            <a:extLst>
              <a:ext uri="{FF2B5EF4-FFF2-40B4-BE49-F238E27FC236}">
                <a16:creationId xmlns:a16="http://schemas.microsoft.com/office/drawing/2014/main" id="{4EBDD885-493F-898D-D26C-99811B575D4C}"/>
              </a:ext>
            </a:extLst>
          </p:cNvPr>
          <p:cNvSpPr/>
          <p:nvPr/>
        </p:nvSpPr>
        <p:spPr>
          <a:xfrm rot="13604950">
            <a:off x="8297882" y="5695575"/>
            <a:ext cx="271476" cy="41460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49" name="Pfeil: nach unten 48">
            <a:extLst>
              <a:ext uri="{FF2B5EF4-FFF2-40B4-BE49-F238E27FC236}">
                <a16:creationId xmlns:a16="http://schemas.microsoft.com/office/drawing/2014/main" id="{FFDC376D-DA84-9C09-0ACA-F3EE0533B57A}"/>
              </a:ext>
            </a:extLst>
          </p:cNvPr>
          <p:cNvSpPr/>
          <p:nvPr/>
        </p:nvSpPr>
        <p:spPr>
          <a:xfrm rot="6592321">
            <a:off x="13720689" y="5176375"/>
            <a:ext cx="271476" cy="1289509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9ED5A9BD-057D-5BD6-D147-09920CB2582A}"/>
              </a:ext>
            </a:extLst>
          </p:cNvPr>
          <p:cNvSpPr/>
          <p:nvPr/>
        </p:nvSpPr>
        <p:spPr>
          <a:xfrm>
            <a:off x="10120290" y="6691462"/>
            <a:ext cx="8777285" cy="184377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DeviceDomainManager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54E655E-2B34-B04D-3363-A302E7369520}"/>
              </a:ext>
            </a:extLst>
          </p:cNvPr>
          <p:cNvSpPr/>
          <p:nvPr/>
        </p:nvSpPr>
        <p:spPr>
          <a:xfrm>
            <a:off x="14508929" y="6917690"/>
            <a:ext cx="4388642" cy="13800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MIM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630BD30-CC38-FB1F-F6DE-5513D494C452}"/>
              </a:ext>
            </a:extLst>
          </p:cNvPr>
          <p:cNvCxnSpPr>
            <a:cxnSpLocks/>
          </p:cNvCxnSpPr>
          <p:nvPr/>
        </p:nvCxnSpPr>
        <p:spPr>
          <a:xfrm>
            <a:off x="6217387" y="6395331"/>
            <a:ext cx="264732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4843FC30-AB65-AA48-C611-856241EA0340}"/>
              </a:ext>
            </a:extLst>
          </p:cNvPr>
          <p:cNvCxnSpPr>
            <a:cxnSpLocks/>
          </p:cNvCxnSpPr>
          <p:nvPr/>
        </p:nvCxnSpPr>
        <p:spPr>
          <a:xfrm>
            <a:off x="8864713" y="6484231"/>
            <a:ext cx="125557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6DB98520-FB80-D721-EFDC-E78AEAA20F2D}"/>
              </a:ext>
            </a:extLst>
          </p:cNvPr>
          <p:cNvCxnSpPr>
            <a:cxnSpLocks/>
          </p:cNvCxnSpPr>
          <p:nvPr/>
        </p:nvCxnSpPr>
        <p:spPr>
          <a:xfrm>
            <a:off x="10128987" y="6357231"/>
            <a:ext cx="3124371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61E99FEE-C895-7B80-6777-65CF92E93E2D}"/>
              </a:ext>
            </a:extLst>
          </p:cNvPr>
          <p:cNvCxnSpPr>
            <a:cxnSpLocks/>
          </p:cNvCxnSpPr>
          <p:nvPr/>
        </p:nvCxnSpPr>
        <p:spPr>
          <a:xfrm>
            <a:off x="13253355" y="6427126"/>
            <a:ext cx="1255574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55F5A1B8-2C7E-E1CC-CB12-952679A680F9}"/>
              </a:ext>
            </a:extLst>
          </p:cNvPr>
          <p:cNvCxnSpPr>
            <a:cxnSpLocks/>
          </p:cNvCxnSpPr>
          <p:nvPr/>
        </p:nvCxnSpPr>
        <p:spPr>
          <a:xfrm>
            <a:off x="14517629" y="6350926"/>
            <a:ext cx="31243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Geschweifte Klammer rechts 22">
            <a:extLst>
              <a:ext uri="{FF2B5EF4-FFF2-40B4-BE49-F238E27FC236}">
                <a16:creationId xmlns:a16="http://schemas.microsoft.com/office/drawing/2014/main" id="{466EF11B-29FD-7A77-EA0E-BEDFB2BD0DC6}"/>
              </a:ext>
            </a:extLst>
          </p:cNvPr>
          <p:cNvSpPr/>
          <p:nvPr/>
        </p:nvSpPr>
        <p:spPr>
          <a:xfrm rot="16200000">
            <a:off x="14451733" y="1781193"/>
            <a:ext cx="159086" cy="8732590"/>
          </a:xfrm>
          <a:prstGeom prst="righ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CA5F0B8-F8DB-F7F2-6934-CC36BE107716}"/>
              </a:ext>
            </a:extLst>
          </p:cNvPr>
          <p:cNvSpPr txBox="1"/>
          <p:nvPr/>
        </p:nvSpPr>
        <p:spPr>
          <a:xfrm>
            <a:off x="7136191" y="6375009"/>
            <a:ext cx="1053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RestconfLink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D74D6ED-A6F6-5A0A-6F12-F48F51B20136}"/>
              </a:ext>
            </a:extLst>
          </p:cNvPr>
          <p:cNvSpPr txBox="1"/>
          <p:nvPr/>
        </p:nvSpPr>
        <p:spPr>
          <a:xfrm>
            <a:off x="8932944" y="6256834"/>
            <a:ext cx="1111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MountPointFc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64BABF6-7539-6951-AFB3-FC1CA3AF26E0}"/>
              </a:ext>
            </a:extLst>
          </p:cNvPr>
          <p:cNvSpPr txBox="1"/>
          <p:nvPr/>
        </p:nvSpPr>
        <p:spPr>
          <a:xfrm>
            <a:off x="13154202" y="6202575"/>
            <a:ext cx="1470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MediatorProcessFc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5FBDA780-C7A0-2D26-705D-90AF4FB2D538}"/>
              </a:ext>
            </a:extLst>
          </p:cNvPr>
          <p:cNvSpPr txBox="1"/>
          <p:nvPr/>
        </p:nvSpPr>
        <p:spPr>
          <a:xfrm>
            <a:off x="11300141" y="6341074"/>
            <a:ext cx="995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NetconfLink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D67830D5-9585-F8F1-C047-028467F57783}"/>
              </a:ext>
            </a:extLst>
          </p:cNvPr>
          <p:cNvSpPr txBox="1"/>
          <p:nvPr/>
        </p:nvSpPr>
        <p:spPr>
          <a:xfrm>
            <a:off x="15623758" y="6338763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SnmpLink</a:t>
            </a:r>
          </a:p>
        </p:txBody>
      </p:sp>
      <p:sp>
        <p:nvSpPr>
          <p:cNvPr id="33" name="Geschweifte Klammer rechts 32">
            <a:extLst>
              <a:ext uri="{FF2B5EF4-FFF2-40B4-BE49-F238E27FC236}">
                <a16:creationId xmlns:a16="http://schemas.microsoft.com/office/drawing/2014/main" id="{5A82855C-6FF6-0C22-BC7A-A3E94E9CD8FA}"/>
              </a:ext>
            </a:extLst>
          </p:cNvPr>
          <p:cNvSpPr/>
          <p:nvPr/>
        </p:nvSpPr>
        <p:spPr>
          <a:xfrm rot="16200000">
            <a:off x="8093640" y="4192989"/>
            <a:ext cx="159086" cy="3911602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2DC5D979-CBD6-E279-D7FA-93569BEB60DF}"/>
              </a:ext>
            </a:extLst>
          </p:cNvPr>
          <p:cNvSpPr txBox="1"/>
          <p:nvPr/>
        </p:nvSpPr>
        <p:spPr>
          <a:xfrm>
            <a:off x="10845946" y="3918325"/>
            <a:ext cx="28984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Transport of Read from Live – Operation ?</a:t>
            </a: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93F67427-C9F9-534A-8E80-5DEB5C266EC6}"/>
              </a:ext>
            </a:extLst>
          </p:cNvPr>
          <p:cNvCxnSpPr>
            <a:cxnSpLocks/>
          </p:cNvCxnSpPr>
          <p:nvPr/>
        </p:nvCxnSpPr>
        <p:spPr>
          <a:xfrm>
            <a:off x="4932743" y="3421911"/>
            <a:ext cx="1268019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F1C87441-A171-4006-4456-3437467DD47E}"/>
              </a:ext>
            </a:extLst>
          </p:cNvPr>
          <p:cNvSpPr txBox="1"/>
          <p:nvPr/>
        </p:nvSpPr>
        <p:spPr>
          <a:xfrm>
            <a:off x="10390103" y="3426631"/>
            <a:ext cx="20747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Read from Live – Operation ?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816922BC-64F9-D223-69A6-7109BF41F9BA}"/>
              </a:ext>
            </a:extLst>
          </p:cNvPr>
          <p:cNvSpPr txBox="1"/>
          <p:nvPr/>
        </p:nvSpPr>
        <p:spPr>
          <a:xfrm>
            <a:off x="10080784" y="6124162"/>
            <a:ext cx="1014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&lt;get-config&gt;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F03B1639-50D8-D533-33CA-648284718463}"/>
              </a:ext>
            </a:extLst>
          </p:cNvPr>
          <p:cNvSpPr txBox="1"/>
          <p:nvPr/>
        </p:nvSpPr>
        <p:spPr>
          <a:xfrm>
            <a:off x="6149156" y="6177568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GET</a:t>
            </a:r>
          </a:p>
        </p:txBody>
      </p: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615F57D7-5599-DFC3-B6E9-DA8E26F58329}"/>
              </a:ext>
            </a:extLst>
          </p:cNvPr>
          <p:cNvCxnSpPr>
            <a:cxnSpLocks/>
          </p:cNvCxnSpPr>
          <p:nvPr/>
        </p:nvCxnSpPr>
        <p:spPr>
          <a:xfrm>
            <a:off x="10099923" y="10141002"/>
            <a:ext cx="7513013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5EE58D74-87E6-4A14-9122-102D98610CDC}"/>
              </a:ext>
            </a:extLst>
          </p:cNvPr>
          <p:cNvCxnSpPr>
            <a:cxnSpLocks/>
          </p:cNvCxnSpPr>
          <p:nvPr/>
        </p:nvCxnSpPr>
        <p:spPr>
          <a:xfrm>
            <a:off x="13174863" y="10522798"/>
            <a:ext cx="4438073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AA52B7F9-F012-88DE-87BF-2C8D2910D710}"/>
              </a:ext>
            </a:extLst>
          </p:cNvPr>
          <p:cNvSpPr txBox="1"/>
          <p:nvPr/>
        </p:nvSpPr>
        <p:spPr>
          <a:xfrm>
            <a:off x="13025330" y="9916405"/>
            <a:ext cx="20288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Connected state at the ODL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C1B0018D-7D20-0014-257D-BAF1E45FF92C}"/>
              </a:ext>
            </a:extLst>
          </p:cNvPr>
          <p:cNvSpPr txBox="1"/>
          <p:nvPr/>
        </p:nvSpPr>
        <p:spPr>
          <a:xfrm>
            <a:off x="13368030" y="10304019"/>
            <a:ext cx="41431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Addressing an attribute with an NCM-internal NetconfClient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2CEB087D-6A36-0216-6770-BEDF1124CA9F}"/>
              </a:ext>
            </a:extLst>
          </p:cNvPr>
          <p:cNvSpPr txBox="1"/>
          <p:nvPr/>
        </p:nvSpPr>
        <p:spPr>
          <a:xfrm>
            <a:off x="1828744" y="8866363"/>
            <a:ext cx="8140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Elements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668C06B6-6A0F-B5CA-F0D2-EEEC1DB4791F}"/>
              </a:ext>
            </a:extLst>
          </p:cNvPr>
          <p:cNvSpPr txBox="1"/>
          <p:nvPr/>
        </p:nvSpPr>
        <p:spPr>
          <a:xfrm>
            <a:off x="1828744" y="7336353"/>
            <a:ext cx="785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Domains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0C262B0E-D458-CB62-691D-F98F7C5FD237}"/>
              </a:ext>
            </a:extLst>
          </p:cNvPr>
          <p:cNvSpPr txBox="1"/>
          <p:nvPr/>
        </p:nvSpPr>
        <p:spPr>
          <a:xfrm>
            <a:off x="1828743" y="6337981"/>
            <a:ext cx="1039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Connections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80E54012-F6A5-2CBA-AF56-9ED147C2C8EB}"/>
              </a:ext>
            </a:extLst>
          </p:cNvPr>
          <p:cNvSpPr txBox="1"/>
          <p:nvPr/>
        </p:nvSpPr>
        <p:spPr>
          <a:xfrm>
            <a:off x="1828743" y="4956422"/>
            <a:ext cx="2714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Element holding higher layer Domain ?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CBEB432B-CDB6-9FB5-306F-E45DCFE0523F}"/>
              </a:ext>
            </a:extLst>
          </p:cNvPr>
          <p:cNvSpPr txBox="1"/>
          <p:nvPr/>
        </p:nvSpPr>
        <p:spPr>
          <a:xfrm>
            <a:off x="1828743" y="3553731"/>
            <a:ext cx="1973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Higher layer Connections ?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1F4F316C-ACA9-5A1A-70BB-DE6AB61CB4BC}"/>
              </a:ext>
            </a:extLst>
          </p:cNvPr>
          <p:cNvSpPr txBox="1"/>
          <p:nvPr/>
        </p:nvSpPr>
        <p:spPr>
          <a:xfrm>
            <a:off x="1828744" y="10165519"/>
            <a:ext cx="2266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Potential status measurements</a:t>
            </a:r>
          </a:p>
        </p:txBody>
      </p:sp>
    </p:spTree>
    <p:extLst>
      <p:ext uri="{BB962C8B-B14F-4D97-AF65-F5344CB8AC3E}">
        <p14:creationId xmlns:p14="http://schemas.microsoft.com/office/powerpoint/2010/main" val="381945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Ellipse 125">
            <a:extLst>
              <a:ext uri="{FF2B5EF4-FFF2-40B4-BE49-F238E27FC236}">
                <a16:creationId xmlns:a16="http://schemas.microsoft.com/office/drawing/2014/main" id="{8433F276-58B1-8611-F513-917A26BDA823}"/>
              </a:ext>
            </a:extLst>
          </p:cNvPr>
          <p:cNvSpPr/>
          <p:nvPr/>
        </p:nvSpPr>
        <p:spPr>
          <a:xfrm>
            <a:off x="2283626" y="9153433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1E65784-8FD9-B02F-A1D5-5343CD6554A3}"/>
              </a:ext>
            </a:extLst>
          </p:cNvPr>
          <p:cNvSpPr/>
          <p:nvPr/>
        </p:nvSpPr>
        <p:spPr>
          <a:xfrm>
            <a:off x="7420554" y="9986242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2160"/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5B1A2157-6724-A43D-0B35-9160EA316445}"/>
              </a:ext>
            </a:extLst>
          </p:cNvPr>
          <p:cNvSpPr/>
          <p:nvPr/>
        </p:nvSpPr>
        <p:spPr>
          <a:xfrm>
            <a:off x="2283626" y="5420567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0B17F57F-53EB-18D9-E3D6-4AFE0C884ADC}"/>
              </a:ext>
            </a:extLst>
          </p:cNvPr>
          <p:cNvSpPr/>
          <p:nvPr/>
        </p:nvSpPr>
        <p:spPr>
          <a:xfrm>
            <a:off x="7420554" y="6253376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160"/>
              <a:t>Live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AAB3C92-1309-21F9-5A2A-D5B19E58CC97}"/>
              </a:ext>
            </a:extLst>
          </p:cNvPr>
          <p:cNvCxnSpPr>
            <a:cxnSpLocks/>
            <a:stCxn id="23" idx="6"/>
            <a:endCxn id="33" idx="2"/>
          </p:cNvCxnSpPr>
          <p:nvPr/>
        </p:nvCxnSpPr>
        <p:spPr>
          <a:xfrm>
            <a:off x="7516167" y="3830711"/>
            <a:ext cx="259468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FC42089-4FAE-409E-7490-894A8A151E87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3611370" y="3830711"/>
            <a:ext cx="259657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AE8FF5DD-0F69-94CD-E5C6-BF4111366C68}"/>
              </a:ext>
            </a:extLst>
          </p:cNvPr>
          <p:cNvGrpSpPr/>
          <p:nvPr/>
        </p:nvGrpSpPr>
        <p:grpSpPr>
          <a:xfrm>
            <a:off x="2330406" y="2874281"/>
            <a:ext cx="1280967" cy="1260000"/>
            <a:chOff x="1398758" y="3673888"/>
            <a:chExt cx="1280967" cy="1260000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8F729F81-6911-53C6-716D-0E24554FC6A4}"/>
                </a:ext>
              </a:extLst>
            </p:cNvPr>
            <p:cNvSpPr/>
            <p:nvPr/>
          </p:nvSpPr>
          <p:spPr>
            <a:xfrm>
              <a:off x="1398758" y="3673888"/>
              <a:ext cx="1260000" cy="1260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App</a:t>
              </a:r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29968352-5BC7-5AD3-37C3-C7EC1A2DCA48}"/>
                </a:ext>
              </a:extLst>
            </p:cNvPr>
            <p:cNvSpPr/>
            <p:nvPr/>
          </p:nvSpPr>
          <p:spPr>
            <a:xfrm>
              <a:off x="2633396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032BD62B-69A4-8E99-1CBB-A0B36211BB4E}"/>
                </a:ext>
              </a:extLst>
            </p:cNvPr>
            <p:cNvSpPr/>
            <p:nvPr/>
          </p:nvSpPr>
          <p:spPr>
            <a:xfrm>
              <a:off x="2634006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A8C6AA90-00CD-9995-68BF-D14927F49C25}"/>
                </a:ext>
              </a:extLst>
            </p:cNvPr>
            <p:cNvSpPr/>
            <p:nvPr/>
          </p:nvSpPr>
          <p:spPr>
            <a:xfrm>
              <a:off x="2634006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64A51F24-01B7-0D2F-EE94-0784C47DB1FD}"/>
              </a:ext>
            </a:extLst>
          </p:cNvPr>
          <p:cNvGrpSpPr/>
          <p:nvPr/>
        </p:nvGrpSpPr>
        <p:grpSpPr>
          <a:xfrm>
            <a:off x="6207339" y="2874281"/>
            <a:ext cx="1308831" cy="1260000"/>
            <a:chOff x="5275691" y="3673888"/>
            <a:chExt cx="1308831" cy="12600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D9ACD396-053F-098F-6E39-579A071B2680}"/>
                </a:ext>
              </a:extLst>
            </p:cNvPr>
            <p:cNvSpPr/>
            <p:nvPr/>
          </p:nvSpPr>
          <p:spPr>
            <a:xfrm>
              <a:off x="5301663" y="3673888"/>
              <a:ext cx="1260000" cy="1260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MWDI</a:t>
              </a: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76C8B7B3-4DB8-7758-7D3B-4733C3103382}"/>
                </a:ext>
              </a:extLst>
            </p:cNvPr>
            <p:cNvSpPr/>
            <p:nvPr/>
          </p:nvSpPr>
          <p:spPr>
            <a:xfrm>
              <a:off x="5275691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B55D626B-9E23-1A5B-2E00-E5EDDDF2DC31}"/>
                </a:ext>
              </a:extLst>
            </p:cNvPr>
            <p:cNvSpPr/>
            <p:nvPr/>
          </p:nvSpPr>
          <p:spPr>
            <a:xfrm>
              <a:off x="5276301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35B14177-28C3-5A1E-CD0F-588C785F14DB}"/>
                </a:ext>
              </a:extLst>
            </p:cNvPr>
            <p:cNvSpPr/>
            <p:nvPr/>
          </p:nvSpPr>
          <p:spPr>
            <a:xfrm>
              <a:off x="5276301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ADE4D244-E117-810E-FE87-3CCDF7FC1B8C}"/>
                </a:ext>
              </a:extLst>
            </p:cNvPr>
            <p:cNvSpPr/>
            <p:nvPr/>
          </p:nvSpPr>
          <p:spPr>
            <a:xfrm>
              <a:off x="6538193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D0D0DCA3-8707-D186-05E8-6917AAF9187B}"/>
                </a:ext>
              </a:extLst>
            </p:cNvPr>
            <p:cNvSpPr/>
            <p:nvPr/>
          </p:nvSpPr>
          <p:spPr>
            <a:xfrm>
              <a:off x="6538803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012ABAB0-185A-7992-9793-D8DD22CF49D2}"/>
                </a:ext>
              </a:extLst>
            </p:cNvPr>
            <p:cNvSpPr/>
            <p:nvPr/>
          </p:nvSpPr>
          <p:spPr>
            <a:xfrm>
              <a:off x="6538803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44E9702C-51E2-AFC6-3951-EF8A032F76C9}"/>
              </a:ext>
            </a:extLst>
          </p:cNvPr>
          <p:cNvGrpSpPr/>
          <p:nvPr/>
        </p:nvGrpSpPr>
        <p:grpSpPr>
          <a:xfrm>
            <a:off x="10110244" y="2874281"/>
            <a:ext cx="1308831" cy="1260000"/>
            <a:chOff x="9178596" y="3673888"/>
            <a:chExt cx="1308831" cy="1260000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A1B07028-9DDA-7F66-B27B-353CE67D042F}"/>
                </a:ext>
              </a:extLst>
            </p:cNvPr>
            <p:cNvSpPr/>
            <p:nvPr/>
          </p:nvSpPr>
          <p:spPr>
            <a:xfrm>
              <a:off x="9204568" y="3673888"/>
              <a:ext cx="1260000" cy="126000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Controller</a:t>
              </a:r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6CDAE638-E460-9348-B48C-6379641A7504}"/>
                </a:ext>
              </a:extLst>
            </p:cNvPr>
            <p:cNvSpPr/>
            <p:nvPr/>
          </p:nvSpPr>
          <p:spPr>
            <a:xfrm>
              <a:off x="9178596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BE6D7D4B-E6A1-7A5C-1919-1066E23704E4}"/>
                </a:ext>
              </a:extLst>
            </p:cNvPr>
            <p:cNvSpPr/>
            <p:nvPr/>
          </p:nvSpPr>
          <p:spPr>
            <a:xfrm>
              <a:off x="9179206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2A7E4F72-7D1F-0E44-030B-E6F687D122D1}"/>
                </a:ext>
              </a:extLst>
            </p:cNvPr>
            <p:cNvSpPr/>
            <p:nvPr/>
          </p:nvSpPr>
          <p:spPr>
            <a:xfrm>
              <a:off x="9179206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206407B4-8ECE-021E-1A03-AF47F7B9E83E}"/>
                </a:ext>
              </a:extLst>
            </p:cNvPr>
            <p:cNvSpPr/>
            <p:nvPr/>
          </p:nvSpPr>
          <p:spPr>
            <a:xfrm>
              <a:off x="10441098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33187CE9-B892-2AFD-AB38-BB8958DD03BA}"/>
                </a:ext>
              </a:extLst>
            </p:cNvPr>
            <p:cNvSpPr/>
            <p:nvPr/>
          </p:nvSpPr>
          <p:spPr>
            <a:xfrm>
              <a:off x="10441708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20CD0AB2-DE58-BA48-54DE-8FCE795DC626}"/>
                </a:ext>
              </a:extLst>
            </p:cNvPr>
            <p:cNvSpPr/>
            <p:nvPr/>
          </p:nvSpPr>
          <p:spPr>
            <a:xfrm>
              <a:off x="10441708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ACDB93A0-2E20-EAB5-5E77-E14468EEC040}"/>
              </a:ext>
            </a:extLst>
          </p:cNvPr>
          <p:cNvGrpSpPr/>
          <p:nvPr/>
        </p:nvGrpSpPr>
        <p:grpSpPr>
          <a:xfrm>
            <a:off x="14496776" y="2874281"/>
            <a:ext cx="1308831" cy="1260000"/>
            <a:chOff x="13565128" y="3673888"/>
            <a:chExt cx="1308831" cy="1260000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A0D90752-E600-F455-0214-43CAB7E7F87E}"/>
                </a:ext>
              </a:extLst>
            </p:cNvPr>
            <p:cNvSpPr/>
            <p:nvPr/>
          </p:nvSpPr>
          <p:spPr>
            <a:xfrm>
              <a:off x="13593211" y="3673888"/>
              <a:ext cx="1260000" cy="1260000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Mediator</a:t>
              </a: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B99D0CC0-05DA-53A5-C8E1-9D45E66A83C5}"/>
                </a:ext>
              </a:extLst>
            </p:cNvPr>
            <p:cNvSpPr/>
            <p:nvPr/>
          </p:nvSpPr>
          <p:spPr>
            <a:xfrm>
              <a:off x="13565128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0BC7643-AB67-AD60-6073-601A5A85AB72}"/>
                </a:ext>
              </a:extLst>
            </p:cNvPr>
            <p:cNvSpPr/>
            <p:nvPr/>
          </p:nvSpPr>
          <p:spPr>
            <a:xfrm>
              <a:off x="13565738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9C3D91A7-CF9E-7F00-0067-0C4FF862A152}"/>
                </a:ext>
              </a:extLst>
            </p:cNvPr>
            <p:cNvSpPr/>
            <p:nvPr/>
          </p:nvSpPr>
          <p:spPr>
            <a:xfrm>
              <a:off x="13565738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6B6F7CCB-1D34-AEC2-A285-88D28C4C759E}"/>
                </a:ext>
              </a:extLst>
            </p:cNvPr>
            <p:cNvSpPr/>
            <p:nvPr/>
          </p:nvSpPr>
          <p:spPr>
            <a:xfrm>
              <a:off x="14827630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F8EE7A2A-2AAA-62D3-EFD0-12A741008F83}"/>
                </a:ext>
              </a:extLst>
            </p:cNvPr>
            <p:cNvSpPr/>
            <p:nvPr/>
          </p:nvSpPr>
          <p:spPr>
            <a:xfrm>
              <a:off x="14828240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8BC01D64-4360-C779-329D-53F4E34B73C8}"/>
                </a:ext>
              </a:extLst>
            </p:cNvPr>
            <p:cNvSpPr/>
            <p:nvPr/>
          </p:nvSpPr>
          <p:spPr>
            <a:xfrm>
              <a:off x="14828240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083FE96D-5BFD-BE19-9D31-9BCA0E038D76}"/>
              </a:ext>
            </a:extLst>
          </p:cNvPr>
          <p:cNvGrpSpPr/>
          <p:nvPr/>
        </p:nvGrpSpPr>
        <p:grpSpPr>
          <a:xfrm>
            <a:off x="18884512" y="2874281"/>
            <a:ext cx="1288986" cy="1260000"/>
            <a:chOff x="17952867" y="3673888"/>
            <a:chExt cx="1288986" cy="1260000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0BB5D594-F1DB-B50A-6F3D-508ABF55786F}"/>
                </a:ext>
              </a:extLst>
            </p:cNvPr>
            <p:cNvSpPr/>
            <p:nvPr/>
          </p:nvSpPr>
          <p:spPr>
            <a:xfrm>
              <a:off x="17981853" y="3673888"/>
              <a:ext cx="12600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Device</a:t>
              </a:r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5787C7D1-BC29-2037-C7E6-1111E88F43A2}"/>
                </a:ext>
              </a:extLst>
            </p:cNvPr>
            <p:cNvSpPr/>
            <p:nvPr/>
          </p:nvSpPr>
          <p:spPr>
            <a:xfrm>
              <a:off x="17952867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7FF33434-68A4-4083-BCDB-F616C66FA7FF}"/>
                </a:ext>
              </a:extLst>
            </p:cNvPr>
            <p:cNvSpPr/>
            <p:nvPr/>
          </p:nvSpPr>
          <p:spPr>
            <a:xfrm>
              <a:off x="17953477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D4D61CF3-37D7-0039-79B0-B9C56150DD73}"/>
                </a:ext>
              </a:extLst>
            </p:cNvPr>
            <p:cNvSpPr/>
            <p:nvPr/>
          </p:nvSpPr>
          <p:spPr>
            <a:xfrm>
              <a:off x="17953477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ED99F935-BC1C-7FB5-AA10-C25DB56C26BA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>
            <a:off x="11419075" y="3830711"/>
            <a:ext cx="307831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FF8B944E-61B3-5541-4813-24A7010A3273}"/>
              </a:ext>
            </a:extLst>
          </p:cNvPr>
          <p:cNvCxnSpPr>
            <a:cxnSpLocks/>
            <a:stCxn id="42" idx="6"/>
            <a:endCxn id="45" idx="2"/>
          </p:cNvCxnSpPr>
          <p:nvPr/>
        </p:nvCxnSpPr>
        <p:spPr>
          <a:xfrm>
            <a:off x="15805604" y="3830711"/>
            <a:ext cx="307951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BCDF4640-A923-C50A-D33F-C95DCE08E5DF}"/>
              </a:ext>
            </a:extLst>
          </p:cNvPr>
          <p:cNvSpPr txBox="1"/>
          <p:nvPr/>
        </p:nvSpPr>
        <p:spPr>
          <a:xfrm>
            <a:off x="17037859" y="3606873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42ooo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10976B8C-D8E4-9C83-78A0-E39C05AC7017}"/>
              </a:ext>
            </a:extLst>
          </p:cNvPr>
          <p:cNvSpPr txBox="1"/>
          <p:nvPr/>
        </p:nvSpPr>
        <p:spPr>
          <a:xfrm>
            <a:off x="12551714" y="3606873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42ooo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8B2B3BEB-4ABD-3B35-BFD8-E9EC20B947F6}"/>
              </a:ext>
            </a:extLst>
          </p:cNvPr>
          <p:cNvSpPr txBox="1"/>
          <p:nvPr/>
        </p:nvSpPr>
        <p:spPr>
          <a:xfrm>
            <a:off x="8700310" y="3606873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E88919C4-04D4-F788-2D5F-5F9BD515EBC1}"/>
              </a:ext>
            </a:extLst>
          </p:cNvPr>
          <p:cNvSpPr txBox="1"/>
          <p:nvPr/>
        </p:nvSpPr>
        <p:spPr>
          <a:xfrm>
            <a:off x="4778442" y="3606873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8885771B-7D60-4D67-1DC8-58927B546288}"/>
              </a:ext>
            </a:extLst>
          </p:cNvPr>
          <p:cNvCxnSpPr>
            <a:cxnSpLocks/>
            <a:stCxn id="22" idx="6"/>
            <a:endCxn id="32" idx="2"/>
          </p:cNvCxnSpPr>
          <p:nvPr/>
        </p:nvCxnSpPr>
        <p:spPr>
          <a:xfrm>
            <a:off x="7516167" y="3504281"/>
            <a:ext cx="2594684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52E4B6B1-5F47-45D4-F97F-5497D49E3D10}"/>
              </a:ext>
            </a:extLst>
          </p:cNvPr>
          <p:cNvCxnSpPr>
            <a:cxnSpLocks/>
            <a:stCxn id="16" idx="6"/>
            <a:endCxn id="19" idx="2"/>
          </p:cNvCxnSpPr>
          <p:nvPr/>
        </p:nvCxnSpPr>
        <p:spPr>
          <a:xfrm>
            <a:off x="3611370" y="3504281"/>
            <a:ext cx="259657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BC29E72E-8D36-95B1-1907-CDE61FE7D64F}"/>
              </a:ext>
            </a:extLst>
          </p:cNvPr>
          <p:cNvCxnSpPr>
            <a:cxnSpLocks/>
            <a:stCxn id="35" idx="6"/>
            <a:endCxn id="38" idx="2"/>
          </p:cNvCxnSpPr>
          <p:nvPr/>
        </p:nvCxnSpPr>
        <p:spPr>
          <a:xfrm>
            <a:off x="11419075" y="3504281"/>
            <a:ext cx="3078311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E601EBED-2241-F91D-096B-94B6BFABEB7D}"/>
              </a:ext>
            </a:extLst>
          </p:cNvPr>
          <p:cNvCxnSpPr>
            <a:cxnSpLocks/>
            <a:stCxn id="41" idx="6"/>
            <a:endCxn id="44" idx="2"/>
          </p:cNvCxnSpPr>
          <p:nvPr/>
        </p:nvCxnSpPr>
        <p:spPr>
          <a:xfrm>
            <a:off x="15805604" y="3504281"/>
            <a:ext cx="307951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3" name="Textfeld 82">
            <a:extLst>
              <a:ext uri="{FF2B5EF4-FFF2-40B4-BE49-F238E27FC236}">
                <a16:creationId xmlns:a16="http://schemas.microsoft.com/office/drawing/2014/main" id="{D7F48A95-951D-7F41-BAAF-E8A53492969E}"/>
              </a:ext>
            </a:extLst>
          </p:cNvPr>
          <p:cNvSpPr txBox="1"/>
          <p:nvPr/>
        </p:nvSpPr>
        <p:spPr>
          <a:xfrm>
            <a:off x="17037859" y="3277962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42ooo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43B7A890-9072-1201-E3D8-951559C79B92}"/>
              </a:ext>
            </a:extLst>
          </p:cNvPr>
          <p:cNvSpPr txBox="1"/>
          <p:nvPr/>
        </p:nvSpPr>
        <p:spPr>
          <a:xfrm>
            <a:off x="12551714" y="3277962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42ooo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EF7C5B4D-87FD-393D-33BE-08FC530AD93F}"/>
              </a:ext>
            </a:extLst>
          </p:cNvPr>
          <p:cNvSpPr txBox="1"/>
          <p:nvPr/>
        </p:nvSpPr>
        <p:spPr>
          <a:xfrm>
            <a:off x="8700310" y="327796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759EB66E-2779-F3D3-CFB5-59B0954FB901}"/>
              </a:ext>
            </a:extLst>
          </p:cNvPr>
          <p:cNvSpPr txBox="1"/>
          <p:nvPr/>
        </p:nvSpPr>
        <p:spPr>
          <a:xfrm>
            <a:off x="4778442" y="327796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CA3EBB93-7CD2-AACC-5EBB-7D31CDA4CFA0}"/>
              </a:ext>
            </a:extLst>
          </p:cNvPr>
          <p:cNvCxnSpPr>
            <a:cxnSpLocks/>
            <a:stCxn id="21" idx="6"/>
            <a:endCxn id="31" idx="2"/>
          </p:cNvCxnSpPr>
          <p:nvPr/>
        </p:nvCxnSpPr>
        <p:spPr>
          <a:xfrm>
            <a:off x="7515557" y="3177852"/>
            <a:ext cx="259468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B144BA72-D2A1-464F-BC3B-A2F67BF9DA23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>
          <a:xfrm>
            <a:off x="3610760" y="3177852"/>
            <a:ext cx="259657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7CE98A98-9BDB-7C66-5508-98080A443ADD}"/>
              </a:ext>
            </a:extLst>
          </p:cNvPr>
          <p:cNvCxnSpPr>
            <a:cxnSpLocks/>
            <a:stCxn id="34" idx="6"/>
            <a:endCxn id="37" idx="2"/>
          </p:cNvCxnSpPr>
          <p:nvPr/>
        </p:nvCxnSpPr>
        <p:spPr>
          <a:xfrm>
            <a:off x="11418465" y="3177852"/>
            <a:ext cx="307831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6282EA90-F799-C253-8E43-89E00032E84F}"/>
              </a:ext>
            </a:extLst>
          </p:cNvPr>
          <p:cNvCxnSpPr>
            <a:cxnSpLocks/>
            <a:stCxn id="40" idx="6"/>
            <a:endCxn id="43" idx="2"/>
          </p:cNvCxnSpPr>
          <p:nvPr/>
        </p:nvCxnSpPr>
        <p:spPr>
          <a:xfrm>
            <a:off x="15804994" y="3177852"/>
            <a:ext cx="307951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9" name="Textfeld 98">
            <a:extLst>
              <a:ext uri="{FF2B5EF4-FFF2-40B4-BE49-F238E27FC236}">
                <a16:creationId xmlns:a16="http://schemas.microsoft.com/office/drawing/2014/main" id="{1CE85E13-D3E1-CDE4-FA8A-7B4CB9781801}"/>
              </a:ext>
            </a:extLst>
          </p:cNvPr>
          <p:cNvSpPr txBox="1"/>
          <p:nvPr/>
        </p:nvSpPr>
        <p:spPr>
          <a:xfrm>
            <a:off x="17164691" y="2957862"/>
            <a:ext cx="3481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BBF2B485-0227-7BD9-6033-C4315B506AE6}"/>
              </a:ext>
            </a:extLst>
          </p:cNvPr>
          <p:cNvSpPr txBox="1"/>
          <p:nvPr/>
        </p:nvSpPr>
        <p:spPr>
          <a:xfrm>
            <a:off x="12678546" y="2957862"/>
            <a:ext cx="3481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C815FC97-AD4D-0C80-F066-35BB0B840AC8}"/>
              </a:ext>
            </a:extLst>
          </p:cNvPr>
          <p:cNvSpPr txBox="1"/>
          <p:nvPr/>
        </p:nvSpPr>
        <p:spPr>
          <a:xfrm>
            <a:off x="8383909" y="2957862"/>
            <a:ext cx="898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 x 42ooo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308F75B1-D1B4-38E1-CF26-C30BA04F2A8A}"/>
              </a:ext>
            </a:extLst>
          </p:cNvPr>
          <p:cNvSpPr txBox="1"/>
          <p:nvPr/>
        </p:nvSpPr>
        <p:spPr>
          <a:xfrm>
            <a:off x="4355444" y="2957862"/>
            <a:ext cx="1111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2 x 64 x 42ooo</a:t>
            </a:r>
          </a:p>
        </p:txBody>
      </p:sp>
      <p:sp>
        <p:nvSpPr>
          <p:cNvPr id="111" name="Zylinder 110">
            <a:extLst>
              <a:ext uri="{FF2B5EF4-FFF2-40B4-BE49-F238E27FC236}">
                <a16:creationId xmlns:a16="http://schemas.microsoft.com/office/drawing/2014/main" id="{EEAF48E4-E9A4-2D4B-7617-7D8C20BAC087}"/>
              </a:ext>
            </a:extLst>
          </p:cNvPr>
          <p:cNvSpPr/>
          <p:nvPr/>
        </p:nvSpPr>
        <p:spPr>
          <a:xfrm>
            <a:off x="6233308" y="4630800"/>
            <a:ext cx="1260000" cy="646383"/>
          </a:xfrm>
          <a:prstGeom prst="can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ES</a:t>
            </a:r>
          </a:p>
        </p:txBody>
      </p: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4FD7D465-6D31-BFEF-B46D-1454ADFAA9B3}"/>
              </a:ext>
            </a:extLst>
          </p:cNvPr>
          <p:cNvCxnSpPr>
            <a:cxnSpLocks/>
            <a:stCxn id="7" idx="2"/>
            <a:endCxn id="111" idx="1"/>
          </p:cNvCxnSpPr>
          <p:nvPr/>
        </p:nvCxnSpPr>
        <p:spPr>
          <a:xfrm>
            <a:off x="6863308" y="4134281"/>
            <a:ext cx="0" cy="49651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6" name="Textfeld 115">
            <a:extLst>
              <a:ext uri="{FF2B5EF4-FFF2-40B4-BE49-F238E27FC236}">
                <a16:creationId xmlns:a16="http://schemas.microsoft.com/office/drawing/2014/main" id="{3DF136E3-FD31-8918-9947-5F2C1C7D86FD}"/>
              </a:ext>
            </a:extLst>
          </p:cNvPr>
          <p:cNvSpPr txBox="1"/>
          <p:nvPr/>
        </p:nvSpPr>
        <p:spPr>
          <a:xfrm>
            <a:off x="6863308" y="4254856"/>
            <a:ext cx="898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 x 42ooo</a:t>
            </a:r>
          </a:p>
        </p:txBody>
      </p:sp>
      <p:sp>
        <p:nvSpPr>
          <p:cNvPr id="117" name="Ellipse 116">
            <a:extLst>
              <a:ext uri="{FF2B5EF4-FFF2-40B4-BE49-F238E27FC236}">
                <a16:creationId xmlns:a16="http://schemas.microsoft.com/office/drawing/2014/main" id="{A6214C1A-00CB-38C4-E48D-E4041FFB9D28}"/>
              </a:ext>
            </a:extLst>
          </p:cNvPr>
          <p:cNvSpPr/>
          <p:nvPr/>
        </p:nvSpPr>
        <p:spPr>
          <a:xfrm>
            <a:off x="11349436" y="7175263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18" name="Ellipse 117">
            <a:extLst>
              <a:ext uri="{FF2B5EF4-FFF2-40B4-BE49-F238E27FC236}">
                <a16:creationId xmlns:a16="http://schemas.microsoft.com/office/drawing/2014/main" id="{C085F62A-119E-7200-7A6A-22973EC1DAC0}"/>
              </a:ext>
            </a:extLst>
          </p:cNvPr>
          <p:cNvSpPr/>
          <p:nvPr/>
        </p:nvSpPr>
        <p:spPr>
          <a:xfrm>
            <a:off x="11349436" y="7064982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19" name="Ellipse 118">
            <a:extLst>
              <a:ext uri="{FF2B5EF4-FFF2-40B4-BE49-F238E27FC236}">
                <a16:creationId xmlns:a16="http://schemas.microsoft.com/office/drawing/2014/main" id="{501C3D70-C860-9451-D948-575F8C49F169}"/>
              </a:ext>
            </a:extLst>
          </p:cNvPr>
          <p:cNvSpPr/>
          <p:nvPr/>
        </p:nvSpPr>
        <p:spPr>
          <a:xfrm>
            <a:off x="11349436" y="6931317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20" name="Ellipse 119">
            <a:extLst>
              <a:ext uri="{FF2B5EF4-FFF2-40B4-BE49-F238E27FC236}">
                <a16:creationId xmlns:a16="http://schemas.microsoft.com/office/drawing/2014/main" id="{36E1CA6E-4E8C-B872-7092-F763D320DFBC}"/>
              </a:ext>
            </a:extLst>
          </p:cNvPr>
          <p:cNvSpPr/>
          <p:nvPr/>
        </p:nvSpPr>
        <p:spPr>
          <a:xfrm>
            <a:off x="11349436" y="6788978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24" name="Rechteck 123">
            <a:extLst>
              <a:ext uri="{FF2B5EF4-FFF2-40B4-BE49-F238E27FC236}">
                <a16:creationId xmlns:a16="http://schemas.microsoft.com/office/drawing/2014/main" id="{972E8878-090E-BD88-49B5-278906ACB9F8}"/>
              </a:ext>
            </a:extLst>
          </p:cNvPr>
          <p:cNvSpPr/>
          <p:nvPr/>
        </p:nvSpPr>
        <p:spPr>
          <a:xfrm>
            <a:off x="6160554" y="6949033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13A933C6-6F51-820D-1884-D22E261B735C}"/>
              </a:ext>
            </a:extLst>
          </p:cNvPr>
          <p:cNvSpPr>
            <a:spLocks noChangeAspect="1"/>
          </p:cNvSpPr>
          <p:nvPr/>
        </p:nvSpPr>
        <p:spPr>
          <a:xfrm rot="5400000">
            <a:off x="6128286" y="7739068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759780D8-753C-B87D-4B60-A1C63064CC00}"/>
              </a:ext>
            </a:extLst>
          </p:cNvPr>
          <p:cNvSpPr/>
          <p:nvPr/>
        </p:nvSpPr>
        <p:spPr>
          <a:xfrm>
            <a:off x="11349436" y="10908129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29" name="Ellipse 128">
            <a:extLst>
              <a:ext uri="{FF2B5EF4-FFF2-40B4-BE49-F238E27FC236}">
                <a16:creationId xmlns:a16="http://schemas.microsoft.com/office/drawing/2014/main" id="{408DD293-C6B5-A4EB-D7A1-EC8BA573C54A}"/>
              </a:ext>
            </a:extLst>
          </p:cNvPr>
          <p:cNvSpPr/>
          <p:nvPr/>
        </p:nvSpPr>
        <p:spPr>
          <a:xfrm>
            <a:off x="11349436" y="10797848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30" name="Ellipse 129">
            <a:extLst>
              <a:ext uri="{FF2B5EF4-FFF2-40B4-BE49-F238E27FC236}">
                <a16:creationId xmlns:a16="http://schemas.microsoft.com/office/drawing/2014/main" id="{CADEDB5F-2929-CB20-07BC-6A95CEBA98E0}"/>
              </a:ext>
            </a:extLst>
          </p:cNvPr>
          <p:cNvSpPr/>
          <p:nvPr/>
        </p:nvSpPr>
        <p:spPr>
          <a:xfrm>
            <a:off x="11349436" y="10664183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31" name="Ellipse 130">
            <a:extLst>
              <a:ext uri="{FF2B5EF4-FFF2-40B4-BE49-F238E27FC236}">
                <a16:creationId xmlns:a16="http://schemas.microsoft.com/office/drawing/2014/main" id="{9CC590DC-D93B-10DA-730C-23217E4A1688}"/>
              </a:ext>
            </a:extLst>
          </p:cNvPr>
          <p:cNvSpPr/>
          <p:nvPr/>
        </p:nvSpPr>
        <p:spPr>
          <a:xfrm>
            <a:off x="11349436" y="10521844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32" name="Rechteck 131">
            <a:extLst>
              <a:ext uri="{FF2B5EF4-FFF2-40B4-BE49-F238E27FC236}">
                <a16:creationId xmlns:a16="http://schemas.microsoft.com/office/drawing/2014/main" id="{781149D7-2160-45B2-8188-F8ACB853B399}"/>
              </a:ext>
            </a:extLst>
          </p:cNvPr>
          <p:cNvSpPr/>
          <p:nvPr/>
        </p:nvSpPr>
        <p:spPr>
          <a:xfrm>
            <a:off x="6160554" y="10681899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33" name="Ellipse 132">
            <a:extLst>
              <a:ext uri="{FF2B5EF4-FFF2-40B4-BE49-F238E27FC236}">
                <a16:creationId xmlns:a16="http://schemas.microsoft.com/office/drawing/2014/main" id="{C1C48BAA-5BA7-2C9B-F00F-27C0F59C6004}"/>
              </a:ext>
            </a:extLst>
          </p:cNvPr>
          <p:cNvSpPr>
            <a:spLocks noChangeAspect="1"/>
          </p:cNvSpPr>
          <p:nvPr/>
        </p:nvSpPr>
        <p:spPr>
          <a:xfrm rot="5400000">
            <a:off x="6128286" y="11471934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36" name="Ellipse 135">
            <a:extLst>
              <a:ext uri="{FF2B5EF4-FFF2-40B4-BE49-F238E27FC236}">
                <a16:creationId xmlns:a16="http://schemas.microsoft.com/office/drawing/2014/main" id="{3F153420-288D-2E18-E137-2B9D78F13334}"/>
              </a:ext>
            </a:extLst>
          </p:cNvPr>
          <p:cNvSpPr/>
          <p:nvPr/>
        </p:nvSpPr>
        <p:spPr>
          <a:xfrm>
            <a:off x="7469839" y="10528797"/>
            <a:ext cx="3662612" cy="72519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</a:t>
            </a:r>
          </a:p>
        </p:txBody>
      </p:sp>
      <p:sp>
        <p:nvSpPr>
          <p:cNvPr id="138" name="Rechteck 137">
            <a:extLst>
              <a:ext uri="{FF2B5EF4-FFF2-40B4-BE49-F238E27FC236}">
                <a16:creationId xmlns:a16="http://schemas.microsoft.com/office/drawing/2014/main" id="{F173FF4D-59E6-382E-1D1F-90DC01878C36}"/>
              </a:ext>
            </a:extLst>
          </p:cNvPr>
          <p:cNvSpPr/>
          <p:nvPr/>
        </p:nvSpPr>
        <p:spPr>
          <a:xfrm>
            <a:off x="10117168" y="6952165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Controller</a:t>
            </a:r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CBF71B95-F797-6985-D861-450C3FCE119B}"/>
              </a:ext>
            </a:extLst>
          </p:cNvPr>
          <p:cNvSpPr/>
          <p:nvPr/>
        </p:nvSpPr>
        <p:spPr>
          <a:xfrm>
            <a:off x="2283625" y="13032929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8B15E994-ABDA-E4DD-63D0-99D6838DFF13}"/>
              </a:ext>
            </a:extLst>
          </p:cNvPr>
          <p:cNvSpPr/>
          <p:nvPr/>
        </p:nvSpPr>
        <p:spPr>
          <a:xfrm>
            <a:off x="7420553" y="13865738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160"/>
              <a:t>                          Live</a:t>
            </a: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5A7E11B2-3E42-130D-1D88-E325860CD6F4}"/>
              </a:ext>
            </a:extLst>
          </p:cNvPr>
          <p:cNvSpPr/>
          <p:nvPr/>
        </p:nvSpPr>
        <p:spPr>
          <a:xfrm>
            <a:off x="11349435" y="14787625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94CD7E54-8AC0-1221-73EB-CB8FBC9B51C4}"/>
              </a:ext>
            </a:extLst>
          </p:cNvPr>
          <p:cNvSpPr/>
          <p:nvPr/>
        </p:nvSpPr>
        <p:spPr>
          <a:xfrm>
            <a:off x="11349435" y="14677344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A8160536-70B1-B254-504C-5879F86B2FEF}"/>
              </a:ext>
            </a:extLst>
          </p:cNvPr>
          <p:cNvSpPr/>
          <p:nvPr/>
        </p:nvSpPr>
        <p:spPr>
          <a:xfrm>
            <a:off x="11349435" y="14543679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7" name="Ellipse 146">
            <a:extLst>
              <a:ext uri="{FF2B5EF4-FFF2-40B4-BE49-F238E27FC236}">
                <a16:creationId xmlns:a16="http://schemas.microsoft.com/office/drawing/2014/main" id="{06A94292-D571-661B-EAA7-4B51BED0A0F5}"/>
              </a:ext>
            </a:extLst>
          </p:cNvPr>
          <p:cNvSpPr/>
          <p:nvPr/>
        </p:nvSpPr>
        <p:spPr>
          <a:xfrm>
            <a:off x="11349435" y="14401340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0D4D40BA-5BA6-7300-5D00-1BB2B9B6D511}"/>
              </a:ext>
            </a:extLst>
          </p:cNvPr>
          <p:cNvSpPr/>
          <p:nvPr/>
        </p:nvSpPr>
        <p:spPr>
          <a:xfrm>
            <a:off x="6160553" y="14561395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80127BE7-834A-4BEE-D713-DE407A278C9B}"/>
              </a:ext>
            </a:extLst>
          </p:cNvPr>
          <p:cNvSpPr>
            <a:spLocks noChangeAspect="1"/>
          </p:cNvSpPr>
          <p:nvPr/>
        </p:nvSpPr>
        <p:spPr>
          <a:xfrm rot="5400000">
            <a:off x="6128285" y="15351430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02D36E97-D75E-541C-E4D6-00FF1E5C7833}"/>
              </a:ext>
            </a:extLst>
          </p:cNvPr>
          <p:cNvSpPr/>
          <p:nvPr/>
        </p:nvSpPr>
        <p:spPr>
          <a:xfrm>
            <a:off x="7469838" y="14408293"/>
            <a:ext cx="3662612" cy="72519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</a:t>
            </a:r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8A5667DE-8B86-E2A0-67DA-E46B5ECA3718}"/>
              </a:ext>
            </a:extLst>
          </p:cNvPr>
          <p:cNvSpPr/>
          <p:nvPr/>
        </p:nvSpPr>
        <p:spPr>
          <a:xfrm>
            <a:off x="11179232" y="14134584"/>
            <a:ext cx="8947487" cy="1337003"/>
          </a:xfrm>
          <a:prstGeom prst="ellipse">
            <a:avLst/>
          </a:prstGeom>
          <a:solidFill>
            <a:schemeClr val="accent5">
              <a:alpha val="74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de-DE" sz="2160"/>
              <a:t>Device</a:t>
            </a:r>
          </a:p>
        </p:txBody>
      </p:sp>
      <p:cxnSp>
        <p:nvCxnSpPr>
          <p:cNvPr id="153" name="Gerader Verbinder 152">
            <a:extLst>
              <a:ext uri="{FF2B5EF4-FFF2-40B4-BE49-F238E27FC236}">
                <a16:creationId xmlns:a16="http://schemas.microsoft.com/office/drawing/2014/main" id="{C6CD39DF-AFCF-4284-6807-DCEF77710727}"/>
              </a:ext>
            </a:extLst>
          </p:cNvPr>
          <p:cNvCxnSpPr/>
          <p:nvPr/>
        </p:nvCxnSpPr>
        <p:spPr>
          <a:xfrm>
            <a:off x="2080423" y="5277181"/>
            <a:ext cx="0" cy="10797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783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hteck 29">
            <a:extLst>
              <a:ext uri="{FF2B5EF4-FFF2-40B4-BE49-F238E27FC236}">
                <a16:creationId xmlns:a16="http://schemas.microsoft.com/office/drawing/2014/main" id="{A759E68E-FC52-CDA9-26E1-2A750D430DDD}"/>
              </a:ext>
            </a:extLst>
          </p:cNvPr>
          <p:cNvSpPr/>
          <p:nvPr/>
        </p:nvSpPr>
        <p:spPr>
          <a:xfrm>
            <a:off x="7190228" y="4957339"/>
            <a:ext cx="12710588" cy="1597494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LiveDomain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4464D08-EF53-AD08-F9BE-58657BE6EDF6}"/>
              </a:ext>
            </a:extLst>
          </p:cNvPr>
          <p:cNvSpPr/>
          <p:nvPr/>
        </p:nvSpPr>
        <p:spPr>
          <a:xfrm>
            <a:off x="11146234" y="8424346"/>
            <a:ext cx="8754583" cy="2236396"/>
          </a:xfrm>
          <a:prstGeom prst="rect">
            <a:avLst/>
          </a:prstGeom>
          <a:solidFill>
            <a:schemeClr val="accent5">
              <a:alpha val="2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DeviceDomain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919688F-DE37-08C1-118D-7D350AFE0CD0}"/>
              </a:ext>
            </a:extLst>
          </p:cNvPr>
          <p:cNvSpPr/>
          <p:nvPr/>
        </p:nvSpPr>
        <p:spPr>
          <a:xfrm>
            <a:off x="7190228" y="8424346"/>
            <a:ext cx="3948624" cy="2236396"/>
          </a:xfrm>
          <a:prstGeom prst="rect">
            <a:avLst/>
          </a:prstGeom>
          <a:solidFill>
            <a:schemeClr val="accent6">
              <a:alpha val="2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ControllerDomain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AAB3C92-1309-21F9-5A2A-D5B19E58CC97}"/>
              </a:ext>
            </a:extLst>
          </p:cNvPr>
          <p:cNvCxnSpPr>
            <a:cxnSpLocks/>
            <a:stCxn id="23" idx="6"/>
            <a:endCxn id="33" idx="2"/>
          </p:cNvCxnSpPr>
          <p:nvPr/>
        </p:nvCxnSpPr>
        <p:spPr>
          <a:xfrm>
            <a:off x="7243937" y="10134860"/>
            <a:ext cx="259468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FC42089-4FAE-409E-7490-894A8A151E87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3339140" y="10134860"/>
            <a:ext cx="259657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AE8FF5DD-0F69-94CD-E5C6-BF4111366C68}"/>
              </a:ext>
            </a:extLst>
          </p:cNvPr>
          <p:cNvGrpSpPr/>
          <p:nvPr/>
        </p:nvGrpSpPr>
        <p:grpSpPr>
          <a:xfrm>
            <a:off x="2058176" y="9178430"/>
            <a:ext cx="1280967" cy="1260000"/>
            <a:chOff x="1398758" y="3673888"/>
            <a:chExt cx="1280967" cy="1260000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8F729F81-6911-53C6-716D-0E24554FC6A4}"/>
                </a:ext>
              </a:extLst>
            </p:cNvPr>
            <p:cNvSpPr/>
            <p:nvPr/>
          </p:nvSpPr>
          <p:spPr>
            <a:xfrm>
              <a:off x="1398758" y="3673888"/>
              <a:ext cx="1260000" cy="1260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App</a:t>
              </a:r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29968352-5BC7-5AD3-37C3-C7EC1A2DCA48}"/>
                </a:ext>
              </a:extLst>
            </p:cNvPr>
            <p:cNvSpPr/>
            <p:nvPr/>
          </p:nvSpPr>
          <p:spPr>
            <a:xfrm>
              <a:off x="2633396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032BD62B-69A4-8E99-1CBB-A0B36211BB4E}"/>
                </a:ext>
              </a:extLst>
            </p:cNvPr>
            <p:cNvSpPr/>
            <p:nvPr/>
          </p:nvSpPr>
          <p:spPr>
            <a:xfrm>
              <a:off x="2634006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A8C6AA90-00CD-9995-68BF-D14927F49C25}"/>
                </a:ext>
              </a:extLst>
            </p:cNvPr>
            <p:cNvSpPr/>
            <p:nvPr/>
          </p:nvSpPr>
          <p:spPr>
            <a:xfrm>
              <a:off x="2634006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64A51F24-01B7-0D2F-EE94-0784C47DB1FD}"/>
              </a:ext>
            </a:extLst>
          </p:cNvPr>
          <p:cNvGrpSpPr/>
          <p:nvPr/>
        </p:nvGrpSpPr>
        <p:grpSpPr>
          <a:xfrm>
            <a:off x="5935109" y="9178430"/>
            <a:ext cx="1308831" cy="1260000"/>
            <a:chOff x="5275691" y="3673888"/>
            <a:chExt cx="1308831" cy="12600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D9ACD396-053F-098F-6E39-579A071B2680}"/>
                </a:ext>
              </a:extLst>
            </p:cNvPr>
            <p:cNvSpPr/>
            <p:nvPr/>
          </p:nvSpPr>
          <p:spPr>
            <a:xfrm>
              <a:off x="5301663" y="3673888"/>
              <a:ext cx="1260000" cy="1260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MWDI</a:t>
              </a: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76C8B7B3-4DB8-7758-7D3B-4733C3103382}"/>
                </a:ext>
              </a:extLst>
            </p:cNvPr>
            <p:cNvSpPr/>
            <p:nvPr/>
          </p:nvSpPr>
          <p:spPr>
            <a:xfrm>
              <a:off x="5275691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B55D626B-9E23-1A5B-2E00-E5EDDDF2DC31}"/>
                </a:ext>
              </a:extLst>
            </p:cNvPr>
            <p:cNvSpPr/>
            <p:nvPr/>
          </p:nvSpPr>
          <p:spPr>
            <a:xfrm>
              <a:off x="5276301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35B14177-28C3-5A1E-CD0F-588C785F14DB}"/>
                </a:ext>
              </a:extLst>
            </p:cNvPr>
            <p:cNvSpPr/>
            <p:nvPr/>
          </p:nvSpPr>
          <p:spPr>
            <a:xfrm>
              <a:off x="5276301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ADE4D244-E117-810E-FE87-3CCDF7FC1B8C}"/>
                </a:ext>
              </a:extLst>
            </p:cNvPr>
            <p:cNvSpPr/>
            <p:nvPr/>
          </p:nvSpPr>
          <p:spPr>
            <a:xfrm>
              <a:off x="6538193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D0D0DCA3-8707-D186-05E8-6917AAF9187B}"/>
                </a:ext>
              </a:extLst>
            </p:cNvPr>
            <p:cNvSpPr/>
            <p:nvPr/>
          </p:nvSpPr>
          <p:spPr>
            <a:xfrm>
              <a:off x="6538803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012ABAB0-185A-7992-9793-D8DD22CF49D2}"/>
                </a:ext>
              </a:extLst>
            </p:cNvPr>
            <p:cNvSpPr/>
            <p:nvPr/>
          </p:nvSpPr>
          <p:spPr>
            <a:xfrm>
              <a:off x="6538803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44E9702C-51E2-AFC6-3951-EF8A032F76C9}"/>
              </a:ext>
            </a:extLst>
          </p:cNvPr>
          <p:cNvGrpSpPr/>
          <p:nvPr/>
        </p:nvGrpSpPr>
        <p:grpSpPr>
          <a:xfrm>
            <a:off x="9838014" y="9178430"/>
            <a:ext cx="1308831" cy="1260000"/>
            <a:chOff x="9178596" y="3673888"/>
            <a:chExt cx="1308831" cy="1260000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A1B07028-9DDA-7F66-B27B-353CE67D042F}"/>
                </a:ext>
              </a:extLst>
            </p:cNvPr>
            <p:cNvSpPr/>
            <p:nvPr/>
          </p:nvSpPr>
          <p:spPr>
            <a:xfrm>
              <a:off x="9204568" y="3673888"/>
              <a:ext cx="1260000" cy="126000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Controller</a:t>
              </a:r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6CDAE638-E460-9348-B48C-6379641A7504}"/>
                </a:ext>
              </a:extLst>
            </p:cNvPr>
            <p:cNvSpPr/>
            <p:nvPr/>
          </p:nvSpPr>
          <p:spPr>
            <a:xfrm>
              <a:off x="9178596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BE6D7D4B-E6A1-7A5C-1919-1066E23704E4}"/>
                </a:ext>
              </a:extLst>
            </p:cNvPr>
            <p:cNvSpPr/>
            <p:nvPr/>
          </p:nvSpPr>
          <p:spPr>
            <a:xfrm>
              <a:off x="9179206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2A7E4F72-7D1F-0E44-030B-E6F687D122D1}"/>
                </a:ext>
              </a:extLst>
            </p:cNvPr>
            <p:cNvSpPr/>
            <p:nvPr/>
          </p:nvSpPr>
          <p:spPr>
            <a:xfrm>
              <a:off x="9179206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206407B4-8ECE-021E-1A03-AF47F7B9E83E}"/>
                </a:ext>
              </a:extLst>
            </p:cNvPr>
            <p:cNvSpPr/>
            <p:nvPr/>
          </p:nvSpPr>
          <p:spPr>
            <a:xfrm>
              <a:off x="10441098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33187CE9-B892-2AFD-AB38-BB8958DD03BA}"/>
                </a:ext>
              </a:extLst>
            </p:cNvPr>
            <p:cNvSpPr/>
            <p:nvPr/>
          </p:nvSpPr>
          <p:spPr>
            <a:xfrm>
              <a:off x="10441708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20CD0AB2-DE58-BA48-54DE-8FCE795DC626}"/>
                </a:ext>
              </a:extLst>
            </p:cNvPr>
            <p:cNvSpPr/>
            <p:nvPr/>
          </p:nvSpPr>
          <p:spPr>
            <a:xfrm>
              <a:off x="10441708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ACDB93A0-2E20-EAB5-5E77-E14468EEC040}"/>
              </a:ext>
            </a:extLst>
          </p:cNvPr>
          <p:cNvGrpSpPr/>
          <p:nvPr/>
        </p:nvGrpSpPr>
        <p:grpSpPr>
          <a:xfrm>
            <a:off x="14224546" y="9178430"/>
            <a:ext cx="1308831" cy="1260000"/>
            <a:chOff x="13565128" y="3673888"/>
            <a:chExt cx="1308831" cy="1260000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A0D90752-E600-F455-0214-43CAB7E7F87E}"/>
                </a:ext>
              </a:extLst>
            </p:cNvPr>
            <p:cNvSpPr/>
            <p:nvPr/>
          </p:nvSpPr>
          <p:spPr>
            <a:xfrm>
              <a:off x="13593211" y="3673888"/>
              <a:ext cx="1260000" cy="1260000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Mediator</a:t>
              </a: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B99D0CC0-05DA-53A5-C8E1-9D45E66A83C5}"/>
                </a:ext>
              </a:extLst>
            </p:cNvPr>
            <p:cNvSpPr/>
            <p:nvPr/>
          </p:nvSpPr>
          <p:spPr>
            <a:xfrm>
              <a:off x="13565128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0BC7643-AB67-AD60-6073-601A5A85AB72}"/>
                </a:ext>
              </a:extLst>
            </p:cNvPr>
            <p:cNvSpPr/>
            <p:nvPr/>
          </p:nvSpPr>
          <p:spPr>
            <a:xfrm>
              <a:off x="13565738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9C3D91A7-CF9E-7F00-0067-0C4FF862A152}"/>
                </a:ext>
              </a:extLst>
            </p:cNvPr>
            <p:cNvSpPr/>
            <p:nvPr/>
          </p:nvSpPr>
          <p:spPr>
            <a:xfrm>
              <a:off x="13565738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6B6F7CCB-1D34-AEC2-A285-88D28C4C759E}"/>
                </a:ext>
              </a:extLst>
            </p:cNvPr>
            <p:cNvSpPr/>
            <p:nvPr/>
          </p:nvSpPr>
          <p:spPr>
            <a:xfrm>
              <a:off x="14827630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F8EE7A2A-2AAA-62D3-EFD0-12A741008F83}"/>
                </a:ext>
              </a:extLst>
            </p:cNvPr>
            <p:cNvSpPr/>
            <p:nvPr/>
          </p:nvSpPr>
          <p:spPr>
            <a:xfrm>
              <a:off x="14828240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8BC01D64-4360-C779-329D-53F4E34B73C8}"/>
                </a:ext>
              </a:extLst>
            </p:cNvPr>
            <p:cNvSpPr/>
            <p:nvPr/>
          </p:nvSpPr>
          <p:spPr>
            <a:xfrm>
              <a:off x="14828240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083FE96D-5BFD-BE19-9D31-9BCA0E038D76}"/>
              </a:ext>
            </a:extLst>
          </p:cNvPr>
          <p:cNvGrpSpPr/>
          <p:nvPr/>
        </p:nvGrpSpPr>
        <p:grpSpPr>
          <a:xfrm>
            <a:off x="18612282" y="9178430"/>
            <a:ext cx="1288986" cy="1260000"/>
            <a:chOff x="17952867" y="3673888"/>
            <a:chExt cx="1288986" cy="1260000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0BB5D594-F1DB-B50A-6F3D-508ABF55786F}"/>
                </a:ext>
              </a:extLst>
            </p:cNvPr>
            <p:cNvSpPr/>
            <p:nvPr/>
          </p:nvSpPr>
          <p:spPr>
            <a:xfrm>
              <a:off x="17981853" y="3673888"/>
              <a:ext cx="12600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Device</a:t>
              </a:r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5787C7D1-BC29-2037-C7E6-1111E88F43A2}"/>
                </a:ext>
              </a:extLst>
            </p:cNvPr>
            <p:cNvSpPr/>
            <p:nvPr/>
          </p:nvSpPr>
          <p:spPr>
            <a:xfrm>
              <a:off x="17952867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7FF33434-68A4-4083-BCDB-F616C66FA7FF}"/>
                </a:ext>
              </a:extLst>
            </p:cNvPr>
            <p:cNvSpPr/>
            <p:nvPr/>
          </p:nvSpPr>
          <p:spPr>
            <a:xfrm>
              <a:off x="17953477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D4D61CF3-37D7-0039-79B0-B9C56150DD73}"/>
                </a:ext>
              </a:extLst>
            </p:cNvPr>
            <p:cNvSpPr/>
            <p:nvPr/>
          </p:nvSpPr>
          <p:spPr>
            <a:xfrm>
              <a:off x="17953477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ED99F935-BC1C-7FB5-AA10-C25DB56C26BA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>
            <a:off x="11146845" y="10134860"/>
            <a:ext cx="307831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FF8B944E-61B3-5541-4813-24A7010A3273}"/>
              </a:ext>
            </a:extLst>
          </p:cNvPr>
          <p:cNvCxnSpPr>
            <a:cxnSpLocks/>
            <a:stCxn id="42" idx="6"/>
            <a:endCxn id="45" idx="2"/>
          </p:cNvCxnSpPr>
          <p:nvPr/>
        </p:nvCxnSpPr>
        <p:spPr>
          <a:xfrm>
            <a:off x="15533374" y="10134860"/>
            <a:ext cx="307951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BCDF4640-A923-C50A-D33F-C95DCE08E5DF}"/>
              </a:ext>
            </a:extLst>
          </p:cNvPr>
          <p:cNvSpPr txBox="1"/>
          <p:nvPr/>
        </p:nvSpPr>
        <p:spPr>
          <a:xfrm>
            <a:off x="16933944" y="991102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10976B8C-D8E4-9C83-78A0-E39C05AC7017}"/>
              </a:ext>
            </a:extLst>
          </p:cNvPr>
          <p:cNvSpPr txBox="1"/>
          <p:nvPr/>
        </p:nvSpPr>
        <p:spPr>
          <a:xfrm>
            <a:off x="12447799" y="991102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8B2B3BEB-4ABD-3B35-BFD8-E9EC20B947F6}"/>
              </a:ext>
            </a:extLst>
          </p:cNvPr>
          <p:cNvSpPr txBox="1"/>
          <p:nvPr/>
        </p:nvSpPr>
        <p:spPr>
          <a:xfrm>
            <a:off x="8428080" y="991102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E88919C4-04D4-F788-2D5F-5F9BD515EBC1}"/>
              </a:ext>
            </a:extLst>
          </p:cNvPr>
          <p:cNvSpPr txBox="1"/>
          <p:nvPr/>
        </p:nvSpPr>
        <p:spPr>
          <a:xfrm>
            <a:off x="4506212" y="991102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8885771B-7D60-4D67-1DC8-58927B546288}"/>
              </a:ext>
            </a:extLst>
          </p:cNvPr>
          <p:cNvCxnSpPr>
            <a:cxnSpLocks/>
            <a:stCxn id="22" idx="6"/>
            <a:endCxn id="32" idx="2"/>
          </p:cNvCxnSpPr>
          <p:nvPr/>
        </p:nvCxnSpPr>
        <p:spPr>
          <a:xfrm>
            <a:off x="7243937" y="9808430"/>
            <a:ext cx="2594684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52E4B6B1-5F47-45D4-F97F-5497D49E3D10}"/>
              </a:ext>
            </a:extLst>
          </p:cNvPr>
          <p:cNvCxnSpPr>
            <a:cxnSpLocks/>
            <a:stCxn id="16" idx="6"/>
            <a:endCxn id="19" idx="2"/>
          </p:cNvCxnSpPr>
          <p:nvPr/>
        </p:nvCxnSpPr>
        <p:spPr>
          <a:xfrm>
            <a:off x="3339140" y="9808430"/>
            <a:ext cx="259657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BC29E72E-8D36-95B1-1907-CDE61FE7D64F}"/>
              </a:ext>
            </a:extLst>
          </p:cNvPr>
          <p:cNvCxnSpPr>
            <a:cxnSpLocks/>
            <a:stCxn id="35" idx="6"/>
            <a:endCxn id="38" idx="2"/>
          </p:cNvCxnSpPr>
          <p:nvPr/>
        </p:nvCxnSpPr>
        <p:spPr>
          <a:xfrm>
            <a:off x="11146845" y="9808430"/>
            <a:ext cx="3078311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E601EBED-2241-F91D-096B-94B6BFABEB7D}"/>
              </a:ext>
            </a:extLst>
          </p:cNvPr>
          <p:cNvCxnSpPr>
            <a:cxnSpLocks/>
            <a:stCxn id="41" idx="6"/>
            <a:endCxn id="44" idx="2"/>
          </p:cNvCxnSpPr>
          <p:nvPr/>
        </p:nvCxnSpPr>
        <p:spPr>
          <a:xfrm>
            <a:off x="15533374" y="9808430"/>
            <a:ext cx="307951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3" name="Textfeld 82">
            <a:extLst>
              <a:ext uri="{FF2B5EF4-FFF2-40B4-BE49-F238E27FC236}">
                <a16:creationId xmlns:a16="http://schemas.microsoft.com/office/drawing/2014/main" id="{D7F48A95-951D-7F41-BAAF-E8A53492969E}"/>
              </a:ext>
            </a:extLst>
          </p:cNvPr>
          <p:cNvSpPr txBox="1"/>
          <p:nvPr/>
        </p:nvSpPr>
        <p:spPr>
          <a:xfrm>
            <a:off x="16933944" y="9582111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43B7A890-9072-1201-E3D8-951559C79B92}"/>
              </a:ext>
            </a:extLst>
          </p:cNvPr>
          <p:cNvSpPr txBox="1"/>
          <p:nvPr/>
        </p:nvSpPr>
        <p:spPr>
          <a:xfrm>
            <a:off x="12447799" y="9582111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EF7C5B4D-87FD-393D-33BE-08FC530AD93F}"/>
              </a:ext>
            </a:extLst>
          </p:cNvPr>
          <p:cNvSpPr txBox="1"/>
          <p:nvPr/>
        </p:nvSpPr>
        <p:spPr>
          <a:xfrm>
            <a:off x="8428080" y="9582111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759EB66E-2779-F3D3-CFB5-59B0954FB901}"/>
              </a:ext>
            </a:extLst>
          </p:cNvPr>
          <p:cNvSpPr txBox="1"/>
          <p:nvPr/>
        </p:nvSpPr>
        <p:spPr>
          <a:xfrm>
            <a:off x="4506212" y="9582111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B144BA72-D2A1-464F-BC3B-A2F67BF9DA23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>
          <a:xfrm>
            <a:off x="3338530" y="9482001"/>
            <a:ext cx="259657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2" name="Textfeld 101">
            <a:extLst>
              <a:ext uri="{FF2B5EF4-FFF2-40B4-BE49-F238E27FC236}">
                <a16:creationId xmlns:a16="http://schemas.microsoft.com/office/drawing/2014/main" id="{308F75B1-D1B4-38E1-CF26-C30BA04F2A8A}"/>
              </a:ext>
            </a:extLst>
          </p:cNvPr>
          <p:cNvSpPr txBox="1"/>
          <p:nvPr/>
        </p:nvSpPr>
        <p:spPr>
          <a:xfrm>
            <a:off x="4083214" y="9262011"/>
            <a:ext cx="1111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2 x 64 x 42ooo</a:t>
            </a:r>
          </a:p>
        </p:txBody>
      </p:sp>
      <p:sp>
        <p:nvSpPr>
          <p:cNvPr id="111" name="Zylinder 110">
            <a:extLst>
              <a:ext uri="{FF2B5EF4-FFF2-40B4-BE49-F238E27FC236}">
                <a16:creationId xmlns:a16="http://schemas.microsoft.com/office/drawing/2014/main" id="{EEAF48E4-E9A4-2D4B-7617-7D8C20BAC087}"/>
              </a:ext>
            </a:extLst>
          </p:cNvPr>
          <p:cNvSpPr/>
          <p:nvPr/>
        </p:nvSpPr>
        <p:spPr>
          <a:xfrm>
            <a:off x="5961078" y="10934949"/>
            <a:ext cx="1260000" cy="646383"/>
          </a:xfrm>
          <a:prstGeom prst="can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ES</a:t>
            </a:r>
          </a:p>
        </p:txBody>
      </p: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4FD7D465-6D31-BFEF-B46D-1454ADFAA9B3}"/>
              </a:ext>
            </a:extLst>
          </p:cNvPr>
          <p:cNvCxnSpPr>
            <a:cxnSpLocks/>
            <a:stCxn id="7" idx="2"/>
            <a:endCxn id="111" idx="1"/>
          </p:cNvCxnSpPr>
          <p:nvPr/>
        </p:nvCxnSpPr>
        <p:spPr>
          <a:xfrm>
            <a:off x="6591078" y="10438430"/>
            <a:ext cx="0" cy="49651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6" name="Textfeld 115">
            <a:extLst>
              <a:ext uri="{FF2B5EF4-FFF2-40B4-BE49-F238E27FC236}">
                <a16:creationId xmlns:a16="http://schemas.microsoft.com/office/drawing/2014/main" id="{3DF136E3-FD31-8918-9947-5F2C1C7D86FD}"/>
              </a:ext>
            </a:extLst>
          </p:cNvPr>
          <p:cNvSpPr txBox="1"/>
          <p:nvPr/>
        </p:nvSpPr>
        <p:spPr>
          <a:xfrm>
            <a:off x="6591078" y="10559005"/>
            <a:ext cx="898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 x 42ooo</a:t>
            </a:r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CBF71B95-F797-6985-D861-450C3FCE119B}"/>
              </a:ext>
            </a:extLst>
          </p:cNvPr>
          <p:cNvSpPr/>
          <p:nvPr/>
        </p:nvSpPr>
        <p:spPr>
          <a:xfrm>
            <a:off x="2080424" y="135756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8B15E994-ABDA-E4DD-63D0-99D6838DFF13}"/>
              </a:ext>
            </a:extLst>
          </p:cNvPr>
          <p:cNvSpPr/>
          <p:nvPr/>
        </p:nvSpPr>
        <p:spPr>
          <a:xfrm>
            <a:off x="7217352" y="968565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160"/>
              <a:t>                          Live</a:t>
            </a: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5A7E11B2-3E42-130D-1D88-E325860CD6F4}"/>
              </a:ext>
            </a:extLst>
          </p:cNvPr>
          <p:cNvSpPr/>
          <p:nvPr/>
        </p:nvSpPr>
        <p:spPr>
          <a:xfrm>
            <a:off x="11146234" y="1890452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94CD7E54-8AC0-1221-73EB-CB8FBC9B51C4}"/>
              </a:ext>
            </a:extLst>
          </p:cNvPr>
          <p:cNvSpPr/>
          <p:nvPr/>
        </p:nvSpPr>
        <p:spPr>
          <a:xfrm>
            <a:off x="11146234" y="1780171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A8160536-70B1-B254-504C-5879F86B2FEF}"/>
              </a:ext>
            </a:extLst>
          </p:cNvPr>
          <p:cNvSpPr/>
          <p:nvPr/>
        </p:nvSpPr>
        <p:spPr>
          <a:xfrm>
            <a:off x="11146234" y="1646506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7" name="Ellipse 146">
            <a:extLst>
              <a:ext uri="{FF2B5EF4-FFF2-40B4-BE49-F238E27FC236}">
                <a16:creationId xmlns:a16="http://schemas.microsoft.com/office/drawing/2014/main" id="{06A94292-D571-661B-EAA7-4B51BED0A0F5}"/>
              </a:ext>
            </a:extLst>
          </p:cNvPr>
          <p:cNvSpPr/>
          <p:nvPr/>
        </p:nvSpPr>
        <p:spPr>
          <a:xfrm>
            <a:off x="11146234" y="1504167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0D4D40BA-5BA6-7300-5D00-1BB2B9B6D511}"/>
              </a:ext>
            </a:extLst>
          </p:cNvPr>
          <p:cNvSpPr/>
          <p:nvPr/>
        </p:nvSpPr>
        <p:spPr>
          <a:xfrm>
            <a:off x="5957352" y="1664222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80127BE7-834A-4BEE-D713-DE407A278C9B}"/>
              </a:ext>
            </a:extLst>
          </p:cNvPr>
          <p:cNvSpPr>
            <a:spLocks noChangeAspect="1"/>
          </p:cNvSpPr>
          <p:nvPr/>
        </p:nvSpPr>
        <p:spPr>
          <a:xfrm rot="5400000">
            <a:off x="5925084" y="2454257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02D36E97-D75E-541C-E4D6-00FF1E5C7833}"/>
              </a:ext>
            </a:extLst>
          </p:cNvPr>
          <p:cNvSpPr/>
          <p:nvPr/>
        </p:nvSpPr>
        <p:spPr>
          <a:xfrm>
            <a:off x="7266637" y="1511120"/>
            <a:ext cx="3662612" cy="72519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</a:t>
            </a:r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8A5667DE-8B86-E2A0-67DA-E46B5ECA3718}"/>
              </a:ext>
            </a:extLst>
          </p:cNvPr>
          <p:cNvSpPr/>
          <p:nvPr/>
        </p:nvSpPr>
        <p:spPr>
          <a:xfrm>
            <a:off x="10976031" y="1237411"/>
            <a:ext cx="8947487" cy="1337003"/>
          </a:xfrm>
          <a:prstGeom prst="ellipse">
            <a:avLst/>
          </a:prstGeom>
          <a:solidFill>
            <a:schemeClr val="accent5">
              <a:alpha val="74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de-DE" sz="2160"/>
              <a:t>Device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784CA366-28F1-C25B-757A-C46EC1D4400F}"/>
              </a:ext>
            </a:extLst>
          </p:cNvPr>
          <p:cNvCxnSpPr>
            <a:cxnSpLocks/>
          </p:cNvCxnSpPr>
          <p:nvPr/>
        </p:nvCxnSpPr>
        <p:spPr>
          <a:xfrm flipV="1">
            <a:off x="7190228" y="8806542"/>
            <a:ext cx="3956006" cy="1500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B4BCD004-1121-6524-C7D5-F21DDF747ABA}"/>
              </a:ext>
            </a:extLst>
          </p:cNvPr>
          <p:cNvSpPr txBox="1"/>
          <p:nvPr/>
        </p:nvSpPr>
        <p:spPr>
          <a:xfrm>
            <a:off x="8841976" y="8590847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42ooo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4283A065-EFDC-D4DE-E66D-64FF372380E4}"/>
              </a:ext>
            </a:extLst>
          </p:cNvPr>
          <p:cNvCxnSpPr>
            <a:cxnSpLocks/>
          </p:cNvCxnSpPr>
          <p:nvPr/>
        </p:nvCxnSpPr>
        <p:spPr>
          <a:xfrm>
            <a:off x="11153614" y="8878705"/>
            <a:ext cx="7487044" cy="1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BC323A48-6CC7-3B53-AB86-D381F5467C22}"/>
              </a:ext>
            </a:extLst>
          </p:cNvPr>
          <p:cNvSpPr txBox="1"/>
          <p:nvPr/>
        </p:nvSpPr>
        <p:spPr>
          <a:xfrm>
            <a:off x="13547734" y="8643856"/>
            <a:ext cx="898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8EE26BEE-DA65-743C-4E18-9DBADEDD465A}"/>
              </a:ext>
            </a:extLst>
          </p:cNvPr>
          <p:cNvSpPr txBox="1"/>
          <p:nvPr/>
        </p:nvSpPr>
        <p:spPr>
          <a:xfrm>
            <a:off x="19093740" y="8187657"/>
            <a:ext cx="898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/>
              <a:t>42ooo</a:t>
            </a:r>
          </a:p>
        </p:txBody>
      </p: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0DE3C1C8-C579-D0F0-92CB-5CCB5318330E}"/>
              </a:ext>
            </a:extLst>
          </p:cNvPr>
          <p:cNvCxnSpPr>
            <a:cxnSpLocks/>
          </p:cNvCxnSpPr>
          <p:nvPr/>
        </p:nvCxnSpPr>
        <p:spPr>
          <a:xfrm>
            <a:off x="7177678" y="5566804"/>
            <a:ext cx="114629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6E63747B-722D-B5B3-C62D-05734C6E8D7E}"/>
              </a:ext>
            </a:extLst>
          </p:cNvPr>
          <p:cNvSpPr txBox="1"/>
          <p:nvPr/>
        </p:nvSpPr>
        <p:spPr>
          <a:xfrm>
            <a:off x="12869984" y="5341134"/>
            <a:ext cx="898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/>
              <a:t>42ooo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E087717E-97C2-CC8A-86D0-A0AD28F8E8F3}"/>
              </a:ext>
            </a:extLst>
          </p:cNvPr>
          <p:cNvSpPr/>
          <p:nvPr/>
        </p:nvSpPr>
        <p:spPr>
          <a:xfrm>
            <a:off x="5960470" y="5341134"/>
            <a:ext cx="1260000" cy="1065692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1BB23D9F-6730-9632-59F9-D87C79136B20}"/>
              </a:ext>
            </a:extLst>
          </p:cNvPr>
          <p:cNvSpPr/>
          <p:nvPr/>
        </p:nvSpPr>
        <p:spPr>
          <a:xfrm>
            <a:off x="9863375" y="5942832"/>
            <a:ext cx="1260000" cy="463994"/>
          </a:xfrm>
          <a:prstGeom prst="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Controller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7A35A77E-C566-F7DD-8261-C4264E949765}"/>
              </a:ext>
            </a:extLst>
          </p:cNvPr>
          <p:cNvSpPr/>
          <p:nvPr/>
        </p:nvSpPr>
        <p:spPr>
          <a:xfrm>
            <a:off x="18640658" y="5341134"/>
            <a:ext cx="1260000" cy="1065693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Device</a:t>
            </a:r>
          </a:p>
        </p:txBody>
      </p:sp>
      <p:cxnSp>
        <p:nvCxnSpPr>
          <p:cNvPr id="155" name="Gerader Verbinder 154">
            <a:extLst>
              <a:ext uri="{FF2B5EF4-FFF2-40B4-BE49-F238E27FC236}">
                <a16:creationId xmlns:a16="http://schemas.microsoft.com/office/drawing/2014/main" id="{1E568CB8-CFC1-2854-CA1F-DF16C3ED20D4}"/>
              </a:ext>
            </a:extLst>
          </p:cNvPr>
          <p:cNvCxnSpPr>
            <a:cxnSpLocks/>
            <a:stCxn id="57" idx="2"/>
          </p:cNvCxnSpPr>
          <p:nvPr/>
        </p:nvCxnSpPr>
        <p:spPr>
          <a:xfrm flipH="1">
            <a:off x="6590468" y="6406826"/>
            <a:ext cx="2" cy="49651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6" name="Textfeld 155">
            <a:extLst>
              <a:ext uri="{FF2B5EF4-FFF2-40B4-BE49-F238E27FC236}">
                <a16:creationId xmlns:a16="http://schemas.microsoft.com/office/drawing/2014/main" id="{636D5ACB-A697-732D-CBB5-9E2584C98C70}"/>
              </a:ext>
            </a:extLst>
          </p:cNvPr>
          <p:cNvSpPr txBox="1"/>
          <p:nvPr/>
        </p:nvSpPr>
        <p:spPr>
          <a:xfrm>
            <a:off x="6590468" y="6527401"/>
            <a:ext cx="898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 x 42ooo</a:t>
            </a:r>
          </a:p>
        </p:txBody>
      </p:sp>
      <p:cxnSp>
        <p:nvCxnSpPr>
          <p:cNvPr id="159" name="Gerader Verbinder 158">
            <a:extLst>
              <a:ext uri="{FF2B5EF4-FFF2-40B4-BE49-F238E27FC236}">
                <a16:creationId xmlns:a16="http://schemas.microsoft.com/office/drawing/2014/main" id="{28938B6D-DD42-C367-3909-01E59FF18F3C}"/>
              </a:ext>
            </a:extLst>
          </p:cNvPr>
          <p:cNvCxnSpPr>
            <a:cxnSpLocks/>
          </p:cNvCxnSpPr>
          <p:nvPr/>
        </p:nvCxnSpPr>
        <p:spPr>
          <a:xfrm>
            <a:off x="11138852" y="6177682"/>
            <a:ext cx="7473430" cy="4214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0" name="Textfeld 159">
            <a:extLst>
              <a:ext uri="{FF2B5EF4-FFF2-40B4-BE49-F238E27FC236}">
                <a16:creationId xmlns:a16="http://schemas.microsoft.com/office/drawing/2014/main" id="{9F687025-CC2A-C9C1-16D8-E004D6B73C48}"/>
              </a:ext>
            </a:extLst>
          </p:cNvPr>
          <p:cNvSpPr txBox="1"/>
          <p:nvPr/>
        </p:nvSpPr>
        <p:spPr>
          <a:xfrm>
            <a:off x="13532972" y="5942833"/>
            <a:ext cx="898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/>
              <a:t>4200 x 64</a:t>
            </a:r>
          </a:p>
        </p:txBody>
      </p:sp>
      <p:cxnSp>
        <p:nvCxnSpPr>
          <p:cNvPr id="161" name="Gerader Verbinder 160">
            <a:extLst>
              <a:ext uri="{FF2B5EF4-FFF2-40B4-BE49-F238E27FC236}">
                <a16:creationId xmlns:a16="http://schemas.microsoft.com/office/drawing/2014/main" id="{594E8F19-5099-DCB8-648B-0182E8D4BE18}"/>
              </a:ext>
            </a:extLst>
          </p:cNvPr>
          <p:cNvCxnSpPr>
            <a:cxnSpLocks/>
          </p:cNvCxnSpPr>
          <p:nvPr/>
        </p:nvCxnSpPr>
        <p:spPr>
          <a:xfrm flipV="1">
            <a:off x="7152114" y="6250475"/>
            <a:ext cx="3956006" cy="1500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2" name="Textfeld 161">
            <a:extLst>
              <a:ext uri="{FF2B5EF4-FFF2-40B4-BE49-F238E27FC236}">
                <a16:creationId xmlns:a16="http://schemas.microsoft.com/office/drawing/2014/main" id="{B33D63A8-39C3-9AA3-4E80-C654A975A080}"/>
              </a:ext>
            </a:extLst>
          </p:cNvPr>
          <p:cNvSpPr txBox="1"/>
          <p:nvPr/>
        </p:nvSpPr>
        <p:spPr>
          <a:xfrm>
            <a:off x="8656386" y="6034780"/>
            <a:ext cx="898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 x 42ooo</a:t>
            </a:r>
          </a:p>
        </p:txBody>
      </p:sp>
      <p:sp>
        <p:nvSpPr>
          <p:cNvPr id="217" name="Pfeil: nach unten 216">
            <a:extLst>
              <a:ext uri="{FF2B5EF4-FFF2-40B4-BE49-F238E27FC236}">
                <a16:creationId xmlns:a16="http://schemas.microsoft.com/office/drawing/2014/main" id="{CBDAC551-9C5A-8A6E-FA59-650A19DD3550}"/>
              </a:ext>
            </a:extLst>
          </p:cNvPr>
          <p:cNvSpPr/>
          <p:nvPr/>
        </p:nvSpPr>
        <p:spPr>
          <a:xfrm rot="13604950">
            <a:off x="9392053" y="6682254"/>
            <a:ext cx="271476" cy="41460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218" name="Pfeil: nach unten 217">
            <a:extLst>
              <a:ext uri="{FF2B5EF4-FFF2-40B4-BE49-F238E27FC236}">
                <a16:creationId xmlns:a16="http://schemas.microsoft.com/office/drawing/2014/main" id="{745AACB9-9982-444E-18BB-78CFBD39AB11}"/>
              </a:ext>
            </a:extLst>
          </p:cNvPr>
          <p:cNvSpPr/>
          <p:nvPr/>
        </p:nvSpPr>
        <p:spPr>
          <a:xfrm rot="6592321">
            <a:off x="14814860" y="6163054"/>
            <a:ext cx="271476" cy="1289509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cxnSp>
        <p:nvCxnSpPr>
          <p:cNvPr id="219" name="Gerader Verbinder 218">
            <a:extLst>
              <a:ext uri="{FF2B5EF4-FFF2-40B4-BE49-F238E27FC236}">
                <a16:creationId xmlns:a16="http://schemas.microsoft.com/office/drawing/2014/main" id="{16535D00-DA20-9C37-AE31-C34F09051861}"/>
              </a:ext>
            </a:extLst>
          </p:cNvPr>
          <p:cNvCxnSpPr>
            <a:cxnSpLocks/>
          </p:cNvCxnSpPr>
          <p:nvPr/>
        </p:nvCxnSpPr>
        <p:spPr>
          <a:xfrm>
            <a:off x="7311558" y="7861031"/>
            <a:ext cx="264732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0" name="Gerader Verbinder 219">
            <a:extLst>
              <a:ext uri="{FF2B5EF4-FFF2-40B4-BE49-F238E27FC236}">
                <a16:creationId xmlns:a16="http://schemas.microsoft.com/office/drawing/2014/main" id="{FA6B79BC-434F-33F7-42CE-14A0AB371B7A}"/>
              </a:ext>
            </a:extLst>
          </p:cNvPr>
          <p:cNvCxnSpPr>
            <a:cxnSpLocks/>
          </p:cNvCxnSpPr>
          <p:nvPr/>
        </p:nvCxnSpPr>
        <p:spPr>
          <a:xfrm>
            <a:off x="9958884" y="7949931"/>
            <a:ext cx="125557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1" name="Gerader Verbinder 220">
            <a:extLst>
              <a:ext uri="{FF2B5EF4-FFF2-40B4-BE49-F238E27FC236}">
                <a16:creationId xmlns:a16="http://schemas.microsoft.com/office/drawing/2014/main" id="{4A7BE190-93DC-71F2-3BC6-B1E594A78580}"/>
              </a:ext>
            </a:extLst>
          </p:cNvPr>
          <p:cNvCxnSpPr>
            <a:cxnSpLocks/>
          </p:cNvCxnSpPr>
          <p:nvPr/>
        </p:nvCxnSpPr>
        <p:spPr>
          <a:xfrm>
            <a:off x="11223158" y="7822931"/>
            <a:ext cx="3124371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2" name="Gerader Verbinder 221">
            <a:extLst>
              <a:ext uri="{FF2B5EF4-FFF2-40B4-BE49-F238E27FC236}">
                <a16:creationId xmlns:a16="http://schemas.microsoft.com/office/drawing/2014/main" id="{89B708AA-D914-44E1-9045-0E0CEC378C96}"/>
              </a:ext>
            </a:extLst>
          </p:cNvPr>
          <p:cNvCxnSpPr>
            <a:cxnSpLocks/>
          </p:cNvCxnSpPr>
          <p:nvPr/>
        </p:nvCxnSpPr>
        <p:spPr>
          <a:xfrm>
            <a:off x="14347526" y="7892826"/>
            <a:ext cx="1255574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3" name="Gerader Verbinder 222">
            <a:extLst>
              <a:ext uri="{FF2B5EF4-FFF2-40B4-BE49-F238E27FC236}">
                <a16:creationId xmlns:a16="http://schemas.microsoft.com/office/drawing/2014/main" id="{F4D25091-2A9E-7E2C-D029-E4A09E2F23DF}"/>
              </a:ext>
            </a:extLst>
          </p:cNvPr>
          <p:cNvCxnSpPr>
            <a:cxnSpLocks/>
          </p:cNvCxnSpPr>
          <p:nvPr/>
        </p:nvCxnSpPr>
        <p:spPr>
          <a:xfrm>
            <a:off x="15611800" y="7816626"/>
            <a:ext cx="31243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Geschweifte Klammer rechts 223">
            <a:extLst>
              <a:ext uri="{FF2B5EF4-FFF2-40B4-BE49-F238E27FC236}">
                <a16:creationId xmlns:a16="http://schemas.microsoft.com/office/drawing/2014/main" id="{8951DA17-AE83-6C5B-221D-C72C44D93739}"/>
              </a:ext>
            </a:extLst>
          </p:cNvPr>
          <p:cNvSpPr/>
          <p:nvPr/>
        </p:nvSpPr>
        <p:spPr>
          <a:xfrm rot="16200000">
            <a:off x="15545904" y="2767872"/>
            <a:ext cx="159086" cy="8732590"/>
          </a:xfrm>
          <a:prstGeom prst="righ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5" name="Textfeld 224">
            <a:extLst>
              <a:ext uri="{FF2B5EF4-FFF2-40B4-BE49-F238E27FC236}">
                <a16:creationId xmlns:a16="http://schemas.microsoft.com/office/drawing/2014/main" id="{8BBF860C-986E-4D78-9F87-5F04364EF030}"/>
              </a:ext>
            </a:extLst>
          </p:cNvPr>
          <p:cNvSpPr txBox="1"/>
          <p:nvPr/>
        </p:nvSpPr>
        <p:spPr>
          <a:xfrm>
            <a:off x="8230362" y="7840709"/>
            <a:ext cx="1053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RestconfLink</a:t>
            </a:r>
          </a:p>
        </p:txBody>
      </p:sp>
      <p:sp>
        <p:nvSpPr>
          <p:cNvPr id="226" name="Textfeld 225">
            <a:extLst>
              <a:ext uri="{FF2B5EF4-FFF2-40B4-BE49-F238E27FC236}">
                <a16:creationId xmlns:a16="http://schemas.microsoft.com/office/drawing/2014/main" id="{8D387E64-4BCA-66B6-70E1-7D45503060B6}"/>
              </a:ext>
            </a:extLst>
          </p:cNvPr>
          <p:cNvSpPr txBox="1"/>
          <p:nvPr/>
        </p:nvSpPr>
        <p:spPr>
          <a:xfrm>
            <a:off x="10027115" y="7722534"/>
            <a:ext cx="1111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MountPointFc</a:t>
            </a:r>
          </a:p>
        </p:txBody>
      </p:sp>
      <p:sp>
        <p:nvSpPr>
          <p:cNvPr id="227" name="Textfeld 226">
            <a:extLst>
              <a:ext uri="{FF2B5EF4-FFF2-40B4-BE49-F238E27FC236}">
                <a16:creationId xmlns:a16="http://schemas.microsoft.com/office/drawing/2014/main" id="{8E4CF222-5866-09E4-CEF1-F77A2E582179}"/>
              </a:ext>
            </a:extLst>
          </p:cNvPr>
          <p:cNvSpPr txBox="1"/>
          <p:nvPr/>
        </p:nvSpPr>
        <p:spPr>
          <a:xfrm>
            <a:off x="14248373" y="7668275"/>
            <a:ext cx="1470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MediatorProcessFc</a:t>
            </a:r>
          </a:p>
        </p:txBody>
      </p:sp>
      <p:sp>
        <p:nvSpPr>
          <p:cNvPr id="228" name="Textfeld 227">
            <a:extLst>
              <a:ext uri="{FF2B5EF4-FFF2-40B4-BE49-F238E27FC236}">
                <a16:creationId xmlns:a16="http://schemas.microsoft.com/office/drawing/2014/main" id="{41F604F7-3B97-16A0-7639-BAE0AC5FCB99}"/>
              </a:ext>
            </a:extLst>
          </p:cNvPr>
          <p:cNvSpPr txBox="1"/>
          <p:nvPr/>
        </p:nvSpPr>
        <p:spPr>
          <a:xfrm>
            <a:off x="12394312" y="7806774"/>
            <a:ext cx="995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NetconfLink</a:t>
            </a:r>
          </a:p>
        </p:txBody>
      </p:sp>
      <p:sp>
        <p:nvSpPr>
          <p:cNvPr id="229" name="Textfeld 228">
            <a:extLst>
              <a:ext uri="{FF2B5EF4-FFF2-40B4-BE49-F238E27FC236}">
                <a16:creationId xmlns:a16="http://schemas.microsoft.com/office/drawing/2014/main" id="{872B2AA5-9684-873A-DAA2-C5063F168B48}"/>
              </a:ext>
            </a:extLst>
          </p:cNvPr>
          <p:cNvSpPr txBox="1"/>
          <p:nvPr/>
        </p:nvSpPr>
        <p:spPr>
          <a:xfrm>
            <a:off x="16717929" y="7804463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SnmpLink</a:t>
            </a:r>
          </a:p>
        </p:txBody>
      </p:sp>
      <p:sp>
        <p:nvSpPr>
          <p:cNvPr id="230" name="Geschweifte Klammer rechts 229">
            <a:extLst>
              <a:ext uri="{FF2B5EF4-FFF2-40B4-BE49-F238E27FC236}">
                <a16:creationId xmlns:a16="http://schemas.microsoft.com/office/drawing/2014/main" id="{1B2B2BE4-7CF1-023D-7FF4-FF94CA235C90}"/>
              </a:ext>
            </a:extLst>
          </p:cNvPr>
          <p:cNvSpPr/>
          <p:nvPr/>
        </p:nvSpPr>
        <p:spPr>
          <a:xfrm rot="16200000">
            <a:off x="9187811" y="5179668"/>
            <a:ext cx="159086" cy="3911602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1" name="Textfeld 230">
            <a:extLst>
              <a:ext uri="{FF2B5EF4-FFF2-40B4-BE49-F238E27FC236}">
                <a16:creationId xmlns:a16="http://schemas.microsoft.com/office/drawing/2014/main" id="{6637CC3F-39A7-3055-AC71-8B42005C3657}"/>
              </a:ext>
            </a:extLst>
          </p:cNvPr>
          <p:cNvSpPr txBox="1"/>
          <p:nvPr/>
        </p:nvSpPr>
        <p:spPr>
          <a:xfrm>
            <a:off x="11174955" y="7589862"/>
            <a:ext cx="1014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&lt;get-config&gt;</a:t>
            </a:r>
          </a:p>
        </p:txBody>
      </p:sp>
      <p:sp>
        <p:nvSpPr>
          <p:cNvPr id="232" name="Textfeld 231">
            <a:extLst>
              <a:ext uri="{FF2B5EF4-FFF2-40B4-BE49-F238E27FC236}">
                <a16:creationId xmlns:a16="http://schemas.microsoft.com/office/drawing/2014/main" id="{67DAE4BA-5DD0-3D10-73F5-7811C838F76D}"/>
              </a:ext>
            </a:extLst>
          </p:cNvPr>
          <p:cNvSpPr txBox="1"/>
          <p:nvPr/>
        </p:nvSpPr>
        <p:spPr>
          <a:xfrm>
            <a:off x="7243327" y="7643268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GET</a:t>
            </a:r>
          </a:p>
        </p:txBody>
      </p:sp>
      <p:cxnSp>
        <p:nvCxnSpPr>
          <p:cNvPr id="233" name="Gerader Verbinder 232">
            <a:extLst>
              <a:ext uri="{FF2B5EF4-FFF2-40B4-BE49-F238E27FC236}">
                <a16:creationId xmlns:a16="http://schemas.microsoft.com/office/drawing/2014/main" id="{0BD0BBE8-B1D8-0794-495D-B0AA36DE01CC}"/>
              </a:ext>
            </a:extLst>
          </p:cNvPr>
          <p:cNvCxnSpPr>
            <a:cxnSpLocks/>
          </p:cNvCxnSpPr>
          <p:nvPr/>
        </p:nvCxnSpPr>
        <p:spPr>
          <a:xfrm flipV="1">
            <a:off x="7288078" y="7485776"/>
            <a:ext cx="3956006" cy="1500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4" name="Textfeld 233">
            <a:extLst>
              <a:ext uri="{FF2B5EF4-FFF2-40B4-BE49-F238E27FC236}">
                <a16:creationId xmlns:a16="http://schemas.microsoft.com/office/drawing/2014/main" id="{E192759D-A425-2BC5-ACF9-3D217D790BAF}"/>
              </a:ext>
            </a:extLst>
          </p:cNvPr>
          <p:cNvSpPr txBox="1"/>
          <p:nvPr/>
        </p:nvSpPr>
        <p:spPr>
          <a:xfrm>
            <a:off x="8792350" y="7270081"/>
            <a:ext cx="898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 x 42ooo</a:t>
            </a:r>
          </a:p>
        </p:txBody>
      </p:sp>
      <p:cxnSp>
        <p:nvCxnSpPr>
          <p:cNvPr id="235" name="Gerader Verbinder 234">
            <a:extLst>
              <a:ext uri="{FF2B5EF4-FFF2-40B4-BE49-F238E27FC236}">
                <a16:creationId xmlns:a16="http://schemas.microsoft.com/office/drawing/2014/main" id="{97BB8CA5-5A7C-ED54-E5E0-9F16DFE5073E}"/>
              </a:ext>
            </a:extLst>
          </p:cNvPr>
          <p:cNvCxnSpPr>
            <a:cxnSpLocks/>
          </p:cNvCxnSpPr>
          <p:nvPr/>
        </p:nvCxnSpPr>
        <p:spPr>
          <a:xfrm>
            <a:off x="11259152" y="7483417"/>
            <a:ext cx="7487044" cy="1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6" name="Textfeld 235">
            <a:extLst>
              <a:ext uri="{FF2B5EF4-FFF2-40B4-BE49-F238E27FC236}">
                <a16:creationId xmlns:a16="http://schemas.microsoft.com/office/drawing/2014/main" id="{98C8E64A-278A-5F82-E33E-6CBCFCCE6705}"/>
              </a:ext>
            </a:extLst>
          </p:cNvPr>
          <p:cNvSpPr txBox="1"/>
          <p:nvPr/>
        </p:nvSpPr>
        <p:spPr>
          <a:xfrm>
            <a:off x="13653272" y="7248568"/>
            <a:ext cx="898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/>
              <a:t>64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749DA09-6288-202C-3744-45770460D429}"/>
              </a:ext>
            </a:extLst>
          </p:cNvPr>
          <p:cNvCxnSpPr/>
          <p:nvPr/>
        </p:nvCxnSpPr>
        <p:spPr>
          <a:xfrm flipH="1">
            <a:off x="3541714" y="4013201"/>
            <a:ext cx="15552027" cy="75681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04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1B07028-9DDA-7F66-B27B-353CE67D042F}"/>
              </a:ext>
            </a:extLst>
          </p:cNvPr>
          <p:cNvSpPr/>
          <p:nvPr/>
        </p:nvSpPr>
        <p:spPr>
          <a:xfrm>
            <a:off x="9863985" y="4149228"/>
            <a:ext cx="1260000" cy="1260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Controller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AAB3C92-1309-21F9-5A2A-D5B19E58CC97}"/>
              </a:ext>
            </a:extLst>
          </p:cNvPr>
          <p:cNvCxnSpPr>
            <a:cxnSpLocks/>
            <a:stCxn id="23" idx="6"/>
            <a:endCxn id="36" idx="2"/>
          </p:cNvCxnSpPr>
          <p:nvPr/>
        </p:nvCxnSpPr>
        <p:spPr>
          <a:xfrm>
            <a:off x="7243939" y="5105658"/>
            <a:ext cx="3857186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D9ACD396-053F-098F-6E39-579A071B2680}"/>
              </a:ext>
            </a:extLst>
          </p:cNvPr>
          <p:cNvSpPr/>
          <p:nvPr/>
        </p:nvSpPr>
        <p:spPr>
          <a:xfrm>
            <a:off x="5961080" y="4149228"/>
            <a:ext cx="1260000" cy="1260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DE4D244-E117-810E-FE87-3CCDF7FC1B8C}"/>
              </a:ext>
            </a:extLst>
          </p:cNvPr>
          <p:cNvSpPr/>
          <p:nvPr/>
        </p:nvSpPr>
        <p:spPr>
          <a:xfrm>
            <a:off x="7197611" y="4429940"/>
            <a:ext cx="45719" cy="45719"/>
          </a:xfrm>
          <a:prstGeom prst="ellips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012ABAB0-185A-7992-9793-D8DD22CF49D2}"/>
              </a:ext>
            </a:extLst>
          </p:cNvPr>
          <p:cNvSpPr/>
          <p:nvPr/>
        </p:nvSpPr>
        <p:spPr>
          <a:xfrm>
            <a:off x="7198221" y="5082799"/>
            <a:ext cx="45719" cy="45719"/>
          </a:xfrm>
          <a:prstGeom prst="ellipse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20CD0AB2-DE58-BA48-54DE-8FCE795DC626}"/>
              </a:ext>
            </a:extLst>
          </p:cNvPr>
          <p:cNvSpPr/>
          <p:nvPr/>
        </p:nvSpPr>
        <p:spPr>
          <a:xfrm>
            <a:off x="11101126" y="5082799"/>
            <a:ext cx="45719" cy="45719"/>
          </a:xfrm>
          <a:prstGeom prst="ellips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0D90752-E600-F455-0214-43CAB7E7F87E}"/>
              </a:ext>
            </a:extLst>
          </p:cNvPr>
          <p:cNvSpPr/>
          <p:nvPr/>
        </p:nvSpPr>
        <p:spPr>
          <a:xfrm>
            <a:off x="14252628" y="4149228"/>
            <a:ext cx="1260000" cy="1260000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>
                <a:shade val="15000"/>
                <a:alpha val="2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Mediator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BB5D594-F1DB-B50A-6F3D-508ABF55786F}"/>
              </a:ext>
            </a:extLst>
          </p:cNvPr>
          <p:cNvSpPr/>
          <p:nvPr/>
        </p:nvSpPr>
        <p:spPr>
          <a:xfrm>
            <a:off x="18641268" y="4149228"/>
            <a:ext cx="1260000" cy="12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Device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5787C7D1-BC29-2037-C7E6-1111E88F43A2}"/>
              </a:ext>
            </a:extLst>
          </p:cNvPr>
          <p:cNvSpPr/>
          <p:nvPr/>
        </p:nvSpPr>
        <p:spPr>
          <a:xfrm>
            <a:off x="18612283" y="4429940"/>
            <a:ext cx="45719" cy="45719"/>
          </a:xfrm>
          <a:prstGeom prst="ellips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D4D61CF3-37D7-0039-79B0-B9C56150DD73}"/>
              </a:ext>
            </a:extLst>
          </p:cNvPr>
          <p:cNvSpPr/>
          <p:nvPr/>
        </p:nvSpPr>
        <p:spPr>
          <a:xfrm>
            <a:off x="18612893" y="5082799"/>
            <a:ext cx="45719" cy="45719"/>
          </a:xfrm>
          <a:prstGeom prst="ellips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ED99F935-BC1C-7FB5-AA10-C25DB56C26BA}"/>
              </a:ext>
            </a:extLst>
          </p:cNvPr>
          <p:cNvCxnSpPr>
            <a:cxnSpLocks/>
            <a:stCxn id="36" idx="6"/>
            <a:endCxn id="45" idx="2"/>
          </p:cNvCxnSpPr>
          <p:nvPr/>
        </p:nvCxnSpPr>
        <p:spPr>
          <a:xfrm>
            <a:off x="11146844" y="5105658"/>
            <a:ext cx="746604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10976B8C-D8E4-9C83-78A0-E39C05AC7017}"/>
              </a:ext>
            </a:extLst>
          </p:cNvPr>
          <p:cNvSpPr txBox="1"/>
          <p:nvPr/>
        </p:nvSpPr>
        <p:spPr>
          <a:xfrm>
            <a:off x="11517462" y="4866608"/>
            <a:ext cx="2393605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25"/>
              </a:lnSpc>
            </a:pPr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</a:rPr>
              <a:t>ManagementPlaneTransportFc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8B2B3BEB-4ABD-3B35-BFD8-E9EC20B947F6}"/>
              </a:ext>
            </a:extLst>
          </p:cNvPr>
          <p:cNvSpPr txBox="1"/>
          <p:nvPr/>
        </p:nvSpPr>
        <p:spPr>
          <a:xfrm>
            <a:off x="7358960" y="4869226"/>
            <a:ext cx="2393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</a:rPr>
              <a:t>ManagementPlaneTransportFc</a:t>
            </a:r>
            <a:endParaRPr lang="de-DE" sz="1200"/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CBF71B95-F797-6985-D861-450C3FCE119B}"/>
              </a:ext>
            </a:extLst>
          </p:cNvPr>
          <p:cNvSpPr/>
          <p:nvPr/>
        </p:nvSpPr>
        <p:spPr>
          <a:xfrm>
            <a:off x="2080424" y="135756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8B15E994-ABDA-E4DD-63D0-99D6838DFF13}"/>
              </a:ext>
            </a:extLst>
          </p:cNvPr>
          <p:cNvSpPr/>
          <p:nvPr/>
        </p:nvSpPr>
        <p:spPr>
          <a:xfrm>
            <a:off x="7217352" y="968565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160"/>
              <a:t>                          Live</a:t>
            </a: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5A7E11B2-3E42-130D-1D88-E325860CD6F4}"/>
              </a:ext>
            </a:extLst>
          </p:cNvPr>
          <p:cNvSpPr/>
          <p:nvPr/>
        </p:nvSpPr>
        <p:spPr>
          <a:xfrm>
            <a:off x="11146234" y="1890452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94CD7E54-8AC0-1221-73EB-CB8FBC9B51C4}"/>
              </a:ext>
            </a:extLst>
          </p:cNvPr>
          <p:cNvSpPr/>
          <p:nvPr/>
        </p:nvSpPr>
        <p:spPr>
          <a:xfrm>
            <a:off x="11146234" y="1780171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A8160536-70B1-B254-504C-5879F86B2FEF}"/>
              </a:ext>
            </a:extLst>
          </p:cNvPr>
          <p:cNvSpPr/>
          <p:nvPr/>
        </p:nvSpPr>
        <p:spPr>
          <a:xfrm>
            <a:off x="11146234" y="1646506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7" name="Ellipse 146">
            <a:extLst>
              <a:ext uri="{FF2B5EF4-FFF2-40B4-BE49-F238E27FC236}">
                <a16:creationId xmlns:a16="http://schemas.microsoft.com/office/drawing/2014/main" id="{06A94292-D571-661B-EAA7-4B51BED0A0F5}"/>
              </a:ext>
            </a:extLst>
          </p:cNvPr>
          <p:cNvSpPr/>
          <p:nvPr/>
        </p:nvSpPr>
        <p:spPr>
          <a:xfrm>
            <a:off x="11146234" y="1504167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0D4D40BA-5BA6-7300-5D00-1BB2B9B6D511}"/>
              </a:ext>
            </a:extLst>
          </p:cNvPr>
          <p:cNvSpPr/>
          <p:nvPr/>
        </p:nvSpPr>
        <p:spPr>
          <a:xfrm>
            <a:off x="5957352" y="1664222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80127BE7-834A-4BEE-D713-DE407A278C9B}"/>
              </a:ext>
            </a:extLst>
          </p:cNvPr>
          <p:cNvSpPr>
            <a:spLocks noChangeAspect="1"/>
          </p:cNvSpPr>
          <p:nvPr/>
        </p:nvSpPr>
        <p:spPr>
          <a:xfrm rot="5400000">
            <a:off x="5925084" y="2454257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02D36E97-D75E-541C-E4D6-00FF1E5C7833}"/>
              </a:ext>
            </a:extLst>
          </p:cNvPr>
          <p:cNvSpPr/>
          <p:nvPr/>
        </p:nvSpPr>
        <p:spPr>
          <a:xfrm>
            <a:off x="7266637" y="1511120"/>
            <a:ext cx="3662612" cy="72519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</a:t>
            </a:r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8A5667DE-8B86-E2A0-67DA-E46B5ECA3718}"/>
              </a:ext>
            </a:extLst>
          </p:cNvPr>
          <p:cNvSpPr/>
          <p:nvPr/>
        </p:nvSpPr>
        <p:spPr>
          <a:xfrm>
            <a:off x="10976031" y="1237411"/>
            <a:ext cx="8947487" cy="1337003"/>
          </a:xfrm>
          <a:prstGeom prst="ellipse">
            <a:avLst/>
          </a:prstGeom>
          <a:solidFill>
            <a:schemeClr val="accent5">
              <a:alpha val="74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de-DE" sz="2160"/>
              <a:t>Device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4467E6A2-317A-7399-239A-7143D344A89A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7197610" y="4452800"/>
            <a:ext cx="11414672" cy="2285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6912587-3ADE-4684-D959-D1BFE18A4095}"/>
              </a:ext>
            </a:extLst>
          </p:cNvPr>
          <p:cNvSpPr txBox="1"/>
          <p:nvPr/>
        </p:nvSpPr>
        <p:spPr>
          <a:xfrm>
            <a:off x="11899777" y="4238067"/>
            <a:ext cx="16289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</a:rPr>
              <a:t>ManagementPlaneFc</a:t>
            </a:r>
          </a:p>
        </p:txBody>
      </p:sp>
    </p:spTree>
    <p:extLst>
      <p:ext uri="{BB962C8B-B14F-4D97-AF65-F5344CB8AC3E}">
        <p14:creationId xmlns:p14="http://schemas.microsoft.com/office/powerpoint/2010/main" val="298307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hteck 124">
            <a:extLst>
              <a:ext uri="{FF2B5EF4-FFF2-40B4-BE49-F238E27FC236}">
                <a16:creationId xmlns:a16="http://schemas.microsoft.com/office/drawing/2014/main" id="{A59DC202-6741-C7BF-D94C-506A3CC9AA0D}"/>
              </a:ext>
            </a:extLst>
          </p:cNvPr>
          <p:cNvSpPr/>
          <p:nvPr/>
        </p:nvSpPr>
        <p:spPr>
          <a:xfrm>
            <a:off x="9863374" y="4151619"/>
            <a:ext cx="1260000" cy="1260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  <a:p>
            <a:pPr algn="ctr"/>
            <a:endParaRPr lang="de-DE" sz="1440"/>
          </a:p>
          <a:p>
            <a:pPr algn="ctr"/>
            <a:r>
              <a:rPr lang="de-DE" sz="1440"/>
              <a:t>Controller</a:t>
            </a:r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CBF71B95-F797-6985-D861-450C3FCE119B}"/>
              </a:ext>
            </a:extLst>
          </p:cNvPr>
          <p:cNvSpPr/>
          <p:nvPr/>
        </p:nvSpPr>
        <p:spPr>
          <a:xfrm>
            <a:off x="2080424" y="135756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8B15E994-ABDA-E4DD-63D0-99D6838DFF13}"/>
              </a:ext>
            </a:extLst>
          </p:cNvPr>
          <p:cNvSpPr/>
          <p:nvPr/>
        </p:nvSpPr>
        <p:spPr>
          <a:xfrm>
            <a:off x="7217352" y="968565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160"/>
              <a:t>                          Live</a:t>
            </a: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5A7E11B2-3E42-130D-1D88-E325860CD6F4}"/>
              </a:ext>
            </a:extLst>
          </p:cNvPr>
          <p:cNvSpPr/>
          <p:nvPr/>
        </p:nvSpPr>
        <p:spPr>
          <a:xfrm>
            <a:off x="11146234" y="1890452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94CD7E54-8AC0-1221-73EB-CB8FBC9B51C4}"/>
              </a:ext>
            </a:extLst>
          </p:cNvPr>
          <p:cNvSpPr/>
          <p:nvPr/>
        </p:nvSpPr>
        <p:spPr>
          <a:xfrm>
            <a:off x="11146234" y="1780171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A8160536-70B1-B254-504C-5879F86B2FEF}"/>
              </a:ext>
            </a:extLst>
          </p:cNvPr>
          <p:cNvSpPr/>
          <p:nvPr/>
        </p:nvSpPr>
        <p:spPr>
          <a:xfrm>
            <a:off x="11146234" y="1646506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7" name="Ellipse 146">
            <a:extLst>
              <a:ext uri="{FF2B5EF4-FFF2-40B4-BE49-F238E27FC236}">
                <a16:creationId xmlns:a16="http://schemas.microsoft.com/office/drawing/2014/main" id="{06A94292-D571-661B-EAA7-4B51BED0A0F5}"/>
              </a:ext>
            </a:extLst>
          </p:cNvPr>
          <p:cNvSpPr/>
          <p:nvPr/>
        </p:nvSpPr>
        <p:spPr>
          <a:xfrm>
            <a:off x="11146234" y="1504167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0D4D40BA-5BA6-7300-5D00-1BB2B9B6D511}"/>
              </a:ext>
            </a:extLst>
          </p:cNvPr>
          <p:cNvSpPr/>
          <p:nvPr/>
        </p:nvSpPr>
        <p:spPr>
          <a:xfrm>
            <a:off x="5957352" y="1664222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80127BE7-834A-4BEE-D713-DE407A278C9B}"/>
              </a:ext>
            </a:extLst>
          </p:cNvPr>
          <p:cNvSpPr>
            <a:spLocks noChangeAspect="1"/>
          </p:cNvSpPr>
          <p:nvPr/>
        </p:nvSpPr>
        <p:spPr>
          <a:xfrm rot="5400000">
            <a:off x="5925084" y="2454257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02D36E97-D75E-541C-E4D6-00FF1E5C7833}"/>
              </a:ext>
            </a:extLst>
          </p:cNvPr>
          <p:cNvSpPr/>
          <p:nvPr/>
        </p:nvSpPr>
        <p:spPr>
          <a:xfrm>
            <a:off x="7266637" y="1511120"/>
            <a:ext cx="3662612" cy="72519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</a:t>
            </a:r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8A5667DE-8B86-E2A0-67DA-E46B5ECA3718}"/>
              </a:ext>
            </a:extLst>
          </p:cNvPr>
          <p:cNvSpPr/>
          <p:nvPr/>
        </p:nvSpPr>
        <p:spPr>
          <a:xfrm>
            <a:off x="10976031" y="1237411"/>
            <a:ext cx="8947487" cy="1337003"/>
          </a:xfrm>
          <a:prstGeom prst="ellipse">
            <a:avLst/>
          </a:prstGeom>
          <a:solidFill>
            <a:schemeClr val="accent5">
              <a:alpha val="74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de-DE" sz="2160"/>
              <a:t>Device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81F2B893-A78C-DB45-E609-0702CBF01171}"/>
              </a:ext>
            </a:extLst>
          </p:cNvPr>
          <p:cNvSpPr/>
          <p:nvPr/>
        </p:nvSpPr>
        <p:spPr>
          <a:xfrm>
            <a:off x="14252628" y="4157155"/>
            <a:ext cx="1260000" cy="1260000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>
                <a:shade val="15000"/>
                <a:alpha val="2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Mediator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9BE7CFCC-A952-3E88-0CBA-D5EF119C83C1}"/>
              </a:ext>
            </a:extLst>
          </p:cNvPr>
          <p:cNvSpPr/>
          <p:nvPr/>
        </p:nvSpPr>
        <p:spPr>
          <a:xfrm>
            <a:off x="18641268" y="4157155"/>
            <a:ext cx="1260000" cy="1260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Device</a:t>
            </a:r>
          </a:p>
        </p:txBody>
      </p:sp>
      <p:sp>
        <p:nvSpPr>
          <p:cNvPr id="107" name="Ellipse 106">
            <a:extLst>
              <a:ext uri="{FF2B5EF4-FFF2-40B4-BE49-F238E27FC236}">
                <a16:creationId xmlns:a16="http://schemas.microsoft.com/office/drawing/2014/main" id="{942D1C69-C807-1B99-EFB7-540D9D2FEECC}"/>
              </a:ext>
            </a:extLst>
          </p:cNvPr>
          <p:cNvSpPr/>
          <p:nvPr/>
        </p:nvSpPr>
        <p:spPr>
          <a:xfrm>
            <a:off x="7198221" y="4429850"/>
            <a:ext cx="45719" cy="45719"/>
          </a:xfrm>
          <a:prstGeom prst="ellipse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08" name="Ellipse 107">
            <a:extLst>
              <a:ext uri="{FF2B5EF4-FFF2-40B4-BE49-F238E27FC236}">
                <a16:creationId xmlns:a16="http://schemas.microsoft.com/office/drawing/2014/main" id="{0F2EB3F0-F4EB-89DF-1935-ACB650F1A81E}"/>
              </a:ext>
            </a:extLst>
          </p:cNvPr>
          <p:cNvSpPr/>
          <p:nvPr/>
        </p:nvSpPr>
        <p:spPr>
          <a:xfrm>
            <a:off x="11101126" y="442985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64635193-B0A3-EA22-1448-07B969191FCE}"/>
              </a:ext>
            </a:extLst>
          </p:cNvPr>
          <p:cNvSpPr txBox="1"/>
          <p:nvPr/>
        </p:nvSpPr>
        <p:spPr>
          <a:xfrm>
            <a:off x="7358960" y="4216277"/>
            <a:ext cx="2393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</a:rPr>
              <a:t>ManagementPlaneTransportFc</a:t>
            </a:r>
            <a:endParaRPr lang="de-DE" sz="1200"/>
          </a:p>
        </p:txBody>
      </p:sp>
      <p:sp>
        <p:nvSpPr>
          <p:cNvPr id="117" name="Rechteck 116">
            <a:extLst>
              <a:ext uri="{FF2B5EF4-FFF2-40B4-BE49-F238E27FC236}">
                <a16:creationId xmlns:a16="http://schemas.microsoft.com/office/drawing/2014/main" id="{92C882CD-80C9-C8C6-9B5B-8CE7CD3FBC3B}"/>
              </a:ext>
            </a:extLst>
          </p:cNvPr>
          <p:cNvSpPr/>
          <p:nvPr/>
        </p:nvSpPr>
        <p:spPr>
          <a:xfrm>
            <a:off x="5960469" y="4151619"/>
            <a:ext cx="1260000" cy="1260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01B9A9A2-1F58-3FDE-2BB4-DEE0581A5CB4}"/>
              </a:ext>
            </a:extLst>
          </p:cNvPr>
          <p:cNvSpPr/>
          <p:nvPr/>
        </p:nvSpPr>
        <p:spPr>
          <a:xfrm>
            <a:off x="7197000" y="4432331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1B7E2370-CA0E-FDD6-8B4C-2E5EF24CF67B}"/>
              </a:ext>
            </a:extLst>
          </p:cNvPr>
          <p:cNvSpPr/>
          <p:nvPr/>
        </p:nvSpPr>
        <p:spPr>
          <a:xfrm>
            <a:off x="7197610" y="4758760"/>
            <a:ext cx="45719" cy="45719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3694F2F5-1F61-A876-9E60-0B4397A3D25F}"/>
              </a:ext>
            </a:extLst>
          </p:cNvPr>
          <p:cNvSpPr/>
          <p:nvPr/>
        </p:nvSpPr>
        <p:spPr>
          <a:xfrm>
            <a:off x="7197610" y="5085190"/>
            <a:ext cx="45719" cy="45719"/>
          </a:xfrm>
          <a:prstGeom prst="ellipse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B56E6C7-57D9-ACBD-45CC-166EC31AA374}"/>
              </a:ext>
            </a:extLst>
          </p:cNvPr>
          <p:cNvSpPr/>
          <p:nvPr/>
        </p:nvSpPr>
        <p:spPr>
          <a:xfrm>
            <a:off x="9838013" y="4758760"/>
            <a:ext cx="45719" cy="45719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4E6EEC50-A828-9D2E-8817-70AA2B9DBF47}"/>
              </a:ext>
            </a:extLst>
          </p:cNvPr>
          <p:cNvSpPr/>
          <p:nvPr/>
        </p:nvSpPr>
        <p:spPr>
          <a:xfrm>
            <a:off x="9838013" y="5085190"/>
            <a:ext cx="45719" cy="45719"/>
          </a:xfrm>
          <a:prstGeom prst="ellipse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cxnSp>
        <p:nvCxnSpPr>
          <p:cNvPr id="133" name="Gerader Verbinder 132">
            <a:extLst>
              <a:ext uri="{FF2B5EF4-FFF2-40B4-BE49-F238E27FC236}">
                <a16:creationId xmlns:a16="http://schemas.microsoft.com/office/drawing/2014/main" id="{5AAA43F5-9A60-A04F-CF26-95AF9931685F}"/>
              </a:ext>
            </a:extLst>
          </p:cNvPr>
          <p:cNvCxnSpPr>
            <a:cxnSpLocks/>
            <a:stCxn id="122" idx="6"/>
            <a:endCxn id="127" idx="2"/>
          </p:cNvCxnSpPr>
          <p:nvPr/>
        </p:nvCxnSpPr>
        <p:spPr>
          <a:xfrm>
            <a:off x="7243326" y="4781619"/>
            <a:ext cx="2594684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4" name="Textfeld 133">
            <a:extLst>
              <a:ext uri="{FF2B5EF4-FFF2-40B4-BE49-F238E27FC236}">
                <a16:creationId xmlns:a16="http://schemas.microsoft.com/office/drawing/2014/main" id="{10249A19-10F8-4F42-1E5C-9AEA67855AFA}"/>
              </a:ext>
            </a:extLst>
          </p:cNvPr>
          <p:cNvSpPr txBox="1"/>
          <p:nvPr/>
        </p:nvSpPr>
        <p:spPr>
          <a:xfrm>
            <a:off x="7953673" y="4555301"/>
            <a:ext cx="12041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</a:rPr>
              <a:t>RestconfLink</a:t>
            </a:r>
          </a:p>
        </p:txBody>
      </p: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288AB854-6938-CE0E-0D93-28C3C3E890F6}"/>
              </a:ext>
            </a:extLst>
          </p:cNvPr>
          <p:cNvCxnSpPr>
            <a:cxnSpLocks/>
            <a:stCxn id="107" idx="6"/>
            <a:endCxn id="108" idx="2"/>
          </p:cNvCxnSpPr>
          <p:nvPr/>
        </p:nvCxnSpPr>
        <p:spPr>
          <a:xfrm>
            <a:off x="7243939" y="4452709"/>
            <a:ext cx="3857186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0" name="Ellipse 139">
            <a:extLst>
              <a:ext uri="{FF2B5EF4-FFF2-40B4-BE49-F238E27FC236}">
                <a16:creationId xmlns:a16="http://schemas.microsoft.com/office/drawing/2014/main" id="{51DF8E0D-A121-D608-7049-04A3A8A9ECCF}"/>
              </a:ext>
            </a:extLst>
          </p:cNvPr>
          <p:cNvSpPr/>
          <p:nvPr/>
        </p:nvSpPr>
        <p:spPr>
          <a:xfrm>
            <a:off x="11100155" y="4764296"/>
            <a:ext cx="45719" cy="45719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cxnSp>
        <p:nvCxnSpPr>
          <p:cNvPr id="141" name="Gerader Verbinder 140">
            <a:extLst>
              <a:ext uri="{FF2B5EF4-FFF2-40B4-BE49-F238E27FC236}">
                <a16:creationId xmlns:a16="http://schemas.microsoft.com/office/drawing/2014/main" id="{6FA9C982-7EFD-2B9C-FF9D-E84F387D5D7A}"/>
              </a:ext>
            </a:extLst>
          </p:cNvPr>
          <p:cNvCxnSpPr>
            <a:cxnSpLocks/>
            <a:stCxn id="127" idx="6"/>
            <a:endCxn id="140" idx="2"/>
          </p:cNvCxnSpPr>
          <p:nvPr/>
        </p:nvCxnSpPr>
        <p:spPr>
          <a:xfrm>
            <a:off x="9883732" y="4781619"/>
            <a:ext cx="1216423" cy="5536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4" name="Textfeld 153">
            <a:extLst>
              <a:ext uri="{FF2B5EF4-FFF2-40B4-BE49-F238E27FC236}">
                <a16:creationId xmlns:a16="http://schemas.microsoft.com/office/drawing/2014/main" id="{FE3640AF-16FC-A4ED-873E-3D670696A70A}"/>
              </a:ext>
            </a:extLst>
          </p:cNvPr>
          <p:cNvSpPr txBox="1"/>
          <p:nvPr/>
        </p:nvSpPr>
        <p:spPr>
          <a:xfrm>
            <a:off x="9899398" y="4544487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</a:rPr>
              <a:t>MountPointFc</a:t>
            </a:r>
          </a:p>
        </p:txBody>
      </p:sp>
    </p:spTree>
    <p:extLst>
      <p:ext uri="{BB962C8B-B14F-4D97-AF65-F5344CB8AC3E}">
        <p14:creationId xmlns:p14="http://schemas.microsoft.com/office/powerpoint/2010/main" val="3103104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Ellipse 141">
            <a:extLst>
              <a:ext uri="{FF2B5EF4-FFF2-40B4-BE49-F238E27FC236}">
                <a16:creationId xmlns:a16="http://schemas.microsoft.com/office/drawing/2014/main" id="{CBF71B95-F797-6985-D861-450C3FCE119B}"/>
              </a:ext>
            </a:extLst>
          </p:cNvPr>
          <p:cNvSpPr/>
          <p:nvPr/>
        </p:nvSpPr>
        <p:spPr>
          <a:xfrm>
            <a:off x="2080424" y="135756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8B15E994-ABDA-E4DD-63D0-99D6838DFF13}"/>
              </a:ext>
            </a:extLst>
          </p:cNvPr>
          <p:cNvSpPr/>
          <p:nvPr/>
        </p:nvSpPr>
        <p:spPr>
          <a:xfrm>
            <a:off x="7217352" y="968565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160"/>
              <a:t>                          Live</a:t>
            </a: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5A7E11B2-3E42-130D-1D88-E325860CD6F4}"/>
              </a:ext>
            </a:extLst>
          </p:cNvPr>
          <p:cNvSpPr/>
          <p:nvPr/>
        </p:nvSpPr>
        <p:spPr>
          <a:xfrm>
            <a:off x="11146234" y="1890452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94CD7E54-8AC0-1221-73EB-CB8FBC9B51C4}"/>
              </a:ext>
            </a:extLst>
          </p:cNvPr>
          <p:cNvSpPr/>
          <p:nvPr/>
        </p:nvSpPr>
        <p:spPr>
          <a:xfrm>
            <a:off x="11146234" y="1780171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A8160536-70B1-B254-504C-5879F86B2FEF}"/>
              </a:ext>
            </a:extLst>
          </p:cNvPr>
          <p:cNvSpPr/>
          <p:nvPr/>
        </p:nvSpPr>
        <p:spPr>
          <a:xfrm>
            <a:off x="11146234" y="1646506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7" name="Ellipse 146">
            <a:extLst>
              <a:ext uri="{FF2B5EF4-FFF2-40B4-BE49-F238E27FC236}">
                <a16:creationId xmlns:a16="http://schemas.microsoft.com/office/drawing/2014/main" id="{06A94292-D571-661B-EAA7-4B51BED0A0F5}"/>
              </a:ext>
            </a:extLst>
          </p:cNvPr>
          <p:cNvSpPr/>
          <p:nvPr/>
        </p:nvSpPr>
        <p:spPr>
          <a:xfrm>
            <a:off x="11146234" y="1504167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0D4D40BA-5BA6-7300-5D00-1BB2B9B6D511}"/>
              </a:ext>
            </a:extLst>
          </p:cNvPr>
          <p:cNvSpPr/>
          <p:nvPr/>
        </p:nvSpPr>
        <p:spPr>
          <a:xfrm>
            <a:off x="5957352" y="1664222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80127BE7-834A-4BEE-D713-DE407A278C9B}"/>
              </a:ext>
            </a:extLst>
          </p:cNvPr>
          <p:cNvSpPr>
            <a:spLocks noChangeAspect="1"/>
          </p:cNvSpPr>
          <p:nvPr/>
        </p:nvSpPr>
        <p:spPr>
          <a:xfrm rot="5400000">
            <a:off x="5925084" y="2454257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02D36E97-D75E-541C-E4D6-00FF1E5C7833}"/>
              </a:ext>
            </a:extLst>
          </p:cNvPr>
          <p:cNvSpPr/>
          <p:nvPr/>
        </p:nvSpPr>
        <p:spPr>
          <a:xfrm>
            <a:off x="7266637" y="1511120"/>
            <a:ext cx="3662612" cy="72519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</a:t>
            </a:r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8A5667DE-8B86-E2A0-67DA-E46B5ECA3718}"/>
              </a:ext>
            </a:extLst>
          </p:cNvPr>
          <p:cNvSpPr/>
          <p:nvPr/>
        </p:nvSpPr>
        <p:spPr>
          <a:xfrm>
            <a:off x="10976031" y="1237411"/>
            <a:ext cx="8947487" cy="1337003"/>
          </a:xfrm>
          <a:prstGeom prst="ellipse">
            <a:avLst/>
          </a:prstGeom>
          <a:solidFill>
            <a:schemeClr val="accent5">
              <a:alpha val="74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de-DE" sz="2160"/>
              <a:t>Device</a:t>
            </a:r>
          </a:p>
        </p:txBody>
      </p:sp>
      <p:sp>
        <p:nvSpPr>
          <p:cNvPr id="163" name="Rechteck 162">
            <a:extLst>
              <a:ext uri="{FF2B5EF4-FFF2-40B4-BE49-F238E27FC236}">
                <a16:creationId xmlns:a16="http://schemas.microsoft.com/office/drawing/2014/main" id="{3ED78662-2A96-30AA-F3D5-01A49570358E}"/>
              </a:ext>
            </a:extLst>
          </p:cNvPr>
          <p:cNvSpPr/>
          <p:nvPr/>
        </p:nvSpPr>
        <p:spPr>
          <a:xfrm>
            <a:off x="5959859" y="4157519"/>
            <a:ext cx="1260000" cy="1260000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>
            <a:solidFill>
              <a:schemeClr val="accent6">
                <a:shade val="15000"/>
                <a:alpha val="2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71" name="Rechteck 170">
            <a:extLst>
              <a:ext uri="{FF2B5EF4-FFF2-40B4-BE49-F238E27FC236}">
                <a16:creationId xmlns:a16="http://schemas.microsoft.com/office/drawing/2014/main" id="{65F9F537-E439-F6E8-242E-7EF2AB2D1B86}"/>
              </a:ext>
            </a:extLst>
          </p:cNvPr>
          <p:cNvSpPr/>
          <p:nvPr/>
        </p:nvSpPr>
        <p:spPr>
          <a:xfrm>
            <a:off x="9862764" y="4157519"/>
            <a:ext cx="1260000" cy="1260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Controller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DF3DC62A-91C8-ABE5-DE3A-E1C0B6B609ED}"/>
              </a:ext>
            </a:extLst>
          </p:cNvPr>
          <p:cNvSpPr/>
          <p:nvPr/>
        </p:nvSpPr>
        <p:spPr>
          <a:xfrm>
            <a:off x="11099295" y="4438231"/>
            <a:ext cx="45719" cy="45719"/>
          </a:xfrm>
          <a:prstGeom prst="ellipse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B9529A50-E98F-5AA2-DD6C-F679F18BB0A9}"/>
              </a:ext>
            </a:extLst>
          </p:cNvPr>
          <p:cNvSpPr/>
          <p:nvPr/>
        </p:nvSpPr>
        <p:spPr>
          <a:xfrm>
            <a:off x="11099905" y="4764660"/>
            <a:ext cx="45719" cy="45719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79" name="Rechteck 178">
            <a:extLst>
              <a:ext uri="{FF2B5EF4-FFF2-40B4-BE49-F238E27FC236}">
                <a16:creationId xmlns:a16="http://schemas.microsoft.com/office/drawing/2014/main" id="{8404B881-7652-7153-B2F4-444541516FF0}"/>
              </a:ext>
            </a:extLst>
          </p:cNvPr>
          <p:cNvSpPr/>
          <p:nvPr/>
        </p:nvSpPr>
        <p:spPr>
          <a:xfrm>
            <a:off x="14251407" y="4157519"/>
            <a:ext cx="1260000" cy="1260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  <a:p>
            <a:pPr algn="ctr"/>
            <a:endParaRPr lang="de-DE" sz="1440"/>
          </a:p>
          <a:p>
            <a:pPr algn="ctr"/>
            <a:r>
              <a:rPr lang="de-DE" sz="1440"/>
              <a:t>Mediator</a:t>
            </a:r>
          </a:p>
        </p:txBody>
      </p:sp>
      <p:sp>
        <p:nvSpPr>
          <p:cNvPr id="181" name="Ellipse 180">
            <a:extLst>
              <a:ext uri="{FF2B5EF4-FFF2-40B4-BE49-F238E27FC236}">
                <a16:creationId xmlns:a16="http://schemas.microsoft.com/office/drawing/2014/main" id="{AFED8472-FC56-47F3-E032-7109AF27B37B}"/>
              </a:ext>
            </a:extLst>
          </p:cNvPr>
          <p:cNvSpPr/>
          <p:nvPr/>
        </p:nvSpPr>
        <p:spPr>
          <a:xfrm>
            <a:off x="14223935" y="4764660"/>
            <a:ext cx="45719" cy="45719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84" name="Ellipse 183">
            <a:extLst>
              <a:ext uri="{FF2B5EF4-FFF2-40B4-BE49-F238E27FC236}">
                <a16:creationId xmlns:a16="http://schemas.microsoft.com/office/drawing/2014/main" id="{09519AF8-19AC-9DFD-7A69-2AB1F8068688}"/>
              </a:ext>
            </a:extLst>
          </p:cNvPr>
          <p:cNvSpPr/>
          <p:nvPr/>
        </p:nvSpPr>
        <p:spPr>
          <a:xfrm>
            <a:off x="15486437" y="4764660"/>
            <a:ext cx="45719" cy="45719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87" name="Rechteck 186">
            <a:extLst>
              <a:ext uri="{FF2B5EF4-FFF2-40B4-BE49-F238E27FC236}">
                <a16:creationId xmlns:a16="http://schemas.microsoft.com/office/drawing/2014/main" id="{4A367FCB-79B0-120B-7D5E-50786E9568C7}"/>
              </a:ext>
            </a:extLst>
          </p:cNvPr>
          <p:cNvSpPr/>
          <p:nvPr/>
        </p:nvSpPr>
        <p:spPr>
          <a:xfrm>
            <a:off x="18640047" y="4157519"/>
            <a:ext cx="1260000" cy="12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Device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5A939DF4-EBBB-9AC6-1140-7A66818D61B3}"/>
              </a:ext>
            </a:extLst>
          </p:cNvPr>
          <p:cNvSpPr/>
          <p:nvPr/>
        </p:nvSpPr>
        <p:spPr>
          <a:xfrm>
            <a:off x="18611062" y="4438231"/>
            <a:ext cx="45719" cy="45719"/>
          </a:xfrm>
          <a:prstGeom prst="ellipse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89" name="Ellipse 188">
            <a:extLst>
              <a:ext uri="{FF2B5EF4-FFF2-40B4-BE49-F238E27FC236}">
                <a16:creationId xmlns:a16="http://schemas.microsoft.com/office/drawing/2014/main" id="{34D51D38-7B67-569D-4340-87C47014F0AE}"/>
              </a:ext>
            </a:extLst>
          </p:cNvPr>
          <p:cNvSpPr/>
          <p:nvPr/>
        </p:nvSpPr>
        <p:spPr>
          <a:xfrm>
            <a:off x="18611672" y="4764660"/>
            <a:ext cx="45719" cy="45719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cxnSp>
        <p:nvCxnSpPr>
          <p:cNvPr id="197" name="Gerader Verbinder 196">
            <a:extLst>
              <a:ext uri="{FF2B5EF4-FFF2-40B4-BE49-F238E27FC236}">
                <a16:creationId xmlns:a16="http://schemas.microsoft.com/office/drawing/2014/main" id="{B6AC246A-756E-DAB9-3397-0AEEBEFA8769}"/>
              </a:ext>
            </a:extLst>
          </p:cNvPr>
          <p:cNvCxnSpPr>
            <a:cxnSpLocks/>
            <a:stCxn id="176" idx="6"/>
            <a:endCxn id="181" idx="2"/>
          </p:cNvCxnSpPr>
          <p:nvPr/>
        </p:nvCxnSpPr>
        <p:spPr>
          <a:xfrm>
            <a:off x="11145624" y="4787519"/>
            <a:ext cx="3078311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8" name="Gerader Verbinder 197">
            <a:extLst>
              <a:ext uri="{FF2B5EF4-FFF2-40B4-BE49-F238E27FC236}">
                <a16:creationId xmlns:a16="http://schemas.microsoft.com/office/drawing/2014/main" id="{4884B5B2-B783-A64A-45EA-13CB7F61E01A}"/>
              </a:ext>
            </a:extLst>
          </p:cNvPr>
          <p:cNvCxnSpPr>
            <a:cxnSpLocks/>
            <a:stCxn id="184" idx="6"/>
            <a:endCxn id="189" idx="2"/>
          </p:cNvCxnSpPr>
          <p:nvPr/>
        </p:nvCxnSpPr>
        <p:spPr>
          <a:xfrm>
            <a:off x="15532153" y="4787519"/>
            <a:ext cx="307951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9" name="Textfeld 198">
            <a:extLst>
              <a:ext uri="{FF2B5EF4-FFF2-40B4-BE49-F238E27FC236}">
                <a16:creationId xmlns:a16="http://schemas.microsoft.com/office/drawing/2014/main" id="{14A77B87-AF25-623C-03D0-F2AEEEA4E27B}"/>
              </a:ext>
            </a:extLst>
          </p:cNvPr>
          <p:cNvSpPr txBox="1"/>
          <p:nvPr/>
        </p:nvSpPr>
        <p:spPr>
          <a:xfrm>
            <a:off x="16641781" y="4561200"/>
            <a:ext cx="848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SnmpLink</a:t>
            </a:r>
          </a:p>
        </p:txBody>
      </p:sp>
      <p:sp>
        <p:nvSpPr>
          <p:cNvPr id="200" name="Textfeld 199">
            <a:extLst>
              <a:ext uri="{FF2B5EF4-FFF2-40B4-BE49-F238E27FC236}">
                <a16:creationId xmlns:a16="http://schemas.microsoft.com/office/drawing/2014/main" id="{D31F9D91-2800-195E-79D7-2067E9849F93}"/>
              </a:ext>
            </a:extLst>
          </p:cNvPr>
          <p:cNvSpPr txBox="1"/>
          <p:nvPr/>
        </p:nvSpPr>
        <p:spPr>
          <a:xfrm>
            <a:off x="12082282" y="4561200"/>
            <a:ext cx="995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NetconfLink</a:t>
            </a:r>
          </a:p>
        </p:txBody>
      </p:sp>
      <p:sp>
        <p:nvSpPr>
          <p:cNvPr id="204" name="Ellipse 203">
            <a:extLst>
              <a:ext uri="{FF2B5EF4-FFF2-40B4-BE49-F238E27FC236}">
                <a16:creationId xmlns:a16="http://schemas.microsoft.com/office/drawing/2014/main" id="{6CD0388D-8F28-C05E-B968-5DD14402F21A}"/>
              </a:ext>
            </a:extLst>
          </p:cNvPr>
          <p:cNvSpPr/>
          <p:nvPr/>
        </p:nvSpPr>
        <p:spPr>
          <a:xfrm>
            <a:off x="11106032" y="4437693"/>
            <a:ext cx="45719" cy="45719"/>
          </a:xfrm>
          <a:prstGeom prst="ellips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205" name="Ellipse 204">
            <a:extLst>
              <a:ext uri="{FF2B5EF4-FFF2-40B4-BE49-F238E27FC236}">
                <a16:creationId xmlns:a16="http://schemas.microsoft.com/office/drawing/2014/main" id="{70B1D5AF-540D-623A-27DB-59932A6F2ED6}"/>
              </a:ext>
            </a:extLst>
          </p:cNvPr>
          <p:cNvSpPr/>
          <p:nvPr/>
        </p:nvSpPr>
        <p:spPr>
          <a:xfrm>
            <a:off x="18617799" y="4437693"/>
            <a:ext cx="45719" cy="45719"/>
          </a:xfrm>
          <a:prstGeom prst="ellips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207" name="Textfeld 206">
            <a:extLst>
              <a:ext uri="{FF2B5EF4-FFF2-40B4-BE49-F238E27FC236}">
                <a16:creationId xmlns:a16="http://schemas.microsoft.com/office/drawing/2014/main" id="{BF57349F-6587-E3C5-84F2-46F65ECC64DD}"/>
              </a:ext>
            </a:extLst>
          </p:cNvPr>
          <p:cNvSpPr txBox="1"/>
          <p:nvPr/>
        </p:nvSpPr>
        <p:spPr>
          <a:xfrm>
            <a:off x="11522368" y="4221502"/>
            <a:ext cx="2393605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25"/>
              </a:lnSpc>
            </a:pPr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</a:rPr>
              <a:t>ManagementPlaneTransportFc</a:t>
            </a:r>
          </a:p>
        </p:txBody>
      </p:sp>
      <p:cxnSp>
        <p:nvCxnSpPr>
          <p:cNvPr id="206" name="Gerader Verbinder 205">
            <a:extLst>
              <a:ext uri="{FF2B5EF4-FFF2-40B4-BE49-F238E27FC236}">
                <a16:creationId xmlns:a16="http://schemas.microsoft.com/office/drawing/2014/main" id="{5D5EA44F-52DC-DB6C-6E61-F46B72575118}"/>
              </a:ext>
            </a:extLst>
          </p:cNvPr>
          <p:cNvCxnSpPr>
            <a:cxnSpLocks/>
            <a:stCxn id="204" idx="6"/>
            <a:endCxn id="205" idx="2"/>
          </p:cNvCxnSpPr>
          <p:nvPr/>
        </p:nvCxnSpPr>
        <p:spPr>
          <a:xfrm>
            <a:off x="11151750" y="4460552"/>
            <a:ext cx="746604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8" name="Textfeld 207">
            <a:extLst>
              <a:ext uri="{FF2B5EF4-FFF2-40B4-BE49-F238E27FC236}">
                <a16:creationId xmlns:a16="http://schemas.microsoft.com/office/drawing/2014/main" id="{4FF54F1D-DF43-59BE-A712-F459FC01E4D6}"/>
              </a:ext>
            </a:extLst>
          </p:cNvPr>
          <p:cNvSpPr txBox="1"/>
          <p:nvPr/>
        </p:nvSpPr>
        <p:spPr>
          <a:xfrm>
            <a:off x="14065382" y="4541000"/>
            <a:ext cx="16289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</a:rPr>
              <a:t>MediatorProcessFc</a:t>
            </a:r>
            <a:endParaRPr lang="de-DE" sz="1200"/>
          </a:p>
        </p:txBody>
      </p:sp>
      <p:cxnSp>
        <p:nvCxnSpPr>
          <p:cNvPr id="209" name="Gerader Verbinder 208">
            <a:extLst>
              <a:ext uri="{FF2B5EF4-FFF2-40B4-BE49-F238E27FC236}">
                <a16:creationId xmlns:a16="http://schemas.microsoft.com/office/drawing/2014/main" id="{2F8FF825-3996-A993-CB0B-C8F408CEF48B}"/>
              </a:ext>
            </a:extLst>
          </p:cNvPr>
          <p:cNvCxnSpPr>
            <a:cxnSpLocks/>
            <a:stCxn id="179" idx="1"/>
            <a:endCxn id="179" idx="3"/>
          </p:cNvCxnSpPr>
          <p:nvPr/>
        </p:nvCxnSpPr>
        <p:spPr>
          <a:xfrm>
            <a:off x="14251407" y="4787519"/>
            <a:ext cx="12600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Ellipse 14">
            <a:extLst>
              <a:ext uri="{FF2B5EF4-FFF2-40B4-BE49-F238E27FC236}">
                <a16:creationId xmlns:a16="http://schemas.microsoft.com/office/drawing/2014/main" id="{1996011C-F422-C6F5-8664-17BA5270DD10}"/>
              </a:ext>
            </a:extLst>
          </p:cNvPr>
          <p:cNvSpPr/>
          <p:nvPr/>
        </p:nvSpPr>
        <p:spPr>
          <a:xfrm>
            <a:off x="11099293" y="5081668"/>
            <a:ext cx="45719" cy="45719"/>
          </a:xfrm>
          <a:prstGeom prst="ellipse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208901AC-6A18-FD53-8A49-5C936EAD2989}"/>
              </a:ext>
            </a:extLst>
          </p:cNvPr>
          <p:cNvSpPr/>
          <p:nvPr/>
        </p:nvSpPr>
        <p:spPr>
          <a:xfrm>
            <a:off x="14223323" y="5081668"/>
            <a:ext cx="45719" cy="45719"/>
          </a:xfrm>
          <a:prstGeom prst="ellipse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7B356569-9444-1B89-EDA5-B6B50E363B21}"/>
              </a:ext>
            </a:extLst>
          </p:cNvPr>
          <p:cNvSpPr/>
          <p:nvPr/>
        </p:nvSpPr>
        <p:spPr>
          <a:xfrm>
            <a:off x="15485825" y="5081668"/>
            <a:ext cx="45719" cy="45719"/>
          </a:xfrm>
          <a:prstGeom prst="ellipse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9240DD67-F57C-0FF6-D297-2C5D9228A8A0}"/>
              </a:ext>
            </a:extLst>
          </p:cNvPr>
          <p:cNvSpPr/>
          <p:nvPr/>
        </p:nvSpPr>
        <p:spPr>
          <a:xfrm>
            <a:off x="18611059" y="5081668"/>
            <a:ext cx="45719" cy="45719"/>
          </a:xfrm>
          <a:prstGeom prst="ellipse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777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ylinder 7">
            <a:extLst>
              <a:ext uri="{FF2B5EF4-FFF2-40B4-BE49-F238E27FC236}">
                <a16:creationId xmlns:a16="http://schemas.microsoft.com/office/drawing/2014/main" id="{58C6F6F5-FDE9-72D4-72A6-762B03B7FDF9}"/>
              </a:ext>
            </a:extLst>
          </p:cNvPr>
          <p:cNvSpPr/>
          <p:nvPr/>
        </p:nvSpPr>
        <p:spPr>
          <a:xfrm>
            <a:off x="3043097" y="1233714"/>
            <a:ext cx="1260000" cy="1132114"/>
          </a:xfrm>
          <a:prstGeom prst="can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Candidate</a:t>
            </a:r>
          </a:p>
        </p:txBody>
      </p:sp>
      <p:sp>
        <p:nvSpPr>
          <p:cNvPr id="23" name="Zylinder 22">
            <a:extLst>
              <a:ext uri="{FF2B5EF4-FFF2-40B4-BE49-F238E27FC236}">
                <a16:creationId xmlns:a16="http://schemas.microsoft.com/office/drawing/2014/main" id="{A9945C73-B19E-31C0-919B-03789645244D}"/>
              </a:ext>
            </a:extLst>
          </p:cNvPr>
          <p:cNvSpPr/>
          <p:nvPr/>
        </p:nvSpPr>
        <p:spPr>
          <a:xfrm>
            <a:off x="4933097" y="2612572"/>
            <a:ext cx="1260000" cy="1132114"/>
          </a:xfrm>
          <a:prstGeom prst="can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Running</a:t>
            </a:r>
          </a:p>
        </p:txBody>
      </p:sp>
      <p:sp>
        <p:nvSpPr>
          <p:cNvPr id="25" name="Zylinder 24">
            <a:extLst>
              <a:ext uri="{FF2B5EF4-FFF2-40B4-BE49-F238E27FC236}">
                <a16:creationId xmlns:a16="http://schemas.microsoft.com/office/drawing/2014/main" id="{C5E74D6C-5038-AE16-6E4A-780494395AD6}"/>
              </a:ext>
            </a:extLst>
          </p:cNvPr>
          <p:cNvSpPr/>
          <p:nvPr/>
        </p:nvSpPr>
        <p:spPr>
          <a:xfrm>
            <a:off x="6823097" y="1233714"/>
            <a:ext cx="1260000" cy="1132114"/>
          </a:xfrm>
          <a:prstGeom prst="can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Startup</a:t>
            </a:r>
          </a:p>
        </p:txBody>
      </p:sp>
      <p:sp>
        <p:nvSpPr>
          <p:cNvPr id="26" name="Zylinder 25">
            <a:extLst>
              <a:ext uri="{FF2B5EF4-FFF2-40B4-BE49-F238E27FC236}">
                <a16:creationId xmlns:a16="http://schemas.microsoft.com/office/drawing/2014/main" id="{DABF2D86-EEE8-57D3-6E73-9CFCC325D29E}"/>
              </a:ext>
            </a:extLst>
          </p:cNvPr>
          <p:cNvSpPr/>
          <p:nvPr/>
        </p:nvSpPr>
        <p:spPr>
          <a:xfrm>
            <a:off x="4933097" y="5370288"/>
            <a:ext cx="1260000" cy="1132114"/>
          </a:xfrm>
          <a:prstGeom prst="can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Operational</a:t>
            </a:r>
          </a:p>
        </p:txBody>
      </p:sp>
      <p:sp>
        <p:nvSpPr>
          <p:cNvPr id="27" name="Zylinder 26">
            <a:extLst>
              <a:ext uri="{FF2B5EF4-FFF2-40B4-BE49-F238E27FC236}">
                <a16:creationId xmlns:a16="http://schemas.microsoft.com/office/drawing/2014/main" id="{5D3E903C-0427-BEF8-08E7-9876F5058803}"/>
              </a:ext>
            </a:extLst>
          </p:cNvPr>
          <p:cNvSpPr/>
          <p:nvPr/>
        </p:nvSpPr>
        <p:spPr>
          <a:xfrm>
            <a:off x="4933097" y="3991430"/>
            <a:ext cx="1260000" cy="1132114"/>
          </a:xfrm>
          <a:prstGeom prst="can">
            <a:avLst/>
          </a:prstGeom>
          <a:solidFill>
            <a:schemeClr val="bg1">
              <a:lumMod val="50000"/>
              <a:alpha val="50000"/>
            </a:schemeClr>
          </a:solidFill>
          <a:ln>
            <a:solidFill>
              <a:schemeClr val="tx1">
                <a:lumMod val="75000"/>
                <a:lumOff val="25000"/>
                <a:alpha val="50000"/>
              </a:schemeClr>
            </a:solidFill>
            <a:prstDash val="dash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Intended</a:t>
            </a:r>
          </a:p>
        </p:txBody>
      </p:sp>
      <p:cxnSp>
        <p:nvCxnSpPr>
          <p:cNvPr id="75" name="Verbinder: gewinkelt 74">
            <a:extLst>
              <a:ext uri="{FF2B5EF4-FFF2-40B4-BE49-F238E27FC236}">
                <a16:creationId xmlns:a16="http://schemas.microsoft.com/office/drawing/2014/main" id="{1389CC2B-9887-1818-7EEB-4BE30894941C}"/>
              </a:ext>
            </a:extLst>
          </p:cNvPr>
          <p:cNvCxnSpPr>
            <a:stCxn id="23" idx="1"/>
            <a:endCxn id="25" idx="2"/>
          </p:cNvCxnSpPr>
          <p:nvPr/>
        </p:nvCxnSpPr>
        <p:spPr>
          <a:xfrm rot="5400000" flipH="1" flipV="1">
            <a:off x="5786698" y="1576172"/>
            <a:ext cx="812801" cy="1260000"/>
          </a:xfrm>
          <a:prstGeom prst="bentConnector2">
            <a:avLst/>
          </a:prstGeom>
          <a:solidFill>
            <a:schemeClr val="bg1">
              <a:lumMod val="50000"/>
            </a:schemeClr>
          </a:solidFill>
          <a:ln w="222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BEC4DD0A-5515-A63F-4346-A43798B697E4}"/>
              </a:ext>
            </a:extLst>
          </p:cNvPr>
          <p:cNvCxnSpPr>
            <a:cxnSpLocks/>
            <a:stCxn id="23" idx="1"/>
            <a:endCxn id="8" idx="4"/>
          </p:cNvCxnSpPr>
          <p:nvPr/>
        </p:nvCxnSpPr>
        <p:spPr>
          <a:xfrm rot="16200000" flipV="1">
            <a:off x="4526698" y="1576172"/>
            <a:ext cx="812801" cy="1260000"/>
          </a:xfrm>
          <a:prstGeom prst="bentConnector2">
            <a:avLst/>
          </a:prstGeom>
          <a:solidFill>
            <a:schemeClr val="bg1">
              <a:lumMod val="50000"/>
            </a:schemeClr>
          </a:solidFill>
          <a:ln w="222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82" name="Verbinder: gewinkelt 81">
            <a:extLst>
              <a:ext uri="{FF2B5EF4-FFF2-40B4-BE49-F238E27FC236}">
                <a16:creationId xmlns:a16="http://schemas.microsoft.com/office/drawing/2014/main" id="{AAF7ED06-960E-2890-D2C2-8007CA302559}"/>
              </a:ext>
            </a:extLst>
          </p:cNvPr>
          <p:cNvCxnSpPr>
            <a:cxnSpLocks/>
            <a:stCxn id="8" idx="3"/>
            <a:endCxn id="23" idx="2"/>
          </p:cNvCxnSpPr>
          <p:nvPr/>
        </p:nvCxnSpPr>
        <p:spPr>
          <a:xfrm rot="16200000" flipH="1">
            <a:off x="3896698" y="2142228"/>
            <a:ext cx="812801" cy="1260000"/>
          </a:xfrm>
          <a:prstGeom prst="bentConnector2">
            <a:avLst/>
          </a:prstGeom>
          <a:solidFill>
            <a:schemeClr val="bg1">
              <a:lumMod val="50000"/>
            </a:schemeClr>
          </a:solidFill>
          <a:ln w="222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83" name="Verbinder: gewinkelt 82">
            <a:extLst>
              <a:ext uri="{FF2B5EF4-FFF2-40B4-BE49-F238E27FC236}">
                <a16:creationId xmlns:a16="http://schemas.microsoft.com/office/drawing/2014/main" id="{4BB380CB-3A78-EA9F-1E93-FF3EE532612A}"/>
              </a:ext>
            </a:extLst>
          </p:cNvPr>
          <p:cNvCxnSpPr>
            <a:cxnSpLocks/>
            <a:stCxn id="25" idx="3"/>
            <a:endCxn id="23" idx="4"/>
          </p:cNvCxnSpPr>
          <p:nvPr/>
        </p:nvCxnSpPr>
        <p:spPr>
          <a:xfrm rot="5400000">
            <a:off x="6416698" y="2142228"/>
            <a:ext cx="812801" cy="1260000"/>
          </a:xfrm>
          <a:prstGeom prst="bentConnector2">
            <a:avLst/>
          </a:prstGeom>
          <a:solidFill>
            <a:schemeClr val="bg1">
              <a:lumMod val="50000"/>
            </a:schemeClr>
          </a:solidFill>
          <a:ln w="222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3EDF634E-03E3-193D-B999-29A46C5DBA1E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>
            <a:off x="5563097" y="3744686"/>
            <a:ext cx="0" cy="246744"/>
          </a:xfrm>
          <a:prstGeom prst="straightConnector1">
            <a:avLst/>
          </a:prstGeom>
          <a:solidFill>
            <a:schemeClr val="bg1">
              <a:lumMod val="50000"/>
            </a:schemeClr>
          </a:solidFill>
          <a:ln w="22225">
            <a:solidFill>
              <a:schemeClr val="tx1">
                <a:lumMod val="75000"/>
                <a:lumOff val="25000"/>
                <a:alpha val="50000"/>
              </a:schemeClr>
            </a:solidFill>
            <a:prstDash val="dash"/>
            <a:tailEnd type="triangle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23207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hteck 71">
            <a:extLst>
              <a:ext uri="{FF2B5EF4-FFF2-40B4-BE49-F238E27FC236}">
                <a16:creationId xmlns:a16="http://schemas.microsoft.com/office/drawing/2014/main" id="{11768FDB-BA6E-EAEB-5BB8-2ED406AD6C41}"/>
              </a:ext>
            </a:extLst>
          </p:cNvPr>
          <p:cNvSpPr/>
          <p:nvPr/>
        </p:nvSpPr>
        <p:spPr>
          <a:xfrm>
            <a:off x="3460400" y="4320839"/>
            <a:ext cx="12491027" cy="6492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000">
                <a:solidFill>
                  <a:schemeClr val="tx1"/>
                </a:solidFill>
              </a:rPr>
              <a:t>Automation Application</a:t>
            </a: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58728409-DD53-4F5E-410F-51809028D5C6}"/>
              </a:ext>
            </a:extLst>
          </p:cNvPr>
          <p:cNvSpPr/>
          <p:nvPr/>
        </p:nvSpPr>
        <p:spPr>
          <a:xfrm>
            <a:off x="11413292" y="8172380"/>
            <a:ext cx="2691267" cy="24667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9707959B-5A26-7BE3-760D-2FC620E8901C}"/>
              </a:ext>
            </a:extLst>
          </p:cNvPr>
          <p:cNvSpPr/>
          <p:nvPr/>
        </p:nvSpPr>
        <p:spPr>
          <a:xfrm>
            <a:off x="11902303" y="6900006"/>
            <a:ext cx="2465406" cy="1530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6F1EFD85-439B-2FE8-5AAE-C84AA7312CAA}"/>
              </a:ext>
            </a:extLst>
          </p:cNvPr>
          <p:cNvSpPr/>
          <p:nvPr/>
        </p:nvSpPr>
        <p:spPr>
          <a:xfrm>
            <a:off x="8622859" y="6823308"/>
            <a:ext cx="2691267" cy="17720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E34E15D0-F58C-24F5-1C8F-16CA7C95A22A}"/>
              </a:ext>
            </a:extLst>
          </p:cNvPr>
          <p:cNvSpPr/>
          <p:nvPr/>
        </p:nvSpPr>
        <p:spPr>
          <a:xfrm>
            <a:off x="5625507" y="6138482"/>
            <a:ext cx="2853775" cy="21818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68AFF515-41F4-F81B-ADB9-A4A94586F5DA}"/>
              </a:ext>
            </a:extLst>
          </p:cNvPr>
          <p:cNvSpPr/>
          <p:nvPr/>
        </p:nvSpPr>
        <p:spPr>
          <a:xfrm>
            <a:off x="5016054" y="4772877"/>
            <a:ext cx="2426154" cy="207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1679757-9FB1-0F6D-3098-BDE0BFEDE84D}"/>
              </a:ext>
            </a:extLst>
          </p:cNvPr>
          <p:cNvSpPr/>
          <p:nvPr/>
        </p:nvSpPr>
        <p:spPr>
          <a:xfrm>
            <a:off x="5405627" y="607780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BCF78038-D1DC-7915-C516-0912B9772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930" y="6156771"/>
            <a:ext cx="166165" cy="174914"/>
          </a:xfrm>
          <a:prstGeom prst="rect">
            <a:avLst/>
          </a:prstGeom>
        </p:spPr>
      </p:pic>
      <p:sp>
        <p:nvSpPr>
          <p:cNvPr id="2" name="Zylinder 1">
            <a:extLst>
              <a:ext uri="{FF2B5EF4-FFF2-40B4-BE49-F238E27FC236}">
                <a16:creationId xmlns:a16="http://schemas.microsoft.com/office/drawing/2014/main" id="{8651D4E8-1F7A-9069-1B56-0215F8312C74}"/>
              </a:ext>
            </a:extLst>
          </p:cNvPr>
          <p:cNvSpPr/>
          <p:nvPr/>
        </p:nvSpPr>
        <p:spPr>
          <a:xfrm>
            <a:off x="7246888" y="5825304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CandidateDS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3" name="Zylinder 2">
            <a:extLst>
              <a:ext uri="{FF2B5EF4-FFF2-40B4-BE49-F238E27FC236}">
                <a16:creationId xmlns:a16="http://schemas.microsoft.com/office/drawing/2014/main" id="{7DF83F7F-72CE-BA07-8399-1799F2491A81}"/>
              </a:ext>
            </a:extLst>
          </p:cNvPr>
          <p:cNvSpPr/>
          <p:nvPr/>
        </p:nvSpPr>
        <p:spPr>
          <a:xfrm>
            <a:off x="11064056" y="7926934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6" name="Scrollen: vertikal 5">
            <a:extLst>
              <a:ext uri="{FF2B5EF4-FFF2-40B4-BE49-F238E27FC236}">
                <a16:creationId xmlns:a16="http://schemas.microsoft.com/office/drawing/2014/main" id="{65808CD5-63F0-0767-C688-C4C5BD28C087}"/>
              </a:ext>
            </a:extLst>
          </p:cNvPr>
          <p:cNvSpPr/>
          <p:nvPr/>
        </p:nvSpPr>
        <p:spPr>
          <a:xfrm>
            <a:off x="9637852" y="8992374"/>
            <a:ext cx="1470660" cy="1303020"/>
          </a:xfrm>
          <a:prstGeom prst="verticalScroll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AlarmList</a:t>
            </a:r>
          </a:p>
          <a:p>
            <a:pPr algn="ctr"/>
            <a:r>
              <a:rPr lang="de-DE" sz="1200">
                <a:solidFill>
                  <a:schemeClr val="tx1"/>
                </a:solidFill>
              </a:rPr>
              <a:t>(ToDo-List)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921D2B2-A1CD-5B5A-7BDE-9B8F734176BC}"/>
              </a:ext>
            </a:extLst>
          </p:cNvPr>
          <p:cNvSpPr/>
          <p:nvPr/>
        </p:nvSpPr>
        <p:spPr>
          <a:xfrm>
            <a:off x="5248516" y="517102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B85860A-A1C5-AF4E-519F-B31760899D3D}"/>
              </a:ext>
            </a:extLst>
          </p:cNvPr>
          <p:cNvSpPr/>
          <p:nvPr/>
        </p:nvSpPr>
        <p:spPr>
          <a:xfrm>
            <a:off x="5367796" y="543391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AE13B01-B4C3-D5F1-CC62-E2FB37AD2428}"/>
              </a:ext>
            </a:extLst>
          </p:cNvPr>
          <p:cNvSpPr/>
          <p:nvPr/>
        </p:nvSpPr>
        <p:spPr>
          <a:xfrm>
            <a:off x="5596385" y="633168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518E1E4-7D07-0174-BD08-75A840537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512" y="6396108"/>
            <a:ext cx="166165" cy="174914"/>
          </a:xfrm>
          <a:prstGeom prst="rect">
            <a:avLst/>
          </a:prstGeom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A41C170E-5BE5-4CC7-0B74-FD347727DFC6}"/>
              </a:ext>
            </a:extLst>
          </p:cNvPr>
          <p:cNvCxnSpPr/>
          <p:nvPr/>
        </p:nvCxnSpPr>
        <p:spPr>
          <a:xfrm>
            <a:off x="3608424" y="538057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326039E-2586-A1D8-1CFF-BB0395E97CF5}"/>
              </a:ext>
            </a:extLst>
          </p:cNvPr>
          <p:cNvCxnSpPr>
            <a:cxnSpLocks/>
          </p:cNvCxnSpPr>
          <p:nvPr/>
        </p:nvCxnSpPr>
        <p:spPr>
          <a:xfrm flipH="1" flipV="1">
            <a:off x="3608424" y="548989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B15F98CA-500C-497C-9BEB-4DC69798E624}"/>
              </a:ext>
            </a:extLst>
          </p:cNvPr>
          <p:cNvSpPr txBox="1"/>
          <p:nvPr/>
        </p:nvSpPr>
        <p:spPr>
          <a:xfrm>
            <a:off x="5185277" y="4788978"/>
            <a:ext cx="21727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Modules that are changing the CandidateDS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E682443-CB6A-7EC0-8599-973D53EC0436}"/>
              </a:ext>
            </a:extLst>
          </p:cNvPr>
          <p:cNvSpPr/>
          <p:nvPr/>
        </p:nvSpPr>
        <p:spPr>
          <a:xfrm>
            <a:off x="13232416" y="791849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886A27DD-C9F0-DC50-F102-4D63B907E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719" y="7997465"/>
            <a:ext cx="166165" cy="174914"/>
          </a:xfrm>
          <a:prstGeom prst="rect">
            <a:avLst/>
          </a:prstGeom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F8F209D8-265F-5230-5DB1-DC91F74B162F}"/>
              </a:ext>
            </a:extLst>
          </p:cNvPr>
          <p:cNvSpPr txBox="1"/>
          <p:nvPr/>
        </p:nvSpPr>
        <p:spPr>
          <a:xfrm>
            <a:off x="11945550" y="6935107"/>
            <a:ext cx="242216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Modules that are updating the OperationalDS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EBB1305-415F-C61D-3CE9-248E0D923398}"/>
              </a:ext>
            </a:extLst>
          </p:cNvPr>
          <p:cNvSpPr/>
          <p:nvPr/>
        </p:nvSpPr>
        <p:spPr>
          <a:xfrm>
            <a:off x="13275088" y="728984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AB09B62C-A946-E9FF-4720-224648348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1391" y="7368815"/>
            <a:ext cx="166165" cy="174914"/>
          </a:xfrm>
          <a:prstGeom prst="rect">
            <a:avLst/>
          </a:prstGeom>
        </p:spPr>
      </p:pic>
      <p:sp>
        <p:nvSpPr>
          <p:cNvPr id="33" name="Rechteck 32">
            <a:extLst>
              <a:ext uri="{FF2B5EF4-FFF2-40B4-BE49-F238E27FC236}">
                <a16:creationId xmlns:a16="http://schemas.microsoft.com/office/drawing/2014/main" id="{AAE5ECF3-C8FE-F2FB-5245-974B2825FA42}"/>
              </a:ext>
            </a:extLst>
          </p:cNvPr>
          <p:cNvSpPr/>
          <p:nvPr/>
        </p:nvSpPr>
        <p:spPr>
          <a:xfrm>
            <a:off x="13465846" y="75437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820EF47B-6F6E-5327-FE6B-AB86187AB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973" y="7608152"/>
            <a:ext cx="166165" cy="174914"/>
          </a:xfrm>
          <a:prstGeom prst="rect">
            <a:avLst/>
          </a:prstGeom>
        </p:spPr>
      </p:pic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C3993F86-8ECE-B926-B471-6625E7F7319D}"/>
              </a:ext>
            </a:extLst>
          </p:cNvPr>
          <p:cNvCxnSpPr/>
          <p:nvPr/>
        </p:nvCxnSpPr>
        <p:spPr>
          <a:xfrm>
            <a:off x="13913798" y="73679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F28B876E-0BE4-F188-B266-07D970137D3D}"/>
              </a:ext>
            </a:extLst>
          </p:cNvPr>
          <p:cNvCxnSpPr>
            <a:cxnSpLocks/>
          </p:cNvCxnSpPr>
          <p:nvPr/>
        </p:nvCxnSpPr>
        <p:spPr>
          <a:xfrm flipH="1" flipV="1">
            <a:off x="13913798" y="747723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933E09A7-88FD-74AD-4549-31C42BDB99FD}"/>
              </a:ext>
            </a:extLst>
          </p:cNvPr>
          <p:cNvSpPr txBox="1"/>
          <p:nvPr/>
        </p:nvSpPr>
        <p:spPr>
          <a:xfrm>
            <a:off x="8611783" y="6868712"/>
            <a:ext cx="269126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/>
              <a:t>Modules for comparing RunningDS with OperationalDS and documenting divergences</a:t>
            </a:r>
          </a:p>
        </p:txBody>
      </p:sp>
      <p:sp>
        <p:nvSpPr>
          <p:cNvPr id="38" name="Pfeil: nach unten 37">
            <a:extLst>
              <a:ext uri="{FF2B5EF4-FFF2-40B4-BE49-F238E27FC236}">
                <a16:creationId xmlns:a16="http://schemas.microsoft.com/office/drawing/2014/main" id="{16B278CA-304F-33B3-E8D1-DE31DD22F9AC}"/>
              </a:ext>
            </a:extLst>
          </p:cNvPr>
          <p:cNvSpPr/>
          <p:nvPr/>
        </p:nvSpPr>
        <p:spPr>
          <a:xfrm>
            <a:off x="9950981" y="8522366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ECC3A7AC-6D82-3D20-89BC-4C6701A7D54A}"/>
              </a:ext>
            </a:extLst>
          </p:cNvPr>
          <p:cNvSpPr/>
          <p:nvPr/>
        </p:nvSpPr>
        <p:spPr>
          <a:xfrm>
            <a:off x="11693665" y="941378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8D0099E2-2E76-AD23-470B-45BF3CB63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9968" y="9492755"/>
            <a:ext cx="166165" cy="174914"/>
          </a:xfrm>
          <a:prstGeom prst="rect">
            <a:avLst/>
          </a:prstGeom>
        </p:spPr>
      </p:pic>
      <p:sp>
        <p:nvSpPr>
          <p:cNvPr id="44" name="Rechteck 43">
            <a:extLst>
              <a:ext uri="{FF2B5EF4-FFF2-40B4-BE49-F238E27FC236}">
                <a16:creationId xmlns:a16="http://schemas.microsoft.com/office/drawing/2014/main" id="{EA6EFE08-8623-3C92-521A-E62587924E1F}"/>
              </a:ext>
            </a:extLst>
          </p:cNvPr>
          <p:cNvSpPr/>
          <p:nvPr/>
        </p:nvSpPr>
        <p:spPr>
          <a:xfrm>
            <a:off x="11884423" y="966766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9320FA18-5E00-08C4-D1B1-9198B35B6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5550" y="9732092"/>
            <a:ext cx="166165" cy="174914"/>
          </a:xfrm>
          <a:prstGeom prst="rect">
            <a:avLst/>
          </a:prstGeom>
        </p:spPr>
      </p:pic>
      <p:sp>
        <p:nvSpPr>
          <p:cNvPr id="46" name="Rechteck 45">
            <a:extLst>
              <a:ext uri="{FF2B5EF4-FFF2-40B4-BE49-F238E27FC236}">
                <a16:creationId xmlns:a16="http://schemas.microsoft.com/office/drawing/2014/main" id="{FDA4DB3A-D86A-FC0E-4540-DF3D46895C02}"/>
              </a:ext>
            </a:extLst>
          </p:cNvPr>
          <p:cNvSpPr/>
          <p:nvPr/>
        </p:nvSpPr>
        <p:spPr>
          <a:xfrm>
            <a:off x="11736337" y="878513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7" name="Grafik 46">
            <a:extLst>
              <a:ext uri="{FF2B5EF4-FFF2-40B4-BE49-F238E27FC236}">
                <a16:creationId xmlns:a16="http://schemas.microsoft.com/office/drawing/2014/main" id="{79753B46-3760-CFFB-B858-92910CA7D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2640" y="8864105"/>
            <a:ext cx="166165" cy="174914"/>
          </a:xfrm>
          <a:prstGeom prst="rect">
            <a:avLst/>
          </a:prstGeom>
        </p:spPr>
      </p:pic>
      <p:sp>
        <p:nvSpPr>
          <p:cNvPr id="48" name="Rechteck 47">
            <a:extLst>
              <a:ext uri="{FF2B5EF4-FFF2-40B4-BE49-F238E27FC236}">
                <a16:creationId xmlns:a16="http://schemas.microsoft.com/office/drawing/2014/main" id="{71BCDD80-7A46-50D8-092A-7DDBF641E7ED}"/>
              </a:ext>
            </a:extLst>
          </p:cNvPr>
          <p:cNvSpPr/>
          <p:nvPr/>
        </p:nvSpPr>
        <p:spPr>
          <a:xfrm>
            <a:off x="11927095" y="903901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9" name="Grafik 48">
            <a:extLst>
              <a:ext uri="{FF2B5EF4-FFF2-40B4-BE49-F238E27FC236}">
                <a16:creationId xmlns:a16="http://schemas.microsoft.com/office/drawing/2014/main" id="{F30FB4E0-9047-2FC9-990C-7F4907343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222" y="9103442"/>
            <a:ext cx="166165" cy="174914"/>
          </a:xfrm>
          <a:prstGeom prst="rect">
            <a:avLst/>
          </a:prstGeom>
        </p:spPr>
      </p:pic>
      <p:sp>
        <p:nvSpPr>
          <p:cNvPr id="50" name="Textfeld 49">
            <a:extLst>
              <a:ext uri="{FF2B5EF4-FFF2-40B4-BE49-F238E27FC236}">
                <a16:creationId xmlns:a16="http://schemas.microsoft.com/office/drawing/2014/main" id="{8A6152E2-D527-62AF-329F-BE5199B5A685}"/>
              </a:ext>
            </a:extLst>
          </p:cNvPr>
          <p:cNvSpPr txBox="1"/>
          <p:nvPr/>
        </p:nvSpPr>
        <p:spPr>
          <a:xfrm>
            <a:off x="11529244" y="10001582"/>
            <a:ext cx="250584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Modules for resolving </a:t>
            </a:r>
            <a:br>
              <a:rPr lang="de-DE" sz="1200"/>
            </a:br>
            <a:r>
              <a:rPr lang="de-DE" sz="1200"/>
              <a:t>divergences between OperationalDS</a:t>
            </a:r>
            <a:br>
              <a:rPr lang="de-DE" sz="1200"/>
            </a:br>
            <a:r>
              <a:rPr lang="de-DE" sz="1200"/>
              <a:t>and RunningDS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7BBAD315-E803-8AD8-F507-559315369AF0}"/>
              </a:ext>
            </a:extLst>
          </p:cNvPr>
          <p:cNvCxnSpPr>
            <a:cxnSpLocks/>
          </p:cNvCxnSpPr>
          <p:nvPr/>
        </p:nvCxnSpPr>
        <p:spPr>
          <a:xfrm>
            <a:off x="12597095" y="9140183"/>
            <a:ext cx="309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B15CF59D-D0AF-C7CC-3C94-FB6D305D84E6}"/>
              </a:ext>
            </a:extLst>
          </p:cNvPr>
          <p:cNvCxnSpPr>
            <a:cxnSpLocks/>
          </p:cNvCxnSpPr>
          <p:nvPr/>
        </p:nvCxnSpPr>
        <p:spPr>
          <a:xfrm flipH="1" flipV="1">
            <a:off x="12597095" y="9249503"/>
            <a:ext cx="309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hteck 54">
            <a:extLst>
              <a:ext uri="{FF2B5EF4-FFF2-40B4-BE49-F238E27FC236}">
                <a16:creationId xmlns:a16="http://schemas.microsoft.com/office/drawing/2014/main" id="{998CEDEB-E815-0B9D-F828-05A7711734B2}"/>
              </a:ext>
            </a:extLst>
          </p:cNvPr>
          <p:cNvSpPr/>
          <p:nvPr/>
        </p:nvSpPr>
        <p:spPr>
          <a:xfrm>
            <a:off x="7616596" y="6486630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56" name="Grafik 55">
            <a:extLst>
              <a:ext uri="{FF2B5EF4-FFF2-40B4-BE49-F238E27FC236}">
                <a16:creationId xmlns:a16="http://schemas.microsoft.com/office/drawing/2014/main" id="{78BFDC2D-D878-BE1D-4E34-51802A590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899" y="6565599"/>
            <a:ext cx="166165" cy="174914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6339C93-8299-27F4-6747-DD225C958812}"/>
              </a:ext>
            </a:extLst>
          </p:cNvPr>
          <p:cNvCxnSpPr/>
          <p:nvPr/>
        </p:nvCxnSpPr>
        <p:spPr>
          <a:xfrm>
            <a:off x="3727704" y="56872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658B39E-547F-E511-D20E-25569104B4B9}"/>
              </a:ext>
            </a:extLst>
          </p:cNvPr>
          <p:cNvCxnSpPr>
            <a:cxnSpLocks/>
          </p:cNvCxnSpPr>
          <p:nvPr/>
        </p:nvCxnSpPr>
        <p:spPr>
          <a:xfrm flipH="1" flipV="1">
            <a:off x="3727704" y="579653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598A49F-7FDE-0781-D3E7-FD0BEDC62DC4}"/>
              </a:ext>
            </a:extLst>
          </p:cNvPr>
          <p:cNvCxnSpPr/>
          <p:nvPr/>
        </p:nvCxnSpPr>
        <p:spPr>
          <a:xfrm>
            <a:off x="14104556" y="7722344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2AAE509-94C2-D339-BD6E-168F99A2FDA1}"/>
              </a:ext>
            </a:extLst>
          </p:cNvPr>
          <p:cNvCxnSpPr>
            <a:cxnSpLocks/>
          </p:cNvCxnSpPr>
          <p:nvPr/>
        </p:nvCxnSpPr>
        <p:spPr>
          <a:xfrm flipH="1" flipV="1">
            <a:off x="14104556" y="7831664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CA6A77B5-080D-6A54-ECF2-4D8B53BF51F1}"/>
              </a:ext>
            </a:extLst>
          </p:cNvPr>
          <p:cNvCxnSpPr/>
          <p:nvPr/>
        </p:nvCxnSpPr>
        <p:spPr>
          <a:xfrm>
            <a:off x="13862564" y="806306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8CDD7D3A-76C9-4BDC-4E80-536CDBDCAD1C}"/>
              </a:ext>
            </a:extLst>
          </p:cNvPr>
          <p:cNvCxnSpPr>
            <a:cxnSpLocks/>
          </p:cNvCxnSpPr>
          <p:nvPr/>
        </p:nvCxnSpPr>
        <p:spPr>
          <a:xfrm flipH="1" flipV="1">
            <a:off x="13862564" y="8172382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1B1BBE33-3AF4-FE6D-E071-46F92113CD19}"/>
              </a:ext>
            </a:extLst>
          </p:cNvPr>
          <p:cNvSpPr/>
          <p:nvPr/>
        </p:nvSpPr>
        <p:spPr>
          <a:xfrm>
            <a:off x="9373181" y="774173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E09BDAA4-67BB-F896-6F09-0E1F9FBF8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484" y="7820701"/>
            <a:ext cx="166165" cy="174914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A6E45B43-9BE7-A098-7AF2-59295E61598B}"/>
              </a:ext>
            </a:extLst>
          </p:cNvPr>
          <p:cNvSpPr/>
          <p:nvPr/>
        </p:nvSpPr>
        <p:spPr>
          <a:xfrm>
            <a:off x="9563939" y="799561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121D0D37-DE66-DCCA-16C9-16066F081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066" y="8060038"/>
            <a:ext cx="166165" cy="174914"/>
          </a:xfrm>
          <a:prstGeom prst="rect">
            <a:avLst/>
          </a:prstGeom>
        </p:spPr>
      </p:pic>
      <p:sp>
        <p:nvSpPr>
          <p:cNvPr id="54" name="Rechteck 53">
            <a:extLst>
              <a:ext uri="{FF2B5EF4-FFF2-40B4-BE49-F238E27FC236}">
                <a16:creationId xmlns:a16="http://schemas.microsoft.com/office/drawing/2014/main" id="{8F8F26CE-AB6A-6A62-91BD-2A8161955A6F}"/>
              </a:ext>
            </a:extLst>
          </p:cNvPr>
          <p:cNvSpPr/>
          <p:nvPr/>
        </p:nvSpPr>
        <p:spPr>
          <a:xfrm>
            <a:off x="9978501" y="7827118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60" name="Grafik 59">
            <a:extLst>
              <a:ext uri="{FF2B5EF4-FFF2-40B4-BE49-F238E27FC236}">
                <a16:creationId xmlns:a16="http://schemas.microsoft.com/office/drawing/2014/main" id="{04A1A064-B679-3656-0949-02313E2D7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804" y="7906087"/>
            <a:ext cx="166165" cy="174914"/>
          </a:xfrm>
          <a:prstGeom prst="rect">
            <a:avLst/>
          </a:prstGeom>
        </p:spPr>
      </p:pic>
      <p:sp>
        <p:nvSpPr>
          <p:cNvPr id="61" name="Rechteck 60">
            <a:extLst>
              <a:ext uri="{FF2B5EF4-FFF2-40B4-BE49-F238E27FC236}">
                <a16:creationId xmlns:a16="http://schemas.microsoft.com/office/drawing/2014/main" id="{D6BDC734-8B7E-DFBB-129E-71E3C1B430B8}"/>
              </a:ext>
            </a:extLst>
          </p:cNvPr>
          <p:cNvSpPr/>
          <p:nvPr/>
        </p:nvSpPr>
        <p:spPr>
          <a:xfrm>
            <a:off x="10169259" y="808100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62" name="Grafik 61">
            <a:extLst>
              <a:ext uri="{FF2B5EF4-FFF2-40B4-BE49-F238E27FC236}">
                <a16:creationId xmlns:a16="http://schemas.microsoft.com/office/drawing/2014/main" id="{F7C7F3DD-ECC4-4BD5-0946-1E129614D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386" y="8145424"/>
            <a:ext cx="166165" cy="174914"/>
          </a:xfrm>
          <a:prstGeom prst="rect">
            <a:avLst/>
          </a:prstGeom>
        </p:spPr>
      </p:pic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BBC574BA-725B-72F5-EF5E-3E57C781CBD4}"/>
              </a:ext>
            </a:extLst>
          </p:cNvPr>
          <p:cNvCxnSpPr>
            <a:cxnSpLocks/>
          </p:cNvCxnSpPr>
          <p:nvPr/>
        </p:nvCxnSpPr>
        <p:spPr>
          <a:xfrm>
            <a:off x="12373065" y="8887916"/>
            <a:ext cx="309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80BE29C0-B5A4-26F6-59D9-655860A46635}"/>
              </a:ext>
            </a:extLst>
          </p:cNvPr>
          <p:cNvCxnSpPr>
            <a:cxnSpLocks/>
          </p:cNvCxnSpPr>
          <p:nvPr/>
        </p:nvCxnSpPr>
        <p:spPr>
          <a:xfrm flipH="1" flipV="1">
            <a:off x="12373065" y="8997236"/>
            <a:ext cx="309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CFAD1B13-F4B3-0191-090A-B230AE73F719}"/>
              </a:ext>
            </a:extLst>
          </p:cNvPr>
          <p:cNvCxnSpPr>
            <a:cxnSpLocks/>
          </p:cNvCxnSpPr>
          <p:nvPr/>
        </p:nvCxnSpPr>
        <p:spPr>
          <a:xfrm>
            <a:off x="12332375" y="9534567"/>
            <a:ext cx="309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B15351C2-4638-07BC-FDF2-1B13276FA1B0}"/>
              </a:ext>
            </a:extLst>
          </p:cNvPr>
          <p:cNvCxnSpPr>
            <a:cxnSpLocks/>
          </p:cNvCxnSpPr>
          <p:nvPr/>
        </p:nvCxnSpPr>
        <p:spPr>
          <a:xfrm flipH="1" flipV="1">
            <a:off x="12332375" y="9643887"/>
            <a:ext cx="309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4BD764D8-9CB1-5DD4-A424-B6E59418E0A7}"/>
              </a:ext>
            </a:extLst>
          </p:cNvPr>
          <p:cNvCxnSpPr>
            <a:cxnSpLocks/>
          </p:cNvCxnSpPr>
          <p:nvPr/>
        </p:nvCxnSpPr>
        <p:spPr>
          <a:xfrm>
            <a:off x="12523133" y="9821391"/>
            <a:ext cx="309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77067898-E101-32BA-37E4-8FA3618B4FD0}"/>
              </a:ext>
            </a:extLst>
          </p:cNvPr>
          <p:cNvCxnSpPr>
            <a:cxnSpLocks/>
          </p:cNvCxnSpPr>
          <p:nvPr/>
        </p:nvCxnSpPr>
        <p:spPr>
          <a:xfrm flipH="1" flipV="1">
            <a:off x="12523133" y="9930711"/>
            <a:ext cx="309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Pfeil: nach unten 70">
            <a:extLst>
              <a:ext uri="{FF2B5EF4-FFF2-40B4-BE49-F238E27FC236}">
                <a16:creationId xmlns:a16="http://schemas.microsoft.com/office/drawing/2014/main" id="{860000F8-4BE8-02EE-361D-984158792427}"/>
              </a:ext>
            </a:extLst>
          </p:cNvPr>
          <p:cNvSpPr/>
          <p:nvPr/>
        </p:nvSpPr>
        <p:spPr>
          <a:xfrm rot="16200000">
            <a:off x="11210245" y="9182210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" name="Zylinder 3">
            <a:extLst>
              <a:ext uri="{FF2B5EF4-FFF2-40B4-BE49-F238E27FC236}">
                <a16:creationId xmlns:a16="http://schemas.microsoft.com/office/drawing/2014/main" id="{873ACF08-01F2-22FA-CD88-E50511D7E71A}"/>
              </a:ext>
            </a:extLst>
          </p:cNvPr>
          <p:cNvSpPr/>
          <p:nvPr/>
        </p:nvSpPr>
        <p:spPr>
          <a:xfrm>
            <a:off x="7246655" y="7961908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EA93EA5-E27E-2466-2148-49F2E5DB39B5}"/>
              </a:ext>
            </a:extLst>
          </p:cNvPr>
          <p:cNvSpPr txBox="1"/>
          <p:nvPr/>
        </p:nvSpPr>
        <p:spPr>
          <a:xfrm>
            <a:off x="5712189" y="7474821"/>
            <a:ext cx="225693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Modules that are validating the CandidateDS and transferring it to RunningDS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41133C8-DC0D-2AC6-C684-4679506A95A5}"/>
              </a:ext>
            </a:extLst>
          </p:cNvPr>
          <p:cNvSpPr/>
          <p:nvPr/>
        </p:nvSpPr>
        <p:spPr>
          <a:xfrm>
            <a:off x="7503508" y="670605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59981EA9-B65F-EC95-B3DD-B0AED51F3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811" y="6785020"/>
            <a:ext cx="166165" cy="174914"/>
          </a:xfrm>
          <a:prstGeom prst="rect">
            <a:avLst/>
          </a:prstGeom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2520D43D-BB6C-869D-C961-86A75E1D452E}"/>
              </a:ext>
            </a:extLst>
          </p:cNvPr>
          <p:cNvSpPr/>
          <p:nvPr/>
        </p:nvSpPr>
        <p:spPr>
          <a:xfrm>
            <a:off x="7427519" y="691560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0AD98EA3-FB18-6938-7D58-4720830A0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822" y="6994570"/>
            <a:ext cx="166165" cy="17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39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6483FD79-3122-2236-1E99-750C73433194}"/>
              </a:ext>
            </a:extLst>
          </p:cNvPr>
          <p:cNvSpPr/>
          <p:nvPr/>
        </p:nvSpPr>
        <p:spPr>
          <a:xfrm>
            <a:off x="2080424" y="7210449"/>
            <a:ext cx="17889875" cy="1298551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 i="1"/>
          </a:p>
        </p:txBody>
      </p:sp>
      <p:sp>
        <p:nvSpPr>
          <p:cNvPr id="8" name="Flussdiagramm: Daten 7">
            <a:extLst>
              <a:ext uri="{FF2B5EF4-FFF2-40B4-BE49-F238E27FC236}">
                <a16:creationId xmlns:a16="http://schemas.microsoft.com/office/drawing/2014/main" id="{778687C1-175C-0C97-FE98-3653E7F7D6C3}"/>
              </a:ext>
            </a:extLst>
          </p:cNvPr>
          <p:cNvSpPr/>
          <p:nvPr/>
        </p:nvSpPr>
        <p:spPr>
          <a:xfrm>
            <a:off x="8893637" y="7734300"/>
            <a:ext cx="1255576" cy="177800"/>
          </a:xfrm>
          <a:prstGeom prst="flowChartInputOutpu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i="1"/>
              <a:t>CDM</a:t>
            </a:r>
          </a:p>
        </p:txBody>
      </p:sp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CD5AA4C2-FA56-67D4-18AE-9BC27E9545C5}"/>
              </a:ext>
            </a:extLst>
          </p:cNvPr>
          <p:cNvSpPr/>
          <p:nvPr/>
        </p:nvSpPr>
        <p:spPr>
          <a:xfrm>
            <a:off x="5957352" y="7734300"/>
            <a:ext cx="1255576" cy="177800"/>
          </a:xfrm>
          <a:prstGeom prst="flowChartInputOutpu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i="1"/>
              <a:t>MWDI</a:t>
            </a:r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CBF71B95-F797-6985-D861-450C3FCE119B}"/>
              </a:ext>
            </a:extLst>
          </p:cNvPr>
          <p:cNvSpPr/>
          <p:nvPr/>
        </p:nvSpPr>
        <p:spPr>
          <a:xfrm>
            <a:off x="2080424" y="135756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8B15E994-ABDA-E4DD-63D0-99D6838DFF13}"/>
              </a:ext>
            </a:extLst>
          </p:cNvPr>
          <p:cNvSpPr/>
          <p:nvPr/>
        </p:nvSpPr>
        <p:spPr>
          <a:xfrm>
            <a:off x="7217352" y="968565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160"/>
              <a:t>                          Live</a:t>
            </a: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5A7E11B2-3E42-130D-1D88-E325860CD6F4}"/>
              </a:ext>
            </a:extLst>
          </p:cNvPr>
          <p:cNvSpPr/>
          <p:nvPr/>
        </p:nvSpPr>
        <p:spPr>
          <a:xfrm>
            <a:off x="11146234" y="1890452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94CD7E54-8AC0-1221-73EB-CB8FBC9B51C4}"/>
              </a:ext>
            </a:extLst>
          </p:cNvPr>
          <p:cNvSpPr/>
          <p:nvPr/>
        </p:nvSpPr>
        <p:spPr>
          <a:xfrm>
            <a:off x="11146234" y="1780171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A8160536-70B1-B254-504C-5879F86B2FEF}"/>
              </a:ext>
            </a:extLst>
          </p:cNvPr>
          <p:cNvSpPr/>
          <p:nvPr/>
        </p:nvSpPr>
        <p:spPr>
          <a:xfrm>
            <a:off x="11146234" y="1646506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7" name="Ellipse 146">
            <a:extLst>
              <a:ext uri="{FF2B5EF4-FFF2-40B4-BE49-F238E27FC236}">
                <a16:creationId xmlns:a16="http://schemas.microsoft.com/office/drawing/2014/main" id="{06A94292-D571-661B-EAA7-4B51BED0A0F5}"/>
              </a:ext>
            </a:extLst>
          </p:cNvPr>
          <p:cNvSpPr/>
          <p:nvPr/>
        </p:nvSpPr>
        <p:spPr>
          <a:xfrm>
            <a:off x="11146234" y="1504167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0D4D40BA-5BA6-7300-5D00-1BB2B9B6D511}"/>
              </a:ext>
            </a:extLst>
          </p:cNvPr>
          <p:cNvSpPr/>
          <p:nvPr/>
        </p:nvSpPr>
        <p:spPr>
          <a:xfrm>
            <a:off x="5957352" y="1664222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80127BE7-834A-4BEE-D713-DE407A278C9B}"/>
              </a:ext>
            </a:extLst>
          </p:cNvPr>
          <p:cNvSpPr>
            <a:spLocks noChangeAspect="1"/>
          </p:cNvSpPr>
          <p:nvPr/>
        </p:nvSpPr>
        <p:spPr>
          <a:xfrm rot="5400000">
            <a:off x="5925084" y="2454257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02D36E97-D75E-541C-E4D6-00FF1E5C7833}"/>
              </a:ext>
            </a:extLst>
          </p:cNvPr>
          <p:cNvSpPr/>
          <p:nvPr/>
        </p:nvSpPr>
        <p:spPr>
          <a:xfrm>
            <a:off x="7266637" y="1511120"/>
            <a:ext cx="3662612" cy="72519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</a:t>
            </a:r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8A5667DE-8B86-E2A0-67DA-E46B5ECA3718}"/>
              </a:ext>
            </a:extLst>
          </p:cNvPr>
          <p:cNvSpPr/>
          <p:nvPr/>
        </p:nvSpPr>
        <p:spPr>
          <a:xfrm>
            <a:off x="10976031" y="1237411"/>
            <a:ext cx="8947487" cy="1337003"/>
          </a:xfrm>
          <a:prstGeom prst="ellipse">
            <a:avLst/>
          </a:prstGeom>
          <a:solidFill>
            <a:schemeClr val="accent5">
              <a:alpha val="74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de-DE" sz="2160"/>
              <a:t>Device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AB23EAC-0021-654C-265E-B85F6E739C10}"/>
              </a:ext>
            </a:extLst>
          </p:cNvPr>
          <p:cNvSpPr/>
          <p:nvPr/>
        </p:nvSpPr>
        <p:spPr>
          <a:xfrm rot="21210364">
            <a:off x="7059798" y="6786007"/>
            <a:ext cx="12706164" cy="57898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 i="1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F9CC8D0-BCA5-F006-DE2E-531644D9153B}"/>
              </a:ext>
            </a:extLst>
          </p:cNvPr>
          <p:cNvSpPr/>
          <p:nvPr/>
        </p:nvSpPr>
        <p:spPr>
          <a:xfrm rot="21232284">
            <a:off x="7067819" y="7460605"/>
            <a:ext cx="3662612" cy="27369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AD0B84A-38D3-E7D0-962F-8F23C81EF568}"/>
              </a:ext>
            </a:extLst>
          </p:cNvPr>
          <p:cNvSpPr/>
          <p:nvPr/>
        </p:nvSpPr>
        <p:spPr>
          <a:xfrm rot="21198728">
            <a:off x="10724206" y="6686610"/>
            <a:ext cx="8947487" cy="354645"/>
          </a:xfrm>
          <a:prstGeom prst="ellipse">
            <a:avLst/>
          </a:prstGeom>
          <a:solidFill>
            <a:schemeClr val="accent5">
              <a:alpha val="74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de-DE" sz="2160"/>
          </a:p>
        </p:txBody>
      </p:sp>
      <p:sp>
        <p:nvSpPr>
          <p:cNvPr id="10" name="Flussdiagramm: Daten 9">
            <a:extLst>
              <a:ext uri="{FF2B5EF4-FFF2-40B4-BE49-F238E27FC236}">
                <a16:creationId xmlns:a16="http://schemas.microsoft.com/office/drawing/2014/main" id="{70FF74F1-1530-17A7-E60D-43A21F0C38CB}"/>
              </a:ext>
            </a:extLst>
          </p:cNvPr>
          <p:cNvSpPr/>
          <p:nvPr/>
        </p:nvSpPr>
        <p:spPr>
          <a:xfrm>
            <a:off x="13480191" y="7728339"/>
            <a:ext cx="1255576" cy="177800"/>
          </a:xfrm>
          <a:prstGeom prst="flowChartInputOutpu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i="1"/>
              <a:t>DDM</a:t>
            </a:r>
          </a:p>
        </p:txBody>
      </p:sp>
      <p:sp>
        <p:nvSpPr>
          <p:cNvPr id="12" name="Flussdiagramm: Daten 11">
            <a:extLst>
              <a:ext uri="{FF2B5EF4-FFF2-40B4-BE49-F238E27FC236}">
                <a16:creationId xmlns:a16="http://schemas.microsoft.com/office/drawing/2014/main" id="{9177D2DA-9E5C-67A3-7ED4-7A0812381C3A}"/>
              </a:ext>
            </a:extLst>
          </p:cNvPr>
          <p:cNvSpPr/>
          <p:nvPr/>
        </p:nvSpPr>
        <p:spPr>
          <a:xfrm>
            <a:off x="17857252" y="7728339"/>
            <a:ext cx="1255576" cy="177800"/>
          </a:xfrm>
          <a:prstGeom prst="flowChartInputOutpu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i="1"/>
              <a:t>CP</a:t>
            </a:r>
          </a:p>
        </p:txBody>
      </p:sp>
      <p:sp>
        <p:nvSpPr>
          <p:cNvPr id="13" name="Flussdiagramm: Daten 12">
            <a:extLst>
              <a:ext uri="{FF2B5EF4-FFF2-40B4-BE49-F238E27FC236}">
                <a16:creationId xmlns:a16="http://schemas.microsoft.com/office/drawing/2014/main" id="{2246883D-855C-ED1C-82D9-4AF347125BED}"/>
              </a:ext>
            </a:extLst>
          </p:cNvPr>
          <p:cNvSpPr>
            <a:spLocks noChangeAspect="1"/>
          </p:cNvSpPr>
          <p:nvPr/>
        </p:nvSpPr>
        <p:spPr>
          <a:xfrm rot="21231214">
            <a:off x="13575873" y="6887721"/>
            <a:ext cx="1155131" cy="163576"/>
          </a:xfrm>
          <a:prstGeom prst="flowChartInputOutpu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i="1"/>
              <a:t>xMIM</a:t>
            </a:r>
          </a:p>
        </p:txBody>
      </p:sp>
      <p:sp>
        <p:nvSpPr>
          <p:cNvPr id="14" name="Flussdiagramm: Daten 13">
            <a:extLst>
              <a:ext uri="{FF2B5EF4-FFF2-40B4-BE49-F238E27FC236}">
                <a16:creationId xmlns:a16="http://schemas.microsoft.com/office/drawing/2014/main" id="{31C4A74C-4BC6-2DFA-4CDD-49349B854C59}"/>
              </a:ext>
            </a:extLst>
          </p:cNvPr>
          <p:cNvSpPr>
            <a:spLocks noChangeAspect="1"/>
          </p:cNvSpPr>
          <p:nvPr/>
        </p:nvSpPr>
        <p:spPr>
          <a:xfrm rot="21231214">
            <a:off x="8545782" y="7494498"/>
            <a:ext cx="1057934" cy="149812"/>
          </a:xfrm>
          <a:prstGeom prst="flowChartInputOutpu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 i="1"/>
              <a:t>Controller</a:t>
            </a:r>
          </a:p>
        </p:txBody>
      </p:sp>
      <p:sp>
        <p:nvSpPr>
          <p:cNvPr id="16" name="Flussdiagramm: Daten 15">
            <a:extLst>
              <a:ext uri="{FF2B5EF4-FFF2-40B4-BE49-F238E27FC236}">
                <a16:creationId xmlns:a16="http://schemas.microsoft.com/office/drawing/2014/main" id="{79CAA643-A565-EED8-A134-932A91B681DD}"/>
              </a:ext>
            </a:extLst>
          </p:cNvPr>
          <p:cNvSpPr>
            <a:spLocks noChangeAspect="1"/>
          </p:cNvSpPr>
          <p:nvPr/>
        </p:nvSpPr>
        <p:spPr>
          <a:xfrm rot="21231214">
            <a:off x="17324472" y="6463680"/>
            <a:ext cx="1155131" cy="163576"/>
          </a:xfrm>
          <a:prstGeom prst="flowChartInputOutpu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i="1"/>
              <a:t>Device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0F93EC7-AD93-332A-1AE3-7C6848D13372}"/>
              </a:ext>
            </a:extLst>
          </p:cNvPr>
          <p:cNvSpPr>
            <a:spLocks noChangeAspect="1"/>
          </p:cNvSpPr>
          <p:nvPr/>
        </p:nvSpPr>
        <p:spPr>
          <a:xfrm rot="7104719">
            <a:off x="6170000" y="8035454"/>
            <a:ext cx="497124" cy="24372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2160"/>
          </a:p>
        </p:txBody>
      </p:sp>
    </p:spTree>
    <p:extLst>
      <p:ext uri="{BB962C8B-B14F-4D97-AF65-F5344CB8AC3E}">
        <p14:creationId xmlns:p14="http://schemas.microsoft.com/office/powerpoint/2010/main" val="739359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chteck 365">
            <a:extLst>
              <a:ext uri="{FF2B5EF4-FFF2-40B4-BE49-F238E27FC236}">
                <a16:creationId xmlns:a16="http://schemas.microsoft.com/office/drawing/2014/main" id="{89126B1C-AB98-2536-5B7D-4CB226C62850}"/>
              </a:ext>
            </a:extLst>
          </p:cNvPr>
          <p:cNvSpPr/>
          <p:nvPr/>
        </p:nvSpPr>
        <p:spPr>
          <a:xfrm>
            <a:off x="361950" y="152400"/>
            <a:ext cx="22659975" cy="11934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DeviceDomain</a:t>
            </a:r>
          </a:p>
        </p:txBody>
      </p:sp>
      <p:sp>
        <p:nvSpPr>
          <p:cNvPr id="316" name="Rechteck 315">
            <a:extLst>
              <a:ext uri="{FF2B5EF4-FFF2-40B4-BE49-F238E27FC236}">
                <a16:creationId xmlns:a16="http://schemas.microsoft.com/office/drawing/2014/main" id="{D57623F4-8ABE-DD3B-C833-81B69C5863F1}"/>
              </a:ext>
            </a:extLst>
          </p:cNvPr>
          <p:cNvSpPr/>
          <p:nvPr/>
        </p:nvSpPr>
        <p:spPr>
          <a:xfrm>
            <a:off x="2759566" y="2059157"/>
            <a:ext cx="17091659" cy="6855221"/>
          </a:xfrm>
          <a:prstGeom prst="rect">
            <a:avLst/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ManagementPlaneTransport</a:t>
            </a:r>
          </a:p>
        </p:txBody>
      </p:sp>
      <p:sp>
        <p:nvSpPr>
          <p:cNvPr id="367" name="Rechteck 366">
            <a:extLst>
              <a:ext uri="{FF2B5EF4-FFF2-40B4-BE49-F238E27FC236}">
                <a16:creationId xmlns:a16="http://schemas.microsoft.com/office/drawing/2014/main" id="{D27FA544-7C02-8D40-50CA-21561FEBE7C1}"/>
              </a:ext>
            </a:extLst>
          </p:cNvPr>
          <p:cNvSpPr/>
          <p:nvPr/>
        </p:nvSpPr>
        <p:spPr>
          <a:xfrm>
            <a:off x="17392957" y="8911872"/>
            <a:ext cx="5507681" cy="30340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134" name="Rechteck 133">
            <a:extLst>
              <a:ext uri="{FF2B5EF4-FFF2-40B4-BE49-F238E27FC236}">
                <a16:creationId xmlns:a16="http://schemas.microsoft.com/office/drawing/2014/main" id="{AFFCDDF8-5262-FA25-5EC2-B581A809C4EE}"/>
              </a:ext>
            </a:extLst>
          </p:cNvPr>
          <p:cNvSpPr/>
          <p:nvPr/>
        </p:nvSpPr>
        <p:spPr>
          <a:xfrm>
            <a:off x="19739751" y="3640137"/>
            <a:ext cx="3160888" cy="3962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</a:t>
            </a:r>
          </a:p>
        </p:txBody>
      </p:sp>
      <p:sp>
        <p:nvSpPr>
          <p:cNvPr id="288" name="Rechteck 287">
            <a:extLst>
              <a:ext uri="{FF2B5EF4-FFF2-40B4-BE49-F238E27FC236}">
                <a16:creationId xmlns:a16="http://schemas.microsoft.com/office/drawing/2014/main" id="{3A9B4262-A48D-FB94-6E29-10CE9577508C}"/>
              </a:ext>
            </a:extLst>
          </p:cNvPr>
          <p:cNvSpPr/>
          <p:nvPr/>
        </p:nvSpPr>
        <p:spPr>
          <a:xfrm>
            <a:off x="17392958" y="7602537"/>
            <a:ext cx="5507681" cy="13093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281" name="Rechteck 280">
            <a:extLst>
              <a:ext uri="{FF2B5EF4-FFF2-40B4-BE49-F238E27FC236}">
                <a16:creationId xmlns:a16="http://schemas.microsoft.com/office/drawing/2014/main" id="{2D320F09-9AA6-A469-D6F0-BE4E94481CB3}"/>
              </a:ext>
            </a:extLst>
          </p:cNvPr>
          <p:cNvSpPr/>
          <p:nvPr/>
        </p:nvSpPr>
        <p:spPr>
          <a:xfrm>
            <a:off x="6725291" y="3640137"/>
            <a:ext cx="8738197" cy="8305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MediatorVM</a:t>
            </a:r>
          </a:p>
        </p:txBody>
      </p:sp>
      <p:sp>
        <p:nvSpPr>
          <p:cNvPr id="282" name="Rechteck 281">
            <a:extLst>
              <a:ext uri="{FF2B5EF4-FFF2-40B4-BE49-F238E27FC236}">
                <a16:creationId xmlns:a16="http://schemas.microsoft.com/office/drawing/2014/main" id="{C9453577-A74B-CA25-645C-51DCBD053ABB}"/>
              </a:ext>
            </a:extLst>
          </p:cNvPr>
          <p:cNvSpPr/>
          <p:nvPr/>
        </p:nvSpPr>
        <p:spPr>
          <a:xfrm>
            <a:off x="15463488" y="3640137"/>
            <a:ext cx="2465970" cy="29868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286" name="Rechteck 285">
            <a:extLst>
              <a:ext uri="{FF2B5EF4-FFF2-40B4-BE49-F238E27FC236}">
                <a16:creationId xmlns:a16="http://schemas.microsoft.com/office/drawing/2014/main" id="{D8AE4052-8F1E-F4E2-B431-FFA8193EC50D}"/>
              </a:ext>
            </a:extLst>
          </p:cNvPr>
          <p:cNvSpPr/>
          <p:nvPr/>
        </p:nvSpPr>
        <p:spPr>
          <a:xfrm>
            <a:off x="6865076" y="8916885"/>
            <a:ext cx="8496789" cy="29303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MediatorProcess</a:t>
            </a:r>
          </a:p>
        </p:txBody>
      </p:sp>
      <p:sp>
        <p:nvSpPr>
          <p:cNvPr id="279" name="Rechteck 278">
            <a:extLst>
              <a:ext uri="{FF2B5EF4-FFF2-40B4-BE49-F238E27FC236}">
                <a16:creationId xmlns:a16="http://schemas.microsoft.com/office/drawing/2014/main" id="{C83F54BE-E7F0-D9AE-A1D5-FC225483FC63}"/>
              </a:ext>
            </a:extLst>
          </p:cNvPr>
          <p:cNvSpPr/>
          <p:nvPr/>
        </p:nvSpPr>
        <p:spPr>
          <a:xfrm>
            <a:off x="492983" y="3640137"/>
            <a:ext cx="4283165" cy="8305800"/>
          </a:xfrm>
          <a:prstGeom prst="rect">
            <a:avLst/>
          </a:prstGeom>
          <a:solidFill>
            <a:srgbClr val="FFDD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280" name="Rechteck 279">
            <a:extLst>
              <a:ext uri="{FF2B5EF4-FFF2-40B4-BE49-F238E27FC236}">
                <a16:creationId xmlns:a16="http://schemas.microsoft.com/office/drawing/2014/main" id="{92D55D44-2758-C888-E7D3-17F8487BBFAA}"/>
              </a:ext>
            </a:extLst>
          </p:cNvPr>
          <p:cNvSpPr/>
          <p:nvPr/>
        </p:nvSpPr>
        <p:spPr>
          <a:xfrm>
            <a:off x="574352" y="8916885"/>
            <a:ext cx="4084142" cy="29354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MountPoint</a:t>
            </a:r>
          </a:p>
        </p:txBody>
      </p:sp>
      <p:sp>
        <p:nvSpPr>
          <p:cNvPr id="56" name="Abgerundetes Rechteck 1">
            <a:extLst>
              <a:ext uri="{FF2B5EF4-FFF2-40B4-BE49-F238E27FC236}">
                <a16:creationId xmlns:a16="http://schemas.microsoft.com/office/drawing/2014/main" id="{5403E44F-74C3-C3A1-D91F-775BF540BEEE}"/>
              </a:ext>
            </a:extLst>
          </p:cNvPr>
          <p:cNvSpPr/>
          <p:nvPr/>
        </p:nvSpPr>
        <p:spPr>
          <a:xfrm>
            <a:off x="681936" y="402243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57" name="Abgerundetes Rechteck 2">
            <a:extLst>
              <a:ext uri="{FF2B5EF4-FFF2-40B4-BE49-F238E27FC236}">
                <a16:creationId xmlns:a16="http://schemas.microsoft.com/office/drawing/2014/main" id="{D8ECBA16-38C1-6E5C-4344-15952AA848A3}"/>
              </a:ext>
            </a:extLst>
          </p:cNvPr>
          <p:cNvSpPr/>
          <p:nvPr/>
        </p:nvSpPr>
        <p:spPr>
          <a:xfrm>
            <a:off x="681936" y="923563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58" name="Abgerundetes Rechteck 3">
            <a:extLst>
              <a:ext uri="{FF2B5EF4-FFF2-40B4-BE49-F238E27FC236}">
                <a16:creationId xmlns:a16="http://schemas.microsoft.com/office/drawing/2014/main" id="{42B12C50-5935-2305-7271-A9353E3F5DF4}"/>
              </a:ext>
            </a:extLst>
          </p:cNvPr>
          <p:cNvSpPr/>
          <p:nvPr/>
        </p:nvSpPr>
        <p:spPr>
          <a:xfrm>
            <a:off x="681936" y="10489891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F05705B2-207A-7473-B0D3-D0E210757D90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950583" y="4468012"/>
            <a:ext cx="0" cy="476762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31F39F20-E4F1-A8E9-AE0E-229810F32A73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>
            <a:off x="950583" y="9681207"/>
            <a:ext cx="0" cy="80868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2" name="Abgerundetes Rechteck 8">
            <a:extLst>
              <a:ext uri="{FF2B5EF4-FFF2-40B4-BE49-F238E27FC236}">
                <a16:creationId xmlns:a16="http://schemas.microsoft.com/office/drawing/2014/main" id="{D931E7C7-2676-B390-3748-944ED677BBE8}"/>
              </a:ext>
            </a:extLst>
          </p:cNvPr>
          <p:cNvSpPr/>
          <p:nvPr/>
        </p:nvSpPr>
        <p:spPr>
          <a:xfrm>
            <a:off x="1771402" y="10490669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NetconfClient [1]</a:t>
            </a:r>
          </a:p>
        </p:txBody>
      </p:sp>
      <p:sp>
        <p:nvSpPr>
          <p:cNvPr id="63" name="Abgerundetes Rechteck 9">
            <a:extLst>
              <a:ext uri="{FF2B5EF4-FFF2-40B4-BE49-F238E27FC236}">
                <a16:creationId xmlns:a16="http://schemas.microsoft.com/office/drawing/2014/main" id="{CD324EEE-7E30-AD7C-F620-BB3FA6A55BF3}"/>
              </a:ext>
            </a:extLst>
          </p:cNvPr>
          <p:cNvSpPr/>
          <p:nvPr/>
        </p:nvSpPr>
        <p:spPr>
          <a:xfrm>
            <a:off x="1771401" y="11222604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6CAB819F-3E7C-B92D-18BD-47685B07CF72}"/>
              </a:ext>
            </a:extLst>
          </p:cNvPr>
          <p:cNvCxnSpPr>
            <a:stCxn id="62" idx="1"/>
            <a:endCxn id="58" idx="3"/>
          </p:cNvCxnSpPr>
          <p:nvPr/>
        </p:nvCxnSpPr>
        <p:spPr>
          <a:xfrm flipH="1" flipV="1">
            <a:off x="1219232" y="10712677"/>
            <a:ext cx="552168" cy="77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EBC282F3-5516-9CD9-4A58-3B1D951F6FD4}"/>
              </a:ext>
            </a:extLst>
          </p:cNvPr>
          <p:cNvCxnSpPr>
            <a:stCxn id="63" idx="1"/>
            <a:endCxn id="58" idx="3"/>
          </p:cNvCxnSpPr>
          <p:nvPr/>
        </p:nvCxnSpPr>
        <p:spPr>
          <a:xfrm flipH="1" flipV="1">
            <a:off x="1219235" y="10712677"/>
            <a:ext cx="552166" cy="73271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61405C5D-4998-3705-F84F-AA9A6D7300F6}"/>
              </a:ext>
            </a:extLst>
          </p:cNvPr>
          <p:cNvCxnSpPr>
            <a:cxnSpLocks/>
            <a:stCxn id="63" idx="3"/>
            <a:endCxn id="73" idx="1"/>
          </p:cNvCxnSpPr>
          <p:nvPr/>
        </p:nvCxnSpPr>
        <p:spPr>
          <a:xfrm flipV="1">
            <a:off x="2932854" y="11437558"/>
            <a:ext cx="571739" cy="783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D4C53D9F-5A49-C19A-5474-E3DC89FF2AB8}"/>
              </a:ext>
            </a:extLst>
          </p:cNvPr>
          <p:cNvSpPr/>
          <p:nvPr/>
        </p:nvSpPr>
        <p:spPr>
          <a:xfrm>
            <a:off x="3504593" y="11216928"/>
            <a:ext cx="893641" cy="44126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Ins="72000"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remoteIpAddress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8E303147-0B25-3184-7D85-94E7D636036D}"/>
              </a:ext>
            </a:extLst>
          </p:cNvPr>
          <p:cNvSpPr/>
          <p:nvPr/>
        </p:nvSpPr>
        <p:spPr>
          <a:xfrm>
            <a:off x="3504593" y="10553552"/>
            <a:ext cx="893641" cy="31210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3065BECA-C0D8-DABC-4838-03A9DADBC8E4}"/>
              </a:ext>
            </a:extLst>
          </p:cNvPr>
          <p:cNvCxnSpPr>
            <a:cxnSpLocks/>
            <a:stCxn id="62" idx="3"/>
            <a:endCxn id="90" idx="1"/>
          </p:cNvCxnSpPr>
          <p:nvPr/>
        </p:nvCxnSpPr>
        <p:spPr>
          <a:xfrm flipV="1">
            <a:off x="2932855" y="10709607"/>
            <a:ext cx="571738" cy="384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" name="Abgerundetes Rechteck 8">
            <a:extLst>
              <a:ext uri="{FF2B5EF4-FFF2-40B4-BE49-F238E27FC236}">
                <a16:creationId xmlns:a16="http://schemas.microsoft.com/office/drawing/2014/main" id="{FA04FE7A-8C91-5969-0B4C-381A07F25EF4}"/>
              </a:ext>
            </a:extLst>
          </p:cNvPr>
          <p:cNvSpPr/>
          <p:nvPr/>
        </p:nvSpPr>
        <p:spPr>
          <a:xfrm>
            <a:off x="11905730" y="10492987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SnmpClient [1]</a:t>
            </a:r>
          </a:p>
        </p:txBody>
      </p:sp>
      <p:sp>
        <p:nvSpPr>
          <p:cNvPr id="17" name="Abgerundetes Rechteck 9">
            <a:extLst>
              <a:ext uri="{FF2B5EF4-FFF2-40B4-BE49-F238E27FC236}">
                <a16:creationId xmlns:a16="http://schemas.microsoft.com/office/drawing/2014/main" id="{DB15B1A3-8090-1C0B-973D-BF8F69FAEBA4}"/>
              </a:ext>
            </a:extLst>
          </p:cNvPr>
          <p:cNvSpPr/>
          <p:nvPr/>
        </p:nvSpPr>
        <p:spPr>
          <a:xfrm>
            <a:off x="11905730" y="1121322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BF281436-8991-1735-21B9-A5BE2EAAC435}"/>
              </a:ext>
            </a:extLst>
          </p:cNvPr>
          <p:cNvCxnSpPr>
            <a:cxnSpLocks/>
            <a:stCxn id="16" idx="1"/>
            <a:endCxn id="131" idx="3"/>
          </p:cNvCxnSpPr>
          <p:nvPr/>
        </p:nvCxnSpPr>
        <p:spPr>
          <a:xfrm flipH="1" flipV="1">
            <a:off x="11353559" y="10712491"/>
            <a:ext cx="552168" cy="328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E011974-68D0-2B66-DFDD-EA1837A3A003}"/>
              </a:ext>
            </a:extLst>
          </p:cNvPr>
          <p:cNvCxnSpPr>
            <a:cxnSpLocks/>
            <a:stCxn id="17" idx="1"/>
            <a:endCxn id="131" idx="3"/>
          </p:cNvCxnSpPr>
          <p:nvPr/>
        </p:nvCxnSpPr>
        <p:spPr>
          <a:xfrm flipH="1" flipV="1">
            <a:off x="11353559" y="10712488"/>
            <a:ext cx="552168" cy="7235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0F4C1EE-BA58-27B6-3CEB-D51FD6F237BD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13067183" y="11436012"/>
            <a:ext cx="571735" cy="11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141A7E87-1BDC-31FA-FF1D-F3854B2C1EF8}"/>
              </a:ext>
            </a:extLst>
          </p:cNvPr>
          <p:cNvSpPr/>
          <p:nvPr/>
        </p:nvSpPr>
        <p:spPr>
          <a:xfrm>
            <a:off x="13638918" y="11215496"/>
            <a:ext cx="1425832" cy="44126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Abgerundetes Rechteck 88">
            <a:extLst>
              <a:ext uri="{FF2B5EF4-FFF2-40B4-BE49-F238E27FC236}">
                <a16:creationId xmlns:a16="http://schemas.microsoft.com/office/drawing/2014/main" id="{E0866C50-0FC1-8A65-C2E4-AFEDC9C879A3}"/>
              </a:ext>
            </a:extLst>
          </p:cNvPr>
          <p:cNvSpPr/>
          <p:nvPr/>
        </p:nvSpPr>
        <p:spPr>
          <a:xfrm>
            <a:off x="9102644" y="1121322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9" name="Abgerundetes Rechteck 89">
            <a:extLst>
              <a:ext uri="{FF2B5EF4-FFF2-40B4-BE49-F238E27FC236}">
                <a16:creationId xmlns:a16="http://schemas.microsoft.com/office/drawing/2014/main" id="{0CCFFAAB-77ED-5692-76E1-51970536581E}"/>
              </a:ext>
            </a:extLst>
          </p:cNvPr>
          <p:cNvSpPr/>
          <p:nvPr/>
        </p:nvSpPr>
        <p:spPr>
          <a:xfrm>
            <a:off x="9102644" y="10492209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NetconfServer[1]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54AFCF35-5CC9-CCE5-6728-1FEC39A555FE}"/>
              </a:ext>
            </a:extLst>
          </p:cNvPr>
          <p:cNvCxnSpPr>
            <a:cxnSpLocks/>
            <a:stCxn id="29" idx="3"/>
            <a:endCxn id="131" idx="1"/>
          </p:cNvCxnSpPr>
          <p:nvPr/>
        </p:nvCxnSpPr>
        <p:spPr>
          <a:xfrm flipV="1">
            <a:off x="10264094" y="10712491"/>
            <a:ext cx="552166" cy="250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C69A5856-7D4F-2BF7-2F35-56BB361F0DE2}"/>
              </a:ext>
            </a:extLst>
          </p:cNvPr>
          <p:cNvCxnSpPr>
            <a:cxnSpLocks/>
            <a:stCxn id="28" idx="3"/>
            <a:endCxn id="131" idx="1"/>
          </p:cNvCxnSpPr>
          <p:nvPr/>
        </p:nvCxnSpPr>
        <p:spPr>
          <a:xfrm flipV="1">
            <a:off x="10264094" y="10712488"/>
            <a:ext cx="552166" cy="7235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36" name="Rechteck 35">
            <a:extLst>
              <a:ext uri="{FF2B5EF4-FFF2-40B4-BE49-F238E27FC236}">
                <a16:creationId xmlns:a16="http://schemas.microsoft.com/office/drawing/2014/main" id="{7839F9AB-0E9E-3CD3-0688-75C82B3622F5}"/>
              </a:ext>
            </a:extLst>
          </p:cNvPr>
          <p:cNvSpPr/>
          <p:nvPr/>
        </p:nvSpPr>
        <p:spPr>
          <a:xfrm>
            <a:off x="7103207" y="11222604"/>
            <a:ext cx="1425832" cy="43249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893C73A-48A8-6D1F-40D2-0A9F5851FE5C}"/>
              </a:ext>
            </a:extLst>
          </p:cNvPr>
          <p:cNvCxnSpPr>
            <a:cxnSpLocks/>
            <a:stCxn id="28" idx="1"/>
            <a:endCxn id="36" idx="3"/>
          </p:cNvCxnSpPr>
          <p:nvPr/>
        </p:nvCxnSpPr>
        <p:spPr>
          <a:xfrm flipH="1">
            <a:off x="8529039" y="11436012"/>
            <a:ext cx="573605" cy="283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D6180C09-80DE-B8FB-D98B-2D79204A965B}"/>
              </a:ext>
            </a:extLst>
          </p:cNvPr>
          <p:cNvSpPr/>
          <p:nvPr/>
        </p:nvSpPr>
        <p:spPr>
          <a:xfrm>
            <a:off x="7103207" y="10530969"/>
            <a:ext cx="1425832" cy="3676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12D49DF6-85AB-4875-3211-DF09274DF36A}"/>
              </a:ext>
            </a:extLst>
          </p:cNvPr>
          <p:cNvCxnSpPr>
            <a:cxnSpLocks/>
            <a:stCxn id="29" idx="1"/>
            <a:endCxn id="38" idx="3"/>
          </p:cNvCxnSpPr>
          <p:nvPr/>
        </p:nvCxnSpPr>
        <p:spPr>
          <a:xfrm flipH="1" flipV="1">
            <a:off x="8529039" y="10714797"/>
            <a:ext cx="573605" cy="19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DDD580D5-0B17-FEDA-A7D7-84BCAB8DD12F}"/>
              </a:ext>
            </a:extLst>
          </p:cNvPr>
          <p:cNvSpPr/>
          <p:nvPr/>
        </p:nvSpPr>
        <p:spPr>
          <a:xfrm>
            <a:off x="13638918" y="10509206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BA13D890-B8BA-7E5D-B4EB-3559460FEA0B}"/>
              </a:ext>
            </a:extLst>
          </p:cNvPr>
          <p:cNvCxnSpPr>
            <a:cxnSpLocks/>
            <a:stCxn id="16" idx="3"/>
            <a:endCxn id="44" idx="1"/>
          </p:cNvCxnSpPr>
          <p:nvPr/>
        </p:nvCxnSpPr>
        <p:spPr>
          <a:xfrm flipV="1">
            <a:off x="13067183" y="10677243"/>
            <a:ext cx="571735" cy="3853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9" name="Abgerundetes Rechteck 1">
            <a:extLst>
              <a:ext uri="{FF2B5EF4-FFF2-40B4-BE49-F238E27FC236}">
                <a16:creationId xmlns:a16="http://schemas.microsoft.com/office/drawing/2014/main" id="{0B3696B8-459B-81BC-F007-25C4FCAE7AF6}"/>
              </a:ext>
            </a:extLst>
          </p:cNvPr>
          <p:cNvSpPr/>
          <p:nvPr/>
        </p:nvSpPr>
        <p:spPr>
          <a:xfrm>
            <a:off x="10816263" y="402432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130" name="Abgerundetes Rechteck 2">
            <a:extLst>
              <a:ext uri="{FF2B5EF4-FFF2-40B4-BE49-F238E27FC236}">
                <a16:creationId xmlns:a16="http://schemas.microsoft.com/office/drawing/2014/main" id="{44E9B2AD-2D82-4A80-07DA-1326EE5556DF}"/>
              </a:ext>
            </a:extLst>
          </p:cNvPr>
          <p:cNvSpPr/>
          <p:nvPr/>
        </p:nvSpPr>
        <p:spPr>
          <a:xfrm>
            <a:off x="10816263" y="923751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131" name="Abgerundetes Rechteck 3">
            <a:extLst>
              <a:ext uri="{FF2B5EF4-FFF2-40B4-BE49-F238E27FC236}">
                <a16:creationId xmlns:a16="http://schemas.microsoft.com/office/drawing/2014/main" id="{38AABEEE-D5A9-7960-91DE-A0715B1E1097}"/>
              </a:ext>
            </a:extLst>
          </p:cNvPr>
          <p:cNvSpPr/>
          <p:nvPr/>
        </p:nvSpPr>
        <p:spPr>
          <a:xfrm>
            <a:off x="10816263" y="1048970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132" name="Gerade Verbindung mit Pfeil 131">
            <a:extLst>
              <a:ext uri="{FF2B5EF4-FFF2-40B4-BE49-F238E27FC236}">
                <a16:creationId xmlns:a16="http://schemas.microsoft.com/office/drawing/2014/main" id="{24B8BA13-AD4E-5D96-4439-B969CB4D0F1B}"/>
              </a:ext>
            </a:extLst>
          </p:cNvPr>
          <p:cNvCxnSpPr>
            <a:stCxn id="129" idx="2"/>
            <a:endCxn id="130" idx="0"/>
          </p:cNvCxnSpPr>
          <p:nvPr/>
        </p:nvCxnSpPr>
        <p:spPr>
          <a:xfrm>
            <a:off x="11084910" y="4469895"/>
            <a:ext cx="0" cy="476762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F9346835-875D-6801-F071-4CB2B804900B}"/>
              </a:ext>
            </a:extLst>
          </p:cNvPr>
          <p:cNvCxnSpPr>
            <a:stCxn id="130" idx="2"/>
            <a:endCxn id="131" idx="0"/>
          </p:cNvCxnSpPr>
          <p:nvPr/>
        </p:nvCxnSpPr>
        <p:spPr>
          <a:xfrm>
            <a:off x="11084910" y="9683090"/>
            <a:ext cx="0" cy="8066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5" name="Abgerundetes Rechteck 74">
            <a:extLst>
              <a:ext uri="{FF2B5EF4-FFF2-40B4-BE49-F238E27FC236}">
                <a16:creationId xmlns:a16="http://schemas.microsoft.com/office/drawing/2014/main" id="{9F76D0E1-4E66-342A-E3B2-52119B669652}"/>
              </a:ext>
            </a:extLst>
          </p:cNvPr>
          <p:cNvSpPr/>
          <p:nvPr/>
        </p:nvSpPr>
        <p:spPr>
          <a:xfrm>
            <a:off x="9102643" y="581182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err="1">
                <a:solidFill>
                  <a:prstClr val="white"/>
                </a:solidFill>
                <a:latin typeface="Calibri" panose="020F0502020204030204"/>
              </a:rPr>
              <a:t>OperationServer</a:t>
            </a:r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7" name="Abgerundetes Rechteck 88">
            <a:extLst>
              <a:ext uri="{FF2B5EF4-FFF2-40B4-BE49-F238E27FC236}">
                <a16:creationId xmlns:a16="http://schemas.microsoft.com/office/drawing/2014/main" id="{8BC9E276-53B6-5995-622D-0AC9EB9DE1B3}"/>
              </a:ext>
            </a:extLst>
          </p:cNvPr>
          <p:cNvSpPr/>
          <p:nvPr/>
        </p:nvSpPr>
        <p:spPr>
          <a:xfrm>
            <a:off x="9102643" y="725385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err="1">
                <a:solidFill>
                  <a:prstClr val="white"/>
                </a:solidFill>
                <a:latin typeface="Calibri" panose="020F0502020204030204"/>
              </a:rPr>
              <a:t>TcpServer</a:t>
            </a:r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8" name="Abgerundetes Rechteck 89">
            <a:extLst>
              <a:ext uri="{FF2B5EF4-FFF2-40B4-BE49-F238E27FC236}">
                <a16:creationId xmlns:a16="http://schemas.microsoft.com/office/drawing/2014/main" id="{14E901DD-3FD2-DD78-E2D1-8BE2B4D09279}"/>
              </a:ext>
            </a:extLst>
          </p:cNvPr>
          <p:cNvSpPr/>
          <p:nvPr/>
        </p:nvSpPr>
        <p:spPr>
          <a:xfrm>
            <a:off x="9102643" y="653283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err="1">
                <a:solidFill>
                  <a:prstClr val="white"/>
                </a:solidFill>
                <a:latin typeface="Calibri" panose="020F0502020204030204"/>
              </a:rPr>
              <a:t>HttpServer</a:t>
            </a:r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49" name="Gerade Verbindung mit Pfeil 148">
            <a:extLst>
              <a:ext uri="{FF2B5EF4-FFF2-40B4-BE49-F238E27FC236}">
                <a16:creationId xmlns:a16="http://schemas.microsoft.com/office/drawing/2014/main" id="{77D0C046-112B-F61C-51ED-422966C3B7D4}"/>
              </a:ext>
            </a:extLst>
          </p:cNvPr>
          <p:cNvCxnSpPr>
            <a:stCxn id="148" idx="3"/>
            <a:endCxn id="131" idx="1"/>
          </p:cNvCxnSpPr>
          <p:nvPr/>
        </p:nvCxnSpPr>
        <p:spPr>
          <a:xfrm>
            <a:off x="10264096" y="6755624"/>
            <a:ext cx="552167" cy="39568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89E76792-F816-11E2-7AD6-F99179AC2EAF}"/>
              </a:ext>
            </a:extLst>
          </p:cNvPr>
          <p:cNvCxnSpPr>
            <a:stCxn id="147" idx="3"/>
            <a:endCxn id="131" idx="1"/>
          </p:cNvCxnSpPr>
          <p:nvPr/>
        </p:nvCxnSpPr>
        <p:spPr>
          <a:xfrm>
            <a:off x="10264096" y="7476644"/>
            <a:ext cx="552167" cy="323584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51" name="Gerade Verbindung mit Pfeil 150">
            <a:extLst>
              <a:ext uri="{FF2B5EF4-FFF2-40B4-BE49-F238E27FC236}">
                <a16:creationId xmlns:a16="http://schemas.microsoft.com/office/drawing/2014/main" id="{FB99CDA0-2D2C-C26F-89EE-72E2DAEA2188}"/>
              </a:ext>
            </a:extLst>
          </p:cNvPr>
          <p:cNvCxnSpPr>
            <a:stCxn id="145" idx="3"/>
            <a:endCxn id="131" idx="1"/>
          </p:cNvCxnSpPr>
          <p:nvPr/>
        </p:nvCxnSpPr>
        <p:spPr>
          <a:xfrm>
            <a:off x="10264096" y="6034610"/>
            <a:ext cx="552167" cy="467788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52" name="Rechteck 151">
            <a:extLst>
              <a:ext uri="{FF2B5EF4-FFF2-40B4-BE49-F238E27FC236}">
                <a16:creationId xmlns:a16="http://schemas.microsoft.com/office/drawing/2014/main" id="{E3E04050-9C25-B09E-3C76-37E1DD41737D}"/>
              </a:ext>
            </a:extLst>
          </p:cNvPr>
          <p:cNvSpPr/>
          <p:nvPr/>
        </p:nvSpPr>
        <p:spPr>
          <a:xfrm>
            <a:off x="7103206" y="4969920"/>
            <a:ext cx="1425832" cy="32767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err="1">
                <a:solidFill>
                  <a:prstClr val="black"/>
                </a:solidFill>
                <a:latin typeface="Calibri" panose="020F0502020204030204"/>
              </a:rPr>
              <a:t>operationName</a:t>
            </a:r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3" name="Rechteck 152">
            <a:extLst>
              <a:ext uri="{FF2B5EF4-FFF2-40B4-BE49-F238E27FC236}">
                <a16:creationId xmlns:a16="http://schemas.microsoft.com/office/drawing/2014/main" id="{4DFA1D3E-C6E5-809E-760C-5C9B254E07A8}"/>
              </a:ext>
            </a:extLst>
          </p:cNvPr>
          <p:cNvSpPr/>
          <p:nvPr/>
        </p:nvSpPr>
        <p:spPr>
          <a:xfrm>
            <a:off x="7103206" y="5325435"/>
            <a:ext cx="1425832" cy="70465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strike="sngStrike" kern="0" dirty="0" err="1">
                <a:solidFill>
                  <a:prstClr val="black"/>
                </a:solidFill>
                <a:latin typeface="Calibri" panose="020F0502020204030204"/>
              </a:rPr>
              <a:t>lifeCycleState</a:t>
            </a:r>
            <a:endParaRPr lang="de-DE" sz="800" strike="sngStrike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operation-key</a:t>
            </a:r>
            <a:endParaRPr lang="de-DE" sz="800" strike="sngStrike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4" name="Rechteck 153">
            <a:extLst>
              <a:ext uri="{FF2B5EF4-FFF2-40B4-BE49-F238E27FC236}">
                <a16:creationId xmlns:a16="http://schemas.microsoft.com/office/drawing/2014/main" id="{603038BB-B38F-04CB-CE97-EB1D3BC5A2ED}"/>
              </a:ext>
            </a:extLst>
          </p:cNvPr>
          <p:cNvSpPr/>
          <p:nvPr/>
        </p:nvSpPr>
        <p:spPr>
          <a:xfrm>
            <a:off x="7103206" y="7155280"/>
            <a:ext cx="1425832" cy="6838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description </a:t>
            </a: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localProtocol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AE72E1DE-8F09-CAEE-F70B-BD74C656E315}"/>
              </a:ext>
            </a:extLst>
          </p:cNvPr>
          <p:cNvCxnSpPr>
            <a:cxnSpLocks/>
            <a:stCxn id="147" idx="1"/>
            <a:endCxn id="154" idx="3"/>
          </p:cNvCxnSpPr>
          <p:nvPr/>
        </p:nvCxnSpPr>
        <p:spPr>
          <a:xfrm flipH="1">
            <a:off x="8529038" y="7476641"/>
            <a:ext cx="573605" cy="2057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6" name="Rechteck 155">
            <a:extLst>
              <a:ext uri="{FF2B5EF4-FFF2-40B4-BE49-F238E27FC236}">
                <a16:creationId xmlns:a16="http://schemas.microsoft.com/office/drawing/2014/main" id="{A2DD233B-D011-6931-E9B5-093D279C83E7}"/>
              </a:ext>
            </a:extLst>
          </p:cNvPr>
          <p:cNvSpPr/>
          <p:nvPr/>
        </p:nvSpPr>
        <p:spPr>
          <a:xfrm>
            <a:off x="7103206" y="6070761"/>
            <a:ext cx="1425832" cy="105148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applicationName  (?)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releaseNumber (?)</a:t>
            </a: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applicationPurpose</a:t>
            </a: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dataUpdatePeriod</a:t>
            </a: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ownerName</a:t>
            </a: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ownerEmailAddress</a:t>
            </a:r>
          </a:p>
          <a:p>
            <a:pPr defTabSz="914400">
              <a:defRPr/>
            </a:pPr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releaseList</a:t>
            </a:r>
            <a:endParaRPr lang="de-DE" sz="800" strike="sngStrike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7" name="Gerade Verbindung mit Pfeil 156">
            <a:extLst>
              <a:ext uri="{FF2B5EF4-FFF2-40B4-BE49-F238E27FC236}">
                <a16:creationId xmlns:a16="http://schemas.microsoft.com/office/drawing/2014/main" id="{016EC4D1-F635-FB0B-C4C9-8B3006B16E87}"/>
              </a:ext>
            </a:extLst>
          </p:cNvPr>
          <p:cNvCxnSpPr>
            <a:stCxn id="145" idx="1"/>
            <a:endCxn id="153" idx="3"/>
          </p:cNvCxnSpPr>
          <p:nvPr/>
        </p:nvCxnSpPr>
        <p:spPr>
          <a:xfrm flipH="1" flipV="1">
            <a:off x="8529038" y="5677763"/>
            <a:ext cx="573605" cy="35684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8" name="Gerade Verbindung mit Pfeil 157">
            <a:extLst>
              <a:ext uri="{FF2B5EF4-FFF2-40B4-BE49-F238E27FC236}">
                <a16:creationId xmlns:a16="http://schemas.microsoft.com/office/drawing/2014/main" id="{7F8AF69D-63A6-BB6A-B020-F4C20183069E}"/>
              </a:ext>
            </a:extLst>
          </p:cNvPr>
          <p:cNvCxnSpPr>
            <a:cxnSpLocks/>
            <a:stCxn id="145" idx="1"/>
            <a:endCxn id="152" idx="3"/>
          </p:cNvCxnSpPr>
          <p:nvPr/>
        </p:nvCxnSpPr>
        <p:spPr>
          <a:xfrm flipH="1" flipV="1">
            <a:off x="8529038" y="5133759"/>
            <a:ext cx="573605" cy="90084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E0072063-E071-5BFA-07F7-75E642B28E77}"/>
              </a:ext>
            </a:extLst>
          </p:cNvPr>
          <p:cNvCxnSpPr>
            <a:cxnSpLocks/>
            <a:stCxn id="148" idx="1"/>
            <a:endCxn id="156" idx="3"/>
          </p:cNvCxnSpPr>
          <p:nvPr/>
        </p:nvCxnSpPr>
        <p:spPr>
          <a:xfrm flipH="1" flipV="1">
            <a:off x="8529038" y="6596503"/>
            <a:ext cx="573605" cy="15912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4" name="Abgerundetes Rechteck 45">
            <a:extLst>
              <a:ext uri="{FF2B5EF4-FFF2-40B4-BE49-F238E27FC236}">
                <a16:creationId xmlns:a16="http://schemas.microsoft.com/office/drawing/2014/main" id="{6EC8F9F0-0814-58A0-1A03-1B7B7F229B7A}"/>
              </a:ext>
            </a:extLst>
          </p:cNvPr>
          <p:cNvSpPr/>
          <p:nvPr/>
        </p:nvSpPr>
        <p:spPr>
          <a:xfrm>
            <a:off x="12162249" y="402432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PC</a:t>
            </a:r>
          </a:p>
        </p:txBody>
      </p:sp>
      <p:sp>
        <p:nvSpPr>
          <p:cNvPr id="165" name="Abgerundetes Rechteck 46">
            <a:extLst>
              <a:ext uri="{FF2B5EF4-FFF2-40B4-BE49-F238E27FC236}">
                <a16:creationId xmlns:a16="http://schemas.microsoft.com/office/drawing/2014/main" id="{3A261E11-A8FF-8461-9D6C-DB4253244219}"/>
              </a:ext>
            </a:extLst>
          </p:cNvPr>
          <p:cNvSpPr/>
          <p:nvPr/>
        </p:nvSpPr>
        <p:spPr>
          <a:xfrm>
            <a:off x="13508235" y="402875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1D0C2E28-ECAC-7C41-C57C-93E87A3CDD27}"/>
              </a:ext>
            </a:extLst>
          </p:cNvPr>
          <p:cNvCxnSpPr>
            <a:stCxn id="129" idx="3"/>
            <a:endCxn id="164" idx="1"/>
          </p:cNvCxnSpPr>
          <p:nvPr/>
        </p:nvCxnSpPr>
        <p:spPr>
          <a:xfrm>
            <a:off x="11353562" y="4247106"/>
            <a:ext cx="808687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F54F4961-4CD8-1757-6D3E-4ED507AC3D06}"/>
              </a:ext>
            </a:extLst>
          </p:cNvPr>
          <p:cNvCxnSpPr>
            <a:stCxn id="164" idx="3"/>
            <a:endCxn id="165" idx="1"/>
          </p:cNvCxnSpPr>
          <p:nvPr/>
        </p:nvCxnSpPr>
        <p:spPr>
          <a:xfrm>
            <a:off x="12699548" y="4247109"/>
            <a:ext cx="808687" cy="443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8" name="Rechteck 167">
            <a:extLst>
              <a:ext uri="{FF2B5EF4-FFF2-40B4-BE49-F238E27FC236}">
                <a16:creationId xmlns:a16="http://schemas.microsoft.com/office/drawing/2014/main" id="{CF8AC0D9-3EBA-3573-B442-A8577BA331CA}"/>
              </a:ext>
            </a:extLst>
          </p:cNvPr>
          <p:cNvSpPr/>
          <p:nvPr/>
        </p:nvSpPr>
        <p:spPr>
          <a:xfrm>
            <a:off x="8716066" y="4043898"/>
            <a:ext cx="1425832" cy="32767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operationalState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lifecycleState</a:t>
            </a:r>
          </a:p>
        </p:txBody>
      </p: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BA0DE7E0-3E00-4D1E-00E4-096475C7D555}"/>
              </a:ext>
            </a:extLst>
          </p:cNvPr>
          <p:cNvCxnSpPr>
            <a:cxnSpLocks/>
            <a:stCxn id="168" idx="3"/>
            <a:endCxn id="129" idx="1"/>
          </p:cNvCxnSpPr>
          <p:nvPr/>
        </p:nvCxnSpPr>
        <p:spPr>
          <a:xfrm>
            <a:off x="10141898" y="4207740"/>
            <a:ext cx="674362" cy="3936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0" name="Abgerundetes Rechteck 66">
            <a:extLst>
              <a:ext uri="{FF2B5EF4-FFF2-40B4-BE49-F238E27FC236}">
                <a16:creationId xmlns:a16="http://schemas.microsoft.com/office/drawing/2014/main" id="{E923FF91-857D-1980-0058-CEC6AE11A650}"/>
              </a:ext>
            </a:extLst>
          </p:cNvPr>
          <p:cNvSpPr/>
          <p:nvPr/>
        </p:nvSpPr>
        <p:spPr>
          <a:xfrm>
            <a:off x="14599452" y="404001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 err="1">
                <a:solidFill>
                  <a:prstClr val="white"/>
                </a:solidFill>
                <a:latin typeface="Calibri" panose="020F0502020204030204"/>
              </a:rPr>
              <a:t>StringProfile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71" name="Gerade Verbindung mit Pfeil 170">
            <a:extLst>
              <a:ext uri="{FF2B5EF4-FFF2-40B4-BE49-F238E27FC236}">
                <a16:creationId xmlns:a16="http://schemas.microsoft.com/office/drawing/2014/main" id="{57E5131C-F4A7-B1C2-99E2-BDAAC61E1664}"/>
              </a:ext>
            </a:extLst>
          </p:cNvPr>
          <p:cNvCxnSpPr>
            <a:cxnSpLocks/>
            <a:stCxn id="170" idx="1"/>
            <a:endCxn id="165" idx="3"/>
          </p:cNvCxnSpPr>
          <p:nvPr/>
        </p:nvCxnSpPr>
        <p:spPr>
          <a:xfrm flipH="1" flipV="1">
            <a:off x="14045531" y="4251546"/>
            <a:ext cx="553918" cy="1125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72" name="Rechteck 171">
            <a:extLst>
              <a:ext uri="{FF2B5EF4-FFF2-40B4-BE49-F238E27FC236}">
                <a16:creationId xmlns:a16="http://schemas.microsoft.com/office/drawing/2014/main" id="{EB4B0C19-05A4-9F67-7DF1-843375E09128}"/>
              </a:ext>
            </a:extLst>
          </p:cNvPr>
          <p:cNvSpPr/>
          <p:nvPr/>
        </p:nvSpPr>
        <p:spPr>
          <a:xfrm>
            <a:off x="16335853" y="4064389"/>
            <a:ext cx="1425832" cy="67884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stringName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mediatorVmTemplateName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defaultSdnUserName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defaultSdnUserPassword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3" name="Rechteck 172">
            <a:extLst>
              <a:ext uri="{FF2B5EF4-FFF2-40B4-BE49-F238E27FC236}">
                <a16:creationId xmlns:a16="http://schemas.microsoft.com/office/drawing/2014/main" id="{4CBD0BBA-3755-9310-47FE-8B5EF03DB68E}"/>
              </a:ext>
            </a:extLst>
          </p:cNvPr>
          <p:cNvSpPr/>
          <p:nvPr/>
        </p:nvSpPr>
        <p:spPr>
          <a:xfrm>
            <a:off x="16335853" y="4792270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stringValue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74" name="Gerade Verbindung mit Pfeil 173">
            <a:extLst>
              <a:ext uri="{FF2B5EF4-FFF2-40B4-BE49-F238E27FC236}">
                <a16:creationId xmlns:a16="http://schemas.microsoft.com/office/drawing/2014/main" id="{3E00DD38-E312-FDAE-E0CF-019349FE88A3}"/>
              </a:ext>
            </a:extLst>
          </p:cNvPr>
          <p:cNvCxnSpPr>
            <a:cxnSpLocks/>
            <a:stCxn id="170" idx="3"/>
            <a:endCxn id="172" idx="1"/>
          </p:cNvCxnSpPr>
          <p:nvPr/>
        </p:nvCxnSpPr>
        <p:spPr>
          <a:xfrm>
            <a:off x="15760905" y="4262802"/>
            <a:ext cx="574951" cy="14101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5" name="Gerade Verbindung mit Pfeil 174">
            <a:extLst>
              <a:ext uri="{FF2B5EF4-FFF2-40B4-BE49-F238E27FC236}">
                <a16:creationId xmlns:a16="http://schemas.microsoft.com/office/drawing/2014/main" id="{134A9A26-D904-FED7-A00D-A8B5BACBD1F1}"/>
              </a:ext>
            </a:extLst>
          </p:cNvPr>
          <p:cNvCxnSpPr>
            <a:stCxn id="170" idx="3"/>
            <a:endCxn id="173" idx="1"/>
          </p:cNvCxnSpPr>
          <p:nvPr/>
        </p:nvCxnSpPr>
        <p:spPr>
          <a:xfrm>
            <a:off x="15760905" y="4262805"/>
            <a:ext cx="574951" cy="69750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8" name="Abgerundetes Rechteck 2">
            <a:extLst>
              <a:ext uri="{FF2B5EF4-FFF2-40B4-BE49-F238E27FC236}">
                <a16:creationId xmlns:a16="http://schemas.microsoft.com/office/drawing/2014/main" id="{5D271881-6F30-DFD6-72F1-3F674E68933F}"/>
              </a:ext>
            </a:extLst>
          </p:cNvPr>
          <p:cNvSpPr/>
          <p:nvPr/>
        </p:nvSpPr>
        <p:spPr>
          <a:xfrm>
            <a:off x="12162248" y="527857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FD</a:t>
            </a:r>
          </a:p>
        </p:txBody>
      </p:sp>
      <p:cxnSp>
        <p:nvCxnSpPr>
          <p:cNvPr id="179" name="Gerade Verbindung mit Pfeil 178">
            <a:extLst>
              <a:ext uri="{FF2B5EF4-FFF2-40B4-BE49-F238E27FC236}">
                <a16:creationId xmlns:a16="http://schemas.microsoft.com/office/drawing/2014/main" id="{140A27B0-12E3-6EFB-FFEB-53372328F579}"/>
              </a:ext>
            </a:extLst>
          </p:cNvPr>
          <p:cNvCxnSpPr>
            <a:cxnSpLocks/>
            <a:stCxn id="129" idx="2"/>
            <a:endCxn id="178" idx="0"/>
          </p:cNvCxnSpPr>
          <p:nvPr/>
        </p:nvCxnSpPr>
        <p:spPr>
          <a:xfrm>
            <a:off x="11084913" y="4469892"/>
            <a:ext cx="1345985" cy="8086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3" name="Abgerundetes Rechteck 2">
            <a:extLst>
              <a:ext uri="{FF2B5EF4-FFF2-40B4-BE49-F238E27FC236}">
                <a16:creationId xmlns:a16="http://schemas.microsoft.com/office/drawing/2014/main" id="{081EC501-C2CA-9E15-39FF-56B5A787FDD0}"/>
              </a:ext>
            </a:extLst>
          </p:cNvPr>
          <p:cNvSpPr/>
          <p:nvPr/>
        </p:nvSpPr>
        <p:spPr>
          <a:xfrm>
            <a:off x="12162248" y="924437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FC</a:t>
            </a:r>
          </a:p>
        </p:txBody>
      </p:sp>
      <p:cxnSp>
        <p:nvCxnSpPr>
          <p:cNvPr id="190" name="Gerade Verbindung mit Pfeil 189">
            <a:extLst>
              <a:ext uri="{FF2B5EF4-FFF2-40B4-BE49-F238E27FC236}">
                <a16:creationId xmlns:a16="http://schemas.microsoft.com/office/drawing/2014/main" id="{296A82BB-6F95-7547-C6E1-A06AE5A97651}"/>
              </a:ext>
            </a:extLst>
          </p:cNvPr>
          <p:cNvCxnSpPr>
            <a:cxnSpLocks/>
            <a:stCxn id="178" idx="2"/>
            <a:endCxn id="183" idx="0"/>
          </p:cNvCxnSpPr>
          <p:nvPr/>
        </p:nvCxnSpPr>
        <p:spPr>
          <a:xfrm>
            <a:off x="12430898" y="5724150"/>
            <a:ext cx="0" cy="352022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3" name="Rechteck 192">
            <a:extLst>
              <a:ext uri="{FF2B5EF4-FFF2-40B4-BE49-F238E27FC236}">
                <a16:creationId xmlns:a16="http://schemas.microsoft.com/office/drawing/2014/main" id="{0EBFB0DE-9E6A-84BE-0CC5-FB4877E6209C}"/>
              </a:ext>
            </a:extLst>
          </p:cNvPr>
          <p:cNvSpPr/>
          <p:nvPr/>
        </p:nvSpPr>
        <p:spPr>
          <a:xfrm>
            <a:off x="13638918" y="9307786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deviceName</a:t>
            </a:r>
          </a:p>
        </p:txBody>
      </p:sp>
      <p:cxnSp>
        <p:nvCxnSpPr>
          <p:cNvPr id="194" name="Gerade Verbindung mit Pfeil 193">
            <a:extLst>
              <a:ext uri="{FF2B5EF4-FFF2-40B4-BE49-F238E27FC236}">
                <a16:creationId xmlns:a16="http://schemas.microsoft.com/office/drawing/2014/main" id="{30D22D7A-9AC9-DD60-5253-1BC73B206C29}"/>
              </a:ext>
            </a:extLst>
          </p:cNvPr>
          <p:cNvCxnSpPr>
            <a:cxnSpLocks/>
            <a:stCxn id="183" idx="3"/>
            <a:endCxn id="193" idx="1"/>
          </p:cNvCxnSpPr>
          <p:nvPr/>
        </p:nvCxnSpPr>
        <p:spPr>
          <a:xfrm>
            <a:off x="12699547" y="9467161"/>
            <a:ext cx="939371" cy="866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5" name="Gerade Verbindung mit Pfeil 204">
            <a:extLst>
              <a:ext uri="{FF2B5EF4-FFF2-40B4-BE49-F238E27FC236}">
                <a16:creationId xmlns:a16="http://schemas.microsoft.com/office/drawing/2014/main" id="{6788FE90-8D70-D6A1-9340-2FB938146C10}"/>
              </a:ext>
            </a:extLst>
          </p:cNvPr>
          <p:cNvCxnSpPr>
            <a:cxnSpLocks/>
            <a:stCxn id="183" idx="2"/>
            <a:endCxn id="29" idx="0"/>
          </p:cNvCxnSpPr>
          <p:nvPr/>
        </p:nvCxnSpPr>
        <p:spPr>
          <a:xfrm flipH="1">
            <a:off x="9683371" y="9689947"/>
            <a:ext cx="2747527" cy="80226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16" name="Abgerundetes Rechteck 1">
            <a:extLst>
              <a:ext uri="{FF2B5EF4-FFF2-40B4-BE49-F238E27FC236}">
                <a16:creationId xmlns:a16="http://schemas.microsoft.com/office/drawing/2014/main" id="{E4A62BC8-924C-84E9-9ED3-A6A081AB7FE4}"/>
              </a:ext>
            </a:extLst>
          </p:cNvPr>
          <p:cNvSpPr/>
          <p:nvPr/>
        </p:nvSpPr>
        <p:spPr>
          <a:xfrm>
            <a:off x="21995606" y="402397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217" name="Abgerundetes Rechteck 2">
            <a:extLst>
              <a:ext uri="{FF2B5EF4-FFF2-40B4-BE49-F238E27FC236}">
                <a16:creationId xmlns:a16="http://schemas.microsoft.com/office/drawing/2014/main" id="{99DFCE16-D31D-A2C4-AF66-C2D2E0DD8F69}"/>
              </a:ext>
            </a:extLst>
          </p:cNvPr>
          <p:cNvSpPr/>
          <p:nvPr/>
        </p:nvSpPr>
        <p:spPr>
          <a:xfrm>
            <a:off x="21995606" y="924063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218" name="Abgerundetes Rechteck 3">
            <a:extLst>
              <a:ext uri="{FF2B5EF4-FFF2-40B4-BE49-F238E27FC236}">
                <a16:creationId xmlns:a16="http://schemas.microsoft.com/office/drawing/2014/main" id="{D91288CE-E056-17B7-03D1-9F4B70721B71}"/>
              </a:ext>
            </a:extLst>
          </p:cNvPr>
          <p:cNvSpPr/>
          <p:nvPr/>
        </p:nvSpPr>
        <p:spPr>
          <a:xfrm>
            <a:off x="21995606" y="1048853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219" name="Gerade Verbindung mit Pfeil 218">
            <a:extLst>
              <a:ext uri="{FF2B5EF4-FFF2-40B4-BE49-F238E27FC236}">
                <a16:creationId xmlns:a16="http://schemas.microsoft.com/office/drawing/2014/main" id="{F3812ADC-C552-3888-AD96-B6C6C4A66D2D}"/>
              </a:ext>
            </a:extLst>
          </p:cNvPr>
          <p:cNvCxnSpPr>
            <a:stCxn id="216" idx="2"/>
            <a:endCxn id="217" idx="0"/>
          </p:cNvCxnSpPr>
          <p:nvPr/>
        </p:nvCxnSpPr>
        <p:spPr>
          <a:xfrm>
            <a:off x="22264255" y="4469543"/>
            <a:ext cx="0" cy="477109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0" name="Gerade Verbindung mit Pfeil 219">
            <a:extLst>
              <a:ext uri="{FF2B5EF4-FFF2-40B4-BE49-F238E27FC236}">
                <a16:creationId xmlns:a16="http://schemas.microsoft.com/office/drawing/2014/main" id="{58DA10C6-91F7-D5E5-C61D-C688A420AA08}"/>
              </a:ext>
            </a:extLst>
          </p:cNvPr>
          <p:cNvCxnSpPr>
            <a:stCxn id="217" idx="2"/>
            <a:endCxn id="218" idx="0"/>
          </p:cNvCxnSpPr>
          <p:nvPr/>
        </p:nvCxnSpPr>
        <p:spPr>
          <a:xfrm>
            <a:off x="22264255" y="9686206"/>
            <a:ext cx="0" cy="8023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2" name="Abgerundetes Rechteck 88">
            <a:extLst>
              <a:ext uri="{FF2B5EF4-FFF2-40B4-BE49-F238E27FC236}">
                <a16:creationId xmlns:a16="http://schemas.microsoft.com/office/drawing/2014/main" id="{CA0AEA30-500F-B7AD-AACA-E7D8EDE7AACC}"/>
              </a:ext>
            </a:extLst>
          </p:cNvPr>
          <p:cNvSpPr/>
          <p:nvPr/>
        </p:nvSpPr>
        <p:spPr>
          <a:xfrm>
            <a:off x="19565706" y="1120955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23" name="Abgerundetes Rechteck 89">
            <a:extLst>
              <a:ext uri="{FF2B5EF4-FFF2-40B4-BE49-F238E27FC236}">
                <a16:creationId xmlns:a16="http://schemas.microsoft.com/office/drawing/2014/main" id="{044D5B40-A091-29AF-E39A-C4A69555BAD1}"/>
              </a:ext>
            </a:extLst>
          </p:cNvPr>
          <p:cNvSpPr/>
          <p:nvPr/>
        </p:nvSpPr>
        <p:spPr>
          <a:xfrm>
            <a:off x="19565706" y="1048853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SnmpServer [*]</a:t>
            </a:r>
          </a:p>
        </p:txBody>
      </p:sp>
      <p:cxnSp>
        <p:nvCxnSpPr>
          <p:cNvPr id="224" name="Gerade Verbindung mit Pfeil 223">
            <a:extLst>
              <a:ext uri="{FF2B5EF4-FFF2-40B4-BE49-F238E27FC236}">
                <a16:creationId xmlns:a16="http://schemas.microsoft.com/office/drawing/2014/main" id="{C4923F46-6E35-ECDC-0AF1-6BAC283218B2}"/>
              </a:ext>
            </a:extLst>
          </p:cNvPr>
          <p:cNvCxnSpPr>
            <a:stCxn id="223" idx="3"/>
            <a:endCxn id="218" idx="1"/>
          </p:cNvCxnSpPr>
          <p:nvPr/>
        </p:nvCxnSpPr>
        <p:spPr>
          <a:xfrm>
            <a:off x="20727159" y="10711324"/>
            <a:ext cx="1268447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25" name="Gerade Verbindung mit Pfeil 224">
            <a:extLst>
              <a:ext uri="{FF2B5EF4-FFF2-40B4-BE49-F238E27FC236}">
                <a16:creationId xmlns:a16="http://schemas.microsoft.com/office/drawing/2014/main" id="{C9D65C52-F7D7-4E03-4D70-221077F95329}"/>
              </a:ext>
            </a:extLst>
          </p:cNvPr>
          <p:cNvCxnSpPr>
            <a:stCxn id="222" idx="3"/>
            <a:endCxn id="218" idx="1"/>
          </p:cNvCxnSpPr>
          <p:nvPr/>
        </p:nvCxnSpPr>
        <p:spPr>
          <a:xfrm flipV="1">
            <a:off x="20727159" y="10711325"/>
            <a:ext cx="1268447" cy="72101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30" name="Rechteck 229">
            <a:extLst>
              <a:ext uri="{FF2B5EF4-FFF2-40B4-BE49-F238E27FC236}">
                <a16:creationId xmlns:a16="http://schemas.microsoft.com/office/drawing/2014/main" id="{3A0F905E-26BB-EADC-40B0-7140549F1DE4}"/>
              </a:ext>
            </a:extLst>
          </p:cNvPr>
          <p:cNvSpPr/>
          <p:nvPr/>
        </p:nvSpPr>
        <p:spPr>
          <a:xfrm>
            <a:off x="17566269" y="11218933"/>
            <a:ext cx="1425832" cy="4329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1" name="Gerade Verbindung mit Pfeil 230">
            <a:extLst>
              <a:ext uri="{FF2B5EF4-FFF2-40B4-BE49-F238E27FC236}">
                <a16:creationId xmlns:a16="http://schemas.microsoft.com/office/drawing/2014/main" id="{E2AA1378-2624-C82E-46F5-DAE3598C92F9}"/>
              </a:ext>
            </a:extLst>
          </p:cNvPr>
          <p:cNvCxnSpPr>
            <a:stCxn id="222" idx="1"/>
            <a:endCxn id="230" idx="3"/>
          </p:cNvCxnSpPr>
          <p:nvPr/>
        </p:nvCxnSpPr>
        <p:spPr>
          <a:xfrm flipH="1">
            <a:off x="18992101" y="11432341"/>
            <a:ext cx="573605" cy="307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2" name="Rechteck 231">
            <a:extLst>
              <a:ext uri="{FF2B5EF4-FFF2-40B4-BE49-F238E27FC236}">
                <a16:creationId xmlns:a16="http://schemas.microsoft.com/office/drawing/2014/main" id="{D24AFCEE-3415-2633-C02F-42F690432881}"/>
              </a:ext>
            </a:extLst>
          </p:cNvPr>
          <p:cNvSpPr/>
          <p:nvPr/>
        </p:nvSpPr>
        <p:spPr>
          <a:xfrm>
            <a:off x="17566269" y="10456672"/>
            <a:ext cx="1425832" cy="59233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5" name="Gerade Verbindung mit Pfeil 234">
            <a:extLst>
              <a:ext uri="{FF2B5EF4-FFF2-40B4-BE49-F238E27FC236}">
                <a16:creationId xmlns:a16="http://schemas.microsoft.com/office/drawing/2014/main" id="{4A5D1682-99D1-7876-EEFC-EA1180222379}"/>
              </a:ext>
            </a:extLst>
          </p:cNvPr>
          <p:cNvCxnSpPr>
            <a:cxnSpLocks/>
            <a:stCxn id="223" idx="1"/>
            <a:endCxn id="232" idx="3"/>
          </p:cNvCxnSpPr>
          <p:nvPr/>
        </p:nvCxnSpPr>
        <p:spPr>
          <a:xfrm flipH="1">
            <a:off x="18992101" y="10711324"/>
            <a:ext cx="573605" cy="415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1" name="Rechteck 240">
            <a:extLst>
              <a:ext uri="{FF2B5EF4-FFF2-40B4-BE49-F238E27FC236}">
                <a16:creationId xmlns:a16="http://schemas.microsoft.com/office/drawing/2014/main" id="{8AE67609-FF85-AA36-4EAC-A2C055DD14DD}"/>
              </a:ext>
            </a:extLst>
          </p:cNvPr>
          <p:cNvSpPr/>
          <p:nvPr/>
        </p:nvSpPr>
        <p:spPr>
          <a:xfrm>
            <a:off x="19945629" y="4023331"/>
            <a:ext cx="1471132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>
                <a:solidFill>
                  <a:prstClr val="black"/>
                </a:solidFill>
                <a:latin typeface="Calibri" panose="020F0502020204030204"/>
              </a:rPr>
              <a:t>ControlConstructPac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externalLabel=deviceName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deviceModelName</a:t>
            </a:r>
          </a:p>
        </p:txBody>
      </p:sp>
      <p:cxnSp>
        <p:nvCxnSpPr>
          <p:cNvPr id="242" name="Gerade Verbindung mit Pfeil 241">
            <a:extLst>
              <a:ext uri="{FF2B5EF4-FFF2-40B4-BE49-F238E27FC236}">
                <a16:creationId xmlns:a16="http://schemas.microsoft.com/office/drawing/2014/main" id="{D02907C9-C5BE-29CD-04AE-14DC78D81D7F}"/>
              </a:ext>
            </a:extLst>
          </p:cNvPr>
          <p:cNvCxnSpPr>
            <a:cxnSpLocks/>
            <a:stCxn id="216" idx="1"/>
            <a:endCxn id="241" idx="3"/>
          </p:cNvCxnSpPr>
          <p:nvPr/>
        </p:nvCxnSpPr>
        <p:spPr>
          <a:xfrm flipH="1" flipV="1">
            <a:off x="21416761" y="4246118"/>
            <a:ext cx="578844" cy="63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" name="Abgerundetes Rechteck 8">
            <a:extLst>
              <a:ext uri="{FF2B5EF4-FFF2-40B4-BE49-F238E27FC236}">
                <a16:creationId xmlns:a16="http://schemas.microsoft.com/office/drawing/2014/main" id="{C08FEA06-0BBB-3C97-6307-ABA2F45E722D}"/>
              </a:ext>
            </a:extLst>
          </p:cNvPr>
          <p:cNvSpPr/>
          <p:nvPr/>
        </p:nvSpPr>
        <p:spPr>
          <a:xfrm>
            <a:off x="1771402" y="814446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ManagementTransportClient [1]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0EBE7C15-7FE1-B46C-122A-2340FCD30A36}"/>
              </a:ext>
            </a:extLst>
          </p:cNvPr>
          <p:cNvCxnSpPr>
            <a:cxnSpLocks/>
            <a:stCxn id="26" idx="1"/>
            <a:endCxn id="58" idx="3"/>
          </p:cNvCxnSpPr>
          <p:nvPr/>
        </p:nvCxnSpPr>
        <p:spPr>
          <a:xfrm flipH="1">
            <a:off x="1219235" y="8367252"/>
            <a:ext cx="552167" cy="234542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33" name="Rechteck 32">
            <a:extLst>
              <a:ext uri="{FF2B5EF4-FFF2-40B4-BE49-F238E27FC236}">
                <a16:creationId xmlns:a16="http://schemas.microsoft.com/office/drawing/2014/main" id="{02E1F362-069A-0B5C-E60F-1A5089DA1175}"/>
              </a:ext>
            </a:extLst>
          </p:cNvPr>
          <p:cNvSpPr/>
          <p:nvPr/>
        </p:nvSpPr>
        <p:spPr>
          <a:xfrm>
            <a:off x="3504593" y="8210529"/>
            <a:ext cx="893641" cy="31210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B08F7353-0D9C-0B8A-280F-2B532941101E}"/>
              </a:ext>
            </a:extLst>
          </p:cNvPr>
          <p:cNvCxnSpPr>
            <a:cxnSpLocks/>
            <a:stCxn id="26" idx="3"/>
            <a:endCxn id="33" idx="1"/>
          </p:cNvCxnSpPr>
          <p:nvPr/>
        </p:nvCxnSpPr>
        <p:spPr>
          <a:xfrm flipV="1">
            <a:off x="2932855" y="8366584"/>
            <a:ext cx="571738" cy="66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9" name="Abgerundetes Rechteck 89">
            <a:extLst>
              <a:ext uri="{FF2B5EF4-FFF2-40B4-BE49-F238E27FC236}">
                <a16:creationId xmlns:a16="http://schemas.microsoft.com/office/drawing/2014/main" id="{BA6A142A-8968-8D51-EBC7-F17CAD126C7C}"/>
              </a:ext>
            </a:extLst>
          </p:cNvPr>
          <p:cNvSpPr/>
          <p:nvPr/>
        </p:nvSpPr>
        <p:spPr>
          <a:xfrm>
            <a:off x="19543537" y="813466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ManagementTransportServer [*]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96213744-95E9-B36D-D5B8-8FD6CBFDBF62}"/>
              </a:ext>
            </a:extLst>
          </p:cNvPr>
          <p:cNvCxnSpPr>
            <a:cxnSpLocks/>
            <a:stCxn id="39" idx="3"/>
            <a:endCxn id="218" idx="1"/>
          </p:cNvCxnSpPr>
          <p:nvPr/>
        </p:nvCxnSpPr>
        <p:spPr>
          <a:xfrm>
            <a:off x="20704990" y="8357452"/>
            <a:ext cx="1290616" cy="235387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42" name="Rechteck 41">
            <a:extLst>
              <a:ext uri="{FF2B5EF4-FFF2-40B4-BE49-F238E27FC236}">
                <a16:creationId xmlns:a16="http://schemas.microsoft.com/office/drawing/2014/main" id="{D912CA03-AB19-80BD-40B1-B51E6FA159DA}"/>
              </a:ext>
            </a:extLst>
          </p:cNvPr>
          <p:cNvSpPr/>
          <p:nvPr/>
        </p:nvSpPr>
        <p:spPr>
          <a:xfrm>
            <a:off x="17566960" y="8098985"/>
            <a:ext cx="1425832" cy="47476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E85C71F8-90F7-2EEE-D6FD-EA06A730B16B}"/>
              </a:ext>
            </a:extLst>
          </p:cNvPr>
          <p:cNvCxnSpPr>
            <a:cxnSpLocks/>
            <a:stCxn id="39" idx="1"/>
            <a:endCxn id="42" idx="3"/>
          </p:cNvCxnSpPr>
          <p:nvPr/>
        </p:nvCxnSpPr>
        <p:spPr>
          <a:xfrm flipH="1" flipV="1">
            <a:off x="18992792" y="8336370"/>
            <a:ext cx="550745" cy="2108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6" name="Rechteck 85">
            <a:extLst>
              <a:ext uri="{FF2B5EF4-FFF2-40B4-BE49-F238E27FC236}">
                <a16:creationId xmlns:a16="http://schemas.microsoft.com/office/drawing/2014/main" id="{4EF8BD69-F08C-B9E7-5DF2-848F27B7FE4E}"/>
              </a:ext>
            </a:extLst>
          </p:cNvPr>
          <p:cNvSpPr/>
          <p:nvPr/>
        </p:nvSpPr>
        <p:spPr>
          <a:xfrm>
            <a:off x="15462332" y="8916885"/>
            <a:ext cx="1930625" cy="3029052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87" name="Abgerundetes Rechteck 1">
            <a:extLst>
              <a:ext uri="{FF2B5EF4-FFF2-40B4-BE49-F238E27FC236}">
                <a16:creationId xmlns:a16="http://schemas.microsoft.com/office/drawing/2014/main" id="{D6ADBF88-D669-757C-3A92-67D4C6EA3D42}"/>
              </a:ext>
            </a:extLst>
          </p:cNvPr>
          <p:cNvSpPr/>
          <p:nvPr/>
        </p:nvSpPr>
        <p:spPr>
          <a:xfrm>
            <a:off x="15630513" y="945574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A2B87E04-CA80-7121-47DB-E8E9A36D9020}"/>
              </a:ext>
            </a:extLst>
          </p:cNvPr>
          <p:cNvCxnSpPr>
            <a:cxnSpLocks/>
            <a:stCxn id="87" idx="2"/>
            <a:endCxn id="326" idx="7"/>
          </p:cNvCxnSpPr>
          <p:nvPr/>
        </p:nvCxnSpPr>
        <p:spPr>
          <a:xfrm flipH="1">
            <a:off x="13045381" y="9901315"/>
            <a:ext cx="2853782" cy="62313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93" name="Rechteck 92">
            <a:extLst>
              <a:ext uri="{FF2B5EF4-FFF2-40B4-BE49-F238E27FC236}">
                <a16:creationId xmlns:a16="http://schemas.microsoft.com/office/drawing/2014/main" id="{FCFF00EF-0576-E422-EDCD-26AB376B788C}"/>
              </a:ext>
            </a:extLst>
          </p:cNvPr>
          <p:cNvSpPr/>
          <p:nvPr/>
        </p:nvSpPr>
        <p:spPr>
          <a:xfrm>
            <a:off x="16437313" y="9523393"/>
            <a:ext cx="817085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deviceName</a:t>
            </a:r>
          </a:p>
        </p:txBody>
      </p: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6993B356-34A0-6EF5-B7C8-165FDE6B0E48}"/>
              </a:ext>
            </a:extLst>
          </p:cNvPr>
          <p:cNvCxnSpPr>
            <a:cxnSpLocks/>
            <a:stCxn id="87" idx="3"/>
            <a:endCxn id="93" idx="1"/>
          </p:cNvCxnSpPr>
          <p:nvPr/>
        </p:nvCxnSpPr>
        <p:spPr>
          <a:xfrm>
            <a:off x="16167812" y="9678529"/>
            <a:ext cx="269501" cy="1290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82F36CDE-9238-8488-B7F4-4BEE05C8B522}"/>
              </a:ext>
            </a:extLst>
          </p:cNvPr>
          <p:cNvCxnSpPr>
            <a:cxnSpLocks/>
            <a:stCxn id="87" idx="2"/>
          </p:cNvCxnSpPr>
          <p:nvPr/>
        </p:nvCxnSpPr>
        <p:spPr>
          <a:xfrm>
            <a:off x="15899163" y="9901315"/>
            <a:ext cx="3708050" cy="60237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117" name="Abgerundetes Rechteck 1">
            <a:extLst>
              <a:ext uri="{FF2B5EF4-FFF2-40B4-BE49-F238E27FC236}">
                <a16:creationId xmlns:a16="http://schemas.microsoft.com/office/drawing/2014/main" id="{8FAD0FAB-F7D4-B1C2-7009-798052A9B1D9}"/>
              </a:ext>
            </a:extLst>
          </p:cNvPr>
          <p:cNvSpPr/>
          <p:nvPr/>
        </p:nvSpPr>
        <p:spPr>
          <a:xfrm>
            <a:off x="9580315" y="28529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NCD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21" name="Gerade Verbindung mit Pfeil 120">
            <a:extLst>
              <a:ext uri="{FF2B5EF4-FFF2-40B4-BE49-F238E27FC236}">
                <a16:creationId xmlns:a16="http://schemas.microsoft.com/office/drawing/2014/main" id="{8513C110-D9EE-BEC7-C0AA-D36B474C31B5}"/>
              </a:ext>
            </a:extLst>
          </p:cNvPr>
          <p:cNvCxnSpPr>
            <a:cxnSpLocks/>
            <a:stCxn id="117" idx="2"/>
            <a:endCxn id="129" idx="0"/>
          </p:cNvCxnSpPr>
          <p:nvPr/>
        </p:nvCxnSpPr>
        <p:spPr>
          <a:xfrm>
            <a:off x="9848965" y="730865"/>
            <a:ext cx="1235948" cy="32934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7" name="Abgerundetes Rechteck 2">
            <a:extLst>
              <a:ext uri="{FF2B5EF4-FFF2-40B4-BE49-F238E27FC236}">
                <a16:creationId xmlns:a16="http://schemas.microsoft.com/office/drawing/2014/main" id="{1A507A33-5B7D-11FC-CBDD-02AB3012B323}"/>
              </a:ext>
            </a:extLst>
          </p:cNvPr>
          <p:cNvSpPr/>
          <p:nvPr/>
        </p:nvSpPr>
        <p:spPr>
          <a:xfrm>
            <a:off x="10844820" y="133251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FD</a:t>
            </a:r>
          </a:p>
        </p:txBody>
      </p:sp>
      <p:cxnSp>
        <p:nvCxnSpPr>
          <p:cNvPr id="138" name="Gerade Verbindung mit Pfeil 137">
            <a:extLst>
              <a:ext uri="{FF2B5EF4-FFF2-40B4-BE49-F238E27FC236}">
                <a16:creationId xmlns:a16="http://schemas.microsoft.com/office/drawing/2014/main" id="{76E43E38-FB74-A194-3F98-3C678B7007CC}"/>
              </a:ext>
            </a:extLst>
          </p:cNvPr>
          <p:cNvCxnSpPr>
            <a:cxnSpLocks/>
            <a:stCxn id="117" idx="2"/>
            <a:endCxn id="137" idx="0"/>
          </p:cNvCxnSpPr>
          <p:nvPr/>
        </p:nvCxnSpPr>
        <p:spPr>
          <a:xfrm>
            <a:off x="9848965" y="730865"/>
            <a:ext cx="1264505" cy="60165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6" name="Verbinder: gewinkelt 145">
            <a:extLst>
              <a:ext uri="{FF2B5EF4-FFF2-40B4-BE49-F238E27FC236}">
                <a16:creationId xmlns:a16="http://schemas.microsoft.com/office/drawing/2014/main" id="{77591B36-B1C3-1160-95D2-646678063A41}"/>
              </a:ext>
            </a:extLst>
          </p:cNvPr>
          <p:cNvCxnSpPr>
            <a:cxnSpLocks/>
            <a:stCxn id="299" idx="1"/>
            <a:endCxn id="240" idx="7"/>
          </p:cNvCxnSpPr>
          <p:nvPr/>
        </p:nvCxnSpPr>
        <p:spPr>
          <a:xfrm rot="10800000" flipV="1">
            <a:off x="2913848" y="2458173"/>
            <a:ext cx="7930973" cy="5721157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62" name="Verbinder: gewinkelt 161">
            <a:extLst>
              <a:ext uri="{FF2B5EF4-FFF2-40B4-BE49-F238E27FC236}">
                <a16:creationId xmlns:a16="http://schemas.microsoft.com/office/drawing/2014/main" id="{D7BF3E62-D368-E9DC-ABAC-7F3B9C8CDCF9}"/>
              </a:ext>
            </a:extLst>
          </p:cNvPr>
          <p:cNvCxnSpPr>
            <a:cxnSpLocks/>
            <a:stCxn id="299" idx="3"/>
            <a:endCxn id="291" idx="0"/>
          </p:cNvCxnSpPr>
          <p:nvPr/>
        </p:nvCxnSpPr>
        <p:spPr>
          <a:xfrm>
            <a:off x="11382119" y="2458174"/>
            <a:ext cx="8215502" cy="5692052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12" name="Rechteck 211">
            <a:extLst>
              <a:ext uri="{FF2B5EF4-FFF2-40B4-BE49-F238E27FC236}">
                <a16:creationId xmlns:a16="http://schemas.microsoft.com/office/drawing/2014/main" id="{3555123F-9A90-1011-D300-F33B1A856F75}"/>
              </a:ext>
            </a:extLst>
          </p:cNvPr>
          <p:cNvSpPr/>
          <p:nvPr/>
        </p:nvSpPr>
        <p:spPr>
          <a:xfrm>
            <a:off x="4776148" y="8914378"/>
            <a:ext cx="1949140" cy="3032399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213" name="Abgerundetes Rechteck 1">
            <a:extLst>
              <a:ext uri="{FF2B5EF4-FFF2-40B4-BE49-F238E27FC236}">
                <a16:creationId xmlns:a16="http://schemas.microsoft.com/office/drawing/2014/main" id="{F8D37D0E-8516-6BFB-1627-49D94B22AC46}"/>
              </a:ext>
            </a:extLst>
          </p:cNvPr>
          <p:cNvSpPr/>
          <p:nvPr/>
        </p:nvSpPr>
        <p:spPr>
          <a:xfrm>
            <a:off x="4934259" y="9457028"/>
            <a:ext cx="542452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4" name="Rechteck 213">
            <a:extLst>
              <a:ext uri="{FF2B5EF4-FFF2-40B4-BE49-F238E27FC236}">
                <a16:creationId xmlns:a16="http://schemas.microsoft.com/office/drawing/2014/main" id="{150AAFD4-5ED8-C6EA-8AEE-E8CB41A2FEFE}"/>
              </a:ext>
            </a:extLst>
          </p:cNvPr>
          <p:cNvSpPr/>
          <p:nvPr/>
        </p:nvSpPr>
        <p:spPr>
          <a:xfrm>
            <a:off x="5741059" y="9524678"/>
            <a:ext cx="824921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deviceName</a:t>
            </a:r>
          </a:p>
        </p:txBody>
      </p:sp>
      <p:cxnSp>
        <p:nvCxnSpPr>
          <p:cNvPr id="215" name="Gerade Verbindung mit Pfeil 214">
            <a:extLst>
              <a:ext uri="{FF2B5EF4-FFF2-40B4-BE49-F238E27FC236}">
                <a16:creationId xmlns:a16="http://schemas.microsoft.com/office/drawing/2014/main" id="{7F5FA94B-7893-5429-17CA-4EC5B28F25B0}"/>
              </a:ext>
            </a:extLst>
          </p:cNvPr>
          <p:cNvCxnSpPr>
            <a:cxnSpLocks/>
            <a:stCxn id="213" idx="3"/>
            <a:endCxn id="214" idx="1"/>
          </p:cNvCxnSpPr>
          <p:nvPr/>
        </p:nvCxnSpPr>
        <p:spPr>
          <a:xfrm>
            <a:off x="5476711" y="9679814"/>
            <a:ext cx="264348" cy="1290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1" name="Gerade Verbindung mit Pfeil 220">
            <a:extLst>
              <a:ext uri="{FF2B5EF4-FFF2-40B4-BE49-F238E27FC236}">
                <a16:creationId xmlns:a16="http://schemas.microsoft.com/office/drawing/2014/main" id="{FB1E9696-FB30-4DD2-5C4A-5233B0FAE6B6}"/>
              </a:ext>
            </a:extLst>
          </p:cNvPr>
          <p:cNvCxnSpPr>
            <a:cxnSpLocks/>
            <a:stCxn id="213" idx="2"/>
            <a:endCxn id="334" idx="0"/>
          </p:cNvCxnSpPr>
          <p:nvPr/>
        </p:nvCxnSpPr>
        <p:spPr>
          <a:xfrm flipH="1">
            <a:off x="2887137" y="9902600"/>
            <a:ext cx="2318348" cy="6052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26" name="Gerade Verbindung mit Pfeil 225">
            <a:extLst>
              <a:ext uri="{FF2B5EF4-FFF2-40B4-BE49-F238E27FC236}">
                <a16:creationId xmlns:a16="http://schemas.microsoft.com/office/drawing/2014/main" id="{867860DD-30C5-F9EB-DD2B-EC606399AB32}"/>
              </a:ext>
            </a:extLst>
          </p:cNvPr>
          <p:cNvCxnSpPr>
            <a:cxnSpLocks/>
            <a:stCxn id="213" idx="2"/>
            <a:endCxn id="331" idx="2"/>
          </p:cNvCxnSpPr>
          <p:nvPr/>
        </p:nvCxnSpPr>
        <p:spPr>
          <a:xfrm>
            <a:off x="5205485" y="9902600"/>
            <a:ext cx="3916966" cy="62946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40" name="Ellipse 239">
            <a:extLst>
              <a:ext uri="{FF2B5EF4-FFF2-40B4-BE49-F238E27FC236}">
                <a16:creationId xmlns:a16="http://schemas.microsoft.com/office/drawing/2014/main" id="{7C3D2B24-925A-C56A-31E1-ACB846FD2315}"/>
              </a:ext>
            </a:extLst>
          </p:cNvPr>
          <p:cNvSpPr/>
          <p:nvPr/>
        </p:nvSpPr>
        <p:spPr>
          <a:xfrm>
            <a:off x="2874823" y="8172636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47" name="Verbinder: gewinkelt 246">
            <a:extLst>
              <a:ext uri="{FF2B5EF4-FFF2-40B4-BE49-F238E27FC236}">
                <a16:creationId xmlns:a16="http://schemas.microsoft.com/office/drawing/2014/main" id="{B1B6F187-424B-B5E7-210A-081BDFAD519A}"/>
              </a:ext>
            </a:extLst>
          </p:cNvPr>
          <p:cNvCxnSpPr>
            <a:stCxn id="117" idx="2"/>
            <a:endCxn id="56" idx="0"/>
          </p:cNvCxnSpPr>
          <p:nvPr/>
        </p:nvCxnSpPr>
        <p:spPr>
          <a:xfrm rot="5400000">
            <a:off x="3753990" y="-2072538"/>
            <a:ext cx="3291572" cy="8898379"/>
          </a:xfrm>
          <a:prstGeom prst="bentConnector3">
            <a:avLst>
              <a:gd name="adj1" fmla="val 24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2" name="Verbinder: gewinkelt 251">
            <a:extLst>
              <a:ext uri="{FF2B5EF4-FFF2-40B4-BE49-F238E27FC236}">
                <a16:creationId xmlns:a16="http://schemas.microsoft.com/office/drawing/2014/main" id="{7B4D9739-6606-A338-2C87-5405BC25C7D6}"/>
              </a:ext>
            </a:extLst>
          </p:cNvPr>
          <p:cNvCxnSpPr>
            <a:cxnSpLocks/>
            <a:stCxn id="117" idx="2"/>
            <a:endCxn id="216" idx="0"/>
          </p:cNvCxnSpPr>
          <p:nvPr/>
        </p:nvCxnSpPr>
        <p:spPr>
          <a:xfrm rot="16200000" flipH="1">
            <a:off x="14410058" y="-3830229"/>
            <a:ext cx="3293105" cy="12415291"/>
          </a:xfrm>
          <a:prstGeom prst="bentConnector3">
            <a:avLst>
              <a:gd name="adj1" fmla="val 263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1" name="Ellipse 290">
            <a:extLst>
              <a:ext uri="{FF2B5EF4-FFF2-40B4-BE49-F238E27FC236}">
                <a16:creationId xmlns:a16="http://schemas.microsoft.com/office/drawing/2014/main" id="{78BFD825-BF84-9280-8427-C73FF02EDC16}"/>
              </a:ext>
            </a:extLst>
          </p:cNvPr>
          <p:cNvSpPr/>
          <p:nvPr/>
        </p:nvSpPr>
        <p:spPr>
          <a:xfrm>
            <a:off x="19574761" y="8150226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Ellipse 292">
            <a:extLst>
              <a:ext uri="{FF2B5EF4-FFF2-40B4-BE49-F238E27FC236}">
                <a16:creationId xmlns:a16="http://schemas.microsoft.com/office/drawing/2014/main" id="{A96271CD-4392-8057-D43D-25709C941E70}"/>
              </a:ext>
            </a:extLst>
          </p:cNvPr>
          <p:cNvSpPr/>
          <p:nvPr/>
        </p:nvSpPr>
        <p:spPr>
          <a:xfrm>
            <a:off x="19586825" y="10507833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9" name="Abgerundetes Rechteck 2">
            <a:extLst>
              <a:ext uri="{FF2B5EF4-FFF2-40B4-BE49-F238E27FC236}">
                <a16:creationId xmlns:a16="http://schemas.microsoft.com/office/drawing/2014/main" id="{E996A483-AF97-CBE6-3673-7E031A0BFEC8}"/>
              </a:ext>
            </a:extLst>
          </p:cNvPr>
          <p:cNvSpPr/>
          <p:nvPr/>
        </p:nvSpPr>
        <p:spPr>
          <a:xfrm>
            <a:off x="10844820" y="223538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FC</a:t>
            </a:r>
          </a:p>
        </p:txBody>
      </p:sp>
      <p:cxnSp>
        <p:nvCxnSpPr>
          <p:cNvPr id="311" name="Gerade Verbindung mit Pfeil 310">
            <a:extLst>
              <a:ext uri="{FF2B5EF4-FFF2-40B4-BE49-F238E27FC236}">
                <a16:creationId xmlns:a16="http://schemas.microsoft.com/office/drawing/2014/main" id="{9AD30391-92FB-0C52-26B6-00EDE85050C8}"/>
              </a:ext>
            </a:extLst>
          </p:cNvPr>
          <p:cNvCxnSpPr>
            <a:cxnSpLocks/>
            <a:stCxn id="137" idx="2"/>
            <a:endCxn id="299" idx="0"/>
          </p:cNvCxnSpPr>
          <p:nvPr/>
        </p:nvCxnSpPr>
        <p:spPr>
          <a:xfrm>
            <a:off x="11113470" y="1778088"/>
            <a:ext cx="0" cy="45730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6" name="Ellipse 325">
            <a:extLst>
              <a:ext uri="{FF2B5EF4-FFF2-40B4-BE49-F238E27FC236}">
                <a16:creationId xmlns:a16="http://schemas.microsoft.com/office/drawing/2014/main" id="{CEDD7DE9-3657-184D-6997-0AECEE8A55A8}"/>
              </a:ext>
            </a:extLst>
          </p:cNvPr>
          <p:cNvSpPr/>
          <p:nvPr/>
        </p:nvSpPr>
        <p:spPr>
          <a:xfrm>
            <a:off x="13006357" y="10517755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1" name="Ellipse 330">
            <a:extLst>
              <a:ext uri="{FF2B5EF4-FFF2-40B4-BE49-F238E27FC236}">
                <a16:creationId xmlns:a16="http://schemas.microsoft.com/office/drawing/2014/main" id="{6ECA586B-08D6-6157-F7C2-3AFD86937CB5}"/>
              </a:ext>
            </a:extLst>
          </p:cNvPr>
          <p:cNvSpPr/>
          <p:nvPr/>
        </p:nvSpPr>
        <p:spPr>
          <a:xfrm>
            <a:off x="9122451" y="10509206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4" name="Ellipse 333">
            <a:extLst>
              <a:ext uri="{FF2B5EF4-FFF2-40B4-BE49-F238E27FC236}">
                <a16:creationId xmlns:a16="http://schemas.microsoft.com/office/drawing/2014/main" id="{1D7BD267-291E-DC8C-588E-3D75EF535FF1}"/>
              </a:ext>
            </a:extLst>
          </p:cNvPr>
          <p:cNvSpPr/>
          <p:nvPr/>
        </p:nvSpPr>
        <p:spPr>
          <a:xfrm>
            <a:off x="2864277" y="10507833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8" name="Rechteck 337">
            <a:extLst>
              <a:ext uri="{FF2B5EF4-FFF2-40B4-BE49-F238E27FC236}">
                <a16:creationId xmlns:a16="http://schemas.microsoft.com/office/drawing/2014/main" id="{6B7619B2-4D08-FB1B-998F-EDD62FBAD183}"/>
              </a:ext>
            </a:extLst>
          </p:cNvPr>
          <p:cNvSpPr/>
          <p:nvPr/>
        </p:nvSpPr>
        <p:spPr>
          <a:xfrm>
            <a:off x="12354267" y="2658113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deviceName</a:t>
            </a:r>
          </a:p>
        </p:txBody>
      </p:sp>
      <p:cxnSp>
        <p:nvCxnSpPr>
          <p:cNvPr id="339" name="Gerade Verbindung mit Pfeil 338">
            <a:extLst>
              <a:ext uri="{FF2B5EF4-FFF2-40B4-BE49-F238E27FC236}">
                <a16:creationId xmlns:a16="http://schemas.microsoft.com/office/drawing/2014/main" id="{04457B5A-442B-C146-CFDE-630B014736C1}"/>
              </a:ext>
            </a:extLst>
          </p:cNvPr>
          <p:cNvCxnSpPr>
            <a:cxnSpLocks/>
            <a:stCxn id="299" idx="3"/>
            <a:endCxn id="338" idx="1"/>
          </p:cNvCxnSpPr>
          <p:nvPr/>
        </p:nvCxnSpPr>
        <p:spPr>
          <a:xfrm>
            <a:off x="11382119" y="2458174"/>
            <a:ext cx="972148" cy="36797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4" name="Gerade Verbindung mit Pfeil 343">
            <a:extLst>
              <a:ext uri="{FF2B5EF4-FFF2-40B4-BE49-F238E27FC236}">
                <a16:creationId xmlns:a16="http://schemas.microsoft.com/office/drawing/2014/main" id="{D28C6540-345B-0998-5400-9316EF1C712C}"/>
              </a:ext>
            </a:extLst>
          </p:cNvPr>
          <p:cNvCxnSpPr>
            <a:cxnSpLocks/>
            <a:stCxn id="183" idx="2"/>
            <a:endCxn id="16" idx="0"/>
          </p:cNvCxnSpPr>
          <p:nvPr/>
        </p:nvCxnSpPr>
        <p:spPr>
          <a:xfrm>
            <a:off x="12430898" y="9689947"/>
            <a:ext cx="55559" cy="8030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372" name="Rechteck 371">
            <a:extLst>
              <a:ext uri="{FF2B5EF4-FFF2-40B4-BE49-F238E27FC236}">
                <a16:creationId xmlns:a16="http://schemas.microsoft.com/office/drawing/2014/main" id="{299B7DF5-19AC-8F66-E5E8-A2D6F953C18B}"/>
              </a:ext>
            </a:extLst>
          </p:cNvPr>
          <p:cNvSpPr/>
          <p:nvPr/>
        </p:nvSpPr>
        <p:spPr>
          <a:xfrm>
            <a:off x="12354267" y="1391397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layerProtocolName</a:t>
            </a:r>
          </a:p>
        </p:txBody>
      </p:sp>
      <p:cxnSp>
        <p:nvCxnSpPr>
          <p:cNvPr id="373" name="Gerade Verbindung mit Pfeil 372">
            <a:extLst>
              <a:ext uri="{FF2B5EF4-FFF2-40B4-BE49-F238E27FC236}">
                <a16:creationId xmlns:a16="http://schemas.microsoft.com/office/drawing/2014/main" id="{6B2DFD95-1A35-3DA4-C789-C6E9A402E774}"/>
              </a:ext>
            </a:extLst>
          </p:cNvPr>
          <p:cNvCxnSpPr>
            <a:cxnSpLocks/>
            <a:endCxn id="372" idx="1"/>
          </p:cNvCxnSpPr>
          <p:nvPr/>
        </p:nvCxnSpPr>
        <p:spPr>
          <a:xfrm flipV="1">
            <a:off x="11377492" y="1559434"/>
            <a:ext cx="976775" cy="136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92580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C82E5833-4438-2189-74F2-6F0A00400E55}"/>
              </a:ext>
            </a:extLst>
          </p:cNvPr>
          <p:cNvSpPr/>
          <p:nvPr/>
        </p:nvSpPr>
        <p:spPr>
          <a:xfrm>
            <a:off x="1265871" y="4422185"/>
            <a:ext cx="447675" cy="7641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MO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1A69868-6103-625F-02C0-18B79D5F8321}"/>
              </a:ext>
            </a:extLst>
          </p:cNvPr>
          <p:cNvCxnSpPr>
            <a:cxnSpLocks/>
          </p:cNvCxnSpPr>
          <p:nvPr/>
        </p:nvCxnSpPr>
        <p:spPr>
          <a:xfrm>
            <a:off x="1713545" y="4526733"/>
            <a:ext cx="3872863" cy="20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B532003B-47C2-54BB-664F-E6480C2F5F29}"/>
              </a:ext>
            </a:extLst>
          </p:cNvPr>
          <p:cNvSpPr txBox="1"/>
          <p:nvPr/>
        </p:nvSpPr>
        <p:spPr>
          <a:xfrm>
            <a:off x="1402628" y="4185705"/>
            <a:ext cx="4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900"/>
              <a:t>/v1/establish-netconf-connection</a:t>
            </a:r>
            <a:br>
              <a:rPr lang="de-DE" sz="900">
                <a:solidFill>
                  <a:srgbClr val="FF0000"/>
                </a:solidFill>
              </a:rPr>
            </a:br>
            <a:r>
              <a:rPr lang="de-DE" sz="900">
                <a:solidFill>
                  <a:srgbClr val="FF0000"/>
                </a:solidFill>
              </a:rPr>
              <a:t>{controllerName, mountName, deviceIp, deviceModel}</a:t>
            </a:r>
          </a:p>
        </p:txBody>
      </p:sp>
      <p:sp>
        <p:nvSpPr>
          <p:cNvPr id="15" name="Scrollen: vertikal 14">
            <a:extLst>
              <a:ext uri="{FF2B5EF4-FFF2-40B4-BE49-F238E27FC236}">
                <a16:creationId xmlns:a16="http://schemas.microsoft.com/office/drawing/2014/main" id="{E0D6D35F-81FE-6F08-CAD9-CEFA629499EC}"/>
              </a:ext>
            </a:extLst>
          </p:cNvPr>
          <p:cNvSpPr/>
          <p:nvPr/>
        </p:nvSpPr>
        <p:spPr>
          <a:xfrm>
            <a:off x="9035776" y="9307334"/>
            <a:ext cx="1476137" cy="923927"/>
          </a:xfrm>
          <a:prstGeom prst="verticalScroll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Queue of </a:t>
            </a:r>
            <a:r>
              <a:rPr lang="de-DE" sz="800">
                <a:solidFill>
                  <a:srgbClr val="FF0000"/>
                </a:solidFill>
              </a:rPr>
              <a:t>netconf</a:t>
            </a:r>
            <a:r>
              <a:rPr lang="de-DE" sz="800"/>
              <a:t> </a:t>
            </a:r>
            <a:r>
              <a:rPr lang="de-DE" sz="800">
                <a:solidFill>
                  <a:srgbClr val="FF0000"/>
                </a:solidFill>
              </a:rPr>
              <a:t>interfaces</a:t>
            </a:r>
            <a:r>
              <a:rPr lang="de-DE" sz="800"/>
              <a:t> that need to be provided</a:t>
            </a:r>
          </a:p>
        </p:txBody>
      </p:sp>
      <p:cxnSp>
        <p:nvCxnSpPr>
          <p:cNvPr id="17" name="Verbinder: gekrümmt 16">
            <a:extLst>
              <a:ext uri="{FF2B5EF4-FFF2-40B4-BE49-F238E27FC236}">
                <a16:creationId xmlns:a16="http://schemas.microsoft.com/office/drawing/2014/main" id="{2864ED64-2EE7-65DC-593B-667C0BE96ED5}"/>
              </a:ext>
            </a:extLst>
          </p:cNvPr>
          <p:cNvCxnSpPr>
            <a:cxnSpLocks/>
            <a:stCxn id="252" idx="6"/>
            <a:endCxn id="15" idx="0"/>
          </p:cNvCxnSpPr>
          <p:nvPr/>
        </p:nvCxnSpPr>
        <p:spPr>
          <a:xfrm>
            <a:off x="7099176" y="4827477"/>
            <a:ext cx="2674666" cy="4479857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FDF7E4D6-68B6-0355-CB3A-A2A0E28C931E}"/>
              </a:ext>
            </a:extLst>
          </p:cNvPr>
          <p:cNvCxnSpPr>
            <a:cxnSpLocks/>
          </p:cNvCxnSpPr>
          <p:nvPr/>
        </p:nvCxnSpPr>
        <p:spPr>
          <a:xfrm flipH="1" flipV="1">
            <a:off x="1713543" y="4744138"/>
            <a:ext cx="3872865" cy="1762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hteck 55">
            <a:extLst>
              <a:ext uri="{FF2B5EF4-FFF2-40B4-BE49-F238E27FC236}">
                <a16:creationId xmlns:a16="http://schemas.microsoft.com/office/drawing/2014/main" id="{9EBFEA2E-B45C-8A04-7DFE-5C0D54E2AEC3}"/>
              </a:ext>
            </a:extLst>
          </p:cNvPr>
          <p:cNvSpPr/>
          <p:nvPr/>
        </p:nvSpPr>
        <p:spPr>
          <a:xfrm>
            <a:off x="5591814" y="10710090"/>
            <a:ext cx="1571625" cy="16070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MediatorVmPhaseOut</a:t>
            </a:r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Check operational state and life cycle state of mediatorVm</a:t>
            </a:r>
          </a:p>
          <a:p>
            <a:endParaRPr lang="de-DE" sz="800"/>
          </a:p>
          <a:p>
            <a:r>
              <a:rPr lang="de-DE" sz="800"/>
              <a:t>IF mediatorVm not operational or marked deprecated</a:t>
            </a:r>
          </a:p>
          <a:p>
            <a:r>
              <a:rPr lang="de-DE" sz="800"/>
              <a:t>THEN add all related mediatorProcesses</a:t>
            </a:r>
          </a:p>
          <a:p>
            <a:pPr marL="171450" indent="-171450">
              <a:buFontTx/>
              <a:buChar char="-"/>
            </a:pPr>
            <a:r>
              <a:rPr lang="de-DE" sz="800"/>
              <a:t>to createQueue</a:t>
            </a:r>
          </a:p>
          <a:p>
            <a:pPr marL="171450" indent="-171450">
              <a:buFontTx/>
              <a:buChar char="-"/>
            </a:pPr>
            <a:r>
              <a:rPr lang="de-DE" sz="800"/>
              <a:t>to dismantleQueue</a:t>
            </a:r>
          </a:p>
          <a:p>
            <a:endParaRPr lang="de-DE" sz="800"/>
          </a:p>
        </p:txBody>
      </p:sp>
      <p:cxnSp>
        <p:nvCxnSpPr>
          <p:cNvPr id="61" name="Verbinder: gekrümmt 60">
            <a:extLst>
              <a:ext uri="{FF2B5EF4-FFF2-40B4-BE49-F238E27FC236}">
                <a16:creationId xmlns:a16="http://schemas.microsoft.com/office/drawing/2014/main" id="{BB2D77CC-429A-4157-5B5F-8EF25F79FEC7}"/>
              </a:ext>
            </a:extLst>
          </p:cNvPr>
          <p:cNvCxnSpPr>
            <a:cxnSpLocks/>
            <a:stCxn id="269" idx="6"/>
            <a:endCxn id="15" idx="0"/>
          </p:cNvCxnSpPr>
          <p:nvPr/>
        </p:nvCxnSpPr>
        <p:spPr>
          <a:xfrm>
            <a:off x="7148068" y="8588425"/>
            <a:ext cx="2625774" cy="718909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Verbinder: gekrümmt 70">
            <a:extLst>
              <a:ext uri="{FF2B5EF4-FFF2-40B4-BE49-F238E27FC236}">
                <a16:creationId xmlns:a16="http://schemas.microsoft.com/office/drawing/2014/main" id="{7A46D94E-44A3-06EB-80F4-E03CA33A63EF}"/>
              </a:ext>
            </a:extLst>
          </p:cNvPr>
          <p:cNvCxnSpPr>
            <a:cxnSpLocks/>
            <a:stCxn id="306" idx="6"/>
            <a:endCxn id="15" idx="0"/>
          </p:cNvCxnSpPr>
          <p:nvPr/>
        </p:nvCxnSpPr>
        <p:spPr>
          <a:xfrm flipV="1">
            <a:off x="7154170" y="9307331"/>
            <a:ext cx="2619672" cy="2698438"/>
          </a:xfrm>
          <a:prstGeom prst="curvedConnector4">
            <a:avLst>
              <a:gd name="adj1" fmla="val 35913"/>
              <a:gd name="adj2" fmla="val 108472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8DFFF67D-D75C-32F2-8280-CB92247117F7}"/>
              </a:ext>
            </a:extLst>
          </p:cNvPr>
          <p:cNvSpPr/>
          <p:nvPr/>
        </p:nvSpPr>
        <p:spPr>
          <a:xfrm>
            <a:off x="13051900" y="12189955"/>
            <a:ext cx="447675" cy="328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CP</a:t>
            </a:r>
          </a:p>
        </p:txBody>
      </p:sp>
      <p:cxnSp>
        <p:nvCxnSpPr>
          <p:cNvPr id="90" name="Verbinder: gekrümmt 89">
            <a:extLst>
              <a:ext uri="{FF2B5EF4-FFF2-40B4-BE49-F238E27FC236}">
                <a16:creationId xmlns:a16="http://schemas.microsoft.com/office/drawing/2014/main" id="{4D6640C8-1C91-CE56-09D4-B2581D76A95E}"/>
              </a:ext>
            </a:extLst>
          </p:cNvPr>
          <p:cNvCxnSpPr>
            <a:cxnSpLocks/>
            <a:stCxn id="15" idx="2"/>
            <a:endCxn id="75" idx="0"/>
          </p:cNvCxnSpPr>
          <p:nvPr/>
        </p:nvCxnSpPr>
        <p:spPr>
          <a:xfrm rot="5400000">
            <a:off x="9285595" y="10449306"/>
            <a:ext cx="706299" cy="270202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Scrollen: vertikal 102">
            <a:extLst>
              <a:ext uri="{FF2B5EF4-FFF2-40B4-BE49-F238E27FC236}">
                <a16:creationId xmlns:a16="http://schemas.microsoft.com/office/drawing/2014/main" id="{CC6A1FEE-2FD5-A0BD-9923-2B7D18953F4E}"/>
              </a:ext>
            </a:extLst>
          </p:cNvPr>
          <p:cNvSpPr/>
          <p:nvPr/>
        </p:nvSpPr>
        <p:spPr>
          <a:xfrm>
            <a:off x="15248429" y="5280392"/>
            <a:ext cx="1560042" cy="997947"/>
          </a:xfrm>
          <a:prstGeom prst="verticalScroll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Queue of </a:t>
            </a:r>
            <a:r>
              <a:rPr lang="de-DE" sz="800">
                <a:solidFill>
                  <a:schemeClr val="accent5"/>
                </a:solidFill>
              </a:rPr>
              <a:t>mediatorProcesses</a:t>
            </a:r>
            <a:r>
              <a:rPr lang="de-DE" sz="800"/>
              <a:t> to be deleted</a:t>
            </a:r>
          </a:p>
        </p:txBody>
      </p:sp>
      <p:sp>
        <p:nvSpPr>
          <p:cNvPr id="104" name="Flussdiagramm: Zusammenstellen 103">
            <a:extLst>
              <a:ext uri="{FF2B5EF4-FFF2-40B4-BE49-F238E27FC236}">
                <a16:creationId xmlns:a16="http://schemas.microsoft.com/office/drawing/2014/main" id="{6181BD8D-E00F-C65B-E014-B40604A43C3E}"/>
              </a:ext>
            </a:extLst>
          </p:cNvPr>
          <p:cNvSpPr/>
          <p:nvPr/>
        </p:nvSpPr>
        <p:spPr>
          <a:xfrm>
            <a:off x="8964212" y="5474674"/>
            <a:ext cx="369117" cy="525849"/>
          </a:xfrm>
          <a:prstGeom prst="flowChartCol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06" name="Verbinder: gekrümmt 105">
            <a:extLst>
              <a:ext uri="{FF2B5EF4-FFF2-40B4-BE49-F238E27FC236}">
                <a16:creationId xmlns:a16="http://schemas.microsoft.com/office/drawing/2014/main" id="{D52FD071-631C-02F8-0686-931FA6B13A38}"/>
              </a:ext>
            </a:extLst>
          </p:cNvPr>
          <p:cNvCxnSpPr>
            <a:cxnSpLocks/>
            <a:stCxn id="104" idx="0"/>
            <a:endCxn id="103" idx="0"/>
          </p:cNvCxnSpPr>
          <p:nvPr/>
        </p:nvCxnSpPr>
        <p:spPr>
          <a:xfrm rot="5400000" flipH="1" flipV="1">
            <a:off x="12491468" y="1937689"/>
            <a:ext cx="194282" cy="6879682"/>
          </a:xfrm>
          <a:prstGeom prst="curvedConnector3">
            <a:avLst>
              <a:gd name="adj1" fmla="val 217664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Verbinder: gekrümmt 106">
            <a:extLst>
              <a:ext uri="{FF2B5EF4-FFF2-40B4-BE49-F238E27FC236}">
                <a16:creationId xmlns:a16="http://schemas.microsoft.com/office/drawing/2014/main" id="{D5EE6150-51F0-0E75-4A56-1F02BD0E5818}"/>
              </a:ext>
            </a:extLst>
          </p:cNvPr>
          <p:cNvCxnSpPr>
            <a:cxnSpLocks/>
            <a:stCxn id="270" idx="6"/>
            <a:endCxn id="104" idx="2"/>
          </p:cNvCxnSpPr>
          <p:nvPr/>
        </p:nvCxnSpPr>
        <p:spPr>
          <a:xfrm flipV="1">
            <a:off x="7148068" y="6000520"/>
            <a:ext cx="2000700" cy="2701388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Verbinder: gekrümmt 110">
            <a:extLst>
              <a:ext uri="{FF2B5EF4-FFF2-40B4-BE49-F238E27FC236}">
                <a16:creationId xmlns:a16="http://schemas.microsoft.com/office/drawing/2014/main" id="{BF8CEEB0-27E7-67FE-9CD2-F7BC154D1FF5}"/>
              </a:ext>
            </a:extLst>
          </p:cNvPr>
          <p:cNvCxnSpPr>
            <a:cxnSpLocks/>
            <a:stCxn id="314" idx="6"/>
            <a:endCxn id="104" idx="2"/>
          </p:cNvCxnSpPr>
          <p:nvPr/>
        </p:nvCxnSpPr>
        <p:spPr>
          <a:xfrm flipV="1">
            <a:off x="7154170" y="6000520"/>
            <a:ext cx="1994598" cy="6170472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feld 104">
            <a:extLst>
              <a:ext uri="{FF2B5EF4-FFF2-40B4-BE49-F238E27FC236}">
                <a16:creationId xmlns:a16="http://schemas.microsoft.com/office/drawing/2014/main" id="{CAA8C806-679B-A077-8EA7-09C210CD301E}"/>
              </a:ext>
            </a:extLst>
          </p:cNvPr>
          <p:cNvSpPr txBox="1"/>
          <p:nvPr/>
        </p:nvSpPr>
        <p:spPr>
          <a:xfrm>
            <a:off x="8743230" y="5596735"/>
            <a:ext cx="960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DelayElement</a:t>
            </a: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1FE31B48-04FF-C298-6453-7225A40DA40D}"/>
              </a:ext>
            </a:extLst>
          </p:cNvPr>
          <p:cNvSpPr/>
          <p:nvPr/>
        </p:nvSpPr>
        <p:spPr>
          <a:xfrm>
            <a:off x="15150487" y="9864751"/>
            <a:ext cx="1571625" cy="1964349"/>
          </a:xfrm>
          <a:prstGeom prst="rect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UnusedMediatorProcessEraser</a:t>
            </a:r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IF there is a mountPoint with same deviceName in ODL (ask MO) using this mediatorProc. </a:t>
            </a:r>
          </a:p>
          <a:p>
            <a:r>
              <a:rPr lang="de-DE" sz="800"/>
              <a:t>THEN terminate without change</a:t>
            </a:r>
          </a:p>
          <a:p>
            <a:r>
              <a:rPr lang="de-DE" sz="800"/>
              <a:t>ELSE</a:t>
            </a:r>
          </a:p>
          <a:p>
            <a:r>
              <a:rPr lang="de-DE" sz="800"/>
              <a:t>- Dismantle mediatorProc</a:t>
            </a:r>
          </a:p>
          <a:p>
            <a:r>
              <a:rPr lang="de-DE" sz="800"/>
              <a:t>- Delete from AppDATA:</a:t>
            </a:r>
          </a:p>
          <a:p>
            <a:r>
              <a:rPr lang="de-DE" sz="800"/>
              <a:t>   . Netconf connection</a:t>
            </a:r>
          </a:p>
          <a:p>
            <a:r>
              <a:rPr lang="de-DE" sz="800"/>
              <a:t>   . Snmp connection</a:t>
            </a:r>
          </a:p>
          <a:p>
            <a:r>
              <a:rPr lang="de-DE" sz="800"/>
              <a:t>   . mediatorProcess</a:t>
            </a:r>
          </a:p>
        </p:txBody>
      </p:sp>
      <p:cxnSp>
        <p:nvCxnSpPr>
          <p:cNvPr id="134" name="Verbinder: gekrümmt 133">
            <a:extLst>
              <a:ext uri="{FF2B5EF4-FFF2-40B4-BE49-F238E27FC236}">
                <a16:creationId xmlns:a16="http://schemas.microsoft.com/office/drawing/2014/main" id="{5D7864F1-1ED2-2D1B-8095-C111EA57113A}"/>
              </a:ext>
            </a:extLst>
          </p:cNvPr>
          <p:cNvCxnSpPr>
            <a:cxnSpLocks/>
            <a:stCxn id="103" idx="2"/>
            <a:endCxn id="125" idx="0"/>
          </p:cNvCxnSpPr>
          <p:nvPr/>
        </p:nvCxnSpPr>
        <p:spPr>
          <a:xfrm rot="5400000">
            <a:off x="14189168" y="8025469"/>
            <a:ext cx="3586412" cy="92153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feld 143">
            <a:extLst>
              <a:ext uri="{FF2B5EF4-FFF2-40B4-BE49-F238E27FC236}">
                <a16:creationId xmlns:a16="http://schemas.microsoft.com/office/drawing/2014/main" id="{29D2BC74-3BE7-174C-D371-53D0640E1A05}"/>
              </a:ext>
            </a:extLst>
          </p:cNvPr>
          <p:cNvSpPr txBox="1"/>
          <p:nvPr/>
        </p:nvSpPr>
        <p:spPr>
          <a:xfrm>
            <a:off x="19348189" y="3296396"/>
            <a:ext cx="2548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/>
              <a:t>/v1/dismantle-netconf-connection</a:t>
            </a:r>
          </a:p>
        </p:txBody>
      </p: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76527FFD-A27D-C191-D636-0418D2347CF0}"/>
              </a:ext>
            </a:extLst>
          </p:cNvPr>
          <p:cNvCxnSpPr>
            <a:cxnSpLocks/>
          </p:cNvCxnSpPr>
          <p:nvPr/>
        </p:nvCxnSpPr>
        <p:spPr>
          <a:xfrm flipH="1">
            <a:off x="19320037" y="3536847"/>
            <a:ext cx="22735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D5350EC3-81F5-928A-7AB1-C83683A18AC5}"/>
              </a:ext>
            </a:extLst>
          </p:cNvPr>
          <p:cNvCxnSpPr>
            <a:cxnSpLocks/>
          </p:cNvCxnSpPr>
          <p:nvPr/>
        </p:nvCxnSpPr>
        <p:spPr>
          <a:xfrm>
            <a:off x="19320037" y="3659955"/>
            <a:ext cx="22735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feld 148">
            <a:extLst>
              <a:ext uri="{FF2B5EF4-FFF2-40B4-BE49-F238E27FC236}">
                <a16:creationId xmlns:a16="http://schemas.microsoft.com/office/drawing/2014/main" id="{B4C32C75-C175-6476-37BE-A82F695B7FF2}"/>
              </a:ext>
            </a:extLst>
          </p:cNvPr>
          <p:cNvSpPr txBox="1"/>
          <p:nvPr/>
        </p:nvSpPr>
        <p:spPr>
          <a:xfrm flipH="1">
            <a:off x="20827679" y="3639302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sp>
        <p:nvSpPr>
          <p:cNvPr id="210" name="Rechteck: abgerundete Ecken 209">
            <a:extLst>
              <a:ext uri="{FF2B5EF4-FFF2-40B4-BE49-F238E27FC236}">
                <a16:creationId xmlns:a16="http://schemas.microsoft.com/office/drawing/2014/main" id="{44B2B777-E588-B36C-E091-FFDB6E04A573}"/>
              </a:ext>
            </a:extLst>
          </p:cNvPr>
          <p:cNvSpPr/>
          <p:nvPr/>
        </p:nvSpPr>
        <p:spPr>
          <a:xfrm>
            <a:off x="21593563" y="3461123"/>
            <a:ext cx="447675" cy="3046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MO</a:t>
            </a:r>
          </a:p>
        </p:txBody>
      </p:sp>
      <p:sp>
        <p:nvSpPr>
          <p:cNvPr id="213" name="Rechteck 212">
            <a:extLst>
              <a:ext uri="{FF2B5EF4-FFF2-40B4-BE49-F238E27FC236}">
                <a16:creationId xmlns:a16="http://schemas.microsoft.com/office/drawing/2014/main" id="{65B05C39-22C7-3BDA-ABC8-0E08C367F8F4}"/>
              </a:ext>
            </a:extLst>
          </p:cNvPr>
          <p:cNvSpPr/>
          <p:nvPr/>
        </p:nvSpPr>
        <p:spPr>
          <a:xfrm>
            <a:off x="17747467" y="3190473"/>
            <a:ext cx="1571625" cy="1320166"/>
          </a:xfrm>
          <a:prstGeom prst="rect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Search throu all mediatorVms for mediatorProcesses for the defined deviceName</a:t>
            </a:r>
          </a:p>
          <a:p>
            <a:endParaRPr lang="de-DE" sz="800"/>
          </a:p>
          <a:p>
            <a:r>
              <a:rPr lang="de-DE" sz="800"/>
              <a:t>Add all mediatorProcesses</a:t>
            </a:r>
          </a:p>
          <a:p>
            <a:r>
              <a:rPr lang="de-DE" sz="800"/>
              <a:t>to dismantleQueue</a:t>
            </a:r>
          </a:p>
        </p:txBody>
      </p:sp>
      <p:cxnSp>
        <p:nvCxnSpPr>
          <p:cNvPr id="220" name="Verbinder: gekrümmt 219">
            <a:extLst>
              <a:ext uri="{FF2B5EF4-FFF2-40B4-BE49-F238E27FC236}">
                <a16:creationId xmlns:a16="http://schemas.microsoft.com/office/drawing/2014/main" id="{561F252A-8C14-74DE-20EB-D490C3D6B7B2}"/>
              </a:ext>
            </a:extLst>
          </p:cNvPr>
          <p:cNvCxnSpPr>
            <a:cxnSpLocks/>
            <a:stCxn id="213" idx="2"/>
            <a:endCxn id="103" idx="0"/>
          </p:cNvCxnSpPr>
          <p:nvPr/>
        </p:nvCxnSpPr>
        <p:spPr>
          <a:xfrm rot="5400000">
            <a:off x="16895989" y="3643104"/>
            <a:ext cx="769750" cy="2504827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Rechteck 224">
            <a:extLst>
              <a:ext uri="{FF2B5EF4-FFF2-40B4-BE49-F238E27FC236}">
                <a16:creationId xmlns:a16="http://schemas.microsoft.com/office/drawing/2014/main" id="{8778D23D-E927-DABD-0332-D93807833FA4}"/>
              </a:ext>
            </a:extLst>
          </p:cNvPr>
          <p:cNvSpPr/>
          <p:nvPr/>
        </p:nvSpPr>
        <p:spPr>
          <a:xfrm>
            <a:off x="17729239" y="4910189"/>
            <a:ext cx="1798430" cy="2678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InactiveMediatorProcessTracker</a:t>
            </a:r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Go slowly through all mediatorProcesses at all mediatorVms</a:t>
            </a:r>
          </a:p>
          <a:p>
            <a:endParaRPr lang="de-DE" sz="800"/>
          </a:p>
          <a:p>
            <a:r>
              <a:rPr lang="de-DE" sz="800"/>
              <a:t>IF mediatorProcess is responsive on netconf</a:t>
            </a:r>
          </a:p>
          <a:p>
            <a:r>
              <a:rPr lang="de-DE" sz="800"/>
              <a:t>THEN set firstSilenceDate=‚‘</a:t>
            </a:r>
          </a:p>
          <a:p>
            <a:r>
              <a:rPr lang="de-DE" sz="800"/>
              <a:t>ELSE check firstSilenceDate</a:t>
            </a:r>
          </a:p>
          <a:p>
            <a:endParaRPr lang="de-DE" sz="800"/>
          </a:p>
          <a:p>
            <a:r>
              <a:rPr lang="de-DE" sz="800"/>
              <a:t>IF firstSilenceDate==‚‘</a:t>
            </a:r>
            <a:br>
              <a:rPr lang="de-DE" sz="800"/>
            </a:br>
            <a:r>
              <a:rPr lang="de-DE" sz="800"/>
              <a:t>THEN set firstSilenceDate= currentDate</a:t>
            </a:r>
          </a:p>
          <a:p>
            <a:pPr>
              <a:tabLst>
                <a:tab pos="36000" algn="l"/>
              </a:tabLst>
            </a:pPr>
            <a:r>
              <a:rPr lang="de-DE" sz="800"/>
              <a:t>ELSE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IF currentDate – firstSilenceDate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&lt;=[keepMediatorProcessPeriode]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THEN no change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ELSE add to dismantleQueue</a:t>
            </a:r>
          </a:p>
        </p:txBody>
      </p:sp>
      <p:pic>
        <p:nvPicPr>
          <p:cNvPr id="226" name="Grafik 225">
            <a:extLst>
              <a:ext uri="{FF2B5EF4-FFF2-40B4-BE49-F238E27FC236}">
                <a16:creationId xmlns:a16="http://schemas.microsoft.com/office/drawing/2014/main" id="{E590A6FC-6F27-1F52-01B4-64301CA59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6436" y="5123628"/>
            <a:ext cx="260088" cy="251271"/>
          </a:xfrm>
          <a:prstGeom prst="rect">
            <a:avLst/>
          </a:prstGeom>
        </p:spPr>
      </p:pic>
      <p:cxnSp>
        <p:nvCxnSpPr>
          <p:cNvPr id="227" name="Verbinder: gekrümmt 226">
            <a:extLst>
              <a:ext uri="{FF2B5EF4-FFF2-40B4-BE49-F238E27FC236}">
                <a16:creationId xmlns:a16="http://schemas.microsoft.com/office/drawing/2014/main" id="{2DB9CE1C-063B-8F4A-85EB-0564067865B1}"/>
              </a:ext>
            </a:extLst>
          </p:cNvPr>
          <p:cNvCxnSpPr>
            <a:cxnSpLocks/>
            <a:stCxn id="225" idx="2"/>
            <a:endCxn id="103" idx="0"/>
          </p:cNvCxnSpPr>
          <p:nvPr/>
        </p:nvCxnSpPr>
        <p:spPr>
          <a:xfrm rot="5400000" flipH="1">
            <a:off x="16174464" y="5134375"/>
            <a:ext cx="2307976" cy="2600004"/>
          </a:xfrm>
          <a:prstGeom prst="curvedConnector5">
            <a:avLst>
              <a:gd name="adj1" fmla="val -9905"/>
              <a:gd name="adj2" fmla="val 52292"/>
              <a:gd name="adj3" fmla="val 109905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fik 5">
            <a:extLst>
              <a:ext uri="{FF2B5EF4-FFF2-40B4-BE49-F238E27FC236}">
                <a16:creationId xmlns:a16="http://schemas.microsoft.com/office/drawing/2014/main" id="{BB4CEC89-E2AF-ACDF-4C17-3FFE58CA1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7837" y="9091944"/>
            <a:ext cx="447675" cy="439333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4668BABB-C444-CB57-7286-A2F16DFE205B}"/>
              </a:ext>
            </a:extLst>
          </p:cNvPr>
          <p:cNvSpPr/>
          <p:nvPr/>
        </p:nvSpPr>
        <p:spPr>
          <a:xfrm>
            <a:off x="5591814" y="9039934"/>
            <a:ext cx="1571625" cy="1454839"/>
          </a:xfrm>
          <a:prstGeom prst="rect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Check feasibility of deleting mediatorVm without the total number of mediatorProcesses exceeding the capacity of remaining mediatorVms</a:t>
            </a:r>
          </a:p>
          <a:p>
            <a:endParaRPr lang="de-DE" sz="800"/>
          </a:p>
          <a:p>
            <a:r>
              <a:rPr lang="de-DE" sz="800"/>
              <a:t>IF reducing resources feasible</a:t>
            </a:r>
          </a:p>
          <a:p>
            <a:r>
              <a:rPr lang="de-DE" sz="800"/>
              <a:t>THEN mark life cycle state of defined mediatorVm to be deprecated</a:t>
            </a:r>
          </a:p>
          <a:p>
            <a:r>
              <a:rPr lang="de-DE" sz="800"/>
              <a:t>ELSE respond error code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AAB2F06-0754-E97D-8AB1-446BC5BE28CA}"/>
              </a:ext>
            </a:extLst>
          </p:cNvPr>
          <p:cNvCxnSpPr>
            <a:cxnSpLocks/>
          </p:cNvCxnSpPr>
          <p:nvPr/>
        </p:nvCxnSpPr>
        <p:spPr>
          <a:xfrm>
            <a:off x="1660440" y="9229331"/>
            <a:ext cx="3939537" cy="16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2E92D9DA-09E1-FFC1-98ED-74AC6BF930F6}"/>
              </a:ext>
            </a:extLst>
          </p:cNvPr>
          <p:cNvSpPr txBox="1"/>
          <p:nvPr/>
        </p:nvSpPr>
        <p:spPr>
          <a:xfrm>
            <a:off x="3156685" y="8999784"/>
            <a:ext cx="2548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/>
              <a:t>/v1/disregard-mediator-instance-manager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FF5680D-94F2-F4E3-FACF-63C223B4FC46}"/>
              </a:ext>
            </a:extLst>
          </p:cNvPr>
          <p:cNvCxnSpPr>
            <a:cxnSpLocks/>
          </p:cNvCxnSpPr>
          <p:nvPr/>
        </p:nvCxnSpPr>
        <p:spPr>
          <a:xfrm flipH="1">
            <a:off x="1708708" y="9455071"/>
            <a:ext cx="38912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9104B411-5652-1AC8-0AF7-757041C6FEF8}"/>
              </a:ext>
            </a:extLst>
          </p:cNvPr>
          <p:cNvSpPr txBox="1"/>
          <p:nvPr/>
        </p:nvSpPr>
        <p:spPr>
          <a:xfrm>
            <a:off x="1727112" y="9411808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A6E275FF-6DBA-3F21-5F4B-5FB306A7F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088" y="10793292"/>
            <a:ext cx="260088" cy="273783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ED8304CB-60E8-CF50-67B6-A0D2890F5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7837" y="5958475"/>
            <a:ext cx="447675" cy="439333"/>
          </a:xfrm>
          <a:prstGeom prst="rect">
            <a:avLst/>
          </a:prstGeom>
        </p:spPr>
      </p:pic>
      <p:sp>
        <p:nvSpPr>
          <p:cNvPr id="53" name="Rechteck 52">
            <a:extLst>
              <a:ext uri="{FF2B5EF4-FFF2-40B4-BE49-F238E27FC236}">
                <a16:creationId xmlns:a16="http://schemas.microsoft.com/office/drawing/2014/main" id="{0CB49B7E-39F6-8FA1-969C-E823B6707C2C}"/>
              </a:ext>
            </a:extLst>
          </p:cNvPr>
          <p:cNvSpPr/>
          <p:nvPr/>
        </p:nvSpPr>
        <p:spPr>
          <a:xfrm>
            <a:off x="5599977" y="5619142"/>
            <a:ext cx="1571625" cy="82971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Create new MIM in CONFIGfile of MM</a:t>
            </a:r>
          </a:p>
          <a:p>
            <a:endParaRPr lang="de-DE" sz="800"/>
          </a:p>
          <a:p>
            <a:r>
              <a:rPr lang="de-DE" sz="800"/>
              <a:t>Create new mediatorVm of defined mediatorVmTemplate in internal data</a:t>
            </a:r>
          </a:p>
          <a:p>
            <a:r>
              <a:rPr lang="de-DE" sz="800"/>
              <a:t> 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364C45C3-6320-2BE5-6D29-5D768A0B74C2}"/>
              </a:ext>
            </a:extLst>
          </p:cNvPr>
          <p:cNvCxnSpPr>
            <a:cxnSpLocks/>
          </p:cNvCxnSpPr>
          <p:nvPr/>
        </p:nvCxnSpPr>
        <p:spPr>
          <a:xfrm>
            <a:off x="1660440" y="6095862"/>
            <a:ext cx="3939537" cy="16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7ADFF6E2-BED2-7001-6D8F-FB1B1141882C}"/>
              </a:ext>
            </a:extLst>
          </p:cNvPr>
          <p:cNvSpPr txBox="1"/>
          <p:nvPr/>
        </p:nvSpPr>
        <p:spPr>
          <a:xfrm>
            <a:off x="3194785" y="5866315"/>
            <a:ext cx="2397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/v1/regard-mediator-instance-manager</a:t>
            </a:r>
          </a:p>
        </p:txBody>
      </p: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A54EFF6E-FB0C-128D-DA81-486F143823EE}"/>
              </a:ext>
            </a:extLst>
          </p:cNvPr>
          <p:cNvCxnSpPr>
            <a:cxnSpLocks/>
          </p:cNvCxnSpPr>
          <p:nvPr/>
        </p:nvCxnSpPr>
        <p:spPr>
          <a:xfrm flipH="1">
            <a:off x="1708708" y="6321602"/>
            <a:ext cx="38912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feld 59">
            <a:extLst>
              <a:ext uri="{FF2B5EF4-FFF2-40B4-BE49-F238E27FC236}">
                <a16:creationId xmlns:a16="http://schemas.microsoft.com/office/drawing/2014/main" id="{0EE42FE5-8A58-E39B-A6C9-FAEC5A5A3985}"/>
              </a:ext>
            </a:extLst>
          </p:cNvPr>
          <p:cNvSpPr txBox="1"/>
          <p:nvPr/>
        </p:nvSpPr>
        <p:spPr>
          <a:xfrm>
            <a:off x="1727112" y="6278339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B91D68D4-8FDC-2F63-0B78-6959E36F48EA}"/>
              </a:ext>
            </a:extLst>
          </p:cNvPr>
          <p:cNvSpPr/>
          <p:nvPr/>
        </p:nvSpPr>
        <p:spPr>
          <a:xfrm>
            <a:off x="17729239" y="7854080"/>
            <a:ext cx="1798430" cy="1694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EmptyMediatorVmEraser</a:t>
            </a:r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Go slowly through all mediatorVms</a:t>
            </a:r>
          </a:p>
          <a:p>
            <a:endParaRPr lang="de-DE" sz="800"/>
          </a:p>
          <a:p>
            <a:r>
              <a:rPr lang="de-DE" sz="800"/>
              <a:t>IF mediatorVm is marked to be  deprecated AND number of mediatorProcesses==0</a:t>
            </a:r>
          </a:p>
          <a:p>
            <a:endParaRPr lang="de-DE" sz="800"/>
          </a:p>
          <a:p>
            <a:r>
              <a:rPr lang="de-DE" sz="800"/>
              <a:t>THEN </a:t>
            </a:r>
          </a:p>
          <a:p>
            <a:pPr marL="171450" indent="-171450">
              <a:buFontTx/>
              <a:buChar char="-"/>
            </a:pPr>
            <a:r>
              <a:rPr lang="de-DE" sz="800"/>
              <a:t>delete MIM from CONFIGfile</a:t>
            </a:r>
          </a:p>
          <a:p>
            <a:pPr marL="171450" indent="-171450">
              <a:buFontTx/>
              <a:buChar char="-"/>
            </a:pPr>
            <a:r>
              <a:rPr lang="de-DE" sz="800"/>
              <a:t>delete mediatorVm from AppDATA</a:t>
            </a:r>
          </a:p>
          <a:p>
            <a:pPr marL="171450" indent="-171450">
              <a:buFontTx/>
              <a:buChar char="-"/>
            </a:pPr>
            <a:endParaRPr lang="de-DE" sz="800"/>
          </a:p>
          <a:p>
            <a:pPr marL="171450" indent="-171450">
              <a:buFontTx/>
              <a:buChar char="-"/>
            </a:pPr>
            <a:endParaRPr lang="de-DE" sz="800"/>
          </a:p>
        </p:txBody>
      </p:sp>
      <p:pic>
        <p:nvPicPr>
          <p:cNvPr id="66" name="Grafik 65">
            <a:extLst>
              <a:ext uri="{FF2B5EF4-FFF2-40B4-BE49-F238E27FC236}">
                <a16:creationId xmlns:a16="http://schemas.microsoft.com/office/drawing/2014/main" id="{CF2B14E0-79EE-778B-31F8-147AF761D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044" y="7929602"/>
            <a:ext cx="260088" cy="251271"/>
          </a:xfrm>
          <a:prstGeom prst="rect">
            <a:avLst/>
          </a:prstGeom>
        </p:spPr>
      </p:pic>
      <p:cxnSp>
        <p:nvCxnSpPr>
          <p:cNvPr id="94" name="Verbinder: gekrümmt 93">
            <a:extLst>
              <a:ext uri="{FF2B5EF4-FFF2-40B4-BE49-F238E27FC236}">
                <a16:creationId xmlns:a16="http://schemas.microsoft.com/office/drawing/2014/main" id="{FAA648C8-F1C2-EED5-2050-3327EE9688C6}"/>
              </a:ext>
            </a:extLst>
          </p:cNvPr>
          <p:cNvCxnSpPr>
            <a:cxnSpLocks/>
            <a:stCxn id="96" idx="6"/>
            <a:endCxn id="77" idx="0"/>
          </p:cNvCxnSpPr>
          <p:nvPr/>
        </p:nvCxnSpPr>
        <p:spPr>
          <a:xfrm>
            <a:off x="10328629" y="11266031"/>
            <a:ext cx="2947109" cy="923927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Zylinder 98">
            <a:extLst>
              <a:ext uri="{FF2B5EF4-FFF2-40B4-BE49-F238E27FC236}">
                <a16:creationId xmlns:a16="http://schemas.microsoft.com/office/drawing/2014/main" id="{891D0F3E-4EDF-452F-15BB-368A6160A5A0}"/>
              </a:ext>
            </a:extLst>
          </p:cNvPr>
          <p:cNvSpPr/>
          <p:nvPr/>
        </p:nvSpPr>
        <p:spPr>
          <a:xfrm>
            <a:off x="11751309" y="6505010"/>
            <a:ext cx="1461538" cy="541614"/>
          </a:xfrm>
          <a:prstGeom prst="can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800" i="1"/>
              <a:t>AppDATA</a:t>
            </a:r>
            <a:br>
              <a:rPr lang="de-DE" sz="800" i="1"/>
            </a:br>
            <a:r>
              <a:rPr lang="de-DE" sz="800" i="1"/>
              <a:t>(ElasticSearch)</a:t>
            </a:r>
          </a:p>
        </p:txBody>
      </p:sp>
      <p:cxnSp>
        <p:nvCxnSpPr>
          <p:cNvPr id="102" name="Verbinder: gekrümmt 101">
            <a:extLst>
              <a:ext uri="{FF2B5EF4-FFF2-40B4-BE49-F238E27FC236}">
                <a16:creationId xmlns:a16="http://schemas.microsoft.com/office/drawing/2014/main" id="{4A175909-FAD8-251A-99E3-765E8C9D63C1}"/>
              </a:ext>
            </a:extLst>
          </p:cNvPr>
          <p:cNvCxnSpPr>
            <a:cxnSpLocks/>
            <a:stCxn id="100" idx="6"/>
            <a:endCxn id="99" idx="1"/>
          </p:cNvCxnSpPr>
          <p:nvPr/>
        </p:nvCxnSpPr>
        <p:spPr>
          <a:xfrm flipV="1">
            <a:off x="10329968" y="6505010"/>
            <a:ext cx="2152113" cy="5081478"/>
          </a:xfrm>
          <a:prstGeom prst="curvedConnector4">
            <a:avLst>
              <a:gd name="adj1" fmla="val 33022"/>
              <a:gd name="adj2" fmla="val 104499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hteck 74">
            <a:extLst>
              <a:ext uri="{FF2B5EF4-FFF2-40B4-BE49-F238E27FC236}">
                <a16:creationId xmlns:a16="http://schemas.microsoft.com/office/drawing/2014/main" id="{20FFD60F-206D-CB5E-071D-9AF309A2C14D}"/>
              </a:ext>
            </a:extLst>
          </p:cNvPr>
          <p:cNvSpPr/>
          <p:nvPr/>
        </p:nvSpPr>
        <p:spPr>
          <a:xfrm>
            <a:off x="8670991" y="10937557"/>
            <a:ext cx="1665303" cy="31394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NetconfConnectionBuilder</a:t>
            </a:r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Prepare device (if not 204, create alarm in AppDATA)</a:t>
            </a:r>
          </a:p>
          <a:p>
            <a:r>
              <a:rPr lang="de-DE" sz="800"/>
              <a:t>Add SnmpServers to AppDATA</a:t>
            </a:r>
          </a:p>
          <a:p>
            <a:endParaRPr lang="de-DE" sz="800"/>
          </a:p>
          <a:p>
            <a:r>
              <a:rPr lang="de-DE" sz="800"/>
              <a:t>Pick mediatorVm in </a:t>
            </a:r>
            <a:r>
              <a:rPr lang="de-DE" sz="800" i="1"/>
              <a:t>installed </a:t>
            </a:r>
            <a:r>
              <a:rPr lang="de-DE" sz="800"/>
              <a:t>and </a:t>
            </a:r>
            <a:r>
              <a:rPr lang="de-DE" sz="800" i="1"/>
              <a:t>enabled</a:t>
            </a:r>
            <a:r>
              <a:rPr lang="de-DE" sz="800"/>
              <a:t> states with lowest number of mediatorProcesses</a:t>
            </a:r>
          </a:p>
          <a:p>
            <a:endParaRPr lang="de-DE" sz="800"/>
          </a:p>
          <a:p>
            <a:r>
              <a:rPr lang="de-DE" sz="800"/>
              <a:t>Create mediatorProcess</a:t>
            </a:r>
          </a:p>
          <a:p>
            <a:endParaRPr lang="de-DE" sz="800"/>
          </a:p>
          <a:p>
            <a:r>
              <a:rPr lang="de-DE" sz="800"/>
              <a:t>add to AppDATA:</a:t>
            </a:r>
          </a:p>
          <a:p>
            <a:pPr marL="171450" indent="-171450">
              <a:buFontTx/>
              <a:buChar char="-"/>
            </a:pPr>
            <a:r>
              <a:rPr lang="de-DE" sz="800"/>
              <a:t>mediatorProcess </a:t>
            </a:r>
          </a:p>
          <a:p>
            <a:pPr marL="171450" indent="-171450">
              <a:buFontTx/>
              <a:buChar char="-"/>
            </a:pPr>
            <a:r>
              <a:rPr lang="de-DE" sz="800"/>
              <a:t>(update NetconClient at Controller)</a:t>
            </a:r>
          </a:p>
          <a:p>
            <a:pPr marL="171450" indent="-171450">
              <a:buFontTx/>
              <a:buChar char="-"/>
            </a:pPr>
            <a:r>
              <a:rPr lang="de-DE" sz="800"/>
              <a:t>Snmp connection</a:t>
            </a:r>
          </a:p>
          <a:p>
            <a:pPr marL="171450" indent="-171450">
              <a:buFontTx/>
              <a:buChar char="-"/>
            </a:pPr>
            <a:r>
              <a:rPr lang="de-DE" sz="800"/>
              <a:t>Netconf connection</a:t>
            </a:r>
          </a:p>
          <a:p>
            <a:endParaRPr lang="de-DE" sz="800"/>
          </a:p>
          <a:p>
            <a:r>
              <a:rPr lang="de-DE" sz="800"/>
              <a:t>Meassure operationalState of netconfInterface</a:t>
            </a:r>
          </a:p>
          <a:p>
            <a:endParaRPr lang="de-DE" sz="800"/>
          </a:p>
          <a:p>
            <a:r>
              <a:rPr lang="de-DE" sz="800"/>
              <a:t>Update AppDATA with operationalState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F17CEFED-6C55-18CE-0DC0-A02405C77B87}"/>
              </a:ext>
            </a:extLst>
          </p:cNvPr>
          <p:cNvSpPr/>
          <p:nvPr/>
        </p:nvSpPr>
        <p:spPr>
          <a:xfrm>
            <a:off x="10282910" y="11241829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0316B798-F84B-8F58-B450-28890D99FD37}"/>
              </a:ext>
            </a:extLst>
          </p:cNvPr>
          <p:cNvSpPr/>
          <p:nvPr/>
        </p:nvSpPr>
        <p:spPr>
          <a:xfrm>
            <a:off x="10284249" y="11562289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64EE5B7C-EB86-A4BA-C1DC-A5CF5509B0DF}"/>
              </a:ext>
            </a:extLst>
          </p:cNvPr>
          <p:cNvSpPr/>
          <p:nvPr/>
        </p:nvSpPr>
        <p:spPr>
          <a:xfrm>
            <a:off x="10243326" y="13379754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628ABCC8-58C9-4BCD-7F8B-F84942659C2C}"/>
              </a:ext>
            </a:extLst>
          </p:cNvPr>
          <p:cNvSpPr/>
          <p:nvPr/>
        </p:nvSpPr>
        <p:spPr>
          <a:xfrm>
            <a:off x="10220467" y="12111736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3D249596-FA55-E138-EB1E-1CF618EE9902}"/>
              </a:ext>
            </a:extLst>
          </p:cNvPr>
          <p:cNvSpPr/>
          <p:nvPr/>
        </p:nvSpPr>
        <p:spPr>
          <a:xfrm>
            <a:off x="10257223" y="12842676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5" name="Rechteck 204">
            <a:extLst>
              <a:ext uri="{FF2B5EF4-FFF2-40B4-BE49-F238E27FC236}">
                <a16:creationId xmlns:a16="http://schemas.microsoft.com/office/drawing/2014/main" id="{25949520-17DD-825A-771B-50A9F85D5649}"/>
              </a:ext>
            </a:extLst>
          </p:cNvPr>
          <p:cNvSpPr/>
          <p:nvPr/>
        </p:nvSpPr>
        <p:spPr>
          <a:xfrm>
            <a:off x="11704113" y="7295985"/>
            <a:ext cx="1571625" cy="15079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MediatorVmReconciler</a:t>
            </a:r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Regularly update AppDATA with configuration data about all mediatorVms</a:t>
            </a:r>
            <a:br>
              <a:rPr lang="de-DE" sz="800"/>
            </a:br>
            <a:endParaRPr lang="de-DE" sz="800"/>
          </a:p>
          <a:p>
            <a:r>
              <a:rPr lang="de-DE" sz="800"/>
              <a:t>IF not responding</a:t>
            </a:r>
            <a:br>
              <a:rPr lang="de-DE" sz="800"/>
            </a:br>
            <a:r>
              <a:rPr lang="de-DE" sz="800"/>
              <a:t>THEN operationState of the mediatorVM to be set to UNAVAILABLE)</a:t>
            </a:r>
          </a:p>
        </p:txBody>
      </p:sp>
      <p:pic>
        <p:nvPicPr>
          <p:cNvPr id="206" name="Grafik 205">
            <a:extLst>
              <a:ext uri="{FF2B5EF4-FFF2-40B4-BE49-F238E27FC236}">
                <a16:creationId xmlns:a16="http://schemas.microsoft.com/office/drawing/2014/main" id="{32DFB1AC-4A02-46A6-0902-CDB05ECAF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1954" y="7357574"/>
            <a:ext cx="260088" cy="273783"/>
          </a:xfrm>
          <a:prstGeom prst="rect">
            <a:avLst/>
          </a:prstGeom>
        </p:spPr>
      </p:pic>
      <p:sp>
        <p:nvSpPr>
          <p:cNvPr id="207" name="Textfeld 206">
            <a:extLst>
              <a:ext uri="{FF2B5EF4-FFF2-40B4-BE49-F238E27FC236}">
                <a16:creationId xmlns:a16="http://schemas.microsoft.com/office/drawing/2014/main" id="{7B3F1610-212D-C5AF-6461-4AF848173708}"/>
              </a:ext>
            </a:extLst>
          </p:cNvPr>
          <p:cNvSpPr txBox="1"/>
          <p:nvPr/>
        </p:nvSpPr>
        <p:spPr>
          <a:xfrm rot="3530940">
            <a:off x="10508011" y="12812988"/>
            <a:ext cx="1921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/v1/provide-mediator-instance</a:t>
            </a:r>
          </a:p>
          <a:p>
            <a:r>
              <a:rPr lang="de-DE" sz="600"/>
              <a:t>{deviceName, deviceIp, deviceModel}</a:t>
            </a:r>
          </a:p>
        </p:txBody>
      </p:sp>
      <p:cxnSp>
        <p:nvCxnSpPr>
          <p:cNvPr id="208" name="Verbinder: gekrümmt 207">
            <a:extLst>
              <a:ext uri="{FF2B5EF4-FFF2-40B4-BE49-F238E27FC236}">
                <a16:creationId xmlns:a16="http://schemas.microsoft.com/office/drawing/2014/main" id="{03D99CD0-D661-AEB6-B7DB-B8279173FD62}"/>
              </a:ext>
            </a:extLst>
          </p:cNvPr>
          <p:cNvCxnSpPr>
            <a:cxnSpLocks/>
            <a:stCxn id="205" idx="2"/>
            <a:endCxn id="366" idx="1"/>
          </p:cNvCxnSpPr>
          <p:nvPr/>
        </p:nvCxnSpPr>
        <p:spPr>
          <a:xfrm rot="5400000">
            <a:off x="9831716" y="10882284"/>
            <a:ext cx="4736535" cy="5798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Textfeld 215">
            <a:extLst>
              <a:ext uri="{FF2B5EF4-FFF2-40B4-BE49-F238E27FC236}">
                <a16:creationId xmlns:a16="http://schemas.microsoft.com/office/drawing/2014/main" id="{FB2DD6AF-ADEF-2063-C223-F2D4C5A446DF}"/>
              </a:ext>
            </a:extLst>
          </p:cNvPr>
          <p:cNvSpPr txBox="1"/>
          <p:nvPr/>
        </p:nvSpPr>
        <p:spPr>
          <a:xfrm rot="16538606">
            <a:off x="10948122" y="12303099"/>
            <a:ext cx="19217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/v1/list-mediator-instances</a:t>
            </a:r>
          </a:p>
        </p:txBody>
      </p:sp>
      <p:cxnSp>
        <p:nvCxnSpPr>
          <p:cNvPr id="217" name="Verbinder: gekrümmt 216">
            <a:extLst>
              <a:ext uri="{FF2B5EF4-FFF2-40B4-BE49-F238E27FC236}">
                <a16:creationId xmlns:a16="http://schemas.microsoft.com/office/drawing/2014/main" id="{1A29FBAB-E411-12EF-C0AC-859391AAC5FF}"/>
              </a:ext>
            </a:extLst>
          </p:cNvPr>
          <p:cNvCxnSpPr>
            <a:cxnSpLocks/>
            <a:stCxn id="205" idx="0"/>
            <a:endCxn id="99" idx="3"/>
          </p:cNvCxnSpPr>
          <p:nvPr/>
        </p:nvCxnSpPr>
        <p:spPr>
          <a:xfrm rot="16200000" flipV="1">
            <a:off x="12361322" y="7167383"/>
            <a:ext cx="249358" cy="784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Ellipse 232">
            <a:extLst>
              <a:ext uri="{FF2B5EF4-FFF2-40B4-BE49-F238E27FC236}">
                <a16:creationId xmlns:a16="http://schemas.microsoft.com/office/drawing/2014/main" id="{5A08106D-934F-EB86-4CA1-0A5FF2908077}"/>
              </a:ext>
            </a:extLst>
          </p:cNvPr>
          <p:cNvSpPr/>
          <p:nvPr/>
        </p:nvSpPr>
        <p:spPr>
          <a:xfrm>
            <a:off x="16675771" y="10048601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6" name="Ellipse 235">
            <a:extLst>
              <a:ext uri="{FF2B5EF4-FFF2-40B4-BE49-F238E27FC236}">
                <a16:creationId xmlns:a16="http://schemas.microsoft.com/office/drawing/2014/main" id="{EFFB7ABE-B8F6-7B01-1534-91C8EEE1822D}"/>
              </a:ext>
            </a:extLst>
          </p:cNvPr>
          <p:cNvSpPr/>
          <p:nvPr/>
        </p:nvSpPr>
        <p:spPr>
          <a:xfrm>
            <a:off x="10243327" y="12586719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7" name="Ellipse 236">
            <a:extLst>
              <a:ext uri="{FF2B5EF4-FFF2-40B4-BE49-F238E27FC236}">
                <a16:creationId xmlns:a16="http://schemas.microsoft.com/office/drawing/2014/main" id="{68D95A02-3B3D-25B5-488B-B9B18912DDAC}"/>
              </a:ext>
            </a:extLst>
          </p:cNvPr>
          <p:cNvSpPr/>
          <p:nvPr/>
        </p:nvSpPr>
        <p:spPr>
          <a:xfrm>
            <a:off x="7134092" y="11165798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9" name="Ellipse 238">
            <a:extLst>
              <a:ext uri="{FF2B5EF4-FFF2-40B4-BE49-F238E27FC236}">
                <a16:creationId xmlns:a16="http://schemas.microsoft.com/office/drawing/2014/main" id="{699FEFDF-5F9D-D272-08D7-FC35BCE49259}"/>
              </a:ext>
            </a:extLst>
          </p:cNvPr>
          <p:cNvSpPr/>
          <p:nvPr/>
        </p:nvSpPr>
        <p:spPr>
          <a:xfrm>
            <a:off x="16677304" y="10400981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251A60F8-F452-DA9F-FF1A-280D4C63F686}"/>
              </a:ext>
            </a:extLst>
          </p:cNvPr>
          <p:cNvSpPr/>
          <p:nvPr/>
        </p:nvSpPr>
        <p:spPr>
          <a:xfrm>
            <a:off x="7115308" y="9634529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0" name="Ellipse 249">
            <a:extLst>
              <a:ext uri="{FF2B5EF4-FFF2-40B4-BE49-F238E27FC236}">
                <a16:creationId xmlns:a16="http://schemas.microsoft.com/office/drawing/2014/main" id="{65F29E2F-51E4-E254-C00D-19FC22B9266A}"/>
              </a:ext>
            </a:extLst>
          </p:cNvPr>
          <p:cNvSpPr/>
          <p:nvPr/>
        </p:nvSpPr>
        <p:spPr>
          <a:xfrm>
            <a:off x="17756187" y="3347370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1" name="Ellipse 250">
            <a:extLst>
              <a:ext uri="{FF2B5EF4-FFF2-40B4-BE49-F238E27FC236}">
                <a16:creationId xmlns:a16="http://schemas.microsoft.com/office/drawing/2014/main" id="{C90EDC9F-D9EE-82C5-8D77-44BDA50CEFAB}"/>
              </a:ext>
            </a:extLst>
          </p:cNvPr>
          <p:cNvSpPr/>
          <p:nvPr/>
        </p:nvSpPr>
        <p:spPr>
          <a:xfrm>
            <a:off x="7108096" y="919491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870663B-C73A-4771-A211-4239452F5C6F}"/>
              </a:ext>
            </a:extLst>
          </p:cNvPr>
          <p:cNvSpPr/>
          <p:nvPr/>
        </p:nvSpPr>
        <p:spPr>
          <a:xfrm>
            <a:off x="5591811" y="4230880"/>
            <a:ext cx="1579788" cy="120874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IF an additional interface can be provided without exceeding the engineering limit</a:t>
            </a:r>
          </a:p>
          <a:p>
            <a:r>
              <a:rPr lang="de-DE" sz="800"/>
              <a:t>THEN</a:t>
            </a:r>
          </a:p>
          <a:p>
            <a:pPr marL="171450" indent="-171450">
              <a:buFontTx/>
              <a:buChar char="-"/>
            </a:pPr>
            <a:r>
              <a:rPr lang="de-DE" sz="800"/>
              <a:t>add device to AppDATA</a:t>
            </a:r>
          </a:p>
          <a:p>
            <a:pPr marL="171450" indent="-171450">
              <a:buFontTx/>
              <a:buChar char="-"/>
            </a:pPr>
            <a:r>
              <a:rPr lang="de-DE" sz="800"/>
              <a:t>add mountPoint to AppDATA</a:t>
            </a:r>
          </a:p>
          <a:p>
            <a:pPr marL="171450" indent="-171450">
              <a:buFontTx/>
              <a:buChar char="-"/>
            </a:pPr>
            <a:r>
              <a:rPr lang="de-DE" sz="800"/>
              <a:t>add to createQueue</a:t>
            </a:r>
          </a:p>
          <a:p>
            <a:r>
              <a:rPr lang="de-DE" sz="800"/>
              <a:t>ELSE respond error code</a:t>
            </a:r>
          </a:p>
        </p:txBody>
      </p:sp>
      <p:sp>
        <p:nvSpPr>
          <p:cNvPr id="248" name="Ellipse 247">
            <a:extLst>
              <a:ext uri="{FF2B5EF4-FFF2-40B4-BE49-F238E27FC236}">
                <a16:creationId xmlns:a16="http://schemas.microsoft.com/office/drawing/2014/main" id="{A692FBE6-EE2E-AF3B-EC93-8B8A9207898A}"/>
              </a:ext>
            </a:extLst>
          </p:cNvPr>
          <p:cNvSpPr/>
          <p:nvPr/>
        </p:nvSpPr>
        <p:spPr>
          <a:xfrm>
            <a:off x="7078257" y="5068498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2" name="Ellipse 251">
            <a:extLst>
              <a:ext uri="{FF2B5EF4-FFF2-40B4-BE49-F238E27FC236}">
                <a16:creationId xmlns:a16="http://schemas.microsoft.com/office/drawing/2014/main" id="{913FE3AE-A440-CC21-792C-79FD25782F18}"/>
              </a:ext>
            </a:extLst>
          </p:cNvPr>
          <p:cNvSpPr/>
          <p:nvPr/>
        </p:nvSpPr>
        <p:spPr>
          <a:xfrm>
            <a:off x="7053460" y="4804617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C6D8E57B-9A7E-DB25-D05B-D55D542817D4}"/>
              </a:ext>
            </a:extLst>
          </p:cNvPr>
          <p:cNvSpPr/>
          <p:nvPr/>
        </p:nvSpPr>
        <p:spPr>
          <a:xfrm>
            <a:off x="7060919" y="4386573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55" name="Verbinder: gekrümmt 254">
            <a:extLst>
              <a:ext uri="{FF2B5EF4-FFF2-40B4-BE49-F238E27FC236}">
                <a16:creationId xmlns:a16="http://schemas.microsoft.com/office/drawing/2014/main" id="{7AEAA726-2F8B-A437-D670-2CD4209FF0BB}"/>
              </a:ext>
            </a:extLst>
          </p:cNvPr>
          <p:cNvCxnSpPr>
            <a:cxnSpLocks/>
            <a:stCxn id="253" idx="6"/>
            <a:endCxn id="99" idx="1"/>
          </p:cNvCxnSpPr>
          <p:nvPr/>
        </p:nvCxnSpPr>
        <p:spPr>
          <a:xfrm>
            <a:off x="7106638" y="4409430"/>
            <a:ext cx="5375443" cy="2095580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Verbinder: gekrümmt 259">
            <a:extLst>
              <a:ext uri="{FF2B5EF4-FFF2-40B4-BE49-F238E27FC236}">
                <a16:creationId xmlns:a16="http://schemas.microsoft.com/office/drawing/2014/main" id="{E162F2CB-7C2A-AD67-4219-003FF27FD4F3}"/>
              </a:ext>
            </a:extLst>
          </p:cNvPr>
          <p:cNvCxnSpPr>
            <a:cxnSpLocks/>
            <a:stCxn id="53" idx="3"/>
            <a:endCxn id="99" idx="3"/>
          </p:cNvCxnSpPr>
          <p:nvPr/>
        </p:nvCxnSpPr>
        <p:spPr>
          <a:xfrm>
            <a:off x="7171602" y="6033998"/>
            <a:ext cx="5310479" cy="1012629"/>
          </a:xfrm>
          <a:prstGeom prst="curvedConnector4">
            <a:avLst>
              <a:gd name="adj1" fmla="val 43120"/>
              <a:gd name="adj2" fmla="val 122575"/>
            </a:avLst>
          </a:prstGeom>
          <a:ln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Verbinder: gekrümmt 264">
            <a:extLst>
              <a:ext uri="{FF2B5EF4-FFF2-40B4-BE49-F238E27FC236}">
                <a16:creationId xmlns:a16="http://schemas.microsoft.com/office/drawing/2014/main" id="{503582BC-0E02-58A4-A693-1CBB2113D5CD}"/>
              </a:ext>
            </a:extLst>
          </p:cNvPr>
          <p:cNvCxnSpPr>
            <a:cxnSpLocks/>
            <a:stCxn id="243" idx="7"/>
            <a:endCxn id="99" idx="1"/>
          </p:cNvCxnSpPr>
          <p:nvPr/>
        </p:nvCxnSpPr>
        <p:spPr>
          <a:xfrm rot="5400000" flipH="1" flipV="1">
            <a:off x="9516280" y="4132158"/>
            <a:ext cx="592949" cy="5338654"/>
          </a:xfrm>
          <a:prstGeom prst="curvedConnector3">
            <a:avLst>
              <a:gd name="adj1" fmla="val 13855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uppieren 273">
            <a:extLst>
              <a:ext uri="{FF2B5EF4-FFF2-40B4-BE49-F238E27FC236}">
                <a16:creationId xmlns:a16="http://schemas.microsoft.com/office/drawing/2014/main" id="{B6F62F1F-22A3-BA43-A9C9-60D2BA520C01}"/>
              </a:ext>
            </a:extLst>
          </p:cNvPr>
          <p:cNvGrpSpPr/>
          <p:nvPr/>
        </p:nvGrpSpPr>
        <p:grpSpPr>
          <a:xfrm>
            <a:off x="5599982" y="6634086"/>
            <a:ext cx="1571625" cy="2213250"/>
            <a:chOff x="4699866" y="3563189"/>
            <a:chExt cx="1571625" cy="2213250"/>
          </a:xfrm>
        </p:grpSpPr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0A919349-A95E-3FB9-AA37-0D6D48B0754E}"/>
                </a:ext>
              </a:extLst>
            </p:cNvPr>
            <p:cNvSpPr/>
            <p:nvPr/>
          </p:nvSpPr>
          <p:spPr>
            <a:xfrm>
              <a:off x="4699866" y="3563189"/>
              <a:ext cx="1571625" cy="22132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de-DE" sz="800" i="1"/>
                <a:t>ContinuousLoadSharing</a:t>
              </a:r>
            </a:p>
            <a:p>
              <a:endParaRPr lang="de-DE" sz="800"/>
            </a:p>
            <a:p>
              <a:endParaRPr lang="de-DE" sz="800"/>
            </a:p>
            <a:p>
              <a:r>
                <a:rPr lang="de-DE" sz="800"/>
                <a:t>Calculate average number of mediatorProcesses at available mediatorVms of same mediatorVmTemplate</a:t>
              </a:r>
            </a:p>
            <a:p>
              <a:endParaRPr lang="de-DE" sz="800"/>
            </a:p>
            <a:p>
              <a:r>
                <a:rPr lang="de-DE" sz="800"/>
                <a:t>IF some mediatorVm exceeds average by more than a </a:t>
              </a:r>
              <a:r>
                <a:rPr lang="de-DE" sz="800" i="1"/>
                <a:t>[threshold]</a:t>
              </a:r>
            </a:p>
            <a:p>
              <a:r>
                <a:rPr lang="de-DE" sz="800"/>
                <a:t>THEN </a:t>
              </a:r>
            </a:p>
            <a:p>
              <a:pPr marL="171450" indent="-171450">
                <a:buFontTx/>
                <a:buChar char="-"/>
              </a:pPr>
              <a:r>
                <a:rPr lang="de-DE" sz="800"/>
                <a:t>calculate number of mediatorProcesses to be re-allocated</a:t>
              </a:r>
            </a:p>
            <a:p>
              <a:pPr marL="171450" indent="-171450">
                <a:buFontTx/>
                <a:buChar char="-"/>
              </a:pPr>
              <a:r>
                <a:rPr lang="de-DE" sz="800"/>
                <a:t>add to createQueue</a:t>
              </a:r>
            </a:p>
            <a:p>
              <a:pPr marL="171450" indent="-171450">
                <a:buFontTx/>
                <a:buChar char="-"/>
              </a:pPr>
              <a:r>
                <a:rPr lang="de-DE" sz="800"/>
                <a:t>add to dismantleQueue</a:t>
              </a:r>
            </a:p>
            <a:p>
              <a:pPr marL="171450" indent="-171450">
                <a:buFontTx/>
                <a:buChar char="-"/>
              </a:pPr>
              <a:endParaRPr lang="de-DE" sz="800"/>
            </a:p>
            <a:p>
              <a:endParaRPr lang="de-DE" sz="800"/>
            </a:p>
          </p:txBody>
        </p:sp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06E9B889-5E01-4664-FE1F-8B1AA87DF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3360" y="3645991"/>
              <a:ext cx="260088" cy="251271"/>
            </a:xfrm>
            <a:prstGeom prst="rect">
              <a:avLst/>
            </a:prstGeom>
          </p:spPr>
        </p:pic>
        <p:sp>
          <p:nvSpPr>
            <p:cNvPr id="243" name="Ellipse 242">
              <a:extLst>
                <a:ext uri="{FF2B5EF4-FFF2-40B4-BE49-F238E27FC236}">
                  <a16:creationId xmlns:a16="http://schemas.microsoft.com/office/drawing/2014/main" id="{155E365C-AD3C-E52C-E1E7-A9A0B6D0E6D2}"/>
                </a:ext>
              </a:extLst>
            </p:cNvPr>
            <p:cNvSpPr/>
            <p:nvPr/>
          </p:nvSpPr>
          <p:spPr>
            <a:xfrm>
              <a:off x="6204287" y="4020367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9" name="Ellipse 268">
              <a:extLst>
                <a:ext uri="{FF2B5EF4-FFF2-40B4-BE49-F238E27FC236}">
                  <a16:creationId xmlns:a16="http://schemas.microsoft.com/office/drawing/2014/main" id="{C72007A6-BE0E-D0E3-59A3-5062510B8F81}"/>
                </a:ext>
              </a:extLst>
            </p:cNvPr>
            <p:cNvSpPr/>
            <p:nvPr/>
          </p:nvSpPr>
          <p:spPr>
            <a:xfrm>
              <a:off x="6202236" y="5494665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0" name="Ellipse 269">
              <a:extLst>
                <a:ext uri="{FF2B5EF4-FFF2-40B4-BE49-F238E27FC236}">
                  <a16:creationId xmlns:a16="http://schemas.microsoft.com/office/drawing/2014/main" id="{38997AE1-6E30-E4A9-D73F-B36BE7AA4AB6}"/>
                </a:ext>
              </a:extLst>
            </p:cNvPr>
            <p:cNvSpPr/>
            <p:nvPr/>
          </p:nvSpPr>
          <p:spPr>
            <a:xfrm>
              <a:off x="6202236" y="5608151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281" name="Verbinder: gekrümmt 280">
            <a:extLst>
              <a:ext uri="{FF2B5EF4-FFF2-40B4-BE49-F238E27FC236}">
                <a16:creationId xmlns:a16="http://schemas.microsoft.com/office/drawing/2014/main" id="{634204CB-EC13-119C-997C-7C9884C5DEC8}"/>
              </a:ext>
            </a:extLst>
          </p:cNvPr>
          <p:cNvCxnSpPr>
            <a:cxnSpLocks/>
            <a:stCxn id="250" idx="2"/>
            <a:endCxn id="99" idx="1"/>
          </p:cNvCxnSpPr>
          <p:nvPr/>
        </p:nvCxnSpPr>
        <p:spPr>
          <a:xfrm rot="10800000" flipV="1">
            <a:off x="12482078" y="3370229"/>
            <a:ext cx="5274106" cy="3134783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Verbinder: gekrümmt 293">
            <a:extLst>
              <a:ext uri="{FF2B5EF4-FFF2-40B4-BE49-F238E27FC236}">
                <a16:creationId xmlns:a16="http://schemas.microsoft.com/office/drawing/2014/main" id="{E067D299-71C2-27F9-678A-7BDD854ED661}"/>
              </a:ext>
            </a:extLst>
          </p:cNvPr>
          <p:cNvCxnSpPr>
            <a:cxnSpLocks/>
            <a:stCxn id="251" idx="6"/>
            <a:endCxn id="99" idx="1"/>
          </p:cNvCxnSpPr>
          <p:nvPr/>
        </p:nvCxnSpPr>
        <p:spPr>
          <a:xfrm flipV="1">
            <a:off x="7153812" y="6505010"/>
            <a:ext cx="5328266" cy="2712762"/>
          </a:xfrm>
          <a:prstGeom prst="curvedConnector4">
            <a:avLst>
              <a:gd name="adj1" fmla="val 43143"/>
              <a:gd name="adj2" fmla="val 108427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Verbinder: gekrümmt 296">
            <a:extLst>
              <a:ext uri="{FF2B5EF4-FFF2-40B4-BE49-F238E27FC236}">
                <a16:creationId xmlns:a16="http://schemas.microsoft.com/office/drawing/2014/main" id="{A53EADE9-A1A9-04F8-ED1D-624A078F0D86}"/>
              </a:ext>
            </a:extLst>
          </p:cNvPr>
          <p:cNvCxnSpPr>
            <a:cxnSpLocks/>
            <a:stCxn id="247" idx="6"/>
            <a:endCxn id="99" idx="3"/>
          </p:cNvCxnSpPr>
          <p:nvPr/>
        </p:nvCxnSpPr>
        <p:spPr>
          <a:xfrm flipV="1">
            <a:off x="7161024" y="7046624"/>
            <a:ext cx="5321054" cy="2610762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Verbinder: gekrümmt 304">
            <a:extLst>
              <a:ext uri="{FF2B5EF4-FFF2-40B4-BE49-F238E27FC236}">
                <a16:creationId xmlns:a16="http://schemas.microsoft.com/office/drawing/2014/main" id="{9A6FDAFC-2F83-3C10-82E9-21AD364A062C}"/>
              </a:ext>
            </a:extLst>
          </p:cNvPr>
          <p:cNvCxnSpPr>
            <a:cxnSpLocks/>
            <a:stCxn id="237" idx="7"/>
            <a:endCxn id="99" idx="1"/>
          </p:cNvCxnSpPr>
          <p:nvPr/>
        </p:nvCxnSpPr>
        <p:spPr>
          <a:xfrm rot="5400000" flipH="1" flipV="1">
            <a:off x="7493855" y="6184271"/>
            <a:ext cx="4667480" cy="5308965"/>
          </a:xfrm>
          <a:prstGeom prst="curvedConnector3">
            <a:avLst>
              <a:gd name="adj1" fmla="val 104898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Ellipse 305">
            <a:extLst>
              <a:ext uri="{FF2B5EF4-FFF2-40B4-BE49-F238E27FC236}">
                <a16:creationId xmlns:a16="http://schemas.microsoft.com/office/drawing/2014/main" id="{4EDFCD88-C51B-124F-B009-FF682DA1F8D2}"/>
              </a:ext>
            </a:extLst>
          </p:cNvPr>
          <p:cNvSpPr/>
          <p:nvPr/>
        </p:nvSpPr>
        <p:spPr>
          <a:xfrm>
            <a:off x="7108454" y="11982912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C39D2EEF-7699-FF86-C89D-04ACFCF32E31}"/>
              </a:ext>
            </a:extLst>
          </p:cNvPr>
          <p:cNvSpPr/>
          <p:nvPr/>
        </p:nvSpPr>
        <p:spPr>
          <a:xfrm>
            <a:off x="7108454" y="1214813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20" name="Verbinder: gekrümmt 319">
            <a:extLst>
              <a:ext uri="{FF2B5EF4-FFF2-40B4-BE49-F238E27FC236}">
                <a16:creationId xmlns:a16="http://schemas.microsoft.com/office/drawing/2014/main" id="{D47B3217-2E2D-88F4-CEF8-C155B5FF44DA}"/>
              </a:ext>
            </a:extLst>
          </p:cNvPr>
          <p:cNvCxnSpPr>
            <a:cxnSpLocks/>
            <a:stCxn id="233" idx="6"/>
            <a:endCxn id="210" idx="2"/>
          </p:cNvCxnSpPr>
          <p:nvPr/>
        </p:nvCxnSpPr>
        <p:spPr>
          <a:xfrm flipV="1">
            <a:off x="16721490" y="3765812"/>
            <a:ext cx="5095911" cy="6305649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Verbinder: gekrümmt 325">
            <a:extLst>
              <a:ext uri="{FF2B5EF4-FFF2-40B4-BE49-F238E27FC236}">
                <a16:creationId xmlns:a16="http://schemas.microsoft.com/office/drawing/2014/main" id="{8D92A0B0-8F15-20BD-3BFC-A1733049A130}"/>
              </a:ext>
            </a:extLst>
          </p:cNvPr>
          <p:cNvCxnSpPr>
            <a:cxnSpLocks/>
            <a:stCxn id="239" idx="6"/>
            <a:endCxn id="84" idx="3"/>
          </p:cNvCxnSpPr>
          <p:nvPr/>
        </p:nvCxnSpPr>
        <p:spPr>
          <a:xfrm flipH="1">
            <a:off x="12242540" y="10423841"/>
            <a:ext cx="4480480" cy="3243747"/>
          </a:xfrm>
          <a:prstGeom prst="curvedConnector3">
            <a:avLst>
              <a:gd name="adj1" fmla="val -510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Rechteck 344">
            <a:extLst>
              <a:ext uri="{FF2B5EF4-FFF2-40B4-BE49-F238E27FC236}">
                <a16:creationId xmlns:a16="http://schemas.microsoft.com/office/drawing/2014/main" id="{A9FAA250-F266-90C1-2B0C-43D14650F20C}"/>
              </a:ext>
            </a:extLst>
          </p:cNvPr>
          <p:cNvSpPr/>
          <p:nvPr/>
        </p:nvSpPr>
        <p:spPr>
          <a:xfrm>
            <a:off x="13451202" y="7295985"/>
            <a:ext cx="1571625" cy="1507975"/>
          </a:xfrm>
          <a:prstGeom prst="rect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NetconfInterfaceStateAnalyzer</a:t>
            </a:r>
            <a:endParaRPr lang="de-DE" sz="800"/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Regularly send netconf requests to all documented mediatorProcesses to determine their operational state and update AppDATA with status data</a:t>
            </a:r>
          </a:p>
        </p:txBody>
      </p:sp>
      <p:pic>
        <p:nvPicPr>
          <p:cNvPr id="346" name="Grafik 345">
            <a:extLst>
              <a:ext uri="{FF2B5EF4-FFF2-40B4-BE49-F238E27FC236}">
                <a16:creationId xmlns:a16="http://schemas.microsoft.com/office/drawing/2014/main" id="{EFF0F8E7-A9DA-88D8-2ACB-F80ECF978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5701" y="7494465"/>
            <a:ext cx="260088" cy="273783"/>
          </a:xfrm>
          <a:prstGeom prst="rect">
            <a:avLst/>
          </a:prstGeom>
        </p:spPr>
      </p:pic>
      <p:cxnSp>
        <p:nvCxnSpPr>
          <p:cNvPr id="347" name="Verbinder: gekrümmt 346">
            <a:extLst>
              <a:ext uri="{FF2B5EF4-FFF2-40B4-BE49-F238E27FC236}">
                <a16:creationId xmlns:a16="http://schemas.microsoft.com/office/drawing/2014/main" id="{907C5ECB-8D81-E02A-D05F-356C446EE16A}"/>
              </a:ext>
            </a:extLst>
          </p:cNvPr>
          <p:cNvCxnSpPr>
            <a:cxnSpLocks/>
            <a:stCxn id="345" idx="0"/>
            <a:endCxn id="99" idx="3"/>
          </p:cNvCxnSpPr>
          <p:nvPr/>
        </p:nvCxnSpPr>
        <p:spPr>
          <a:xfrm rot="16200000" flipV="1">
            <a:off x="13234866" y="6293836"/>
            <a:ext cx="249358" cy="17549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Verbinder: gekrümmt 348">
            <a:extLst>
              <a:ext uri="{FF2B5EF4-FFF2-40B4-BE49-F238E27FC236}">
                <a16:creationId xmlns:a16="http://schemas.microsoft.com/office/drawing/2014/main" id="{F96F34AD-F463-3D89-2CA1-85EC87B0FA4F}"/>
              </a:ext>
            </a:extLst>
          </p:cNvPr>
          <p:cNvCxnSpPr>
            <a:cxnSpLocks/>
            <a:stCxn id="345" idx="2"/>
            <a:endCxn id="114" idx="3"/>
          </p:cNvCxnSpPr>
          <p:nvPr/>
        </p:nvCxnSpPr>
        <p:spPr>
          <a:xfrm rot="5400000">
            <a:off x="10529388" y="10517109"/>
            <a:ext cx="5420776" cy="199447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Verbinder: gekrümmt 352">
            <a:extLst>
              <a:ext uri="{FF2B5EF4-FFF2-40B4-BE49-F238E27FC236}">
                <a16:creationId xmlns:a16="http://schemas.microsoft.com/office/drawing/2014/main" id="{5C9CE3CC-A505-0137-60F5-65EB22F4E8FA}"/>
              </a:ext>
            </a:extLst>
          </p:cNvPr>
          <p:cNvCxnSpPr>
            <a:cxnSpLocks/>
            <a:stCxn id="345" idx="0"/>
            <a:endCxn id="99" idx="1"/>
          </p:cNvCxnSpPr>
          <p:nvPr/>
        </p:nvCxnSpPr>
        <p:spPr>
          <a:xfrm rot="16200000" flipV="1">
            <a:off x="12964059" y="6023029"/>
            <a:ext cx="790972" cy="1754934"/>
          </a:xfrm>
          <a:prstGeom prst="curvedConnector3">
            <a:avLst>
              <a:gd name="adj1" fmla="val 1289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Textfeld 360">
            <a:extLst>
              <a:ext uri="{FF2B5EF4-FFF2-40B4-BE49-F238E27FC236}">
                <a16:creationId xmlns:a16="http://schemas.microsoft.com/office/drawing/2014/main" id="{6F960F18-3AF0-3FBE-9EFF-0F931AABE477}"/>
              </a:ext>
            </a:extLst>
          </p:cNvPr>
          <p:cNvSpPr txBox="1"/>
          <p:nvPr/>
        </p:nvSpPr>
        <p:spPr>
          <a:xfrm>
            <a:off x="12235741" y="13415524"/>
            <a:ext cx="19217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/v1/dismantle-mediator-instance</a:t>
            </a:r>
          </a:p>
        </p:txBody>
      </p:sp>
      <p:grpSp>
        <p:nvGrpSpPr>
          <p:cNvPr id="368" name="Gruppieren 367">
            <a:extLst>
              <a:ext uri="{FF2B5EF4-FFF2-40B4-BE49-F238E27FC236}">
                <a16:creationId xmlns:a16="http://schemas.microsoft.com/office/drawing/2014/main" id="{544AB122-FC55-7CAB-709A-1F82B50EFF40}"/>
              </a:ext>
            </a:extLst>
          </p:cNvPr>
          <p:cNvGrpSpPr/>
          <p:nvPr/>
        </p:nvGrpSpPr>
        <p:grpSpPr>
          <a:xfrm>
            <a:off x="10871348" y="13396568"/>
            <a:ext cx="1371192" cy="1549618"/>
            <a:chOff x="7951059" y="10590996"/>
            <a:chExt cx="1371192" cy="1549618"/>
          </a:xfrm>
        </p:grpSpPr>
        <p:grpSp>
          <p:nvGrpSpPr>
            <p:cNvPr id="202" name="Gruppieren 201">
              <a:extLst>
                <a:ext uri="{FF2B5EF4-FFF2-40B4-BE49-F238E27FC236}">
                  <a16:creationId xmlns:a16="http://schemas.microsoft.com/office/drawing/2014/main" id="{5AEE2D10-F89B-E123-FB17-177128F8D172}"/>
                </a:ext>
              </a:extLst>
            </p:cNvPr>
            <p:cNvGrpSpPr/>
            <p:nvPr/>
          </p:nvGrpSpPr>
          <p:grpSpPr>
            <a:xfrm>
              <a:off x="7951059" y="10590996"/>
              <a:ext cx="1257300" cy="1442907"/>
              <a:chOff x="10924900" y="10591007"/>
              <a:chExt cx="1257300" cy="1442907"/>
            </a:xfrm>
          </p:grpSpPr>
          <p:sp>
            <p:nvSpPr>
              <p:cNvPr id="196" name="Rechteck: abgerundete Ecken 195">
                <a:extLst>
                  <a:ext uri="{FF2B5EF4-FFF2-40B4-BE49-F238E27FC236}">
                    <a16:creationId xmlns:a16="http://schemas.microsoft.com/office/drawing/2014/main" id="{E5C8744C-C02C-AE9B-4068-2EA3CF897565}"/>
                  </a:ext>
                </a:extLst>
              </p:cNvPr>
              <p:cNvSpPr/>
              <p:nvPr/>
            </p:nvSpPr>
            <p:spPr>
              <a:xfrm>
                <a:off x="10924900" y="10591007"/>
                <a:ext cx="1257300" cy="1442907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  <a:p>
                <a:pPr algn="ctr"/>
                <a:endParaRPr lang="de-DE" sz="1050"/>
              </a:p>
              <a:p>
                <a:pPr algn="ctr"/>
                <a:r>
                  <a:rPr lang="de-DE" sz="1050"/>
                  <a:t>mediatorVM</a:t>
                </a:r>
              </a:p>
              <a:p>
                <a:endParaRPr lang="de-DE" sz="800"/>
              </a:p>
              <a:p>
                <a:r>
                  <a:rPr lang="de-DE" sz="800"/>
                  <a:t>mediatorProcess#1</a:t>
                </a:r>
              </a:p>
              <a:p>
                <a:r>
                  <a:rPr lang="de-DE" sz="800"/>
                  <a:t>mediatorProcess#2</a:t>
                </a:r>
              </a:p>
              <a:p>
                <a:r>
                  <a:rPr lang="de-DE" sz="800"/>
                  <a:t>…</a:t>
                </a:r>
              </a:p>
              <a:p>
                <a:r>
                  <a:rPr lang="de-DE" sz="800"/>
                  <a:t>mediatorProcess#n</a:t>
                </a:r>
              </a:p>
            </p:txBody>
          </p:sp>
          <p:sp>
            <p:nvSpPr>
              <p:cNvPr id="197" name="Rechteck: abgerundete Ecken 196">
                <a:extLst>
                  <a:ext uri="{FF2B5EF4-FFF2-40B4-BE49-F238E27FC236}">
                    <a16:creationId xmlns:a16="http://schemas.microsoft.com/office/drawing/2014/main" id="{DE1EF18F-9F6B-4DEF-80C2-451681BC0416}"/>
                  </a:ext>
                </a:extLst>
              </p:cNvPr>
              <p:cNvSpPr/>
              <p:nvPr/>
            </p:nvSpPr>
            <p:spPr>
              <a:xfrm>
                <a:off x="10924900" y="10591007"/>
                <a:ext cx="1257300" cy="32861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900"/>
                  <a:t>MIM</a:t>
                </a:r>
              </a:p>
            </p:txBody>
          </p:sp>
          <p:sp>
            <p:nvSpPr>
              <p:cNvPr id="198" name="Ellipse 197">
                <a:extLst>
                  <a:ext uri="{FF2B5EF4-FFF2-40B4-BE49-F238E27FC236}">
                    <a16:creationId xmlns:a16="http://schemas.microsoft.com/office/drawing/2014/main" id="{81EDEA61-9EF0-BCF7-3AD9-C2A5DFD686D2}"/>
                  </a:ext>
                </a:extLst>
              </p:cNvPr>
              <p:cNvSpPr/>
              <p:nvPr/>
            </p:nvSpPr>
            <p:spPr>
              <a:xfrm>
                <a:off x="10948386" y="11689639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99" name="Ellipse 198">
                <a:extLst>
                  <a:ext uri="{FF2B5EF4-FFF2-40B4-BE49-F238E27FC236}">
                    <a16:creationId xmlns:a16="http://schemas.microsoft.com/office/drawing/2014/main" id="{586B154C-DFF2-10DA-F4CE-88E0CB4B6A0C}"/>
                  </a:ext>
                </a:extLst>
              </p:cNvPr>
              <p:cNvSpPr/>
              <p:nvPr/>
            </p:nvSpPr>
            <p:spPr>
              <a:xfrm>
                <a:off x="12069816" y="11689639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200" name="Ellipse 199">
                <a:extLst>
                  <a:ext uri="{FF2B5EF4-FFF2-40B4-BE49-F238E27FC236}">
                    <a16:creationId xmlns:a16="http://schemas.microsoft.com/office/drawing/2014/main" id="{DE7A60DA-6C97-CB59-B087-07F92C9D4C03}"/>
                  </a:ext>
                </a:extLst>
              </p:cNvPr>
              <p:cNvSpPr/>
              <p:nvPr/>
            </p:nvSpPr>
            <p:spPr>
              <a:xfrm>
                <a:off x="12101226" y="11326854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201" name="Ellipse 200">
                <a:extLst>
                  <a:ext uri="{FF2B5EF4-FFF2-40B4-BE49-F238E27FC236}">
                    <a16:creationId xmlns:a16="http://schemas.microsoft.com/office/drawing/2014/main" id="{E6E28A01-0D0E-43D3-D44D-488AC61BAF04}"/>
                  </a:ext>
                </a:extLst>
              </p:cNvPr>
              <p:cNvSpPr/>
              <p:nvPr/>
            </p:nvSpPr>
            <p:spPr>
              <a:xfrm>
                <a:off x="10979796" y="11332721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</p:grpSp>
        <p:grpSp>
          <p:nvGrpSpPr>
            <p:cNvPr id="122" name="Gruppieren 121">
              <a:extLst>
                <a:ext uri="{FF2B5EF4-FFF2-40B4-BE49-F238E27FC236}">
                  <a16:creationId xmlns:a16="http://schemas.microsoft.com/office/drawing/2014/main" id="{5679A4A5-E986-DCF8-0EAF-8DDFE68C827D}"/>
                </a:ext>
              </a:extLst>
            </p:cNvPr>
            <p:cNvGrpSpPr/>
            <p:nvPr/>
          </p:nvGrpSpPr>
          <p:grpSpPr>
            <a:xfrm>
              <a:off x="8064951" y="10697707"/>
              <a:ext cx="1257300" cy="1442907"/>
              <a:chOff x="9442450" y="10552243"/>
              <a:chExt cx="1257300" cy="1442907"/>
            </a:xfrm>
          </p:grpSpPr>
          <p:sp>
            <p:nvSpPr>
              <p:cNvPr id="114" name="Rechteck: abgerundete Ecken 113">
                <a:extLst>
                  <a:ext uri="{FF2B5EF4-FFF2-40B4-BE49-F238E27FC236}">
                    <a16:creationId xmlns:a16="http://schemas.microsoft.com/office/drawing/2014/main" id="{C0D61018-DD68-B783-0D87-6E46773ABBA5}"/>
                  </a:ext>
                </a:extLst>
              </p:cNvPr>
              <p:cNvSpPr/>
              <p:nvPr/>
            </p:nvSpPr>
            <p:spPr>
              <a:xfrm>
                <a:off x="9442450" y="10552243"/>
                <a:ext cx="1257300" cy="144290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  <a:p>
                <a:pPr algn="ctr"/>
                <a:endParaRPr lang="de-DE" sz="1050"/>
              </a:p>
              <a:p>
                <a:pPr algn="ctr"/>
                <a:r>
                  <a:rPr lang="de-DE" sz="1050"/>
                  <a:t>mediatorVM</a:t>
                </a:r>
              </a:p>
              <a:p>
                <a:endParaRPr lang="de-DE" sz="800"/>
              </a:p>
              <a:p>
                <a:r>
                  <a:rPr lang="de-DE" sz="800"/>
                  <a:t>mediatorProcess#1</a:t>
                </a:r>
              </a:p>
              <a:p>
                <a:r>
                  <a:rPr lang="de-DE" sz="800"/>
                  <a:t>mediatorProcess#2</a:t>
                </a:r>
              </a:p>
              <a:p>
                <a:r>
                  <a:rPr lang="de-DE" sz="800"/>
                  <a:t>…</a:t>
                </a:r>
              </a:p>
              <a:p>
                <a:r>
                  <a:rPr lang="de-DE" sz="800"/>
                  <a:t>mediatorProcess#n</a:t>
                </a:r>
              </a:p>
            </p:txBody>
          </p:sp>
          <p:sp>
            <p:nvSpPr>
              <p:cNvPr id="84" name="Rechteck: abgerundete Ecken 83">
                <a:extLst>
                  <a:ext uri="{FF2B5EF4-FFF2-40B4-BE49-F238E27FC236}">
                    <a16:creationId xmlns:a16="http://schemas.microsoft.com/office/drawing/2014/main" id="{7AB70A29-DF37-2F1A-F8F8-82ECADC63218}"/>
                  </a:ext>
                </a:extLst>
              </p:cNvPr>
              <p:cNvSpPr/>
              <p:nvPr/>
            </p:nvSpPr>
            <p:spPr>
              <a:xfrm>
                <a:off x="9442450" y="10552243"/>
                <a:ext cx="1257300" cy="32861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900"/>
                  <a:t>MIM</a:t>
                </a:r>
              </a:p>
            </p:txBody>
          </p:sp>
          <p:sp>
            <p:nvSpPr>
              <p:cNvPr id="118" name="Ellipse 117">
                <a:extLst>
                  <a:ext uri="{FF2B5EF4-FFF2-40B4-BE49-F238E27FC236}">
                    <a16:creationId xmlns:a16="http://schemas.microsoft.com/office/drawing/2014/main" id="{7EE6A8AA-2B90-132F-4D79-74C7F38E6645}"/>
                  </a:ext>
                </a:extLst>
              </p:cNvPr>
              <p:cNvSpPr/>
              <p:nvPr/>
            </p:nvSpPr>
            <p:spPr>
              <a:xfrm>
                <a:off x="9465936" y="11650875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19" name="Ellipse 118">
                <a:extLst>
                  <a:ext uri="{FF2B5EF4-FFF2-40B4-BE49-F238E27FC236}">
                    <a16:creationId xmlns:a16="http://schemas.microsoft.com/office/drawing/2014/main" id="{29039A0C-2B5D-A65A-F96B-F0AC5BC95618}"/>
                  </a:ext>
                </a:extLst>
              </p:cNvPr>
              <p:cNvSpPr/>
              <p:nvPr/>
            </p:nvSpPr>
            <p:spPr>
              <a:xfrm>
                <a:off x="10587366" y="11650875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20" name="Ellipse 119">
                <a:extLst>
                  <a:ext uri="{FF2B5EF4-FFF2-40B4-BE49-F238E27FC236}">
                    <a16:creationId xmlns:a16="http://schemas.microsoft.com/office/drawing/2014/main" id="{AB71EFE7-7528-2E1F-DE68-34D159F1CA49}"/>
                  </a:ext>
                </a:extLst>
              </p:cNvPr>
              <p:cNvSpPr/>
              <p:nvPr/>
            </p:nvSpPr>
            <p:spPr>
              <a:xfrm>
                <a:off x="10618776" y="11288090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21" name="Ellipse 120">
                <a:extLst>
                  <a:ext uri="{FF2B5EF4-FFF2-40B4-BE49-F238E27FC236}">
                    <a16:creationId xmlns:a16="http://schemas.microsoft.com/office/drawing/2014/main" id="{DF4D51F5-7C0B-1ADF-5880-79C88AAD6B0C}"/>
                  </a:ext>
                </a:extLst>
              </p:cNvPr>
              <p:cNvSpPr/>
              <p:nvPr/>
            </p:nvSpPr>
            <p:spPr>
              <a:xfrm>
                <a:off x="9497346" y="11293957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</p:grpSp>
        <p:sp>
          <p:nvSpPr>
            <p:cNvPr id="234" name="Ellipse 233">
              <a:extLst>
                <a:ext uri="{FF2B5EF4-FFF2-40B4-BE49-F238E27FC236}">
                  <a16:creationId xmlns:a16="http://schemas.microsoft.com/office/drawing/2014/main" id="{9D92FC26-513D-F1A1-46E5-D0C12645E7F2}"/>
                </a:ext>
              </a:extLst>
            </p:cNvPr>
            <p:cNvSpPr/>
            <p:nvPr/>
          </p:nvSpPr>
          <p:spPr>
            <a:xfrm>
              <a:off x="9201126" y="10731541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4" name="Ellipse 243">
              <a:extLst>
                <a:ext uri="{FF2B5EF4-FFF2-40B4-BE49-F238E27FC236}">
                  <a16:creationId xmlns:a16="http://schemas.microsoft.com/office/drawing/2014/main" id="{00632EDC-13ED-D796-F3E2-9A8D80DB2728}"/>
                </a:ext>
              </a:extLst>
            </p:cNvPr>
            <p:cNvSpPr/>
            <p:nvPr/>
          </p:nvSpPr>
          <p:spPr>
            <a:xfrm>
              <a:off x="8117112" y="10733848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6" name="Ellipse 365">
              <a:extLst>
                <a:ext uri="{FF2B5EF4-FFF2-40B4-BE49-F238E27FC236}">
                  <a16:creationId xmlns:a16="http://schemas.microsoft.com/office/drawing/2014/main" id="{828FC9DE-6473-436D-69FD-C4D4AA62218C}"/>
                </a:ext>
              </a:extLst>
            </p:cNvPr>
            <p:cNvSpPr/>
            <p:nvPr/>
          </p:nvSpPr>
          <p:spPr>
            <a:xfrm>
              <a:off x="8983052" y="10728225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79" name="Rechteck 378">
            <a:extLst>
              <a:ext uri="{FF2B5EF4-FFF2-40B4-BE49-F238E27FC236}">
                <a16:creationId xmlns:a16="http://schemas.microsoft.com/office/drawing/2014/main" id="{F6FC92C7-3D49-7205-A078-6D4B274D32F3}"/>
              </a:ext>
            </a:extLst>
          </p:cNvPr>
          <p:cNvSpPr/>
          <p:nvPr/>
        </p:nvSpPr>
        <p:spPr>
          <a:xfrm>
            <a:off x="17729239" y="9793503"/>
            <a:ext cx="1798430" cy="1694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UnusedMediatorProcessTracker</a:t>
            </a:r>
            <a:endParaRPr lang="de-DE" sz="800"/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Go slowly throu all mediatorProcess at all mediatorVms and ask the MO for the netconf port at the mountPoint in ODL</a:t>
            </a:r>
          </a:p>
          <a:p>
            <a:endParaRPr lang="de-DE" sz="800"/>
          </a:p>
          <a:p>
            <a:r>
              <a:rPr lang="de-DE" sz="800"/>
              <a:t>IF mountPoint is addressing another mediatorProcess</a:t>
            </a:r>
          </a:p>
          <a:p>
            <a:r>
              <a:rPr lang="de-DE" sz="800"/>
              <a:t>THEN add to dismantleQueue </a:t>
            </a:r>
          </a:p>
          <a:p>
            <a:r>
              <a:rPr lang="de-DE" sz="800"/>
              <a:t>ELSE no change</a:t>
            </a:r>
          </a:p>
        </p:txBody>
      </p:sp>
      <p:pic>
        <p:nvPicPr>
          <p:cNvPr id="380" name="Grafik 379">
            <a:extLst>
              <a:ext uri="{FF2B5EF4-FFF2-40B4-BE49-F238E27FC236}">
                <a16:creationId xmlns:a16="http://schemas.microsoft.com/office/drawing/2014/main" id="{F32C22D3-797D-88B2-894A-BD258524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6436" y="10009130"/>
            <a:ext cx="260088" cy="251271"/>
          </a:xfrm>
          <a:prstGeom prst="rect">
            <a:avLst/>
          </a:prstGeom>
        </p:spPr>
      </p:pic>
      <p:sp>
        <p:nvSpPr>
          <p:cNvPr id="381" name="Textfeld 380">
            <a:extLst>
              <a:ext uri="{FF2B5EF4-FFF2-40B4-BE49-F238E27FC236}">
                <a16:creationId xmlns:a16="http://schemas.microsoft.com/office/drawing/2014/main" id="{CB1BBA9E-BA83-774D-6BC0-5FD2B534CD84}"/>
              </a:ext>
            </a:extLst>
          </p:cNvPr>
          <p:cNvSpPr txBox="1"/>
          <p:nvPr/>
        </p:nvSpPr>
        <p:spPr>
          <a:xfrm>
            <a:off x="1746681" y="4761763"/>
            <a:ext cx="8226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cxnSp>
        <p:nvCxnSpPr>
          <p:cNvPr id="418" name="Verbinder: gekrümmt 417">
            <a:extLst>
              <a:ext uri="{FF2B5EF4-FFF2-40B4-BE49-F238E27FC236}">
                <a16:creationId xmlns:a16="http://schemas.microsoft.com/office/drawing/2014/main" id="{52669EDD-467C-6E1D-133F-905A1D3143D1}"/>
              </a:ext>
            </a:extLst>
          </p:cNvPr>
          <p:cNvCxnSpPr>
            <a:cxnSpLocks/>
            <a:stCxn id="236" idx="6"/>
            <a:endCxn id="121" idx="2"/>
          </p:cNvCxnSpPr>
          <p:nvPr/>
        </p:nvCxnSpPr>
        <p:spPr>
          <a:xfrm>
            <a:off x="10289046" y="12609576"/>
            <a:ext cx="751093" cy="1670474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Verbinder: gekrümmt 170">
            <a:extLst>
              <a:ext uri="{FF2B5EF4-FFF2-40B4-BE49-F238E27FC236}">
                <a16:creationId xmlns:a16="http://schemas.microsoft.com/office/drawing/2014/main" id="{5F1E594E-4CD0-D101-9518-C767663A5475}"/>
              </a:ext>
            </a:extLst>
          </p:cNvPr>
          <p:cNvCxnSpPr>
            <a:cxnSpLocks/>
            <a:stCxn id="166" idx="6"/>
            <a:endCxn id="197" idx="0"/>
          </p:cNvCxnSpPr>
          <p:nvPr/>
        </p:nvCxnSpPr>
        <p:spPr>
          <a:xfrm>
            <a:off x="10266186" y="12135940"/>
            <a:ext cx="1233815" cy="1260631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Verbinder: gekrümmt 461">
            <a:extLst>
              <a:ext uri="{FF2B5EF4-FFF2-40B4-BE49-F238E27FC236}">
                <a16:creationId xmlns:a16="http://schemas.microsoft.com/office/drawing/2014/main" id="{7378382E-2658-1C8C-01AB-865DB8B750F2}"/>
              </a:ext>
            </a:extLst>
          </p:cNvPr>
          <p:cNvCxnSpPr>
            <a:cxnSpLocks/>
            <a:stCxn id="379" idx="2"/>
            <a:endCxn id="103" idx="0"/>
          </p:cNvCxnSpPr>
          <p:nvPr/>
        </p:nvCxnSpPr>
        <p:spPr>
          <a:xfrm rot="5400000" flipH="1">
            <a:off x="14224819" y="7084020"/>
            <a:ext cx="6207266" cy="2600004"/>
          </a:xfrm>
          <a:prstGeom prst="curvedConnector5">
            <a:avLst>
              <a:gd name="adj1" fmla="val -3683"/>
              <a:gd name="adj2" fmla="val 52292"/>
              <a:gd name="adj3" fmla="val 103683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5A45491C-39F5-65AF-9F68-2F3D46BA3DD7}"/>
              </a:ext>
            </a:extLst>
          </p:cNvPr>
          <p:cNvCxnSpPr>
            <a:cxnSpLocks/>
          </p:cNvCxnSpPr>
          <p:nvPr/>
        </p:nvCxnSpPr>
        <p:spPr>
          <a:xfrm>
            <a:off x="4594833" y="3340129"/>
            <a:ext cx="3350973" cy="25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716B9F04-740C-64F6-1517-616A01104468}"/>
              </a:ext>
            </a:extLst>
          </p:cNvPr>
          <p:cNvSpPr txBox="1"/>
          <p:nvPr/>
        </p:nvSpPr>
        <p:spPr>
          <a:xfrm>
            <a:off x="4286920" y="3082899"/>
            <a:ext cx="3728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/v1/provide-alarms-for-connection {connectionId==mountPoint)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69675F5D-C5FA-D48F-6C70-AAA7B4D8177B}"/>
              </a:ext>
            </a:extLst>
          </p:cNvPr>
          <p:cNvCxnSpPr>
            <a:cxnSpLocks/>
          </p:cNvCxnSpPr>
          <p:nvPr/>
        </p:nvCxnSpPr>
        <p:spPr>
          <a:xfrm flipH="1" flipV="1">
            <a:off x="4548238" y="3473887"/>
            <a:ext cx="3436697" cy="3525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69550947-F7A9-678B-EACA-8B3BDC47C42A}"/>
              </a:ext>
            </a:extLst>
          </p:cNvPr>
          <p:cNvSpPr txBox="1"/>
          <p:nvPr/>
        </p:nvSpPr>
        <p:spPr>
          <a:xfrm>
            <a:off x="4489209" y="3457351"/>
            <a:ext cx="18582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{list of currently active alarms}</a:t>
            </a:r>
          </a:p>
        </p:txBody>
      </p:sp>
      <p:cxnSp>
        <p:nvCxnSpPr>
          <p:cNvPr id="50" name="Verbinder: gekrümmt 49">
            <a:extLst>
              <a:ext uri="{FF2B5EF4-FFF2-40B4-BE49-F238E27FC236}">
                <a16:creationId xmlns:a16="http://schemas.microsoft.com/office/drawing/2014/main" id="{A85011FA-55C4-40DC-919A-E4F55495E826}"/>
              </a:ext>
            </a:extLst>
          </p:cNvPr>
          <p:cNvCxnSpPr>
            <a:cxnSpLocks/>
            <a:endCxn id="99" idx="3"/>
          </p:cNvCxnSpPr>
          <p:nvPr/>
        </p:nvCxnSpPr>
        <p:spPr>
          <a:xfrm>
            <a:off x="7146838" y="5086896"/>
            <a:ext cx="5335243" cy="1959728"/>
          </a:xfrm>
          <a:prstGeom prst="curvedConnector4">
            <a:avLst>
              <a:gd name="adj1" fmla="val 43151"/>
              <a:gd name="adj2" fmla="val 11166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A774034F-560F-7CA7-9FFD-8EE28037E4F9}"/>
              </a:ext>
            </a:extLst>
          </p:cNvPr>
          <p:cNvSpPr txBox="1"/>
          <p:nvPr/>
        </p:nvSpPr>
        <p:spPr>
          <a:xfrm rot="1675356">
            <a:off x="12029636" y="11662094"/>
            <a:ext cx="19217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/v1/prepare-connection {deviceIp, deviceModel}</a:t>
            </a:r>
          </a:p>
        </p:txBody>
      </p:sp>
      <p:cxnSp>
        <p:nvCxnSpPr>
          <p:cNvPr id="450" name="Verbinder: gekrümmt 449">
            <a:extLst>
              <a:ext uri="{FF2B5EF4-FFF2-40B4-BE49-F238E27FC236}">
                <a16:creationId xmlns:a16="http://schemas.microsoft.com/office/drawing/2014/main" id="{D086A7D4-5665-79AC-2FA5-1740BF4BDEED}"/>
              </a:ext>
            </a:extLst>
          </p:cNvPr>
          <p:cNvCxnSpPr>
            <a:cxnSpLocks/>
            <a:stCxn id="163" idx="6"/>
            <a:endCxn id="99" idx="3"/>
          </p:cNvCxnSpPr>
          <p:nvPr/>
        </p:nvCxnSpPr>
        <p:spPr>
          <a:xfrm flipV="1">
            <a:off x="10289042" y="7046627"/>
            <a:ext cx="2193036" cy="6357331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crollen: vertikal 8">
            <a:extLst>
              <a:ext uri="{FF2B5EF4-FFF2-40B4-BE49-F238E27FC236}">
                <a16:creationId xmlns:a16="http://schemas.microsoft.com/office/drawing/2014/main" id="{955A8D41-311F-F1B9-433D-B3628AEE3ECC}"/>
              </a:ext>
            </a:extLst>
          </p:cNvPr>
          <p:cNvSpPr/>
          <p:nvPr/>
        </p:nvSpPr>
        <p:spPr>
          <a:xfrm>
            <a:off x="7890967" y="2966934"/>
            <a:ext cx="1560042" cy="997947"/>
          </a:xfrm>
          <a:prstGeom prst="verticalScroll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>
                <a:solidFill>
                  <a:srgbClr val="FF0000"/>
                </a:solidFill>
              </a:rPr>
              <a:t>AlarmList</a:t>
            </a:r>
          </a:p>
        </p:txBody>
      </p:sp>
      <p:cxnSp>
        <p:nvCxnSpPr>
          <p:cNvPr id="20" name="Verbinder: gekrümmt 19">
            <a:extLst>
              <a:ext uri="{FF2B5EF4-FFF2-40B4-BE49-F238E27FC236}">
                <a16:creationId xmlns:a16="http://schemas.microsoft.com/office/drawing/2014/main" id="{A4174CDF-3609-292F-0516-515356C0A33C}"/>
              </a:ext>
            </a:extLst>
          </p:cNvPr>
          <p:cNvCxnSpPr>
            <a:cxnSpLocks/>
            <a:endCxn id="9" idx="2"/>
          </p:cNvCxnSpPr>
          <p:nvPr/>
        </p:nvCxnSpPr>
        <p:spPr>
          <a:xfrm rot="10800000">
            <a:off x="8670992" y="3964882"/>
            <a:ext cx="2643125" cy="524155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6EF19788-C1A1-5463-BE47-036CBEC31C59}"/>
              </a:ext>
            </a:extLst>
          </p:cNvPr>
          <p:cNvSpPr txBox="1"/>
          <p:nvPr/>
        </p:nvSpPr>
        <p:spPr>
          <a:xfrm rot="346354">
            <a:off x="9304650" y="4168427"/>
            <a:ext cx="1669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/>
            </a:lvl1pPr>
          </a:lstStyle>
          <a:p>
            <a:r>
              <a:rPr lang="de-DE"/>
              <a:t>(private) /p1/create-entry-in-alarm-list</a:t>
            </a:r>
          </a:p>
          <a:p>
            <a:r>
              <a:rPr lang="de-DE"/>
              <a:t>(private) /p1/delete-entry-in-alarm-list</a:t>
            </a: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B753D5BC-06A2-E444-F342-29D4F051B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248" y="11028906"/>
            <a:ext cx="260088" cy="273783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76AC2175-49FB-26F5-AE98-AF5889C5B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8429" y="10071460"/>
            <a:ext cx="260088" cy="273783"/>
          </a:xfrm>
          <a:prstGeom prst="rect">
            <a:avLst/>
          </a:prstGeom>
        </p:spPr>
      </p:pic>
      <p:sp>
        <p:nvSpPr>
          <p:cNvPr id="43" name="Rechteck 42">
            <a:extLst>
              <a:ext uri="{FF2B5EF4-FFF2-40B4-BE49-F238E27FC236}">
                <a16:creationId xmlns:a16="http://schemas.microsoft.com/office/drawing/2014/main" id="{029D838B-9268-CDDA-BB54-8E25901775DF}"/>
              </a:ext>
            </a:extLst>
          </p:cNvPr>
          <p:cNvSpPr/>
          <p:nvPr/>
        </p:nvSpPr>
        <p:spPr>
          <a:xfrm>
            <a:off x="10746523" y="2868553"/>
            <a:ext cx="1934110" cy="1406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TroubleShooter</a:t>
            </a:r>
          </a:p>
          <a:p>
            <a:pPr>
              <a:tabLst>
                <a:tab pos="36000" algn="l"/>
              </a:tabLst>
            </a:pPr>
            <a:endParaRPr lang="de-DE" sz="800"/>
          </a:p>
          <a:p>
            <a:pPr>
              <a:tabLst>
                <a:tab pos="36000" algn="l"/>
              </a:tabLst>
            </a:pPr>
            <a:endParaRPr lang="de-DE" sz="800"/>
          </a:p>
          <a:p>
            <a:pPr>
              <a:tabLst>
                <a:tab pos="36000" algn="l"/>
              </a:tabLst>
            </a:pPr>
            <a:r>
              <a:rPr lang="de-DE" sz="800"/>
              <a:t>Check AlarmList for 532</a:t>
            </a:r>
          </a:p>
          <a:p>
            <a:pPr>
              <a:tabLst>
                <a:tab pos="36000" algn="l"/>
              </a:tabLst>
            </a:pPr>
            <a:r>
              <a:rPr lang="de-DE" sz="800"/>
              <a:t>IF timestamp elder that </a:t>
            </a:r>
            <a:r>
              <a:rPr lang="de-DE" sz="800" i="1"/>
              <a:t>[threshold]</a:t>
            </a:r>
          </a:p>
          <a:p>
            <a:pPr>
              <a:tabLst>
                <a:tab pos="36000" algn="l"/>
              </a:tabLst>
            </a:pPr>
            <a:r>
              <a:rPr lang="de-DE" sz="800"/>
              <a:t>THEN trigger </a:t>
            </a:r>
            <a:r>
              <a:rPr lang="de-DE" sz="800" i="1"/>
              <a:t>NetconfConnectionBuilder</a:t>
            </a:r>
          </a:p>
          <a:p>
            <a:pPr>
              <a:tabLst>
                <a:tab pos="36000" algn="l"/>
              </a:tabLst>
            </a:pPr>
            <a:endParaRPr lang="de-DE" sz="800" i="1"/>
          </a:p>
          <a:p>
            <a:pPr>
              <a:tabLst>
                <a:tab pos="36000" algn="l"/>
              </a:tabLst>
            </a:pPr>
            <a:r>
              <a:rPr lang="de-DE" sz="800"/>
              <a:t>Check AlarmList for …</a:t>
            </a:r>
            <a:endParaRPr lang="de-DE" sz="800" i="1"/>
          </a:p>
          <a:p>
            <a:pPr>
              <a:tabLst>
                <a:tab pos="36000" algn="l"/>
              </a:tabLst>
            </a:pPr>
            <a:r>
              <a:rPr lang="de-DE" sz="800"/>
              <a:t>IF condition</a:t>
            </a:r>
          </a:p>
          <a:p>
            <a:pPr>
              <a:tabLst>
                <a:tab pos="36000" algn="l"/>
              </a:tabLst>
            </a:pPr>
            <a:r>
              <a:rPr lang="de-DE" sz="800"/>
              <a:t>THEN counter measure</a:t>
            </a:r>
          </a:p>
          <a:p>
            <a:pPr>
              <a:tabLst>
                <a:tab pos="36000" algn="l"/>
              </a:tabLst>
            </a:pPr>
            <a:r>
              <a:rPr lang="de-DE" sz="800"/>
              <a:t>….</a:t>
            </a:r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C6F84473-3FA6-A539-02F4-FF4E7D27D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308" y="2974631"/>
            <a:ext cx="260088" cy="27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371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C82E5833-4438-2189-74F2-6F0A00400E55}"/>
              </a:ext>
            </a:extLst>
          </p:cNvPr>
          <p:cNvSpPr/>
          <p:nvPr/>
        </p:nvSpPr>
        <p:spPr>
          <a:xfrm>
            <a:off x="1265871" y="4422185"/>
            <a:ext cx="447675" cy="7641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MO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1A69868-6103-625F-02C0-18B79D5F8321}"/>
              </a:ext>
            </a:extLst>
          </p:cNvPr>
          <p:cNvCxnSpPr>
            <a:cxnSpLocks/>
          </p:cNvCxnSpPr>
          <p:nvPr/>
        </p:nvCxnSpPr>
        <p:spPr>
          <a:xfrm>
            <a:off x="1713545" y="4526733"/>
            <a:ext cx="3872863" cy="20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B532003B-47C2-54BB-664F-E6480C2F5F29}"/>
              </a:ext>
            </a:extLst>
          </p:cNvPr>
          <p:cNvSpPr txBox="1"/>
          <p:nvPr/>
        </p:nvSpPr>
        <p:spPr>
          <a:xfrm>
            <a:off x="1402628" y="4185705"/>
            <a:ext cx="4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900"/>
              <a:t>/v1/establish-netconf-connection</a:t>
            </a:r>
            <a:br>
              <a:rPr lang="de-DE" sz="900">
                <a:solidFill>
                  <a:srgbClr val="FF0000"/>
                </a:solidFill>
              </a:rPr>
            </a:br>
            <a:r>
              <a:rPr lang="de-DE" sz="900">
                <a:solidFill>
                  <a:srgbClr val="FF0000"/>
                </a:solidFill>
              </a:rPr>
              <a:t>{controllerName, mountName, deviceIp, deviceModel}</a:t>
            </a:r>
          </a:p>
        </p:txBody>
      </p:sp>
      <p:cxnSp>
        <p:nvCxnSpPr>
          <p:cNvPr id="17" name="Verbinder: gekrümmt 16">
            <a:extLst>
              <a:ext uri="{FF2B5EF4-FFF2-40B4-BE49-F238E27FC236}">
                <a16:creationId xmlns:a16="http://schemas.microsoft.com/office/drawing/2014/main" id="{2864ED64-2EE7-65DC-593B-667C0BE96ED5}"/>
              </a:ext>
            </a:extLst>
          </p:cNvPr>
          <p:cNvCxnSpPr>
            <a:cxnSpLocks/>
            <a:stCxn id="252" idx="6"/>
            <a:endCxn id="7" idx="1"/>
          </p:cNvCxnSpPr>
          <p:nvPr/>
        </p:nvCxnSpPr>
        <p:spPr>
          <a:xfrm>
            <a:off x="7099179" y="4827474"/>
            <a:ext cx="3274653" cy="3652356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FDF7E4D6-68B6-0355-CB3A-A2A0E28C931E}"/>
              </a:ext>
            </a:extLst>
          </p:cNvPr>
          <p:cNvCxnSpPr>
            <a:cxnSpLocks/>
          </p:cNvCxnSpPr>
          <p:nvPr/>
        </p:nvCxnSpPr>
        <p:spPr>
          <a:xfrm flipH="1" flipV="1">
            <a:off x="1713543" y="4744138"/>
            <a:ext cx="3872865" cy="1762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hteck 55">
            <a:extLst>
              <a:ext uri="{FF2B5EF4-FFF2-40B4-BE49-F238E27FC236}">
                <a16:creationId xmlns:a16="http://schemas.microsoft.com/office/drawing/2014/main" id="{9EBFEA2E-B45C-8A04-7DFE-5C0D54E2AEC3}"/>
              </a:ext>
            </a:extLst>
          </p:cNvPr>
          <p:cNvSpPr/>
          <p:nvPr/>
        </p:nvSpPr>
        <p:spPr>
          <a:xfrm>
            <a:off x="5591814" y="10710090"/>
            <a:ext cx="1571625" cy="16070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MediatorVmPhaseOut</a:t>
            </a:r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Check operational state and life cycle state of mediatorVm</a:t>
            </a:r>
          </a:p>
          <a:p>
            <a:endParaRPr lang="de-DE" sz="800"/>
          </a:p>
          <a:p>
            <a:r>
              <a:rPr lang="de-DE" sz="800"/>
              <a:t>IF mediatorVm not operational or marked deprecated</a:t>
            </a:r>
          </a:p>
          <a:p>
            <a:r>
              <a:rPr lang="de-DE" sz="800"/>
              <a:t>THEN add all related mediatorProcesses</a:t>
            </a:r>
          </a:p>
          <a:p>
            <a:pPr marL="171450" indent="-171450">
              <a:buFontTx/>
              <a:buChar char="-"/>
            </a:pPr>
            <a:r>
              <a:rPr lang="de-DE" sz="800"/>
              <a:t>to createQueue</a:t>
            </a:r>
          </a:p>
          <a:p>
            <a:pPr marL="171450" indent="-171450">
              <a:buFontTx/>
              <a:buChar char="-"/>
            </a:pPr>
            <a:r>
              <a:rPr lang="de-DE" sz="800"/>
              <a:t>to dismantleQueue</a:t>
            </a:r>
          </a:p>
          <a:p>
            <a:endParaRPr lang="de-DE" sz="800"/>
          </a:p>
        </p:txBody>
      </p:sp>
      <p:cxnSp>
        <p:nvCxnSpPr>
          <p:cNvPr id="61" name="Verbinder: gekrümmt 60">
            <a:extLst>
              <a:ext uri="{FF2B5EF4-FFF2-40B4-BE49-F238E27FC236}">
                <a16:creationId xmlns:a16="http://schemas.microsoft.com/office/drawing/2014/main" id="{BB2D77CC-429A-4157-5B5F-8EF25F79FEC7}"/>
              </a:ext>
            </a:extLst>
          </p:cNvPr>
          <p:cNvCxnSpPr>
            <a:cxnSpLocks/>
            <a:stCxn id="269" idx="6"/>
            <a:endCxn id="7" idx="1"/>
          </p:cNvCxnSpPr>
          <p:nvPr/>
        </p:nvCxnSpPr>
        <p:spPr>
          <a:xfrm flipV="1">
            <a:off x="7148071" y="8479830"/>
            <a:ext cx="3225761" cy="108592"/>
          </a:xfrm>
          <a:prstGeom prst="curvedConnector4">
            <a:avLst>
              <a:gd name="adj1" fmla="val 39116"/>
              <a:gd name="adj2" fmla="val 31051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Verbinder: gekrümmt 70">
            <a:extLst>
              <a:ext uri="{FF2B5EF4-FFF2-40B4-BE49-F238E27FC236}">
                <a16:creationId xmlns:a16="http://schemas.microsoft.com/office/drawing/2014/main" id="{7A46D94E-44A3-06EB-80F4-E03CA33A63EF}"/>
              </a:ext>
            </a:extLst>
          </p:cNvPr>
          <p:cNvCxnSpPr>
            <a:cxnSpLocks/>
            <a:stCxn id="306" idx="6"/>
            <a:endCxn id="7" idx="1"/>
          </p:cNvCxnSpPr>
          <p:nvPr/>
        </p:nvCxnSpPr>
        <p:spPr>
          <a:xfrm flipV="1">
            <a:off x="7154173" y="8479833"/>
            <a:ext cx="3219659" cy="3525939"/>
          </a:xfrm>
          <a:prstGeom prst="curvedConnector4">
            <a:avLst>
              <a:gd name="adj1" fmla="val 39095"/>
              <a:gd name="adj2" fmla="val 10648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8DFFF67D-D75C-32F2-8280-CB92247117F7}"/>
              </a:ext>
            </a:extLst>
          </p:cNvPr>
          <p:cNvSpPr/>
          <p:nvPr/>
        </p:nvSpPr>
        <p:spPr>
          <a:xfrm>
            <a:off x="13051900" y="12189955"/>
            <a:ext cx="447675" cy="328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CP</a:t>
            </a:r>
          </a:p>
        </p:txBody>
      </p:sp>
      <p:cxnSp>
        <p:nvCxnSpPr>
          <p:cNvPr id="90" name="Verbinder: gekrümmt 89">
            <a:extLst>
              <a:ext uri="{FF2B5EF4-FFF2-40B4-BE49-F238E27FC236}">
                <a16:creationId xmlns:a16="http://schemas.microsoft.com/office/drawing/2014/main" id="{4D6640C8-1C91-CE56-09D4-B2581D76A95E}"/>
              </a:ext>
            </a:extLst>
          </p:cNvPr>
          <p:cNvCxnSpPr>
            <a:cxnSpLocks/>
            <a:stCxn id="7" idx="3"/>
          </p:cNvCxnSpPr>
          <p:nvPr/>
        </p:nvCxnSpPr>
        <p:spPr>
          <a:xfrm rot="16200000" flipH="1">
            <a:off x="10189026" y="9668802"/>
            <a:ext cx="557015" cy="187402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Scrollen: vertikal 102">
            <a:extLst>
              <a:ext uri="{FF2B5EF4-FFF2-40B4-BE49-F238E27FC236}">
                <a16:creationId xmlns:a16="http://schemas.microsoft.com/office/drawing/2014/main" id="{CC6A1FEE-2FD5-A0BD-9923-2B7D18953F4E}"/>
              </a:ext>
            </a:extLst>
          </p:cNvPr>
          <p:cNvSpPr/>
          <p:nvPr/>
        </p:nvSpPr>
        <p:spPr>
          <a:xfrm>
            <a:off x="15248429" y="5280392"/>
            <a:ext cx="1560042" cy="997947"/>
          </a:xfrm>
          <a:prstGeom prst="verticalScroll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Queue of </a:t>
            </a:r>
            <a:r>
              <a:rPr lang="de-DE" sz="800">
                <a:solidFill>
                  <a:schemeClr val="accent5"/>
                </a:solidFill>
              </a:rPr>
              <a:t>mediatorProcesses</a:t>
            </a:r>
            <a:r>
              <a:rPr lang="de-DE" sz="800"/>
              <a:t> to be deleted</a:t>
            </a:r>
          </a:p>
        </p:txBody>
      </p:sp>
      <p:sp>
        <p:nvSpPr>
          <p:cNvPr id="104" name="Flussdiagramm: Zusammenstellen 103">
            <a:extLst>
              <a:ext uri="{FF2B5EF4-FFF2-40B4-BE49-F238E27FC236}">
                <a16:creationId xmlns:a16="http://schemas.microsoft.com/office/drawing/2014/main" id="{6181BD8D-E00F-C65B-E014-B40604A43C3E}"/>
              </a:ext>
            </a:extLst>
          </p:cNvPr>
          <p:cNvSpPr/>
          <p:nvPr/>
        </p:nvSpPr>
        <p:spPr>
          <a:xfrm>
            <a:off x="8964212" y="5474674"/>
            <a:ext cx="369117" cy="525849"/>
          </a:xfrm>
          <a:prstGeom prst="flowChartCol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06" name="Verbinder: gekrümmt 105">
            <a:extLst>
              <a:ext uri="{FF2B5EF4-FFF2-40B4-BE49-F238E27FC236}">
                <a16:creationId xmlns:a16="http://schemas.microsoft.com/office/drawing/2014/main" id="{D52FD071-631C-02F8-0686-931FA6B13A38}"/>
              </a:ext>
            </a:extLst>
          </p:cNvPr>
          <p:cNvCxnSpPr>
            <a:cxnSpLocks/>
            <a:stCxn id="104" idx="0"/>
            <a:endCxn id="103" idx="0"/>
          </p:cNvCxnSpPr>
          <p:nvPr/>
        </p:nvCxnSpPr>
        <p:spPr>
          <a:xfrm rot="5400000" flipH="1" flipV="1">
            <a:off x="12491468" y="1937689"/>
            <a:ext cx="194282" cy="6879682"/>
          </a:xfrm>
          <a:prstGeom prst="curvedConnector3">
            <a:avLst>
              <a:gd name="adj1" fmla="val 217664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Verbinder: gekrümmt 106">
            <a:extLst>
              <a:ext uri="{FF2B5EF4-FFF2-40B4-BE49-F238E27FC236}">
                <a16:creationId xmlns:a16="http://schemas.microsoft.com/office/drawing/2014/main" id="{D5EE6150-51F0-0E75-4A56-1F02BD0E5818}"/>
              </a:ext>
            </a:extLst>
          </p:cNvPr>
          <p:cNvCxnSpPr>
            <a:cxnSpLocks/>
            <a:stCxn id="270" idx="6"/>
            <a:endCxn id="104" idx="2"/>
          </p:cNvCxnSpPr>
          <p:nvPr/>
        </p:nvCxnSpPr>
        <p:spPr>
          <a:xfrm flipV="1">
            <a:off x="7148068" y="6000520"/>
            <a:ext cx="2000700" cy="2701388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Verbinder: gekrümmt 110">
            <a:extLst>
              <a:ext uri="{FF2B5EF4-FFF2-40B4-BE49-F238E27FC236}">
                <a16:creationId xmlns:a16="http://schemas.microsoft.com/office/drawing/2014/main" id="{BF8CEEB0-27E7-67FE-9CD2-F7BC154D1FF5}"/>
              </a:ext>
            </a:extLst>
          </p:cNvPr>
          <p:cNvCxnSpPr>
            <a:cxnSpLocks/>
            <a:stCxn id="314" idx="6"/>
            <a:endCxn id="104" idx="2"/>
          </p:cNvCxnSpPr>
          <p:nvPr/>
        </p:nvCxnSpPr>
        <p:spPr>
          <a:xfrm flipV="1">
            <a:off x="7154170" y="6000520"/>
            <a:ext cx="1994598" cy="6170472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feld 104">
            <a:extLst>
              <a:ext uri="{FF2B5EF4-FFF2-40B4-BE49-F238E27FC236}">
                <a16:creationId xmlns:a16="http://schemas.microsoft.com/office/drawing/2014/main" id="{CAA8C806-679B-A077-8EA7-09C210CD301E}"/>
              </a:ext>
            </a:extLst>
          </p:cNvPr>
          <p:cNvSpPr txBox="1"/>
          <p:nvPr/>
        </p:nvSpPr>
        <p:spPr>
          <a:xfrm>
            <a:off x="8743230" y="5596735"/>
            <a:ext cx="960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DelayElement</a:t>
            </a: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1FE31B48-04FF-C298-6453-7225A40DA40D}"/>
              </a:ext>
            </a:extLst>
          </p:cNvPr>
          <p:cNvSpPr/>
          <p:nvPr/>
        </p:nvSpPr>
        <p:spPr>
          <a:xfrm>
            <a:off x="15150487" y="9864751"/>
            <a:ext cx="1571625" cy="196434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UnusedMediatorProcessEraser</a:t>
            </a:r>
            <a:endParaRPr lang="de-DE" sz="800"/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IF there is a mountPoint with same deviceName in ODL (ask MO) using this mediatorProc. </a:t>
            </a:r>
          </a:p>
          <a:p>
            <a:r>
              <a:rPr lang="de-DE" sz="800"/>
              <a:t>THEN terminate without change</a:t>
            </a:r>
          </a:p>
          <a:p>
            <a:r>
              <a:rPr lang="de-DE" sz="800"/>
              <a:t>ELSE</a:t>
            </a:r>
          </a:p>
          <a:p>
            <a:r>
              <a:rPr lang="de-DE" sz="800"/>
              <a:t>- Dismantle mediatorProc</a:t>
            </a:r>
          </a:p>
          <a:p>
            <a:r>
              <a:rPr lang="de-DE" sz="800"/>
              <a:t>- Delete from AppDATA:</a:t>
            </a:r>
          </a:p>
          <a:p>
            <a:r>
              <a:rPr lang="de-DE" sz="800"/>
              <a:t>   . Netconf connection</a:t>
            </a:r>
          </a:p>
          <a:p>
            <a:r>
              <a:rPr lang="de-DE" sz="800"/>
              <a:t>   . Snmp connection</a:t>
            </a:r>
          </a:p>
          <a:p>
            <a:r>
              <a:rPr lang="de-DE" sz="800"/>
              <a:t>   . mediatorProcess</a:t>
            </a:r>
          </a:p>
        </p:txBody>
      </p:sp>
      <p:cxnSp>
        <p:nvCxnSpPr>
          <p:cNvPr id="134" name="Verbinder: gekrümmt 133">
            <a:extLst>
              <a:ext uri="{FF2B5EF4-FFF2-40B4-BE49-F238E27FC236}">
                <a16:creationId xmlns:a16="http://schemas.microsoft.com/office/drawing/2014/main" id="{5D7864F1-1ED2-2D1B-8095-C111EA57113A}"/>
              </a:ext>
            </a:extLst>
          </p:cNvPr>
          <p:cNvCxnSpPr>
            <a:cxnSpLocks/>
            <a:stCxn id="103" idx="2"/>
            <a:endCxn id="125" idx="0"/>
          </p:cNvCxnSpPr>
          <p:nvPr/>
        </p:nvCxnSpPr>
        <p:spPr>
          <a:xfrm rot="5400000">
            <a:off x="14189168" y="8025469"/>
            <a:ext cx="3586412" cy="92153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feld 143">
            <a:extLst>
              <a:ext uri="{FF2B5EF4-FFF2-40B4-BE49-F238E27FC236}">
                <a16:creationId xmlns:a16="http://schemas.microsoft.com/office/drawing/2014/main" id="{29D2BC74-3BE7-174C-D371-53D0640E1A05}"/>
              </a:ext>
            </a:extLst>
          </p:cNvPr>
          <p:cNvSpPr txBox="1"/>
          <p:nvPr/>
        </p:nvSpPr>
        <p:spPr>
          <a:xfrm>
            <a:off x="19348189" y="3296396"/>
            <a:ext cx="2548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/>
              <a:t>/v1/dismantle-netconf-connection</a:t>
            </a:r>
          </a:p>
        </p:txBody>
      </p: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76527FFD-A27D-C191-D636-0418D2347CF0}"/>
              </a:ext>
            </a:extLst>
          </p:cNvPr>
          <p:cNvCxnSpPr>
            <a:cxnSpLocks/>
          </p:cNvCxnSpPr>
          <p:nvPr/>
        </p:nvCxnSpPr>
        <p:spPr>
          <a:xfrm flipH="1">
            <a:off x="19320037" y="3536847"/>
            <a:ext cx="22735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D5350EC3-81F5-928A-7AB1-C83683A18AC5}"/>
              </a:ext>
            </a:extLst>
          </p:cNvPr>
          <p:cNvCxnSpPr>
            <a:cxnSpLocks/>
          </p:cNvCxnSpPr>
          <p:nvPr/>
        </p:nvCxnSpPr>
        <p:spPr>
          <a:xfrm>
            <a:off x="19320037" y="3659955"/>
            <a:ext cx="22735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feld 148">
            <a:extLst>
              <a:ext uri="{FF2B5EF4-FFF2-40B4-BE49-F238E27FC236}">
                <a16:creationId xmlns:a16="http://schemas.microsoft.com/office/drawing/2014/main" id="{B4C32C75-C175-6476-37BE-A82F695B7FF2}"/>
              </a:ext>
            </a:extLst>
          </p:cNvPr>
          <p:cNvSpPr txBox="1"/>
          <p:nvPr/>
        </p:nvSpPr>
        <p:spPr>
          <a:xfrm flipH="1">
            <a:off x="20827679" y="3639302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sp>
        <p:nvSpPr>
          <p:cNvPr id="210" name="Rechteck: abgerundete Ecken 209">
            <a:extLst>
              <a:ext uri="{FF2B5EF4-FFF2-40B4-BE49-F238E27FC236}">
                <a16:creationId xmlns:a16="http://schemas.microsoft.com/office/drawing/2014/main" id="{44B2B777-E588-B36C-E091-FFDB6E04A573}"/>
              </a:ext>
            </a:extLst>
          </p:cNvPr>
          <p:cNvSpPr/>
          <p:nvPr/>
        </p:nvSpPr>
        <p:spPr>
          <a:xfrm>
            <a:off x="21593563" y="3461123"/>
            <a:ext cx="447675" cy="3046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MO</a:t>
            </a:r>
          </a:p>
        </p:txBody>
      </p:sp>
      <p:sp>
        <p:nvSpPr>
          <p:cNvPr id="213" name="Rechteck 212">
            <a:extLst>
              <a:ext uri="{FF2B5EF4-FFF2-40B4-BE49-F238E27FC236}">
                <a16:creationId xmlns:a16="http://schemas.microsoft.com/office/drawing/2014/main" id="{65B05C39-22C7-3BDA-ABC8-0E08C367F8F4}"/>
              </a:ext>
            </a:extLst>
          </p:cNvPr>
          <p:cNvSpPr/>
          <p:nvPr/>
        </p:nvSpPr>
        <p:spPr>
          <a:xfrm>
            <a:off x="17747467" y="3190473"/>
            <a:ext cx="1571625" cy="1320166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Search throu all mediatorVms for mediatorProcesses for the defined deviceName</a:t>
            </a:r>
          </a:p>
          <a:p>
            <a:endParaRPr lang="de-DE" sz="800"/>
          </a:p>
          <a:p>
            <a:r>
              <a:rPr lang="de-DE" sz="800"/>
              <a:t>Add all mediatorProcesses</a:t>
            </a:r>
          </a:p>
          <a:p>
            <a:pPr marL="171450" indent="-171450">
              <a:buFontTx/>
              <a:buChar char="-"/>
            </a:pPr>
            <a:r>
              <a:rPr lang="de-DE" sz="800"/>
              <a:t>to dismantleQueue</a:t>
            </a:r>
          </a:p>
        </p:txBody>
      </p:sp>
      <p:cxnSp>
        <p:nvCxnSpPr>
          <p:cNvPr id="220" name="Verbinder: gekrümmt 219">
            <a:extLst>
              <a:ext uri="{FF2B5EF4-FFF2-40B4-BE49-F238E27FC236}">
                <a16:creationId xmlns:a16="http://schemas.microsoft.com/office/drawing/2014/main" id="{561F252A-8C14-74DE-20EB-D490C3D6B7B2}"/>
              </a:ext>
            </a:extLst>
          </p:cNvPr>
          <p:cNvCxnSpPr>
            <a:cxnSpLocks/>
            <a:stCxn id="213" idx="2"/>
            <a:endCxn id="103" idx="0"/>
          </p:cNvCxnSpPr>
          <p:nvPr/>
        </p:nvCxnSpPr>
        <p:spPr>
          <a:xfrm rot="5400000">
            <a:off x="16895989" y="3643104"/>
            <a:ext cx="769750" cy="2504827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Rechteck 224">
            <a:extLst>
              <a:ext uri="{FF2B5EF4-FFF2-40B4-BE49-F238E27FC236}">
                <a16:creationId xmlns:a16="http://schemas.microsoft.com/office/drawing/2014/main" id="{8778D23D-E927-DABD-0332-D93807833FA4}"/>
              </a:ext>
            </a:extLst>
          </p:cNvPr>
          <p:cNvSpPr/>
          <p:nvPr/>
        </p:nvSpPr>
        <p:spPr>
          <a:xfrm>
            <a:off x="17729239" y="4910189"/>
            <a:ext cx="1798430" cy="2678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InactiveMediatorProcessTracker</a:t>
            </a:r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Go slowly through all mediatorProcesses at all mediatorVms</a:t>
            </a:r>
          </a:p>
          <a:p>
            <a:endParaRPr lang="de-DE" sz="800"/>
          </a:p>
          <a:p>
            <a:r>
              <a:rPr lang="de-DE" sz="800"/>
              <a:t>IF mediatorProcess is responsive on netconf</a:t>
            </a:r>
          </a:p>
          <a:p>
            <a:r>
              <a:rPr lang="de-DE" sz="800"/>
              <a:t>THEN set firstSilenceDate=‚‘</a:t>
            </a:r>
          </a:p>
          <a:p>
            <a:r>
              <a:rPr lang="de-DE" sz="800"/>
              <a:t>ELSE check firstSilenceDate</a:t>
            </a:r>
          </a:p>
          <a:p>
            <a:endParaRPr lang="de-DE" sz="800"/>
          </a:p>
          <a:p>
            <a:r>
              <a:rPr lang="de-DE" sz="800"/>
              <a:t>IF firstSilenceDate==‚‘</a:t>
            </a:r>
            <a:br>
              <a:rPr lang="de-DE" sz="800"/>
            </a:br>
            <a:r>
              <a:rPr lang="de-DE" sz="800"/>
              <a:t>THEN set firstSilenceDate= currentDate</a:t>
            </a:r>
          </a:p>
          <a:p>
            <a:pPr>
              <a:tabLst>
                <a:tab pos="36000" algn="l"/>
              </a:tabLst>
            </a:pPr>
            <a:r>
              <a:rPr lang="de-DE" sz="800"/>
              <a:t>ELSE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IF currentDate – firstSilenceDate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&lt;=[keepMediatorProcessPeriode]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THEN no change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ELSE add to dismantleQueue</a:t>
            </a:r>
          </a:p>
        </p:txBody>
      </p:sp>
      <p:pic>
        <p:nvPicPr>
          <p:cNvPr id="226" name="Grafik 225">
            <a:extLst>
              <a:ext uri="{FF2B5EF4-FFF2-40B4-BE49-F238E27FC236}">
                <a16:creationId xmlns:a16="http://schemas.microsoft.com/office/drawing/2014/main" id="{E590A6FC-6F27-1F52-01B4-64301CA59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6436" y="5123628"/>
            <a:ext cx="260088" cy="251271"/>
          </a:xfrm>
          <a:prstGeom prst="rect">
            <a:avLst/>
          </a:prstGeom>
        </p:spPr>
      </p:pic>
      <p:cxnSp>
        <p:nvCxnSpPr>
          <p:cNvPr id="227" name="Verbinder: gekrümmt 226">
            <a:extLst>
              <a:ext uri="{FF2B5EF4-FFF2-40B4-BE49-F238E27FC236}">
                <a16:creationId xmlns:a16="http://schemas.microsoft.com/office/drawing/2014/main" id="{2DB9CE1C-063B-8F4A-85EB-0564067865B1}"/>
              </a:ext>
            </a:extLst>
          </p:cNvPr>
          <p:cNvCxnSpPr>
            <a:cxnSpLocks/>
            <a:stCxn id="225" idx="2"/>
            <a:endCxn id="103" idx="0"/>
          </p:cNvCxnSpPr>
          <p:nvPr/>
        </p:nvCxnSpPr>
        <p:spPr>
          <a:xfrm rot="5400000" flipH="1">
            <a:off x="16174464" y="5134375"/>
            <a:ext cx="2307976" cy="2600004"/>
          </a:xfrm>
          <a:prstGeom prst="curvedConnector5">
            <a:avLst>
              <a:gd name="adj1" fmla="val -9905"/>
              <a:gd name="adj2" fmla="val 52292"/>
              <a:gd name="adj3" fmla="val 109905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fik 5">
            <a:extLst>
              <a:ext uri="{FF2B5EF4-FFF2-40B4-BE49-F238E27FC236}">
                <a16:creationId xmlns:a16="http://schemas.microsoft.com/office/drawing/2014/main" id="{BB4CEC89-E2AF-ACDF-4C17-3FFE58CA1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7837" y="9091944"/>
            <a:ext cx="447675" cy="439333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4668BABB-C444-CB57-7286-A2F16DFE205B}"/>
              </a:ext>
            </a:extLst>
          </p:cNvPr>
          <p:cNvSpPr/>
          <p:nvPr/>
        </p:nvSpPr>
        <p:spPr>
          <a:xfrm>
            <a:off x="5591814" y="9039934"/>
            <a:ext cx="1571625" cy="1454839"/>
          </a:xfrm>
          <a:prstGeom prst="rect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Check feasibility of deleting mediatorVm without the total number of mediatorProcesses exceeding the capacity of remaining mediatorVms</a:t>
            </a:r>
          </a:p>
          <a:p>
            <a:endParaRPr lang="de-DE" sz="800"/>
          </a:p>
          <a:p>
            <a:r>
              <a:rPr lang="de-DE" sz="800"/>
              <a:t>IF reducing resources feasible</a:t>
            </a:r>
          </a:p>
          <a:p>
            <a:r>
              <a:rPr lang="de-DE" sz="800"/>
              <a:t>THEN mark life cycle state of defined mediatorVm to be deprecated</a:t>
            </a:r>
          </a:p>
          <a:p>
            <a:r>
              <a:rPr lang="de-DE" sz="800"/>
              <a:t>ELSE respond error code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AAB2F06-0754-E97D-8AB1-446BC5BE28CA}"/>
              </a:ext>
            </a:extLst>
          </p:cNvPr>
          <p:cNvCxnSpPr>
            <a:cxnSpLocks/>
          </p:cNvCxnSpPr>
          <p:nvPr/>
        </p:nvCxnSpPr>
        <p:spPr>
          <a:xfrm>
            <a:off x="1660440" y="9229331"/>
            <a:ext cx="3939537" cy="16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2E92D9DA-09E1-FFC1-98ED-74AC6BF930F6}"/>
              </a:ext>
            </a:extLst>
          </p:cNvPr>
          <p:cNvSpPr txBox="1"/>
          <p:nvPr/>
        </p:nvSpPr>
        <p:spPr>
          <a:xfrm>
            <a:off x="3156685" y="8999784"/>
            <a:ext cx="2548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/>
              <a:t>/v1/disregard-mediator-instance-manager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FF5680D-94F2-F4E3-FACF-63C223B4FC46}"/>
              </a:ext>
            </a:extLst>
          </p:cNvPr>
          <p:cNvCxnSpPr>
            <a:cxnSpLocks/>
          </p:cNvCxnSpPr>
          <p:nvPr/>
        </p:nvCxnSpPr>
        <p:spPr>
          <a:xfrm flipH="1">
            <a:off x="1708708" y="9455071"/>
            <a:ext cx="38912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9104B411-5652-1AC8-0AF7-757041C6FEF8}"/>
              </a:ext>
            </a:extLst>
          </p:cNvPr>
          <p:cNvSpPr txBox="1"/>
          <p:nvPr/>
        </p:nvSpPr>
        <p:spPr>
          <a:xfrm>
            <a:off x="1727112" y="9411808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A6E275FF-6DBA-3F21-5F4B-5FB306A7F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088" y="10793292"/>
            <a:ext cx="260088" cy="273783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ED8304CB-60E8-CF50-67B6-A0D2890F5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7837" y="5958475"/>
            <a:ext cx="447675" cy="439333"/>
          </a:xfrm>
          <a:prstGeom prst="rect">
            <a:avLst/>
          </a:prstGeom>
        </p:spPr>
      </p:pic>
      <p:sp>
        <p:nvSpPr>
          <p:cNvPr id="53" name="Rechteck 52">
            <a:extLst>
              <a:ext uri="{FF2B5EF4-FFF2-40B4-BE49-F238E27FC236}">
                <a16:creationId xmlns:a16="http://schemas.microsoft.com/office/drawing/2014/main" id="{0CB49B7E-39F6-8FA1-969C-E823B6707C2C}"/>
              </a:ext>
            </a:extLst>
          </p:cNvPr>
          <p:cNvSpPr/>
          <p:nvPr/>
        </p:nvSpPr>
        <p:spPr>
          <a:xfrm>
            <a:off x="5599977" y="5619142"/>
            <a:ext cx="1571625" cy="82971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Create new MIM in CONFIGfile of MM</a:t>
            </a:r>
          </a:p>
          <a:p>
            <a:endParaRPr lang="de-DE" sz="800"/>
          </a:p>
          <a:p>
            <a:r>
              <a:rPr lang="de-DE" sz="800"/>
              <a:t>Create new mediatorVm of defined mediatorVmTemplate in internal data</a:t>
            </a:r>
          </a:p>
          <a:p>
            <a:r>
              <a:rPr lang="de-DE" sz="800"/>
              <a:t> 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364C45C3-6320-2BE5-6D29-5D768A0B74C2}"/>
              </a:ext>
            </a:extLst>
          </p:cNvPr>
          <p:cNvCxnSpPr>
            <a:cxnSpLocks/>
          </p:cNvCxnSpPr>
          <p:nvPr/>
        </p:nvCxnSpPr>
        <p:spPr>
          <a:xfrm>
            <a:off x="1660440" y="6095862"/>
            <a:ext cx="3939537" cy="16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7ADFF6E2-BED2-7001-6D8F-FB1B1141882C}"/>
              </a:ext>
            </a:extLst>
          </p:cNvPr>
          <p:cNvSpPr txBox="1"/>
          <p:nvPr/>
        </p:nvSpPr>
        <p:spPr>
          <a:xfrm>
            <a:off x="3194785" y="5866315"/>
            <a:ext cx="2397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/v1/regard-mediator-instance-manager</a:t>
            </a:r>
          </a:p>
        </p:txBody>
      </p: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A54EFF6E-FB0C-128D-DA81-486F143823EE}"/>
              </a:ext>
            </a:extLst>
          </p:cNvPr>
          <p:cNvCxnSpPr>
            <a:cxnSpLocks/>
          </p:cNvCxnSpPr>
          <p:nvPr/>
        </p:nvCxnSpPr>
        <p:spPr>
          <a:xfrm flipH="1">
            <a:off x="1708708" y="6321602"/>
            <a:ext cx="38912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feld 59">
            <a:extLst>
              <a:ext uri="{FF2B5EF4-FFF2-40B4-BE49-F238E27FC236}">
                <a16:creationId xmlns:a16="http://schemas.microsoft.com/office/drawing/2014/main" id="{0EE42FE5-8A58-E39B-A6C9-FAEC5A5A3985}"/>
              </a:ext>
            </a:extLst>
          </p:cNvPr>
          <p:cNvSpPr txBox="1"/>
          <p:nvPr/>
        </p:nvSpPr>
        <p:spPr>
          <a:xfrm>
            <a:off x="1727112" y="6278339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B91D68D4-8FDC-2F63-0B78-6959E36F48EA}"/>
              </a:ext>
            </a:extLst>
          </p:cNvPr>
          <p:cNvSpPr/>
          <p:nvPr/>
        </p:nvSpPr>
        <p:spPr>
          <a:xfrm>
            <a:off x="17729239" y="7854080"/>
            <a:ext cx="1798430" cy="1694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EmptyMediatorVmEraser</a:t>
            </a:r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Go slowly through all mediatorVms</a:t>
            </a:r>
          </a:p>
          <a:p>
            <a:endParaRPr lang="de-DE" sz="800"/>
          </a:p>
          <a:p>
            <a:r>
              <a:rPr lang="de-DE" sz="800"/>
              <a:t>IF mediatorVm is marked to be  deprecated AND number of mediatorProcesses==0</a:t>
            </a:r>
          </a:p>
          <a:p>
            <a:endParaRPr lang="de-DE" sz="800"/>
          </a:p>
          <a:p>
            <a:r>
              <a:rPr lang="de-DE" sz="800"/>
              <a:t>THEN </a:t>
            </a:r>
          </a:p>
          <a:p>
            <a:pPr marL="171450" indent="-171450">
              <a:buFontTx/>
              <a:buChar char="-"/>
            </a:pPr>
            <a:r>
              <a:rPr lang="de-DE" sz="800"/>
              <a:t>delete MIM from CONFIGfile</a:t>
            </a:r>
          </a:p>
          <a:p>
            <a:pPr marL="171450" indent="-171450">
              <a:buFontTx/>
              <a:buChar char="-"/>
            </a:pPr>
            <a:r>
              <a:rPr lang="de-DE" sz="800"/>
              <a:t>delete mediatorVm from AppDATA</a:t>
            </a:r>
          </a:p>
          <a:p>
            <a:pPr marL="171450" indent="-171450">
              <a:buFontTx/>
              <a:buChar char="-"/>
            </a:pPr>
            <a:endParaRPr lang="de-DE" sz="800"/>
          </a:p>
          <a:p>
            <a:pPr marL="171450" indent="-171450">
              <a:buFontTx/>
              <a:buChar char="-"/>
            </a:pPr>
            <a:endParaRPr lang="de-DE" sz="800"/>
          </a:p>
        </p:txBody>
      </p:sp>
      <p:pic>
        <p:nvPicPr>
          <p:cNvPr id="66" name="Grafik 65">
            <a:extLst>
              <a:ext uri="{FF2B5EF4-FFF2-40B4-BE49-F238E27FC236}">
                <a16:creationId xmlns:a16="http://schemas.microsoft.com/office/drawing/2014/main" id="{CF2B14E0-79EE-778B-31F8-147AF761D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044" y="7929602"/>
            <a:ext cx="260088" cy="251271"/>
          </a:xfrm>
          <a:prstGeom prst="rect">
            <a:avLst/>
          </a:prstGeom>
        </p:spPr>
      </p:pic>
      <p:cxnSp>
        <p:nvCxnSpPr>
          <p:cNvPr id="94" name="Verbinder: gekrümmt 93">
            <a:extLst>
              <a:ext uri="{FF2B5EF4-FFF2-40B4-BE49-F238E27FC236}">
                <a16:creationId xmlns:a16="http://schemas.microsoft.com/office/drawing/2014/main" id="{FAA648C8-F1C2-EED5-2050-3327EE9688C6}"/>
              </a:ext>
            </a:extLst>
          </p:cNvPr>
          <p:cNvCxnSpPr>
            <a:cxnSpLocks/>
            <a:stCxn id="96" idx="6"/>
            <a:endCxn id="77" idx="0"/>
          </p:cNvCxnSpPr>
          <p:nvPr/>
        </p:nvCxnSpPr>
        <p:spPr>
          <a:xfrm>
            <a:off x="10328629" y="11266031"/>
            <a:ext cx="2947109" cy="923927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Zylinder 98">
            <a:extLst>
              <a:ext uri="{FF2B5EF4-FFF2-40B4-BE49-F238E27FC236}">
                <a16:creationId xmlns:a16="http://schemas.microsoft.com/office/drawing/2014/main" id="{891D0F3E-4EDF-452F-15BB-368A6160A5A0}"/>
              </a:ext>
            </a:extLst>
          </p:cNvPr>
          <p:cNvSpPr/>
          <p:nvPr/>
        </p:nvSpPr>
        <p:spPr>
          <a:xfrm>
            <a:off x="11751309" y="6505010"/>
            <a:ext cx="1461538" cy="541614"/>
          </a:xfrm>
          <a:prstGeom prst="can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AppDATA</a:t>
            </a:r>
            <a:br>
              <a:rPr lang="de-DE" sz="1050"/>
            </a:br>
            <a:r>
              <a:rPr lang="de-DE" sz="1050"/>
              <a:t>(ElasticSearch)</a:t>
            </a:r>
          </a:p>
        </p:txBody>
      </p:sp>
      <p:cxnSp>
        <p:nvCxnSpPr>
          <p:cNvPr id="102" name="Verbinder: gekrümmt 101">
            <a:extLst>
              <a:ext uri="{FF2B5EF4-FFF2-40B4-BE49-F238E27FC236}">
                <a16:creationId xmlns:a16="http://schemas.microsoft.com/office/drawing/2014/main" id="{4A175909-FAD8-251A-99E3-765E8C9D63C1}"/>
              </a:ext>
            </a:extLst>
          </p:cNvPr>
          <p:cNvCxnSpPr>
            <a:cxnSpLocks/>
            <a:stCxn id="100" idx="6"/>
            <a:endCxn id="99" idx="1"/>
          </p:cNvCxnSpPr>
          <p:nvPr/>
        </p:nvCxnSpPr>
        <p:spPr>
          <a:xfrm flipV="1">
            <a:off x="10329968" y="6505010"/>
            <a:ext cx="2152113" cy="5081478"/>
          </a:xfrm>
          <a:prstGeom prst="curvedConnector4">
            <a:avLst>
              <a:gd name="adj1" fmla="val 33022"/>
              <a:gd name="adj2" fmla="val 104499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hteck 74">
            <a:extLst>
              <a:ext uri="{FF2B5EF4-FFF2-40B4-BE49-F238E27FC236}">
                <a16:creationId xmlns:a16="http://schemas.microsoft.com/office/drawing/2014/main" id="{20FFD60F-206D-CB5E-071D-9AF309A2C14D}"/>
              </a:ext>
            </a:extLst>
          </p:cNvPr>
          <p:cNvSpPr/>
          <p:nvPr/>
        </p:nvSpPr>
        <p:spPr>
          <a:xfrm>
            <a:off x="8670991" y="10937557"/>
            <a:ext cx="1665303" cy="31394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NetconfConnectionBuilder</a:t>
            </a:r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Prepare device (if not 204, create alarm in AppDATA)</a:t>
            </a:r>
          </a:p>
          <a:p>
            <a:r>
              <a:rPr lang="de-DE" sz="800"/>
              <a:t>Add SnmpServers to AppDATA</a:t>
            </a:r>
          </a:p>
          <a:p>
            <a:endParaRPr lang="de-DE" sz="800"/>
          </a:p>
          <a:p>
            <a:r>
              <a:rPr lang="de-DE" sz="800"/>
              <a:t>Pick mediatorVm in </a:t>
            </a:r>
            <a:r>
              <a:rPr lang="de-DE" sz="800" i="1"/>
              <a:t>installed </a:t>
            </a:r>
            <a:r>
              <a:rPr lang="de-DE" sz="800"/>
              <a:t>and </a:t>
            </a:r>
            <a:r>
              <a:rPr lang="de-DE" sz="800" i="1"/>
              <a:t>enabled</a:t>
            </a:r>
            <a:r>
              <a:rPr lang="de-DE" sz="800"/>
              <a:t> states with lowest number of mediatorProcesses</a:t>
            </a:r>
          </a:p>
          <a:p>
            <a:endParaRPr lang="de-DE" sz="800"/>
          </a:p>
          <a:p>
            <a:r>
              <a:rPr lang="de-DE" sz="800"/>
              <a:t>Create mediatorProcess</a:t>
            </a:r>
          </a:p>
          <a:p>
            <a:endParaRPr lang="de-DE" sz="800"/>
          </a:p>
          <a:p>
            <a:r>
              <a:rPr lang="de-DE" sz="800"/>
              <a:t>add to AppDATA:</a:t>
            </a:r>
          </a:p>
          <a:p>
            <a:pPr marL="171450" indent="-171450">
              <a:buFontTx/>
              <a:buChar char="-"/>
            </a:pPr>
            <a:r>
              <a:rPr lang="de-DE" sz="800"/>
              <a:t>mediatorProcess </a:t>
            </a:r>
          </a:p>
          <a:p>
            <a:pPr marL="171450" indent="-171450">
              <a:buFontTx/>
              <a:buChar char="-"/>
            </a:pPr>
            <a:r>
              <a:rPr lang="de-DE" sz="800"/>
              <a:t>(update NetconClient at Controller)</a:t>
            </a:r>
          </a:p>
          <a:p>
            <a:pPr marL="171450" indent="-171450">
              <a:buFontTx/>
              <a:buChar char="-"/>
            </a:pPr>
            <a:r>
              <a:rPr lang="de-DE" sz="800"/>
              <a:t>Snmp connection</a:t>
            </a:r>
          </a:p>
          <a:p>
            <a:pPr marL="171450" indent="-171450">
              <a:buFontTx/>
              <a:buChar char="-"/>
            </a:pPr>
            <a:r>
              <a:rPr lang="de-DE" sz="800"/>
              <a:t>Netconf connection</a:t>
            </a:r>
          </a:p>
          <a:p>
            <a:endParaRPr lang="de-DE" sz="800"/>
          </a:p>
          <a:p>
            <a:r>
              <a:rPr lang="de-DE" sz="800"/>
              <a:t>Meassure operationalState of netconfInterface</a:t>
            </a:r>
          </a:p>
          <a:p>
            <a:endParaRPr lang="de-DE" sz="800"/>
          </a:p>
          <a:p>
            <a:r>
              <a:rPr lang="de-DE" sz="800"/>
              <a:t>Update AppDATA with operationalState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F17CEFED-6C55-18CE-0DC0-A02405C77B87}"/>
              </a:ext>
            </a:extLst>
          </p:cNvPr>
          <p:cNvSpPr/>
          <p:nvPr/>
        </p:nvSpPr>
        <p:spPr>
          <a:xfrm>
            <a:off x="10282910" y="11241829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0316B798-F84B-8F58-B450-28890D99FD37}"/>
              </a:ext>
            </a:extLst>
          </p:cNvPr>
          <p:cNvSpPr/>
          <p:nvPr/>
        </p:nvSpPr>
        <p:spPr>
          <a:xfrm>
            <a:off x="10284249" y="11562289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64EE5B7C-EB86-A4BA-C1DC-A5CF5509B0DF}"/>
              </a:ext>
            </a:extLst>
          </p:cNvPr>
          <p:cNvSpPr/>
          <p:nvPr/>
        </p:nvSpPr>
        <p:spPr>
          <a:xfrm>
            <a:off x="10243326" y="13379754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628ABCC8-58C9-4BCD-7F8B-F84942659C2C}"/>
              </a:ext>
            </a:extLst>
          </p:cNvPr>
          <p:cNvSpPr/>
          <p:nvPr/>
        </p:nvSpPr>
        <p:spPr>
          <a:xfrm>
            <a:off x="10220467" y="12111736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3D249596-FA55-E138-EB1E-1CF618EE9902}"/>
              </a:ext>
            </a:extLst>
          </p:cNvPr>
          <p:cNvSpPr/>
          <p:nvPr/>
        </p:nvSpPr>
        <p:spPr>
          <a:xfrm>
            <a:off x="10257223" y="12842676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5" name="Rechteck 204">
            <a:extLst>
              <a:ext uri="{FF2B5EF4-FFF2-40B4-BE49-F238E27FC236}">
                <a16:creationId xmlns:a16="http://schemas.microsoft.com/office/drawing/2014/main" id="{25949520-17DD-825A-771B-50A9F85D5649}"/>
              </a:ext>
            </a:extLst>
          </p:cNvPr>
          <p:cNvSpPr/>
          <p:nvPr/>
        </p:nvSpPr>
        <p:spPr>
          <a:xfrm>
            <a:off x="11704113" y="7295985"/>
            <a:ext cx="1571625" cy="15079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MediatorVmReconciler</a:t>
            </a:r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Regularly update AppDATA with configuration data about all mediatorVms</a:t>
            </a:r>
            <a:br>
              <a:rPr lang="de-DE" sz="800"/>
            </a:br>
            <a:endParaRPr lang="de-DE" sz="800"/>
          </a:p>
          <a:p>
            <a:r>
              <a:rPr lang="de-DE" sz="800"/>
              <a:t>IF not responding</a:t>
            </a:r>
            <a:br>
              <a:rPr lang="de-DE" sz="800"/>
            </a:br>
            <a:r>
              <a:rPr lang="de-DE" sz="800"/>
              <a:t>THEN operationState of the mediatorVM to be set to UNAVAILABLE)</a:t>
            </a:r>
          </a:p>
        </p:txBody>
      </p:sp>
      <p:pic>
        <p:nvPicPr>
          <p:cNvPr id="206" name="Grafik 205">
            <a:extLst>
              <a:ext uri="{FF2B5EF4-FFF2-40B4-BE49-F238E27FC236}">
                <a16:creationId xmlns:a16="http://schemas.microsoft.com/office/drawing/2014/main" id="{32DFB1AC-4A02-46A6-0902-CDB05ECAF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1954" y="7357574"/>
            <a:ext cx="260088" cy="273783"/>
          </a:xfrm>
          <a:prstGeom prst="rect">
            <a:avLst/>
          </a:prstGeom>
        </p:spPr>
      </p:pic>
      <p:sp>
        <p:nvSpPr>
          <p:cNvPr id="207" name="Textfeld 206">
            <a:extLst>
              <a:ext uri="{FF2B5EF4-FFF2-40B4-BE49-F238E27FC236}">
                <a16:creationId xmlns:a16="http://schemas.microsoft.com/office/drawing/2014/main" id="{7B3F1610-212D-C5AF-6461-4AF848173708}"/>
              </a:ext>
            </a:extLst>
          </p:cNvPr>
          <p:cNvSpPr txBox="1"/>
          <p:nvPr/>
        </p:nvSpPr>
        <p:spPr>
          <a:xfrm rot="3530940">
            <a:off x="10508011" y="12812988"/>
            <a:ext cx="1921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/v1/provide-mediator-instance</a:t>
            </a:r>
          </a:p>
          <a:p>
            <a:r>
              <a:rPr lang="de-DE" sz="600"/>
              <a:t>{deviceName, deviceIp, deviceModel}</a:t>
            </a:r>
          </a:p>
        </p:txBody>
      </p:sp>
      <p:cxnSp>
        <p:nvCxnSpPr>
          <p:cNvPr id="208" name="Verbinder: gekrümmt 207">
            <a:extLst>
              <a:ext uri="{FF2B5EF4-FFF2-40B4-BE49-F238E27FC236}">
                <a16:creationId xmlns:a16="http://schemas.microsoft.com/office/drawing/2014/main" id="{03D99CD0-D661-AEB6-B7DB-B8279173FD62}"/>
              </a:ext>
            </a:extLst>
          </p:cNvPr>
          <p:cNvCxnSpPr>
            <a:cxnSpLocks/>
            <a:stCxn id="205" idx="2"/>
            <a:endCxn id="366" idx="1"/>
          </p:cNvCxnSpPr>
          <p:nvPr/>
        </p:nvCxnSpPr>
        <p:spPr>
          <a:xfrm rot="5400000">
            <a:off x="9831716" y="10882284"/>
            <a:ext cx="4736535" cy="5798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Textfeld 215">
            <a:extLst>
              <a:ext uri="{FF2B5EF4-FFF2-40B4-BE49-F238E27FC236}">
                <a16:creationId xmlns:a16="http://schemas.microsoft.com/office/drawing/2014/main" id="{FB2DD6AF-ADEF-2063-C223-F2D4C5A446DF}"/>
              </a:ext>
            </a:extLst>
          </p:cNvPr>
          <p:cNvSpPr txBox="1"/>
          <p:nvPr/>
        </p:nvSpPr>
        <p:spPr>
          <a:xfrm rot="16538606">
            <a:off x="10948122" y="12303099"/>
            <a:ext cx="19217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/v1/list-mediator-instances</a:t>
            </a:r>
          </a:p>
        </p:txBody>
      </p:sp>
      <p:cxnSp>
        <p:nvCxnSpPr>
          <p:cNvPr id="217" name="Verbinder: gekrümmt 216">
            <a:extLst>
              <a:ext uri="{FF2B5EF4-FFF2-40B4-BE49-F238E27FC236}">
                <a16:creationId xmlns:a16="http://schemas.microsoft.com/office/drawing/2014/main" id="{1A29FBAB-E411-12EF-C0AC-859391AAC5FF}"/>
              </a:ext>
            </a:extLst>
          </p:cNvPr>
          <p:cNvCxnSpPr>
            <a:cxnSpLocks/>
            <a:stCxn id="205" idx="0"/>
            <a:endCxn id="99" idx="3"/>
          </p:cNvCxnSpPr>
          <p:nvPr/>
        </p:nvCxnSpPr>
        <p:spPr>
          <a:xfrm rot="16200000" flipV="1">
            <a:off x="12361322" y="7167383"/>
            <a:ext cx="249358" cy="784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Ellipse 232">
            <a:extLst>
              <a:ext uri="{FF2B5EF4-FFF2-40B4-BE49-F238E27FC236}">
                <a16:creationId xmlns:a16="http://schemas.microsoft.com/office/drawing/2014/main" id="{5A08106D-934F-EB86-4CA1-0A5FF2908077}"/>
              </a:ext>
            </a:extLst>
          </p:cNvPr>
          <p:cNvSpPr/>
          <p:nvPr/>
        </p:nvSpPr>
        <p:spPr>
          <a:xfrm>
            <a:off x="16675771" y="10048601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6" name="Ellipse 235">
            <a:extLst>
              <a:ext uri="{FF2B5EF4-FFF2-40B4-BE49-F238E27FC236}">
                <a16:creationId xmlns:a16="http://schemas.microsoft.com/office/drawing/2014/main" id="{EFFB7ABE-B8F6-7B01-1534-91C8EEE1822D}"/>
              </a:ext>
            </a:extLst>
          </p:cNvPr>
          <p:cNvSpPr/>
          <p:nvPr/>
        </p:nvSpPr>
        <p:spPr>
          <a:xfrm>
            <a:off x="10243327" y="12586719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7" name="Ellipse 236">
            <a:extLst>
              <a:ext uri="{FF2B5EF4-FFF2-40B4-BE49-F238E27FC236}">
                <a16:creationId xmlns:a16="http://schemas.microsoft.com/office/drawing/2014/main" id="{68D95A02-3B3D-25B5-488B-B9B18912DDAC}"/>
              </a:ext>
            </a:extLst>
          </p:cNvPr>
          <p:cNvSpPr/>
          <p:nvPr/>
        </p:nvSpPr>
        <p:spPr>
          <a:xfrm>
            <a:off x="7134092" y="11165798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9" name="Ellipse 238">
            <a:extLst>
              <a:ext uri="{FF2B5EF4-FFF2-40B4-BE49-F238E27FC236}">
                <a16:creationId xmlns:a16="http://schemas.microsoft.com/office/drawing/2014/main" id="{699FEFDF-5F9D-D272-08D7-FC35BCE49259}"/>
              </a:ext>
            </a:extLst>
          </p:cNvPr>
          <p:cNvSpPr/>
          <p:nvPr/>
        </p:nvSpPr>
        <p:spPr>
          <a:xfrm>
            <a:off x="16677304" y="10400981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251A60F8-F452-DA9F-FF1A-280D4C63F686}"/>
              </a:ext>
            </a:extLst>
          </p:cNvPr>
          <p:cNvSpPr/>
          <p:nvPr/>
        </p:nvSpPr>
        <p:spPr>
          <a:xfrm>
            <a:off x="7115308" y="9634529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0" name="Ellipse 249">
            <a:extLst>
              <a:ext uri="{FF2B5EF4-FFF2-40B4-BE49-F238E27FC236}">
                <a16:creationId xmlns:a16="http://schemas.microsoft.com/office/drawing/2014/main" id="{65F29E2F-51E4-E254-C00D-19FC22B9266A}"/>
              </a:ext>
            </a:extLst>
          </p:cNvPr>
          <p:cNvSpPr/>
          <p:nvPr/>
        </p:nvSpPr>
        <p:spPr>
          <a:xfrm>
            <a:off x="17756187" y="3347370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1" name="Ellipse 250">
            <a:extLst>
              <a:ext uri="{FF2B5EF4-FFF2-40B4-BE49-F238E27FC236}">
                <a16:creationId xmlns:a16="http://schemas.microsoft.com/office/drawing/2014/main" id="{C90EDC9F-D9EE-82C5-8D77-44BDA50CEFAB}"/>
              </a:ext>
            </a:extLst>
          </p:cNvPr>
          <p:cNvSpPr/>
          <p:nvPr/>
        </p:nvSpPr>
        <p:spPr>
          <a:xfrm>
            <a:off x="7108096" y="919491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870663B-C73A-4771-A211-4239452F5C6F}"/>
              </a:ext>
            </a:extLst>
          </p:cNvPr>
          <p:cNvSpPr/>
          <p:nvPr/>
        </p:nvSpPr>
        <p:spPr>
          <a:xfrm>
            <a:off x="5591811" y="4230880"/>
            <a:ext cx="1579788" cy="120874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IF an additional interface can be provided without exceeding the engineering limit</a:t>
            </a:r>
          </a:p>
          <a:p>
            <a:r>
              <a:rPr lang="de-DE" sz="800"/>
              <a:t>THEN</a:t>
            </a:r>
          </a:p>
          <a:p>
            <a:pPr marL="171450" indent="-171450">
              <a:buFontTx/>
              <a:buChar char="-"/>
            </a:pPr>
            <a:r>
              <a:rPr lang="de-DE" sz="800"/>
              <a:t>add device to targetState</a:t>
            </a:r>
          </a:p>
          <a:p>
            <a:pPr marL="171450" indent="-171450">
              <a:buFontTx/>
              <a:buChar char="-"/>
            </a:pPr>
            <a:r>
              <a:rPr lang="de-DE" sz="800"/>
              <a:t>add mountPoint to targetState</a:t>
            </a:r>
          </a:p>
          <a:p>
            <a:pPr marL="171450" indent="-171450">
              <a:buFontTx/>
              <a:buChar char="-"/>
            </a:pPr>
            <a:r>
              <a:rPr lang="de-DE" sz="800">
                <a:solidFill>
                  <a:srgbClr val="FF0000"/>
                </a:solidFill>
              </a:rPr>
              <a:t>add to createQueue</a:t>
            </a:r>
          </a:p>
          <a:p>
            <a:r>
              <a:rPr lang="de-DE" sz="800"/>
              <a:t>ELSE respond error code</a:t>
            </a:r>
          </a:p>
        </p:txBody>
      </p:sp>
      <p:sp>
        <p:nvSpPr>
          <p:cNvPr id="248" name="Ellipse 247">
            <a:extLst>
              <a:ext uri="{FF2B5EF4-FFF2-40B4-BE49-F238E27FC236}">
                <a16:creationId xmlns:a16="http://schemas.microsoft.com/office/drawing/2014/main" id="{A692FBE6-EE2E-AF3B-EC93-8B8A9207898A}"/>
              </a:ext>
            </a:extLst>
          </p:cNvPr>
          <p:cNvSpPr/>
          <p:nvPr/>
        </p:nvSpPr>
        <p:spPr>
          <a:xfrm>
            <a:off x="7078257" y="5068498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2" name="Ellipse 251">
            <a:extLst>
              <a:ext uri="{FF2B5EF4-FFF2-40B4-BE49-F238E27FC236}">
                <a16:creationId xmlns:a16="http://schemas.microsoft.com/office/drawing/2014/main" id="{913FE3AE-A440-CC21-792C-79FD25782F18}"/>
              </a:ext>
            </a:extLst>
          </p:cNvPr>
          <p:cNvSpPr/>
          <p:nvPr/>
        </p:nvSpPr>
        <p:spPr>
          <a:xfrm>
            <a:off x="7053460" y="4804617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C6D8E57B-9A7E-DB25-D05B-D55D542817D4}"/>
              </a:ext>
            </a:extLst>
          </p:cNvPr>
          <p:cNvSpPr/>
          <p:nvPr/>
        </p:nvSpPr>
        <p:spPr>
          <a:xfrm>
            <a:off x="7060919" y="4386573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55" name="Verbinder: gekrümmt 254">
            <a:extLst>
              <a:ext uri="{FF2B5EF4-FFF2-40B4-BE49-F238E27FC236}">
                <a16:creationId xmlns:a16="http://schemas.microsoft.com/office/drawing/2014/main" id="{7AEAA726-2F8B-A437-D670-2CD4209FF0BB}"/>
              </a:ext>
            </a:extLst>
          </p:cNvPr>
          <p:cNvCxnSpPr>
            <a:cxnSpLocks/>
            <a:stCxn id="253" idx="6"/>
            <a:endCxn id="7" idx="2"/>
          </p:cNvCxnSpPr>
          <p:nvPr/>
        </p:nvCxnSpPr>
        <p:spPr>
          <a:xfrm>
            <a:off x="7106638" y="4409433"/>
            <a:ext cx="2564989" cy="4572483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Verbinder: gekrümmt 259">
            <a:extLst>
              <a:ext uri="{FF2B5EF4-FFF2-40B4-BE49-F238E27FC236}">
                <a16:creationId xmlns:a16="http://schemas.microsoft.com/office/drawing/2014/main" id="{E162F2CB-7C2A-AD67-4219-003FF27FD4F3}"/>
              </a:ext>
            </a:extLst>
          </p:cNvPr>
          <p:cNvCxnSpPr>
            <a:cxnSpLocks/>
            <a:stCxn id="53" idx="3"/>
            <a:endCxn id="99" idx="3"/>
          </p:cNvCxnSpPr>
          <p:nvPr/>
        </p:nvCxnSpPr>
        <p:spPr>
          <a:xfrm>
            <a:off x="7171602" y="6033998"/>
            <a:ext cx="5310479" cy="1012629"/>
          </a:xfrm>
          <a:prstGeom prst="curvedConnector4">
            <a:avLst>
              <a:gd name="adj1" fmla="val 43120"/>
              <a:gd name="adj2" fmla="val 122575"/>
            </a:avLst>
          </a:prstGeom>
          <a:ln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Verbinder: gekrümmt 264">
            <a:extLst>
              <a:ext uri="{FF2B5EF4-FFF2-40B4-BE49-F238E27FC236}">
                <a16:creationId xmlns:a16="http://schemas.microsoft.com/office/drawing/2014/main" id="{503582BC-0E02-58A4-A693-1CBB2113D5CD}"/>
              </a:ext>
            </a:extLst>
          </p:cNvPr>
          <p:cNvCxnSpPr>
            <a:cxnSpLocks/>
            <a:stCxn id="243" idx="7"/>
            <a:endCxn id="99" idx="1"/>
          </p:cNvCxnSpPr>
          <p:nvPr/>
        </p:nvCxnSpPr>
        <p:spPr>
          <a:xfrm rot="5400000" flipH="1" flipV="1">
            <a:off x="9516280" y="4132158"/>
            <a:ext cx="592949" cy="5338654"/>
          </a:xfrm>
          <a:prstGeom prst="curvedConnector3">
            <a:avLst>
              <a:gd name="adj1" fmla="val 13855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uppieren 273">
            <a:extLst>
              <a:ext uri="{FF2B5EF4-FFF2-40B4-BE49-F238E27FC236}">
                <a16:creationId xmlns:a16="http://schemas.microsoft.com/office/drawing/2014/main" id="{B6F62F1F-22A3-BA43-A9C9-60D2BA520C01}"/>
              </a:ext>
            </a:extLst>
          </p:cNvPr>
          <p:cNvGrpSpPr/>
          <p:nvPr/>
        </p:nvGrpSpPr>
        <p:grpSpPr>
          <a:xfrm>
            <a:off x="5599982" y="6634086"/>
            <a:ext cx="1571625" cy="2213250"/>
            <a:chOff x="4699866" y="3563189"/>
            <a:chExt cx="1571625" cy="2213250"/>
          </a:xfrm>
        </p:grpSpPr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0A919349-A95E-3FB9-AA37-0D6D48B0754E}"/>
                </a:ext>
              </a:extLst>
            </p:cNvPr>
            <p:cNvSpPr/>
            <p:nvPr/>
          </p:nvSpPr>
          <p:spPr>
            <a:xfrm>
              <a:off x="4699866" y="3563189"/>
              <a:ext cx="1571625" cy="22132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de-DE" sz="800" i="1"/>
                <a:t>ContinuousLoadSharing</a:t>
              </a:r>
            </a:p>
            <a:p>
              <a:endParaRPr lang="de-DE" sz="800"/>
            </a:p>
            <a:p>
              <a:endParaRPr lang="de-DE" sz="800"/>
            </a:p>
            <a:p>
              <a:r>
                <a:rPr lang="de-DE" sz="800"/>
                <a:t>Calculate average number of mediatorProcesses at available mediatorVms of same mediatorVmTemplate</a:t>
              </a:r>
            </a:p>
            <a:p>
              <a:endParaRPr lang="de-DE" sz="800"/>
            </a:p>
            <a:p>
              <a:r>
                <a:rPr lang="de-DE" sz="800"/>
                <a:t>IF some mediatorVm exceeds average by more than a </a:t>
              </a:r>
              <a:r>
                <a:rPr lang="de-DE" sz="800" i="1"/>
                <a:t>[threshold]</a:t>
              </a:r>
            </a:p>
            <a:p>
              <a:r>
                <a:rPr lang="de-DE" sz="800"/>
                <a:t>THEN </a:t>
              </a:r>
            </a:p>
            <a:p>
              <a:pPr marL="171450" indent="-171450">
                <a:buFontTx/>
                <a:buChar char="-"/>
              </a:pPr>
              <a:r>
                <a:rPr lang="de-DE" sz="800"/>
                <a:t>calculate number of mediatorProcesses to be re-allocated</a:t>
              </a:r>
            </a:p>
            <a:p>
              <a:pPr marL="171450" indent="-171450">
                <a:buFontTx/>
                <a:buChar char="-"/>
              </a:pPr>
              <a:r>
                <a:rPr lang="de-DE" sz="800"/>
                <a:t>add to createQueue</a:t>
              </a:r>
            </a:p>
            <a:p>
              <a:pPr marL="171450" indent="-171450">
                <a:buFontTx/>
                <a:buChar char="-"/>
              </a:pPr>
              <a:r>
                <a:rPr lang="de-DE" sz="800"/>
                <a:t>add to dismantleQueue</a:t>
              </a:r>
            </a:p>
            <a:p>
              <a:pPr marL="171450" indent="-171450">
                <a:buFontTx/>
                <a:buChar char="-"/>
              </a:pPr>
              <a:endParaRPr lang="de-DE" sz="800"/>
            </a:p>
            <a:p>
              <a:endParaRPr lang="de-DE" sz="800"/>
            </a:p>
          </p:txBody>
        </p:sp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06E9B889-5E01-4664-FE1F-8B1AA87DF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3360" y="3645991"/>
              <a:ext cx="260088" cy="251271"/>
            </a:xfrm>
            <a:prstGeom prst="rect">
              <a:avLst/>
            </a:prstGeom>
          </p:spPr>
        </p:pic>
        <p:sp>
          <p:nvSpPr>
            <p:cNvPr id="243" name="Ellipse 242">
              <a:extLst>
                <a:ext uri="{FF2B5EF4-FFF2-40B4-BE49-F238E27FC236}">
                  <a16:creationId xmlns:a16="http://schemas.microsoft.com/office/drawing/2014/main" id="{155E365C-AD3C-E52C-E1E7-A9A0B6D0E6D2}"/>
                </a:ext>
              </a:extLst>
            </p:cNvPr>
            <p:cNvSpPr/>
            <p:nvPr/>
          </p:nvSpPr>
          <p:spPr>
            <a:xfrm>
              <a:off x="6204287" y="4020367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9" name="Ellipse 268">
              <a:extLst>
                <a:ext uri="{FF2B5EF4-FFF2-40B4-BE49-F238E27FC236}">
                  <a16:creationId xmlns:a16="http://schemas.microsoft.com/office/drawing/2014/main" id="{C72007A6-BE0E-D0E3-59A3-5062510B8F81}"/>
                </a:ext>
              </a:extLst>
            </p:cNvPr>
            <p:cNvSpPr/>
            <p:nvPr/>
          </p:nvSpPr>
          <p:spPr>
            <a:xfrm>
              <a:off x="6202236" y="5494665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0" name="Ellipse 269">
              <a:extLst>
                <a:ext uri="{FF2B5EF4-FFF2-40B4-BE49-F238E27FC236}">
                  <a16:creationId xmlns:a16="http://schemas.microsoft.com/office/drawing/2014/main" id="{38997AE1-6E30-E4A9-D73F-B36BE7AA4AB6}"/>
                </a:ext>
              </a:extLst>
            </p:cNvPr>
            <p:cNvSpPr/>
            <p:nvPr/>
          </p:nvSpPr>
          <p:spPr>
            <a:xfrm>
              <a:off x="6202236" y="5608151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281" name="Verbinder: gekrümmt 280">
            <a:extLst>
              <a:ext uri="{FF2B5EF4-FFF2-40B4-BE49-F238E27FC236}">
                <a16:creationId xmlns:a16="http://schemas.microsoft.com/office/drawing/2014/main" id="{634204CB-EC13-119C-997C-7C9884C5DEC8}"/>
              </a:ext>
            </a:extLst>
          </p:cNvPr>
          <p:cNvCxnSpPr>
            <a:cxnSpLocks/>
            <a:stCxn id="250" idx="2"/>
            <a:endCxn id="99" idx="1"/>
          </p:cNvCxnSpPr>
          <p:nvPr/>
        </p:nvCxnSpPr>
        <p:spPr>
          <a:xfrm rot="10800000" flipV="1">
            <a:off x="12482078" y="3370229"/>
            <a:ext cx="5274106" cy="3134783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Verbinder: gekrümmt 293">
            <a:extLst>
              <a:ext uri="{FF2B5EF4-FFF2-40B4-BE49-F238E27FC236}">
                <a16:creationId xmlns:a16="http://schemas.microsoft.com/office/drawing/2014/main" id="{E067D299-71C2-27F9-678A-7BDD854ED661}"/>
              </a:ext>
            </a:extLst>
          </p:cNvPr>
          <p:cNvCxnSpPr>
            <a:cxnSpLocks/>
            <a:stCxn id="251" idx="6"/>
            <a:endCxn id="99" idx="1"/>
          </p:cNvCxnSpPr>
          <p:nvPr/>
        </p:nvCxnSpPr>
        <p:spPr>
          <a:xfrm flipV="1">
            <a:off x="7153812" y="6505010"/>
            <a:ext cx="5328266" cy="2712762"/>
          </a:xfrm>
          <a:prstGeom prst="curvedConnector4">
            <a:avLst>
              <a:gd name="adj1" fmla="val 43143"/>
              <a:gd name="adj2" fmla="val 108427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Verbinder: gekrümmt 296">
            <a:extLst>
              <a:ext uri="{FF2B5EF4-FFF2-40B4-BE49-F238E27FC236}">
                <a16:creationId xmlns:a16="http://schemas.microsoft.com/office/drawing/2014/main" id="{A53EADE9-A1A9-04F8-ED1D-624A078F0D86}"/>
              </a:ext>
            </a:extLst>
          </p:cNvPr>
          <p:cNvCxnSpPr>
            <a:cxnSpLocks/>
            <a:stCxn id="247" idx="6"/>
            <a:endCxn id="99" idx="3"/>
          </p:cNvCxnSpPr>
          <p:nvPr/>
        </p:nvCxnSpPr>
        <p:spPr>
          <a:xfrm flipV="1">
            <a:off x="7161024" y="7046624"/>
            <a:ext cx="5321054" cy="2610762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Verbinder: gekrümmt 304">
            <a:extLst>
              <a:ext uri="{FF2B5EF4-FFF2-40B4-BE49-F238E27FC236}">
                <a16:creationId xmlns:a16="http://schemas.microsoft.com/office/drawing/2014/main" id="{9A6FDAFC-2F83-3C10-82E9-21AD364A062C}"/>
              </a:ext>
            </a:extLst>
          </p:cNvPr>
          <p:cNvCxnSpPr>
            <a:cxnSpLocks/>
            <a:stCxn id="237" idx="7"/>
            <a:endCxn id="99" idx="1"/>
          </p:cNvCxnSpPr>
          <p:nvPr/>
        </p:nvCxnSpPr>
        <p:spPr>
          <a:xfrm rot="5400000" flipH="1" flipV="1">
            <a:off x="7493855" y="6184271"/>
            <a:ext cx="4667480" cy="5308965"/>
          </a:xfrm>
          <a:prstGeom prst="curvedConnector3">
            <a:avLst>
              <a:gd name="adj1" fmla="val 104898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Ellipse 305">
            <a:extLst>
              <a:ext uri="{FF2B5EF4-FFF2-40B4-BE49-F238E27FC236}">
                <a16:creationId xmlns:a16="http://schemas.microsoft.com/office/drawing/2014/main" id="{4EDFCD88-C51B-124F-B009-FF682DA1F8D2}"/>
              </a:ext>
            </a:extLst>
          </p:cNvPr>
          <p:cNvSpPr/>
          <p:nvPr/>
        </p:nvSpPr>
        <p:spPr>
          <a:xfrm>
            <a:off x="7108454" y="11982912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C39D2EEF-7699-FF86-C89D-04ACFCF32E31}"/>
              </a:ext>
            </a:extLst>
          </p:cNvPr>
          <p:cNvSpPr/>
          <p:nvPr/>
        </p:nvSpPr>
        <p:spPr>
          <a:xfrm>
            <a:off x="7108454" y="1214813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20" name="Verbinder: gekrümmt 319">
            <a:extLst>
              <a:ext uri="{FF2B5EF4-FFF2-40B4-BE49-F238E27FC236}">
                <a16:creationId xmlns:a16="http://schemas.microsoft.com/office/drawing/2014/main" id="{D47B3217-2E2D-88F4-CEF8-C155B5FF44DA}"/>
              </a:ext>
            </a:extLst>
          </p:cNvPr>
          <p:cNvCxnSpPr>
            <a:cxnSpLocks/>
            <a:stCxn id="233" idx="6"/>
            <a:endCxn id="210" idx="2"/>
          </p:cNvCxnSpPr>
          <p:nvPr/>
        </p:nvCxnSpPr>
        <p:spPr>
          <a:xfrm flipV="1">
            <a:off x="16721490" y="3765812"/>
            <a:ext cx="5095911" cy="6305649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Verbinder: gekrümmt 325">
            <a:extLst>
              <a:ext uri="{FF2B5EF4-FFF2-40B4-BE49-F238E27FC236}">
                <a16:creationId xmlns:a16="http://schemas.microsoft.com/office/drawing/2014/main" id="{8D92A0B0-8F15-20BD-3BFC-A1733049A130}"/>
              </a:ext>
            </a:extLst>
          </p:cNvPr>
          <p:cNvCxnSpPr>
            <a:cxnSpLocks/>
            <a:stCxn id="239" idx="6"/>
            <a:endCxn id="84" idx="3"/>
          </p:cNvCxnSpPr>
          <p:nvPr/>
        </p:nvCxnSpPr>
        <p:spPr>
          <a:xfrm flipH="1">
            <a:off x="12242540" y="10423841"/>
            <a:ext cx="4480480" cy="3243747"/>
          </a:xfrm>
          <a:prstGeom prst="curvedConnector3">
            <a:avLst>
              <a:gd name="adj1" fmla="val -510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Rechteck 344">
            <a:extLst>
              <a:ext uri="{FF2B5EF4-FFF2-40B4-BE49-F238E27FC236}">
                <a16:creationId xmlns:a16="http://schemas.microsoft.com/office/drawing/2014/main" id="{A9FAA250-F266-90C1-2B0C-43D14650F20C}"/>
              </a:ext>
            </a:extLst>
          </p:cNvPr>
          <p:cNvSpPr/>
          <p:nvPr/>
        </p:nvSpPr>
        <p:spPr>
          <a:xfrm>
            <a:off x="13451202" y="7295985"/>
            <a:ext cx="1571625" cy="1507975"/>
          </a:xfrm>
          <a:prstGeom prst="rect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NetconfInterfaceStateAnalyzer</a:t>
            </a:r>
            <a:endParaRPr lang="de-DE" sz="800"/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Regularly send netconf requests to all documented mediatorProcesses to determine their operational state and update AppDATA with status data</a:t>
            </a:r>
          </a:p>
        </p:txBody>
      </p:sp>
      <p:pic>
        <p:nvPicPr>
          <p:cNvPr id="346" name="Grafik 345">
            <a:extLst>
              <a:ext uri="{FF2B5EF4-FFF2-40B4-BE49-F238E27FC236}">
                <a16:creationId xmlns:a16="http://schemas.microsoft.com/office/drawing/2014/main" id="{EFF0F8E7-A9DA-88D8-2ACB-F80ECF978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5701" y="7494465"/>
            <a:ext cx="260088" cy="273783"/>
          </a:xfrm>
          <a:prstGeom prst="rect">
            <a:avLst/>
          </a:prstGeom>
        </p:spPr>
      </p:pic>
      <p:cxnSp>
        <p:nvCxnSpPr>
          <p:cNvPr id="347" name="Verbinder: gekrümmt 346">
            <a:extLst>
              <a:ext uri="{FF2B5EF4-FFF2-40B4-BE49-F238E27FC236}">
                <a16:creationId xmlns:a16="http://schemas.microsoft.com/office/drawing/2014/main" id="{907C5ECB-8D81-E02A-D05F-356C446EE16A}"/>
              </a:ext>
            </a:extLst>
          </p:cNvPr>
          <p:cNvCxnSpPr>
            <a:cxnSpLocks/>
            <a:stCxn id="345" idx="0"/>
            <a:endCxn id="99" idx="3"/>
          </p:cNvCxnSpPr>
          <p:nvPr/>
        </p:nvCxnSpPr>
        <p:spPr>
          <a:xfrm rot="16200000" flipV="1">
            <a:off x="13234866" y="6293836"/>
            <a:ext cx="249358" cy="17549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Verbinder: gekrümmt 348">
            <a:extLst>
              <a:ext uri="{FF2B5EF4-FFF2-40B4-BE49-F238E27FC236}">
                <a16:creationId xmlns:a16="http://schemas.microsoft.com/office/drawing/2014/main" id="{F96F34AD-F463-3D89-2CA1-85EC87B0FA4F}"/>
              </a:ext>
            </a:extLst>
          </p:cNvPr>
          <p:cNvCxnSpPr>
            <a:cxnSpLocks/>
            <a:stCxn id="345" idx="2"/>
            <a:endCxn id="114" idx="3"/>
          </p:cNvCxnSpPr>
          <p:nvPr/>
        </p:nvCxnSpPr>
        <p:spPr>
          <a:xfrm rot="5400000">
            <a:off x="10529388" y="10517109"/>
            <a:ext cx="5420776" cy="199447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Verbinder: gekrümmt 352">
            <a:extLst>
              <a:ext uri="{FF2B5EF4-FFF2-40B4-BE49-F238E27FC236}">
                <a16:creationId xmlns:a16="http://schemas.microsoft.com/office/drawing/2014/main" id="{5C9CE3CC-A505-0137-60F5-65EB22F4E8FA}"/>
              </a:ext>
            </a:extLst>
          </p:cNvPr>
          <p:cNvCxnSpPr>
            <a:cxnSpLocks/>
            <a:stCxn id="345" idx="0"/>
            <a:endCxn id="99" idx="1"/>
          </p:cNvCxnSpPr>
          <p:nvPr/>
        </p:nvCxnSpPr>
        <p:spPr>
          <a:xfrm rot="16200000" flipV="1">
            <a:off x="12964059" y="6023029"/>
            <a:ext cx="790972" cy="1754934"/>
          </a:xfrm>
          <a:prstGeom prst="curvedConnector3">
            <a:avLst>
              <a:gd name="adj1" fmla="val 1289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Textfeld 360">
            <a:extLst>
              <a:ext uri="{FF2B5EF4-FFF2-40B4-BE49-F238E27FC236}">
                <a16:creationId xmlns:a16="http://schemas.microsoft.com/office/drawing/2014/main" id="{6F960F18-3AF0-3FBE-9EFF-0F931AABE477}"/>
              </a:ext>
            </a:extLst>
          </p:cNvPr>
          <p:cNvSpPr txBox="1"/>
          <p:nvPr/>
        </p:nvSpPr>
        <p:spPr>
          <a:xfrm>
            <a:off x="12235741" y="13415524"/>
            <a:ext cx="19217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/v1/dismantle-mediator-instance</a:t>
            </a:r>
          </a:p>
        </p:txBody>
      </p:sp>
      <p:grpSp>
        <p:nvGrpSpPr>
          <p:cNvPr id="368" name="Gruppieren 367">
            <a:extLst>
              <a:ext uri="{FF2B5EF4-FFF2-40B4-BE49-F238E27FC236}">
                <a16:creationId xmlns:a16="http://schemas.microsoft.com/office/drawing/2014/main" id="{544AB122-FC55-7CAB-709A-1F82B50EFF40}"/>
              </a:ext>
            </a:extLst>
          </p:cNvPr>
          <p:cNvGrpSpPr/>
          <p:nvPr/>
        </p:nvGrpSpPr>
        <p:grpSpPr>
          <a:xfrm>
            <a:off x="10871348" y="13396568"/>
            <a:ext cx="1371192" cy="1549618"/>
            <a:chOff x="7951059" y="10590996"/>
            <a:chExt cx="1371192" cy="1549618"/>
          </a:xfrm>
        </p:grpSpPr>
        <p:grpSp>
          <p:nvGrpSpPr>
            <p:cNvPr id="202" name="Gruppieren 201">
              <a:extLst>
                <a:ext uri="{FF2B5EF4-FFF2-40B4-BE49-F238E27FC236}">
                  <a16:creationId xmlns:a16="http://schemas.microsoft.com/office/drawing/2014/main" id="{5AEE2D10-F89B-E123-FB17-177128F8D172}"/>
                </a:ext>
              </a:extLst>
            </p:cNvPr>
            <p:cNvGrpSpPr/>
            <p:nvPr/>
          </p:nvGrpSpPr>
          <p:grpSpPr>
            <a:xfrm>
              <a:off x="7951059" y="10590996"/>
              <a:ext cx="1257300" cy="1442907"/>
              <a:chOff x="10924900" y="10591007"/>
              <a:chExt cx="1257300" cy="1442907"/>
            </a:xfrm>
          </p:grpSpPr>
          <p:sp>
            <p:nvSpPr>
              <p:cNvPr id="196" name="Rechteck: abgerundete Ecken 195">
                <a:extLst>
                  <a:ext uri="{FF2B5EF4-FFF2-40B4-BE49-F238E27FC236}">
                    <a16:creationId xmlns:a16="http://schemas.microsoft.com/office/drawing/2014/main" id="{E5C8744C-C02C-AE9B-4068-2EA3CF897565}"/>
                  </a:ext>
                </a:extLst>
              </p:cNvPr>
              <p:cNvSpPr/>
              <p:nvPr/>
            </p:nvSpPr>
            <p:spPr>
              <a:xfrm>
                <a:off x="10924900" y="10591007"/>
                <a:ext cx="1257300" cy="1442907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  <a:p>
                <a:pPr algn="ctr"/>
                <a:endParaRPr lang="de-DE" sz="1050"/>
              </a:p>
              <a:p>
                <a:pPr algn="ctr"/>
                <a:r>
                  <a:rPr lang="de-DE" sz="1050"/>
                  <a:t>mediatorVM</a:t>
                </a:r>
              </a:p>
              <a:p>
                <a:endParaRPr lang="de-DE" sz="800"/>
              </a:p>
              <a:p>
                <a:r>
                  <a:rPr lang="de-DE" sz="800"/>
                  <a:t>mediatorProcess#1</a:t>
                </a:r>
              </a:p>
              <a:p>
                <a:r>
                  <a:rPr lang="de-DE" sz="800"/>
                  <a:t>mediatorProcess#2</a:t>
                </a:r>
              </a:p>
              <a:p>
                <a:r>
                  <a:rPr lang="de-DE" sz="800"/>
                  <a:t>…</a:t>
                </a:r>
              </a:p>
              <a:p>
                <a:r>
                  <a:rPr lang="de-DE" sz="800"/>
                  <a:t>mediatorProcess#n</a:t>
                </a:r>
              </a:p>
            </p:txBody>
          </p:sp>
          <p:sp>
            <p:nvSpPr>
              <p:cNvPr id="197" name="Rechteck: abgerundete Ecken 196">
                <a:extLst>
                  <a:ext uri="{FF2B5EF4-FFF2-40B4-BE49-F238E27FC236}">
                    <a16:creationId xmlns:a16="http://schemas.microsoft.com/office/drawing/2014/main" id="{DE1EF18F-9F6B-4DEF-80C2-451681BC0416}"/>
                  </a:ext>
                </a:extLst>
              </p:cNvPr>
              <p:cNvSpPr/>
              <p:nvPr/>
            </p:nvSpPr>
            <p:spPr>
              <a:xfrm>
                <a:off x="10924900" y="10591007"/>
                <a:ext cx="1257300" cy="32861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900"/>
                  <a:t>MIM</a:t>
                </a:r>
              </a:p>
            </p:txBody>
          </p:sp>
          <p:sp>
            <p:nvSpPr>
              <p:cNvPr id="198" name="Ellipse 197">
                <a:extLst>
                  <a:ext uri="{FF2B5EF4-FFF2-40B4-BE49-F238E27FC236}">
                    <a16:creationId xmlns:a16="http://schemas.microsoft.com/office/drawing/2014/main" id="{81EDEA61-9EF0-BCF7-3AD9-C2A5DFD686D2}"/>
                  </a:ext>
                </a:extLst>
              </p:cNvPr>
              <p:cNvSpPr/>
              <p:nvPr/>
            </p:nvSpPr>
            <p:spPr>
              <a:xfrm>
                <a:off x="10948386" y="11689639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99" name="Ellipse 198">
                <a:extLst>
                  <a:ext uri="{FF2B5EF4-FFF2-40B4-BE49-F238E27FC236}">
                    <a16:creationId xmlns:a16="http://schemas.microsoft.com/office/drawing/2014/main" id="{586B154C-DFF2-10DA-F4CE-88E0CB4B6A0C}"/>
                  </a:ext>
                </a:extLst>
              </p:cNvPr>
              <p:cNvSpPr/>
              <p:nvPr/>
            </p:nvSpPr>
            <p:spPr>
              <a:xfrm>
                <a:off x="12069816" y="11689639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200" name="Ellipse 199">
                <a:extLst>
                  <a:ext uri="{FF2B5EF4-FFF2-40B4-BE49-F238E27FC236}">
                    <a16:creationId xmlns:a16="http://schemas.microsoft.com/office/drawing/2014/main" id="{DE7A60DA-6C97-CB59-B087-07F92C9D4C03}"/>
                  </a:ext>
                </a:extLst>
              </p:cNvPr>
              <p:cNvSpPr/>
              <p:nvPr/>
            </p:nvSpPr>
            <p:spPr>
              <a:xfrm>
                <a:off x="12101226" y="11326854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201" name="Ellipse 200">
                <a:extLst>
                  <a:ext uri="{FF2B5EF4-FFF2-40B4-BE49-F238E27FC236}">
                    <a16:creationId xmlns:a16="http://schemas.microsoft.com/office/drawing/2014/main" id="{E6E28A01-0D0E-43D3-D44D-488AC61BAF04}"/>
                  </a:ext>
                </a:extLst>
              </p:cNvPr>
              <p:cNvSpPr/>
              <p:nvPr/>
            </p:nvSpPr>
            <p:spPr>
              <a:xfrm>
                <a:off x="10979796" y="11332721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</p:grpSp>
        <p:grpSp>
          <p:nvGrpSpPr>
            <p:cNvPr id="122" name="Gruppieren 121">
              <a:extLst>
                <a:ext uri="{FF2B5EF4-FFF2-40B4-BE49-F238E27FC236}">
                  <a16:creationId xmlns:a16="http://schemas.microsoft.com/office/drawing/2014/main" id="{5679A4A5-E986-DCF8-0EAF-8DDFE68C827D}"/>
                </a:ext>
              </a:extLst>
            </p:cNvPr>
            <p:cNvGrpSpPr/>
            <p:nvPr/>
          </p:nvGrpSpPr>
          <p:grpSpPr>
            <a:xfrm>
              <a:off x="8064951" y="10697707"/>
              <a:ext cx="1257300" cy="1442907"/>
              <a:chOff x="9442450" y="10552243"/>
              <a:chExt cx="1257300" cy="1442907"/>
            </a:xfrm>
          </p:grpSpPr>
          <p:sp>
            <p:nvSpPr>
              <p:cNvPr id="114" name="Rechteck: abgerundete Ecken 113">
                <a:extLst>
                  <a:ext uri="{FF2B5EF4-FFF2-40B4-BE49-F238E27FC236}">
                    <a16:creationId xmlns:a16="http://schemas.microsoft.com/office/drawing/2014/main" id="{C0D61018-DD68-B783-0D87-6E46773ABBA5}"/>
                  </a:ext>
                </a:extLst>
              </p:cNvPr>
              <p:cNvSpPr/>
              <p:nvPr/>
            </p:nvSpPr>
            <p:spPr>
              <a:xfrm>
                <a:off x="9442450" y="10552243"/>
                <a:ext cx="1257300" cy="144290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  <a:p>
                <a:pPr algn="ctr"/>
                <a:endParaRPr lang="de-DE" sz="1050"/>
              </a:p>
              <a:p>
                <a:pPr algn="ctr"/>
                <a:r>
                  <a:rPr lang="de-DE" sz="1050"/>
                  <a:t>mediatorVM</a:t>
                </a:r>
              </a:p>
              <a:p>
                <a:endParaRPr lang="de-DE" sz="800"/>
              </a:p>
              <a:p>
                <a:r>
                  <a:rPr lang="de-DE" sz="800"/>
                  <a:t>mediatorProcess#1</a:t>
                </a:r>
              </a:p>
              <a:p>
                <a:r>
                  <a:rPr lang="de-DE" sz="800"/>
                  <a:t>mediatorProcess#2</a:t>
                </a:r>
              </a:p>
              <a:p>
                <a:r>
                  <a:rPr lang="de-DE" sz="800"/>
                  <a:t>…</a:t>
                </a:r>
              </a:p>
              <a:p>
                <a:r>
                  <a:rPr lang="de-DE" sz="800"/>
                  <a:t>mediatorProcess#n</a:t>
                </a:r>
              </a:p>
            </p:txBody>
          </p:sp>
          <p:sp>
            <p:nvSpPr>
              <p:cNvPr id="84" name="Rechteck: abgerundete Ecken 83">
                <a:extLst>
                  <a:ext uri="{FF2B5EF4-FFF2-40B4-BE49-F238E27FC236}">
                    <a16:creationId xmlns:a16="http://schemas.microsoft.com/office/drawing/2014/main" id="{7AB70A29-DF37-2F1A-F8F8-82ECADC63218}"/>
                  </a:ext>
                </a:extLst>
              </p:cNvPr>
              <p:cNvSpPr/>
              <p:nvPr/>
            </p:nvSpPr>
            <p:spPr>
              <a:xfrm>
                <a:off x="9442450" y="10552243"/>
                <a:ext cx="1257300" cy="32861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900"/>
                  <a:t>MIM</a:t>
                </a:r>
              </a:p>
            </p:txBody>
          </p:sp>
          <p:sp>
            <p:nvSpPr>
              <p:cNvPr id="118" name="Ellipse 117">
                <a:extLst>
                  <a:ext uri="{FF2B5EF4-FFF2-40B4-BE49-F238E27FC236}">
                    <a16:creationId xmlns:a16="http://schemas.microsoft.com/office/drawing/2014/main" id="{7EE6A8AA-2B90-132F-4D79-74C7F38E6645}"/>
                  </a:ext>
                </a:extLst>
              </p:cNvPr>
              <p:cNvSpPr/>
              <p:nvPr/>
            </p:nvSpPr>
            <p:spPr>
              <a:xfrm>
                <a:off x="9465936" y="11650875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19" name="Ellipse 118">
                <a:extLst>
                  <a:ext uri="{FF2B5EF4-FFF2-40B4-BE49-F238E27FC236}">
                    <a16:creationId xmlns:a16="http://schemas.microsoft.com/office/drawing/2014/main" id="{29039A0C-2B5D-A65A-F96B-F0AC5BC95618}"/>
                  </a:ext>
                </a:extLst>
              </p:cNvPr>
              <p:cNvSpPr/>
              <p:nvPr/>
            </p:nvSpPr>
            <p:spPr>
              <a:xfrm>
                <a:off x="10587366" y="11650875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20" name="Ellipse 119">
                <a:extLst>
                  <a:ext uri="{FF2B5EF4-FFF2-40B4-BE49-F238E27FC236}">
                    <a16:creationId xmlns:a16="http://schemas.microsoft.com/office/drawing/2014/main" id="{AB71EFE7-7528-2E1F-DE68-34D159F1CA49}"/>
                  </a:ext>
                </a:extLst>
              </p:cNvPr>
              <p:cNvSpPr/>
              <p:nvPr/>
            </p:nvSpPr>
            <p:spPr>
              <a:xfrm>
                <a:off x="10618776" y="11288090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21" name="Ellipse 120">
                <a:extLst>
                  <a:ext uri="{FF2B5EF4-FFF2-40B4-BE49-F238E27FC236}">
                    <a16:creationId xmlns:a16="http://schemas.microsoft.com/office/drawing/2014/main" id="{DF4D51F5-7C0B-1ADF-5880-79C88AAD6B0C}"/>
                  </a:ext>
                </a:extLst>
              </p:cNvPr>
              <p:cNvSpPr/>
              <p:nvPr/>
            </p:nvSpPr>
            <p:spPr>
              <a:xfrm>
                <a:off x="9497346" y="11293957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</p:grpSp>
        <p:sp>
          <p:nvSpPr>
            <p:cNvPr id="234" name="Ellipse 233">
              <a:extLst>
                <a:ext uri="{FF2B5EF4-FFF2-40B4-BE49-F238E27FC236}">
                  <a16:creationId xmlns:a16="http://schemas.microsoft.com/office/drawing/2014/main" id="{9D92FC26-513D-F1A1-46E5-D0C12645E7F2}"/>
                </a:ext>
              </a:extLst>
            </p:cNvPr>
            <p:cNvSpPr/>
            <p:nvPr/>
          </p:nvSpPr>
          <p:spPr>
            <a:xfrm>
              <a:off x="9201126" y="10731541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4" name="Ellipse 243">
              <a:extLst>
                <a:ext uri="{FF2B5EF4-FFF2-40B4-BE49-F238E27FC236}">
                  <a16:creationId xmlns:a16="http://schemas.microsoft.com/office/drawing/2014/main" id="{00632EDC-13ED-D796-F3E2-9A8D80DB2728}"/>
                </a:ext>
              </a:extLst>
            </p:cNvPr>
            <p:cNvSpPr/>
            <p:nvPr/>
          </p:nvSpPr>
          <p:spPr>
            <a:xfrm>
              <a:off x="8117112" y="10733848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6" name="Ellipse 365">
              <a:extLst>
                <a:ext uri="{FF2B5EF4-FFF2-40B4-BE49-F238E27FC236}">
                  <a16:creationId xmlns:a16="http://schemas.microsoft.com/office/drawing/2014/main" id="{828FC9DE-6473-436D-69FD-C4D4AA62218C}"/>
                </a:ext>
              </a:extLst>
            </p:cNvPr>
            <p:cNvSpPr/>
            <p:nvPr/>
          </p:nvSpPr>
          <p:spPr>
            <a:xfrm>
              <a:off x="8983052" y="10728225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79" name="Rechteck 378">
            <a:extLst>
              <a:ext uri="{FF2B5EF4-FFF2-40B4-BE49-F238E27FC236}">
                <a16:creationId xmlns:a16="http://schemas.microsoft.com/office/drawing/2014/main" id="{F6FC92C7-3D49-7205-A078-6D4B274D32F3}"/>
              </a:ext>
            </a:extLst>
          </p:cNvPr>
          <p:cNvSpPr/>
          <p:nvPr/>
        </p:nvSpPr>
        <p:spPr>
          <a:xfrm>
            <a:off x="17729239" y="9793503"/>
            <a:ext cx="1798430" cy="1694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UnusedMediatorProcessTracker</a:t>
            </a:r>
            <a:endParaRPr lang="de-DE" sz="800"/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Go slowly throu all mediatorProcess at all mediatorVms and ask the MO for the netconf port at the mountPoint in ODL</a:t>
            </a:r>
          </a:p>
          <a:p>
            <a:endParaRPr lang="de-DE" sz="800"/>
          </a:p>
          <a:p>
            <a:r>
              <a:rPr lang="de-DE" sz="800"/>
              <a:t>IF mountPoint is addressing another mediatorProcess</a:t>
            </a:r>
          </a:p>
          <a:p>
            <a:r>
              <a:rPr lang="de-DE" sz="800"/>
              <a:t>THEN add to dismantleQueue </a:t>
            </a:r>
          </a:p>
          <a:p>
            <a:r>
              <a:rPr lang="de-DE" sz="800"/>
              <a:t>ELSE no change</a:t>
            </a:r>
          </a:p>
        </p:txBody>
      </p:sp>
      <p:pic>
        <p:nvPicPr>
          <p:cNvPr id="380" name="Grafik 379">
            <a:extLst>
              <a:ext uri="{FF2B5EF4-FFF2-40B4-BE49-F238E27FC236}">
                <a16:creationId xmlns:a16="http://schemas.microsoft.com/office/drawing/2014/main" id="{F32C22D3-797D-88B2-894A-BD258524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6436" y="10009130"/>
            <a:ext cx="260088" cy="251271"/>
          </a:xfrm>
          <a:prstGeom prst="rect">
            <a:avLst/>
          </a:prstGeom>
        </p:spPr>
      </p:pic>
      <p:sp>
        <p:nvSpPr>
          <p:cNvPr id="381" name="Textfeld 380">
            <a:extLst>
              <a:ext uri="{FF2B5EF4-FFF2-40B4-BE49-F238E27FC236}">
                <a16:creationId xmlns:a16="http://schemas.microsoft.com/office/drawing/2014/main" id="{CB1BBA9E-BA83-774D-6BC0-5FD2B534CD84}"/>
              </a:ext>
            </a:extLst>
          </p:cNvPr>
          <p:cNvSpPr txBox="1"/>
          <p:nvPr/>
        </p:nvSpPr>
        <p:spPr>
          <a:xfrm>
            <a:off x="1746681" y="4761763"/>
            <a:ext cx="8226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cxnSp>
        <p:nvCxnSpPr>
          <p:cNvPr id="418" name="Verbinder: gekrümmt 417">
            <a:extLst>
              <a:ext uri="{FF2B5EF4-FFF2-40B4-BE49-F238E27FC236}">
                <a16:creationId xmlns:a16="http://schemas.microsoft.com/office/drawing/2014/main" id="{52669EDD-467C-6E1D-133F-905A1D3143D1}"/>
              </a:ext>
            </a:extLst>
          </p:cNvPr>
          <p:cNvCxnSpPr>
            <a:cxnSpLocks/>
            <a:stCxn id="236" idx="6"/>
            <a:endCxn id="121" idx="2"/>
          </p:cNvCxnSpPr>
          <p:nvPr/>
        </p:nvCxnSpPr>
        <p:spPr>
          <a:xfrm>
            <a:off x="10289046" y="12609576"/>
            <a:ext cx="751093" cy="1670474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Verbinder: gekrümmt 170">
            <a:extLst>
              <a:ext uri="{FF2B5EF4-FFF2-40B4-BE49-F238E27FC236}">
                <a16:creationId xmlns:a16="http://schemas.microsoft.com/office/drawing/2014/main" id="{5F1E594E-4CD0-D101-9518-C767663A5475}"/>
              </a:ext>
            </a:extLst>
          </p:cNvPr>
          <p:cNvCxnSpPr>
            <a:cxnSpLocks/>
            <a:stCxn id="166" idx="6"/>
            <a:endCxn id="197" idx="0"/>
          </p:cNvCxnSpPr>
          <p:nvPr/>
        </p:nvCxnSpPr>
        <p:spPr>
          <a:xfrm>
            <a:off x="10266186" y="12135940"/>
            <a:ext cx="1233815" cy="1260631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Verbinder: gekrümmt 461">
            <a:extLst>
              <a:ext uri="{FF2B5EF4-FFF2-40B4-BE49-F238E27FC236}">
                <a16:creationId xmlns:a16="http://schemas.microsoft.com/office/drawing/2014/main" id="{7378382E-2658-1C8C-01AB-865DB8B750F2}"/>
              </a:ext>
            </a:extLst>
          </p:cNvPr>
          <p:cNvCxnSpPr>
            <a:cxnSpLocks/>
            <a:stCxn id="379" idx="2"/>
            <a:endCxn id="103" idx="0"/>
          </p:cNvCxnSpPr>
          <p:nvPr/>
        </p:nvCxnSpPr>
        <p:spPr>
          <a:xfrm rot="5400000" flipH="1">
            <a:off x="14224819" y="7084020"/>
            <a:ext cx="6207266" cy="2600004"/>
          </a:xfrm>
          <a:prstGeom prst="curvedConnector5">
            <a:avLst>
              <a:gd name="adj1" fmla="val -3683"/>
              <a:gd name="adj2" fmla="val 52292"/>
              <a:gd name="adj3" fmla="val 103683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5A45491C-39F5-65AF-9F68-2F3D46BA3DD7}"/>
              </a:ext>
            </a:extLst>
          </p:cNvPr>
          <p:cNvCxnSpPr>
            <a:cxnSpLocks/>
          </p:cNvCxnSpPr>
          <p:nvPr/>
        </p:nvCxnSpPr>
        <p:spPr>
          <a:xfrm>
            <a:off x="4594833" y="3340129"/>
            <a:ext cx="3350973" cy="25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716B9F04-740C-64F6-1517-616A01104468}"/>
              </a:ext>
            </a:extLst>
          </p:cNvPr>
          <p:cNvSpPr txBox="1"/>
          <p:nvPr/>
        </p:nvSpPr>
        <p:spPr>
          <a:xfrm>
            <a:off x="4286920" y="3082899"/>
            <a:ext cx="3728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/v1/provide-alarms-for-connection {connectionId==mountPoint)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69675F5D-C5FA-D48F-6C70-AAA7B4D8177B}"/>
              </a:ext>
            </a:extLst>
          </p:cNvPr>
          <p:cNvCxnSpPr>
            <a:cxnSpLocks/>
          </p:cNvCxnSpPr>
          <p:nvPr/>
        </p:nvCxnSpPr>
        <p:spPr>
          <a:xfrm flipH="1" flipV="1">
            <a:off x="4548238" y="3473887"/>
            <a:ext cx="3436697" cy="3525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69550947-F7A9-678B-EACA-8B3BDC47C42A}"/>
              </a:ext>
            </a:extLst>
          </p:cNvPr>
          <p:cNvSpPr txBox="1"/>
          <p:nvPr/>
        </p:nvSpPr>
        <p:spPr>
          <a:xfrm>
            <a:off x="4489209" y="3457351"/>
            <a:ext cx="18582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{list of currently active alarms}</a:t>
            </a:r>
          </a:p>
        </p:txBody>
      </p:sp>
      <p:cxnSp>
        <p:nvCxnSpPr>
          <p:cNvPr id="50" name="Verbinder: gekrümmt 49">
            <a:extLst>
              <a:ext uri="{FF2B5EF4-FFF2-40B4-BE49-F238E27FC236}">
                <a16:creationId xmlns:a16="http://schemas.microsoft.com/office/drawing/2014/main" id="{A85011FA-55C4-40DC-919A-E4F55495E826}"/>
              </a:ext>
            </a:extLst>
          </p:cNvPr>
          <p:cNvCxnSpPr>
            <a:cxnSpLocks/>
            <a:endCxn id="99" idx="3"/>
          </p:cNvCxnSpPr>
          <p:nvPr/>
        </p:nvCxnSpPr>
        <p:spPr>
          <a:xfrm>
            <a:off x="7146838" y="5086896"/>
            <a:ext cx="5335243" cy="1959728"/>
          </a:xfrm>
          <a:prstGeom prst="curvedConnector4">
            <a:avLst>
              <a:gd name="adj1" fmla="val 43151"/>
              <a:gd name="adj2" fmla="val 11166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A774034F-560F-7CA7-9FFD-8EE28037E4F9}"/>
              </a:ext>
            </a:extLst>
          </p:cNvPr>
          <p:cNvSpPr txBox="1"/>
          <p:nvPr/>
        </p:nvSpPr>
        <p:spPr>
          <a:xfrm rot="1675356">
            <a:off x="12029636" y="11662094"/>
            <a:ext cx="19217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/v1/prepare-connection {deviceIp, deviceModel}</a:t>
            </a:r>
          </a:p>
        </p:txBody>
      </p:sp>
      <p:cxnSp>
        <p:nvCxnSpPr>
          <p:cNvPr id="450" name="Verbinder: gekrümmt 449">
            <a:extLst>
              <a:ext uri="{FF2B5EF4-FFF2-40B4-BE49-F238E27FC236}">
                <a16:creationId xmlns:a16="http://schemas.microsoft.com/office/drawing/2014/main" id="{D086A7D4-5665-79AC-2FA5-1740BF4BDEED}"/>
              </a:ext>
            </a:extLst>
          </p:cNvPr>
          <p:cNvCxnSpPr>
            <a:cxnSpLocks/>
            <a:stCxn id="163" idx="6"/>
            <a:endCxn id="99" idx="3"/>
          </p:cNvCxnSpPr>
          <p:nvPr/>
        </p:nvCxnSpPr>
        <p:spPr>
          <a:xfrm flipV="1">
            <a:off x="10289042" y="7046627"/>
            <a:ext cx="2193036" cy="6357331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crollen: vertikal 8">
            <a:extLst>
              <a:ext uri="{FF2B5EF4-FFF2-40B4-BE49-F238E27FC236}">
                <a16:creationId xmlns:a16="http://schemas.microsoft.com/office/drawing/2014/main" id="{955A8D41-311F-F1B9-433D-B3628AEE3ECC}"/>
              </a:ext>
            </a:extLst>
          </p:cNvPr>
          <p:cNvSpPr/>
          <p:nvPr/>
        </p:nvSpPr>
        <p:spPr>
          <a:xfrm>
            <a:off x="7890967" y="2966934"/>
            <a:ext cx="1560042" cy="997947"/>
          </a:xfrm>
          <a:prstGeom prst="verticalScroll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>
                <a:solidFill>
                  <a:srgbClr val="FF0000"/>
                </a:solidFill>
              </a:rPr>
              <a:t>AlarmList</a:t>
            </a:r>
          </a:p>
        </p:txBody>
      </p:sp>
      <p:cxnSp>
        <p:nvCxnSpPr>
          <p:cNvPr id="20" name="Verbinder: gekrümmt 19">
            <a:extLst>
              <a:ext uri="{FF2B5EF4-FFF2-40B4-BE49-F238E27FC236}">
                <a16:creationId xmlns:a16="http://schemas.microsoft.com/office/drawing/2014/main" id="{A4174CDF-3609-292F-0516-515356C0A33C}"/>
              </a:ext>
            </a:extLst>
          </p:cNvPr>
          <p:cNvCxnSpPr>
            <a:cxnSpLocks/>
            <a:endCxn id="9" idx="2"/>
          </p:cNvCxnSpPr>
          <p:nvPr/>
        </p:nvCxnSpPr>
        <p:spPr>
          <a:xfrm rot="10800000">
            <a:off x="8670992" y="3964882"/>
            <a:ext cx="2643125" cy="524155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6EF19788-C1A1-5463-BE47-036CBEC31C59}"/>
              </a:ext>
            </a:extLst>
          </p:cNvPr>
          <p:cNvSpPr txBox="1"/>
          <p:nvPr/>
        </p:nvSpPr>
        <p:spPr>
          <a:xfrm rot="346354">
            <a:off x="9304650" y="4168427"/>
            <a:ext cx="1669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/>
            </a:lvl1pPr>
          </a:lstStyle>
          <a:p>
            <a:r>
              <a:rPr lang="de-DE"/>
              <a:t>(private) /p1/create-entry-in-alarm-list</a:t>
            </a:r>
          </a:p>
          <a:p>
            <a:r>
              <a:rPr lang="de-DE"/>
              <a:t>(private) /p1/delete-entry-in-alarm-list</a:t>
            </a: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B753D5BC-06A2-E444-F342-29D4F051B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248" y="11028906"/>
            <a:ext cx="260088" cy="273783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76AC2175-49FB-26F5-AE98-AF5889C5B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8429" y="10071460"/>
            <a:ext cx="260088" cy="273783"/>
          </a:xfrm>
          <a:prstGeom prst="rect">
            <a:avLst/>
          </a:prstGeom>
        </p:spPr>
      </p:pic>
      <p:sp>
        <p:nvSpPr>
          <p:cNvPr id="43" name="Rechteck 42">
            <a:extLst>
              <a:ext uri="{FF2B5EF4-FFF2-40B4-BE49-F238E27FC236}">
                <a16:creationId xmlns:a16="http://schemas.microsoft.com/office/drawing/2014/main" id="{029D838B-9268-CDDA-BB54-8E25901775DF}"/>
              </a:ext>
            </a:extLst>
          </p:cNvPr>
          <p:cNvSpPr/>
          <p:nvPr/>
        </p:nvSpPr>
        <p:spPr>
          <a:xfrm>
            <a:off x="10746523" y="2868553"/>
            <a:ext cx="1934110" cy="1406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TroubleShooter</a:t>
            </a:r>
          </a:p>
          <a:p>
            <a:pPr>
              <a:tabLst>
                <a:tab pos="36000" algn="l"/>
              </a:tabLst>
            </a:pPr>
            <a:endParaRPr lang="de-DE" sz="800"/>
          </a:p>
          <a:p>
            <a:pPr>
              <a:tabLst>
                <a:tab pos="36000" algn="l"/>
              </a:tabLst>
            </a:pPr>
            <a:endParaRPr lang="de-DE" sz="800"/>
          </a:p>
          <a:p>
            <a:pPr>
              <a:tabLst>
                <a:tab pos="36000" algn="l"/>
              </a:tabLst>
            </a:pPr>
            <a:r>
              <a:rPr lang="de-DE" sz="800"/>
              <a:t>Check AlarmList for 532</a:t>
            </a:r>
          </a:p>
          <a:p>
            <a:pPr>
              <a:tabLst>
                <a:tab pos="36000" algn="l"/>
              </a:tabLst>
            </a:pPr>
            <a:r>
              <a:rPr lang="de-DE" sz="800"/>
              <a:t>IF timestamp elder that </a:t>
            </a:r>
            <a:r>
              <a:rPr lang="de-DE" sz="800" i="1"/>
              <a:t>[threshold]</a:t>
            </a:r>
          </a:p>
          <a:p>
            <a:pPr>
              <a:tabLst>
                <a:tab pos="36000" algn="l"/>
              </a:tabLst>
            </a:pPr>
            <a:r>
              <a:rPr lang="de-DE" sz="800"/>
              <a:t>THEN trigger </a:t>
            </a:r>
            <a:r>
              <a:rPr lang="de-DE" sz="800" i="1"/>
              <a:t>NetconfConnectionBuilder</a:t>
            </a:r>
          </a:p>
          <a:p>
            <a:pPr>
              <a:tabLst>
                <a:tab pos="36000" algn="l"/>
              </a:tabLst>
            </a:pPr>
            <a:endParaRPr lang="de-DE" sz="800" i="1"/>
          </a:p>
          <a:p>
            <a:pPr>
              <a:tabLst>
                <a:tab pos="36000" algn="l"/>
              </a:tabLst>
            </a:pPr>
            <a:r>
              <a:rPr lang="de-DE" sz="800"/>
              <a:t>Check AlarmList for …</a:t>
            </a:r>
            <a:endParaRPr lang="de-DE" sz="800" i="1"/>
          </a:p>
          <a:p>
            <a:pPr>
              <a:tabLst>
                <a:tab pos="36000" algn="l"/>
              </a:tabLst>
            </a:pPr>
            <a:r>
              <a:rPr lang="de-DE" sz="800"/>
              <a:t>IF condition</a:t>
            </a:r>
          </a:p>
          <a:p>
            <a:pPr>
              <a:tabLst>
                <a:tab pos="36000" algn="l"/>
              </a:tabLst>
            </a:pPr>
            <a:r>
              <a:rPr lang="de-DE" sz="800"/>
              <a:t>THEN counter measure</a:t>
            </a:r>
          </a:p>
          <a:p>
            <a:pPr>
              <a:tabLst>
                <a:tab pos="36000" algn="l"/>
              </a:tabLst>
            </a:pPr>
            <a:r>
              <a:rPr lang="de-DE" sz="800"/>
              <a:t>….</a:t>
            </a:r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C6F84473-3FA6-A539-02F4-FF4E7D27D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308" y="2974631"/>
            <a:ext cx="260088" cy="273783"/>
          </a:xfrm>
          <a:prstGeom prst="rect">
            <a:avLst/>
          </a:prstGeom>
        </p:spPr>
      </p:pic>
      <p:sp>
        <p:nvSpPr>
          <p:cNvPr id="7" name="Zylinder 6">
            <a:extLst>
              <a:ext uri="{FF2B5EF4-FFF2-40B4-BE49-F238E27FC236}">
                <a16:creationId xmlns:a16="http://schemas.microsoft.com/office/drawing/2014/main" id="{233DA69B-402B-E4F6-2560-70F2ACC22E66}"/>
              </a:ext>
            </a:extLst>
          </p:cNvPr>
          <p:cNvSpPr/>
          <p:nvPr/>
        </p:nvSpPr>
        <p:spPr>
          <a:xfrm>
            <a:off x="9671624" y="8479830"/>
            <a:ext cx="1404410" cy="1004166"/>
          </a:xfrm>
          <a:prstGeom prst="can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/>
              <a:t>TargetState</a:t>
            </a:r>
          </a:p>
        </p:txBody>
      </p:sp>
    </p:spTree>
    <p:extLst>
      <p:ext uri="{BB962C8B-B14F-4D97-AF65-F5344CB8AC3E}">
        <p14:creationId xmlns:p14="http://schemas.microsoft.com/office/powerpoint/2010/main" val="4005710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1CE0A02-15DF-2896-7C2D-5DFC349920D1}"/>
              </a:ext>
            </a:extLst>
          </p:cNvPr>
          <p:cNvSpPr/>
          <p:nvPr/>
        </p:nvSpPr>
        <p:spPr>
          <a:xfrm>
            <a:off x="3384312" y="5662837"/>
            <a:ext cx="1456660" cy="15736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MWDI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D02D88C-763B-A543-688D-9855AF14B01D}"/>
              </a:ext>
            </a:extLst>
          </p:cNvPr>
          <p:cNvSpPr/>
          <p:nvPr/>
        </p:nvSpPr>
        <p:spPr>
          <a:xfrm>
            <a:off x="5461386" y="5157787"/>
            <a:ext cx="1456660" cy="2078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Controller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E53494D-28D6-8CC5-DB54-81059DB5AF24}"/>
              </a:ext>
            </a:extLst>
          </p:cNvPr>
          <p:cNvSpPr/>
          <p:nvPr/>
        </p:nvSpPr>
        <p:spPr>
          <a:xfrm>
            <a:off x="8528751" y="5157787"/>
            <a:ext cx="1458000" cy="207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>
                <a:solidFill>
                  <a:schemeClr val="accent6">
                    <a:lumMod val="75000"/>
                  </a:schemeClr>
                </a:solidFill>
              </a:rPr>
              <a:t>MediatorInstanceManager</a:t>
            </a: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de-DE" sz="800">
                <a:solidFill>
                  <a:schemeClr val="accent6">
                    <a:lumMod val="75000"/>
                  </a:schemeClr>
                </a:solidFill>
              </a:rPr>
              <a:t>mediatorProcesses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B5FF00B-970D-C50C-579A-3D10911A26F3}"/>
              </a:ext>
            </a:extLst>
          </p:cNvPr>
          <p:cNvSpPr/>
          <p:nvPr/>
        </p:nvSpPr>
        <p:spPr>
          <a:xfrm>
            <a:off x="10591981" y="5652199"/>
            <a:ext cx="1899264" cy="25306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Device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2F32273-6801-7B92-0ADB-F67B56F3C9EE}"/>
              </a:ext>
            </a:extLst>
          </p:cNvPr>
          <p:cNvSpPr/>
          <p:nvPr/>
        </p:nvSpPr>
        <p:spPr>
          <a:xfrm>
            <a:off x="1312882" y="5662838"/>
            <a:ext cx="1456660" cy="15736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APTP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FDEC8BC-6708-4B28-28CF-7724B85F5A50}"/>
              </a:ext>
            </a:extLst>
          </p:cNvPr>
          <p:cNvSpPr/>
          <p:nvPr/>
        </p:nvSpPr>
        <p:spPr>
          <a:xfrm>
            <a:off x="1450557" y="6904076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1F7B44D-B1EF-E324-F605-AB033E82776D}"/>
              </a:ext>
            </a:extLst>
          </p:cNvPr>
          <p:cNvSpPr/>
          <p:nvPr/>
        </p:nvSpPr>
        <p:spPr>
          <a:xfrm>
            <a:off x="1450557" y="650402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HttpS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48790B5-A649-43AD-C98B-435B22B7ED2F}"/>
              </a:ext>
            </a:extLst>
          </p:cNvPr>
          <p:cNvSpPr/>
          <p:nvPr/>
        </p:nvSpPr>
        <p:spPr>
          <a:xfrm>
            <a:off x="1450557" y="6103974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OpS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CEE26EF-C86B-A733-8DD9-059A9C6EC90E}"/>
              </a:ext>
            </a:extLst>
          </p:cNvPr>
          <p:cNvSpPr/>
          <p:nvPr/>
        </p:nvSpPr>
        <p:spPr>
          <a:xfrm>
            <a:off x="2274469" y="6904076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TcpC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A455AB2-E932-7831-EE99-F5772CDAFD0C}"/>
              </a:ext>
            </a:extLst>
          </p:cNvPr>
          <p:cNvSpPr/>
          <p:nvPr/>
        </p:nvSpPr>
        <p:spPr>
          <a:xfrm>
            <a:off x="2274469" y="650402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HttpC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458F33B-C712-C71E-C879-C5DC8C91BB45}"/>
              </a:ext>
            </a:extLst>
          </p:cNvPr>
          <p:cNvSpPr/>
          <p:nvPr/>
        </p:nvSpPr>
        <p:spPr>
          <a:xfrm>
            <a:off x="2274469" y="6103974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OpC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F329620-3C22-08E1-6786-6E43712B3898}"/>
              </a:ext>
            </a:extLst>
          </p:cNvPr>
          <p:cNvSpPr/>
          <p:nvPr/>
        </p:nvSpPr>
        <p:spPr>
          <a:xfrm>
            <a:off x="3525817" y="6904076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B7992BE-C036-3AB7-C814-EBBDC7FC42E0}"/>
              </a:ext>
            </a:extLst>
          </p:cNvPr>
          <p:cNvSpPr/>
          <p:nvPr/>
        </p:nvSpPr>
        <p:spPr>
          <a:xfrm>
            <a:off x="3525817" y="650402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HttpS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AFB896A-158F-65F5-EA28-4BC001A350A5}"/>
              </a:ext>
            </a:extLst>
          </p:cNvPr>
          <p:cNvSpPr/>
          <p:nvPr/>
        </p:nvSpPr>
        <p:spPr>
          <a:xfrm>
            <a:off x="3525817" y="6103974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OpS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C3E0E05-CA92-3033-4FD9-38C5421204DC}"/>
              </a:ext>
            </a:extLst>
          </p:cNvPr>
          <p:cNvSpPr/>
          <p:nvPr/>
        </p:nvSpPr>
        <p:spPr>
          <a:xfrm>
            <a:off x="4349729" y="6904076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TcpC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FFA3122-55DA-CD89-A397-A8CD9750B2B9}"/>
              </a:ext>
            </a:extLst>
          </p:cNvPr>
          <p:cNvSpPr/>
          <p:nvPr/>
        </p:nvSpPr>
        <p:spPr>
          <a:xfrm>
            <a:off x="4349729" y="650402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HttpC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AA074D4-D1AF-7759-FA69-2B0DD4CAFC2D}"/>
              </a:ext>
            </a:extLst>
          </p:cNvPr>
          <p:cNvSpPr/>
          <p:nvPr/>
        </p:nvSpPr>
        <p:spPr>
          <a:xfrm>
            <a:off x="4349729" y="6103974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OpC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9E2AB45-4CA3-5B9B-E66E-E425E390B46B}"/>
              </a:ext>
            </a:extLst>
          </p:cNvPr>
          <p:cNvSpPr/>
          <p:nvPr/>
        </p:nvSpPr>
        <p:spPr>
          <a:xfrm>
            <a:off x="5617158" y="6914709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TcpS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54BD9F7-6B6B-B381-6EAD-966962D972D7}"/>
              </a:ext>
            </a:extLst>
          </p:cNvPr>
          <p:cNvSpPr/>
          <p:nvPr/>
        </p:nvSpPr>
        <p:spPr>
          <a:xfrm>
            <a:off x="5617158" y="6514658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HttpS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A081826-1714-5339-1A4A-A1B6EB3DD00D}"/>
              </a:ext>
            </a:extLst>
          </p:cNvPr>
          <p:cNvSpPr/>
          <p:nvPr/>
        </p:nvSpPr>
        <p:spPr>
          <a:xfrm>
            <a:off x="5617158" y="6114607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OpS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DF739C3-C4E3-6849-2F41-DF62CEF1A558}"/>
              </a:ext>
            </a:extLst>
          </p:cNvPr>
          <p:cNvSpPr/>
          <p:nvPr/>
        </p:nvSpPr>
        <p:spPr>
          <a:xfrm>
            <a:off x="6441070" y="6914709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TcpC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211DDACA-62B1-F5B0-EEC2-CD44D410F5D4}"/>
              </a:ext>
            </a:extLst>
          </p:cNvPr>
          <p:cNvSpPr/>
          <p:nvPr/>
        </p:nvSpPr>
        <p:spPr>
          <a:xfrm>
            <a:off x="6441070" y="6519641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NetC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9DA1E85-2C49-6E8A-CFDB-48FE31EBD704}"/>
              </a:ext>
            </a:extLst>
          </p:cNvPr>
          <p:cNvSpPr/>
          <p:nvPr/>
        </p:nvSpPr>
        <p:spPr>
          <a:xfrm>
            <a:off x="8689130" y="6911850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TcpS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C143F202-5361-48B9-4F64-3AA6EF735AD8}"/>
              </a:ext>
            </a:extLst>
          </p:cNvPr>
          <p:cNvSpPr/>
          <p:nvPr/>
        </p:nvSpPr>
        <p:spPr>
          <a:xfrm>
            <a:off x="8689130" y="6516782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NetS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ECBD2DF-E4B2-0439-FF9C-36D68796843C}"/>
              </a:ext>
            </a:extLst>
          </p:cNvPr>
          <p:cNvSpPr/>
          <p:nvPr/>
        </p:nvSpPr>
        <p:spPr>
          <a:xfrm>
            <a:off x="9513042" y="6911850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TcpC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C9B7C70-2BAF-3E76-BCAB-1FCC7BE517E5}"/>
              </a:ext>
            </a:extLst>
          </p:cNvPr>
          <p:cNvSpPr/>
          <p:nvPr/>
        </p:nvSpPr>
        <p:spPr>
          <a:xfrm>
            <a:off x="9513042" y="6516782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SnmpC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A0BA429-EEC5-F81D-6AA8-80B5299E7BE5}"/>
              </a:ext>
            </a:extLst>
          </p:cNvPr>
          <p:cNvSpPr/>
          <p:nvPr/>
        </p:nvSpPr>
        <p:spPr>
          <a:xfrm>
            <a:off x="10768667" y="6901217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TcpS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30D131E-4A61-2933-7E0D-0D59F14C99BA}"/>
              </a:ext>
            </a:extLst>
          </p:cNvPr>
          <p:cNvSpPr/>
          <p:nvPr/>
        </p:nvSpPr>
        <p:spPr>
          <a:xfrm>
            <a:off x="10768667" y="6506149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SnmpS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3616450-B93D-DEBD-7CE3-CD7A817B8078}"/>
              </a:ext>
            </a:extLst>
          </p:cNvPr>
          <p:cNvSpPr/>
          <p:nvPr/>
        </p:nvSpPr>
        <p:spPr>
          <a:xfrm>
            <a:off x="11963827" y="7833736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AirI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2B2B469F-780C-7B6E-97F6-89C3641EDBC9}"/>
              </a:ext>
            </a:extLst>
          </p:cNvPr>
          <p:cNvSpPr/>
          <p:nvPr/>
        </p:nvSpPr>
        <p:spPr>
          <a:xfrm>
            <a:off x="11963827" y="743368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PES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66A4ECD-0416-DEC7-F62C-900B4B28A617}"/>
              </a:ext>
            </a:extLst>
          </p:cNvPr>
          <p:cNvSpPr/>
          <p:nvPr/>
        </p:nvSpPr>
        <p:spPr>
          <a:xfrm>
            <a:off x="11963827" y="7033634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EC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B164F71-093D-4EAD-77A0-7D44E762E72F}"/>
              </a:ext>
            </a:extLst>
          </p:cNvPr>
          <p:cNvSpPr/>
          <p:nvPr/>
        </p:nvSpPr>
        <p:spPr>
          <a:xfrm>
            <a:off x="11963826" y="6233532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VlanI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A5166CA-90F8-FF86-8D3C-A9D517E4F906}"/>
              </a:ext>
            </a:extLst>
          </p:cNvPr>
          <p:cNvSpPr/>
          <p:nvPr/>
        </p:nvSpPr>
        <p:spPr>
          <a:xfrm>
            <a:off x="11963827" y="6633583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MacI</a:t>
            </a: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8122B215-EF92-DC6C-4D34-A3840F4E37F7}"/>
              </a:ext>
            </a:extLst>
          </p:cNvPr>
          <p:cNvCxnSpPr>
            <a:cxnSpLocks/>
          </p:cNvCxnSpPr>
          <p:nvPr/>
        </p:nvCxnSpPr>
        <p:spPr>
          <a:xfrm flipV="1">
            <a:off x="10591984" y="5662833"/>
            <a:ext cx="1629017" cy="23404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B0A7E131-9A2D-FE2E-8F00-AC5963385B56}"/>
              </a:ext>
            </a:extLst>
          </p:cNvPr>
          <p:cNvGrpSpPr/>
          <p:nvPr/>
        </p:nvGrpSpPr>
        <p:grpSpPr>
          <a:xfrm rot="5400000">
            <a:off x="9188215" y="5173535"/>
            <a:ext cx="338137" cy="998176"/>
            <a:chOff x="7267925" y="3123310"/>
            <a:chExt cx="338137" cy="998176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E40F123A-7D28-DAF0-30FD-0C20E4BD6108}"/>
                </a:ext>
              </a:extLst>
            </p:cNvPr>
            <p:cNvSpPr/>
            <p:nvPr/>
          </p:nvSpPr>
          <p:spPr>
            <a:xfrm>
              <a:off x="7267925" y="3923412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TcpS</a:t>
              </a: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79339DC1-FB69-E4B3-2427-B0D9C1C3D60C}"/>
                </a:ext>
              </a:extLst>
            </p:cNvPr>
            <p:cNvSpPr/>
            <p:nvPr/>
          </p:nvSpPr>
          <p:spPr>
            <a:xfrm>
              <a:off x="7267925" y="3523361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HttpS</a:t>
              </a: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A4C1EB5C-FBB1-A635-2577-1FDD4BB6C887}"/>
                </a:ext>
              </a:extLst>
            </p:cNvPr>
            <p:cNvSpPr/>
            <p:nvPr/>
          </p:nvSpPr>
          <p:spPr>
            <a:xfrm>
              <a:off x="7267925" y="3123310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OpS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68B5C107-E8B1-674E-0899-FA1D44E24ED9}"/>
              </a:ext>
            </a:extLst>
          </p:cNvPr>
          <p:cNvCxnSpPr>
            <a:cxnSpLocks/>
          </p:cNvCxnSpPr>
          <p:nvPr/>
        </p:nvCxnSpPr>
        <p:spPr>
          <a:xfrm>
            <a:off x="8522345" y="5998102"/>
            <a:ext cx="145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hteck 40">
            <a:extLst>
              <a:ext uri="{FF2B5EF4-FFF2-40B4-BE49-F238E27FC236}">
                <a16:creationId xmlns:a16="http://schemas.microsoft.com/office/drawing/2014/main" id="{7A2DB98D-C693-6ABF-3F91-DC76D3BBE6EB}"/>
              </a:ext>
            </a:extLst>
          </p:cNvPr>
          <p:cNvSpPr/>
          <p:nvPr/>
        </p:nvSpPr>
        <p:spPr>
          <a:xfrm>
            <a:off x="8522346" y="2938462"/>
            <a:ext cx="1458000" cy="16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MM / NCM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EA305853-A808-AB18-03A6-51C5387C71C7}"/>
              </a:ext>
            </a:extLst>
          </p:cNvPr>
          <p:cNvGrpSpPr/>
          <p:nvPr/>
        </p:nvGrpSpPr>
        <p:grpSpPr>
          <a:xfrm rot="5400000">
            <a:off x="8776260" y="3360105"/>
            <a:ext cx="1162049" cy="998176"/>
            <a:chOff x="7115461" y="1735493"/>
            <a:chExt cx="1162049" cy="998176"/>
          </a:xfrm>
        </p:grpSpPr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7608F1F3-2180-5F13-7FFA-83A74EB34A0F}"/>
                </a:ext>
              </a:extLst>
            </p:cNvPr>
            <p:cNvSpPr/>
            <p:nvPr/>
          </p:nvSpPr>
          <p:spPr>
            <a:xfrm>
              <a:off x="7115461" y="2535595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TcpS</a:t>
              </a:r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7AB24ABE-364B-F6B4-0452-33DF8DC753D4}"/>
                </a:ext>
              </a:extLst>
            </p:cNvPr>
            <p:cNvSpPr/>
            <p:nvPr/>
          </p:nvSpPr>
          <p:spPr>
            <a:xfrm>
              <a:off x="7115461" y="2135544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HttpS</a:t>
              </a:r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527DA6FE-EEDD-B9E3-03DD-74D221727344}"/>
                </a:ext>
              </a:extLst>
            </p:cNvPr>
            <p:cNvSpPr/>
            <p:nvPr/>
          </p:nvSpPr>
          <p:spPr>
            <a:xfrm>
              <a:off x="7115461" y="1735493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OpS</a:t>
              </a:r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ABB2D503-B665-D77A-B86F-14E059956922}"/>
                </a:ext>
              </a:extLst>
            </p:cNvPr>
            <p:cNvSpPr/>
            <p:nvPr/>
          </p:nvSpPr>
          <p:spPr>
            <a:xfrm>
              <a:off x="7939373" y="2535595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TcpC</a:t>
              </a:r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83CC7ED1-F16A-1896-62C7-D546E44B5B0B}"/>
                </a:ext>
              </a:extLst>
            </p:cNvPr>
            <p:cNvSpPr/>
            <p:nvPr/>
          </p:nvSpPr>
          <p:spPr>
            <a:xfrm>
              <a:off x="7939373" y="2135544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HttpC</a:t>
              </a: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13475550-2889-2F91-C960-D3DCA7DF8427}"/>
                </a:ext>
              </a:extLst>
            </p:cNvPr>
            <p:cNvSpPr/>
            <p:nvPr/>
          </p:nvSpPr>
          <p:spPr>
            <a:xfrm>
              <a:off x="7939373" y="1735493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OpC</a:t>
              </a:r>
            </a:p>
          </p:txBody>
        </p:sp>
      </p:grpSp>
      <p:sp>
        <p:nvSpPr>
          <p:cNvPr id="49" name="Rechteck 48">
            <a:extLst>
              <a:ext uri="{FF2B5EF4-FFF2-40B4-BE49-F238E27FC236}">
                <a16:creationId xmlns:a16="http://schemas.microsoft.com/office/drawing/2014/main" id="{06710257-94F2-6744-5C46-384800311A00}"/>
              </a:ext>
            </a:extLst>
          </p:cNvPr>
          <p:cNvSpPr/>
          <p:nvPr/>
        </p:nvSpPr>
        <p:spPr>
          <a:xfrm>
            <a:off x="5457125" y="2938462"/>
            <a:ext cx="1458000" cy="16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RCM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3BECA846-CE12-388B-D0A3-7DCF9503D532}"/>
              </a:ext>
            </a:extLst>
          </p:cNvPr>
          <p:cNvGrpSpPr/>
          <p:nvPr/>
        </p:nvGrpSpPr>
        <p:grpSpPr>
          <a:xfrm rot="5400000">
            <a:off x="5711039" y="3360105"/>
            <a:ext cx="1162049" cy="998176"/>
            <a:chOff x="7115461" y="1735493"/>
            <a:chExt cx="1162049" cy="998176"/>
          </a:xfrm>
        </p:grpSpPr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00C418EB-45BB-672B-9C17-4AA42BF9B100}"/>
                </a:ext>
              </a:extLst>
            </p:cNvPr>
            <p:cNvSpPr/>
            <p:nvPr/>
          </p:nvSpPr>
          <p:spPr>
            <a:xfrm>
              <a:off x="7115461" y="2535595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TcpS</a:t>
              </a: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44340858-3359-78BC-0881-DF3CF6C4CE35}"/>
                </a:ext>
              </a:extLst>
            </p:cNvPr>
            <p:cNvSpPr/>
            <p:nvPr/>
          </p:nvSpPr>
          <p:spPr>
            <a:xfrm>
              <a:off x="7115461" y="2135544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HttpS</a:t>
              </a:r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9E2D812D-5420-32CE-48A0-1AE6BF2A7BF5}"/>
                </a:ext>
              </a:extLst>
            </p:cNvPr>
            <p:cNvSpPr/>
            <p:nvPr/>
          </p:nvSpPr>
          <p:spPr>
            <a:xfrm>
              <a:off x="7115461" y="1735493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OpS</a:t>
              </a: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4E017906-1474-ACF0-D4F3-A464FE7CBFFF}"/>
                </a:ext>
              </a:extLst>
            </p:cNvPr>
            <p:cNvSpPr/>
            <p:nvPr/>
          </p:nvSpPr>
          <p:spPr>
            <a:xfrm>
              <a:off x="7939373" y="2535595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TcpC</a:t>
              </a: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956CD8D0-9882-9742-5B49-B264ABEE6072}"/>
                </a:ext>
              </a:extLst>
            </p:cNvPr>
            <p:cNvSpPr/>
            <p:nvPr/>
          </p:nvSpPr>
          <p:spPr>
            <a:xfrm>
              <a:off x="7939373" y="2135544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HttpC</a:t>
              </a: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63481912-FA6A-F7F7-3828-E9E8B8381C8B}"/>
                </a:ext>
              </a:extLst>
            </p:cNvPr>
            <p:cNvSpPr/>
            <p:nvPr/>
          </p:nvSpPr>
          <p:spPr>
            <a:xfrm>
              <a:off x="7939373" y="1735493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OpC</a:t>
              </a:r>
            </a:p>
          </p:txBody>
        </p: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4ACE194F-09C5-4337-ABFD-DFEF72FE57AD}"/>
              </a:ext>
            </a:extLst>
          </p:cNvPr>
          <p:cNvGrpSpPr/>
          <p:nvPr/>
        </p:nvGrpSpPr>
        <p:grpSpPr>
          <a:xfrm rot="5400000">
            <a:off x="6132322" y="5173535"/>
            <a:ext cx="338137" cy="998176"/>
            <a:chOff x="7267925" y="3123310"/>
            <a:chExt cx="338137" cy="998176"/>
          </a:xfrm>
        </p:grpSpPr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86CF74E5-92A2-B2B4-84F2-A08711CE4576}"/>
                </a:ext>
              </a:extLst>
            </p:cNvPr>
            <p:cNvSpPr/>
            <p:nvPr/>
          </p:nvSpPr>
          <p:spPr>
            <a:xfrm>
              <a:off x="7267925" y="3923412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TcpS</a:t>
              </a: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E723D154-0D75-5EA9-8CF6-4EE379C46676}"/>
                </a:ext>
              </a:extLst>
            </p:cNvPr>
            <p:cNvSpPr/>
            <p:nvPr/>
          </p:nvSpPr>
          <p:spPr>
            <a:xfrm>
              <a:off x="7267925" y="3523361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HttpS</a:t>
              </a: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E5206EBD-D24E-28B5-568B-CB2C238F2C77}"/>
                </a:ext>
              </a:extLst>
            </p:cNvPr>
            <p:cNvSpPr/>
            <p:nvPr/>
          </p:nvSpPr>
          <p:spPr>
            <a:xfrm>
              <a:off x="7267925" y="3123310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OpS</a:t>
              </a:r>
            </a:p>
          </p:txBody>
        </p:sp>
      </p:grp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3F94A723-31E5-282A-5981-B162DED911D4}"/>
              </a:ext>
            </a:extLst>
          </p:cNvPr>
          <p:cNvCxnSpPr>
            <a:cxnSpLocks/>
          </p:cNvCxnSpPr>
          <p:nvPr/>
        </p:nvCxnSpPr>
        <p:spPr>
          <a:xfrm>
            <a:off x="5466452" y="5998102"/>
            <a:ext cx="145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5346B5A3-4EA9-8FBD-0F76-B4EDA3A628C9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1788694" y="6203011"/>
            <a:ext cx="485775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3308A1E7-F373-EE81-70DD-D860FE975724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612606" y="6203014"/>
            <a:ext cx="913211" cy="1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143B4FB2-12F8-7173-BA6F-335B26BFEBB3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>
            <a:off x="3863954" y="6203011"/>
            <a:ext cx="485775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19F5DEDC-F153-BEBB-1F1E-00186D344CDB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4687862" y="6203015"/>
            <a:ext cx="929292" cy="10633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2D93BD7A-37AB-F0E8-43D9-8825215C9245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6779207" y="6615823"/>
            <a:ext cx="1909923" cy="2859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A56D196D-AE0B-D035-092B-4260E960363F}"/>
              </a:ext>
            </a:extLst>
          </p:cNvPr>
          <p:cNvCxnSpPr>
            <a:cxnSpLocks/>
            <a:stCxn id="27" idx="1"/>
            <a:endCxn id="25" idx="3"/>
          </p:cNvCxnSpPr>
          <p:nvPr/>
        </p:nvCxnSpPr>
        <p:spPr>
          <a:xfrm flipH="1">
            <a:off x="9027267" y="6615819"/>
            <a:ext cx="485775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12924405-E882-9CBE-75FE-D41CF011EFBE}"/>
              </a:ext>
            </a:extLst>
          </p:cNvPr>
          <p:cNvCxnSpPr>
            <a:cxnSpLocks/>
            <a:stCxn id="29" idx="1"/>
            <a:endCxn id="27" idx="3"/>
          </p:cNvCxnSpPr>
          <p:nvPr/>
        </p:nvCxnSpPr>
        <p:spPr>
          <a:xfrm flipH="1">
            <a:off x="9851175" y="6605190"/>
            <a:ext cx="917488" cy="10633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8FCD2C10-717C-88E6-AFC8-560DB1181A3E}"/>
              </a:ext>
            </a:extLst>
          </p:cNvPr>
          <p:cNvCxnSpPr>
            <a:cxnSpLocks/>
            <a:stCxn id="53" idx="3"/>
            <a:endCxn id="56" idx="1"/>
          </p:cNvCxnSpPr>
          <p:nvPr/>
        </p:nvCxnSpPr>
        <p:spPr>
          <a:xfrm>
            <a:off x="6692111" y="3616310"/>
            <a:ext cx="0" cy="48577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62CC069B-5286-1DF7-37DC-08C2EE30445C}"/>
              </a:ext>
            </a:extLst>
          </p:cNvPr>
          <p:cNvCxnSpPr>
            <a:cxnSpLocks/>
            <a:stCxn id="56" idx="3"/>
            <a:endCxn id="60" idx="1"/>
          </p:cNvCxnSpPr>
          <p:nvPr/>
        </p:nvCxnSpPr>
        <p:spPr>
          <a:xfrm>
            <a:off x="6692115" y="4440222"/>
            <a:ext cx="9327" cy="106333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BD8A7BEC-DB33-B090-03AB-F516A5AE0094}"/>
              </a:ext>
            </a:extLst>
          </p:cNvPr>
          <p:cNvCxnSpPr>
            <a:cxnSpLocks/>
            <a:stCxn id="45" idx="3"/>
          </p:cNvCxnSpPr>
          <p:nvPr/>
        </p:nvCxnSpPr>
        <p:spPr>
          <a:xfrm flipH="1">
            <a:off x="9757335" y="3616306"/>
            <a:ext cx="1" cy="48577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EFEA5A29-2F76-9B94-1657-646671B4A389}"/>
              </a:ext>
            </a:extLst>
          </p:cNvPr>
          <p:cNvCxnSpPr>
            <a:cxnSpLocks/>
            <a:stCxn id="48" idx="3"/>
            <a:endCxn id="39" idx="1"/>
          </p:cNvCxnSpPr>
          <p:nvPr/>
        </p:nvCxnSpPr>
        <p:spPr>
          <a:xfrm flipH="1">
            <a:off x="9757335" y="4440222"/>
            <a:ext cx="1" cy="106333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4" name="Rechteck 73">
            <a:extLst>
              <a:ext uri="{FF2B5EF4-FFF2-40B4-BE49-F238E27FC236}">
                <a16:creationId xmlns:a16="http://schemas.microsoft.com/office/drawing/2014/main" id="{141BEA37-B8B7-2E75-E808-6581631CC6D3}"/>
              </a:ext>
            </a:extLst>
          </p:cNvPr>
          <p:cNvSpPr/>
          <p:nvPr/>
        </p:nvSpPr>
        <p:spPr>
          <a:xfrm>
            <a:off x="5461386" y="11355200"/>
            <a:ext cx="1456660" cy="2078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Controller</a:t>
            </a: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6E4F015F-7EB0-1731-7016-76835118A137}"/>
              </a:ext>
            </a:extLst>
          </p:cNvPr>
          <p:cNvSpPr/>
          <p:nvPr/>
        </p:nvSpPr>
        <p:spPr>
          <a:xfrm>
            <a:off x="8528751" y="11355200"/>
            <a:ext cx="1458000" cy="207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>
                <a:solidFill>
                  <a:schemeClr val="accent6">
                    <a:lumMod val="75000"/>
                  </a:schemeClr>
                </a:solidFill>
              </a:rPr>
              <a:t>MediatorInstanceManager</a:t>
            </a: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de-DE" sz="800">
                <a:solidFill>
                  <a:schemeClr val="accent6">
                    <a:lumMod val="75000"/>
                  </a:schemeClr>
                </a:solidFill>
              </a:rPr>
              <a:t>mediatorProcesses</a:t>
            </a: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EFCEA3C8-B645-BF8C-2685-7FE19E5CE4FC}"/>
              </a:ext>
            </a:extLst>
          </p:cNvPr>
          <p:cNvSpPr/>
          <p:nvPr/>
        </p:nvSpPr>
        <p:spPr>
          <a:xfrm>
            <a:off x="10591981" y="11849612"/>
            <a:ext cx="1899264" cy="25306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Device</a:t>
            </a: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34F69CE8-ED93-F830-873A-7C13AB12A20A}"/>
              </a:ext>
            </a:extLst>
          </p:cNvPr>
          <p:cNvSpPr/>
          <p:nvPr/>
        </p:nvSpPr>
        <p:spPr>
          <a:xfrm>
            <a:off x="6441070" y="13112122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TcpC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6DD63BA9-847D-1A2D-1C9A-FCA0DCF233B5}"/>
              </a:ext>
            </a:extLst>
          </p:cNvPr>
          <p:cNvSpPr/>
          <p:nvPr/>
        </p:nvSpPr>
        <p:spPr>
          <a:xfrm>
            <a:off x="6441070" y="12717054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NetC</a:t>
            </a: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0D437FAF-B507-C6CF-3948-A29EC8AF3A7B}"/>
              </a:ext>
            </a:extLst>
          </p:cNvPr>
          <p:cNvSpPr/>
          <p:nvPr/>
        </p:nvSpPr>
        <p:spPr>
          <a:xfrm>
            <a:off x="8689130" y="13109263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TcpS</a:t>
            </a: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DC5A0C8A-D84F-A1BA-1C7B-F23ABA66D30B}"/>
              </a:ext>
            </a:extLst>
          </p:cNvPr>
          <p:cNvSpPr/>
          <p:nvPr/>
        </p:nvSpPr>
        <p:spPr>
          <a:xfrm>
            <a:off x="8689130" y="1271419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NetS</a:t>
            </a:r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C241DCC7-AAFF-3170-D434-F618D8A5DBD9}"/>
              </a:ext>
            </a:extLst>
          </p:cNvPr>
          <p:cNvSpPr/>
          <p:nvPr/>
        </p:nvSpPr>
        <p:spPr>
          <a:xfrm>
            <a:off x="9513042" y="13109263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TcpC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71ABFB95-8A94-31E5-3C83-3B14E2E5CDFD}"/>
              </a:ext>
            </a:extLst>
          </p:cNvPr>
          <p:cNvSpPr/>
          <p:nvPr/>
        </p:nvSpPr>
        <p:spPr>
          <a:xfrm>
            <a:off x="9513042" y="1271419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SnmpC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341C7B94-7B76-8229-4A2A-8134880B4926}"/>
              </a:ext>
            </a:extLst>
          </p:cNvPr>
          <p:cNvSpPr/>
          <p:nvPr/>
        </p:nvSpPr>
        <p:spPr>
          <a:xfrm>
            <a:off x="10768667" y="13098630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TcpS</a:t>
            </a:r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0A6D84C4-1B1A-112F-0A67-A4735734FABF}"/>
              </a:ext>
            </a:extLst>
          </p:cNvPr>
          <p:cNvSpPr/>
          <p:nvPr/>
        </p:nvSpPr>
        <p:spPr>
          <a:xfrm>
            <a:off x="10768667" y="12703562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SnmpS</a:t>
            </a:r>
          </a:p>
        </p:txBody>
      </p:sp>
      <p:sp>
        <p:nvSpPr>
          <p:cNvPr id="101" name="Rechteck 100">
            <a:extLst>
              <a:ext uri="{FF2B5EF4-FFF2-40B4-BE49-F238E27FC236}">
                <a16:creationId xmlns:a16="http://schemas.microsoft.com/office/drawing/2014/main" id="{C1E45473-8297-A262-FFF9-E3B2B67A4F62}"/>
              </a:ext>
            </a:extLst>
          </p:cNvPr>
          <p:cNvSpPr/>
          <p:nvPr/>
        </p:nvSpPr>
        <p:spPr>
          <a:xfrm>
            <a:off x="11963827" y="14031149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AirI</a:t>
            </a:r>
          </a:p>
        </p:txBody>
      </p:sp>
      <p:sp>
        <p:nvSpPr>
          <p:cNvPr id="102" name="Rechteck 101">
            <a:extLst>
              <a:ext uri="{FF2B5EF4-FFF2-40B4-BE49-F238E27FC236}">
                <a16:creationId xmlns:a16="http://schemas.microsoft.com/office/drawing/2014/main" id="{87150E2D-EB67-7B24-E6A5-676B80CE5251}"/>
              </a:ext>
            </a:extLst>
          </p:cNvPr>
          <p:cNvSpPr/>
          <p:nvPr/>
        </p:nvSpPr>
        <p:spPr>
          <a:xfrm>
            <a:off x="11963827" y="13631098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PES</a:t>
            </a:r>
          </a:p>
        </p:txBody>
      </p:sp>
      <p:sp>
        <p:nvSpPr>
          <p:cNvPr id="103" name="Rechteck 102">
            <a:extLst>
              <a:ext uri="{FF2B5EF4-FFF2-40B4-BE49-F238E27FC236}">
                <a16:creationId xmlns:a16="http://schemas.microsoft.com/office/drawing/2014/main" id="{10AB6DFB-5CF2-D1E7-689E-3AA368C49408}"/>
              </a:ext>
            </a:extLst>
          </p:cNvPr>
          <p:cNvSpPr/>
          <p:nvPr/>
        </p:nvSpPr>
        <p:spPr>
          <a:xfrm>
            <a:off x="11963827" y="13231047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EC</a:t>
            </a:r>
          </a:p>
        </p:txBody>
      </p:sp>
      <p:sp>
        <p:nvSpPr>
          <p:cNvPr id="104" name="Rechteck 103">
            <a:extLst>
              <a:ext uri="{FF2B5EF4-FFF2-40B4-BE49-F238E27FC236}">
                <a16:creationId xmlns:a16="http://schemas.microsoft.com/office/drawing/2014/main" id="{0A3363A3-BA54-D35E-B388-C7321B9BE878}"/>
              </a:ext>
            </a:extLst>
          </p:cNvPr>
          <p:cNvSpPr/>
          <p:nvPr/>
        </p:nvSpPr>
        <p:spPr>
          <a:xfrm>
            <a:off x="11963826" y="1243094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VlanI</a:t>
            </a:r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C6E9F742-DF08-789F-BC59-4FC946FC913F}"/>
              </a:ext>
            </a:extLst>
          </p:cNvPr>
          <p:cNvSpPr/>
          <p:nvPr/>
        </p:nvSpPr>
        <p:spPr>
          <a:xfrm>
            <a:off x="11963827" y="12830996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MacI</a:t>
            </a:r>
          </a:p>
        </p:txBody>
      </p: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3BC68C30-1683-EA4C-845B-CB907CEC96F6}"/>
              </a:ext>
            </a:extLst>
          </p:cNvPr>
          <p:cNvCxnSpPr>
            <a:cxnSpLocks/>
          </p:cNvCxnSpPr>
          <p:nvPr/>
        </p:nvCxnSpPr>
        <p:spPr>
          <a:xfrm flipV="1">
            <a:off x="10591984" y="11860246"/>
            <a:ext cx="1629017" cy="23404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D6742ED2-F057-78A7-5150-A41844EF625C}"/>
              </a:ext>
            </a:extLst>
          </p:cNvPr>
          <p:cNvGrpSpPr/>
          <p:nvPr/>
        </p:nvGrpSpPr>
        <p:grpSpPr>
          <a:xfrm rot="5400000">
            <a:off x="9188215" y="11370948"/>
            <a:ext cx="338137" cy="998176"/>
            <a:chOff x="7267925" y="3123310"/>
            <a:chExt cx="338137" cy="998176"/>
          </a:xfrm>
        </p:grpSpPr>
        <p:sp>
          <p:nvSpPr>
            <p:cNvPr id="108" name="Rechteck 107">
              <a:extLst>
                <a:ext uri="{FF2B5EF4-FFF2-40B4-BE49-F238E27FC236}">
                  <a16:creationId xmlns:a16="http://schemas.microsoft.com/office/drawing/2014/main" id="{996873ED-9D66-B4CD-8D11-882288108F18}"/>
                </a:ext>
              </a:extLst>
            </p:cNvPr>
            <p:cNvSpPr/>
            <p:nvPr/>
          </p:nvSpPr>
          <p:spPr>
            <a:xfrm>
              <a:off x="7267925" y="3923412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TcpS</a:t>
              </a:r>
            </a:p>
          </p:txBody>
        </p:sp>
        <p:sp>
          <p:nvSpPr>
            <p:cNvPr id="109" name="Rechteck 108">
              <a:extLst>
                <a:ext uri="{FF2B5EF4-FFF2-40B4-BE49-F238E27FC236}">
                  <a16:creationId xmlns:a16="http://schemas.microsoft.com/office/drawing/2014/main" id="{E3161ECC-EE4D-308F-FC14-A34D5493E194}"/>
                </a:ext>
              </a:extLst>
            </p:cNvPr>
            <p:cNvSpPr/>
            <p:nvPr/>
          </p:nvSpPr>
          <p:spPr>
            <a:xfrm>
              <a:off x="7267925" y="3523361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HttpS</a:t>
              </a:r>
            </a:p>
          </p:txBody>
        </p:sp>
        <p:sp>
          <p:nvSpPr>
            <p:cNvPr id="110" name="Rechteck 109">
              <a:extLst>
                <a:ext uri="{FF2B5EF4-FFF2-40B4-BE49-F238E27FC236}">
                  <a16:creationId xmlns:a16="http://schemas.microsoft.com/office/drawing/2014/main" id="{5D5CBAFC-63CE-84E0-F817-9B8163E5A495}"/>
                </a:ext>
              </a:extLst>
            </p:cNvPr>
            <p:cNvSpPr/>
            <p:nvPr/>
          </p:nvSpPr>
          <p:spPr>
            <a:xfrm>
              <a:off x="7267925" y="3123310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OpS</a:t>
              </a:r>
            </a:p>
          </p:txBody>
        </p:sp>
      </p:grp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E3F88B35-4DF8-36B9-FA1E-AF410D60D677}"/>
              </a:ext>
            </a:extLst>
          </p:cNvPr>
          <p:cNvCxnSpPr>
            <a:cxnSpLocks/>
          </p:cNvCxnSpPr>
          <p:nvPr/>
        </p:nvCxnSpPr>
        <p:spPr>
          <a:xfrm>
            <a:off x="8522345" y="12195515"/>
            <a:ext cx="145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hteck 111">
            <a:extLst>
              <a:ext uri="{FF2B5EF4-FFF2-40B4-BE49-F238E27FC236}">
                <a16:creationId xmlns:a16="http://schemas.microsoft.com/office/drawing/2014/main" id="{047369EB-7578-A672-B628-5F3CF1FD0B7A}"/>
              </a:ext>
            </a:extLst>
          </p:cNvPr>
          <p:cNvSpPr/>
          <p:nvPr/>
        </p:nvSpPr>
        <p:spPr>
          <a:xfrm>
            <a:off x="8522346" y="9135875"/>
            <a:ext cx="1458000" cy="16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MM / NCM</a:t>
            </a:r>
          </a:p>
        </p:txBody>
      </p: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97D29417-7626-C176-8171-B76EE10710D0}"/>
              </a:ext>
            </a:extLst>
          </p:cNvPr>
          <p:cNvGrpSpPr/>
          <p:nvPr/>
        </p:nvGrpSpPr>
        <p:grpSpPr>
          <a:xfrm rot="5400000">
            <a:off x="8776260" y="9557518"/>
            <a:ext cx="1162049" cy="998176"/>
            <a:chOff x="7115461" y="1735493"/>
            <a:chExt cx="1162049" cy="998176"/>
          </a:xfrm>
        </p:grpSpPr>
        <p:sp>
          <p:nvSpPr>
            <p:cNvPr id="114" name="Rechteck 113">
              <a:extLst>
                <a:ext uri="{FF2B5EF4-FFF2-40B4-BE49-F238E27FC236}">
                  <a16:creationId xmlns:a16="http://schemas.microsoft.com/office/drawing/2014/main" id="{FB43D1F3-B681-6EEA-3F0F-B493E6861262}"/>
                </a:ext>
              </a:extLst>
            </p:cNvPr>
            <p:cNvSpPr/>
            <p:nvPr/>
          </p:nvSpPr>
          <p:spPr>
            <a:xfrm>
              <a:off x="7115461" y="2535595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TcpS</a:t>
              </a:r>
            </a:p>
          </p:txBody>
        </p:sp>
        <p:sp>
          <p:nvSpPr>
            <p:cNvPr id="115" name="Rechteck 114">
              <a:extLst>
                <a:ext uri="{FF2B5EF4-FFF2-40B4-BE49-F238E27FC236}">
                  <a16:creationId xmlns:a16="http://schemas.microsoft.com/office/drawing/2014/main" id="{6C7F02BA-C5AC-616E-DDBB-974C28E821DC}"/>
                </a:ext>
              </a:extLst>
            </p:cNvPr>
            <p:cNvSpPr/>
            <p:nvPr/>
          </p:nvSpPr>
          <p:spPr>
            <a:xfrm>
              <a:off x="7115461" y="2135544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HttpS</a:t>
              </a:r>
            </a:p>
          </p:txBody>
        </p:sp>
        <p:sp>
          <p:nvSpPr>
            <p:cNvPr id="116" name="Rechteck 115">
              <a:extLst>
                <a:ext uri="{FF2B5EF4-FFF2-40B4-BE49-F238E27FC236}">
                  <a16:creationId xmlns:a16="http://schemas.microsoft.com/office/drawing/2014/main" id="{F2B3208E-962F-47AF-2FC5-F5F0E8CE1D8F}"/>
                </a:ext>
              </a:extLst>
            </p:cNvPr>
            <p:cNvSpPr/>
            <p:nvPr/>
          </p:nvSpPr>
          <p:spPr>
            <a:xfrm>
              <a:off x="7115461" y="1735493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OpS</a:t>
              </a:r>
            </a:p>
          </p:txBody>
        </p:sp>
        <p:sp>
          <p:nvSpPr>
            <p:cNvPr id="117" name="Rechteck 116">
              <a:extLst>
                <a:ext uri="{FF2B5EF4-FFF2-40B4-BE49-F238E27FC236}">
                  <a16:creationId xmlns:a16="http://schemas.microsoft.com/office/drawing/2014/main" id="{36ED8D34-FAB2-ECDA-7F59-469C3F477458}"/>
                </a:ext>
              </a:extLst>
            </p:cNvPr>
            <p:cNvSpPr/>
            <p:nvPr/>
          </p:nvSpPr>
          <p:spPr>
            <a:xfrm>
              <a:off x="7939373" y="2535595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TcpC</a:t>
              </a:r>
            </a:p>
          </p:txBody>
        </p:sp>
        <p:sp>
          <p:nvSpPr>
            <p:cNvPr id="118" name="Rechteck 117">
              <a:extLst>
                <a:ext uri="{FF2B5EF4-FFF2-40B4-BE49-F238E27FC236}">
                  <a16:creationId xmlns:a16="http://schemas.microsoft.com/office/drawing/2014/main" id="{97D57EA9-EF20-AB09-6218-B2C9760CA197}"/>
                </a:ext>
              </a:extLst>
            </p:cNvPr>
            <p:cNvSpPr/>
            <p:nvPr/>
          </p:nvSpPr>
          <p:spPr>
            <a:xfrm>
              <a:off x="7939373" y="2135544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HttpC</a:t>
              </a:r>
            </a:p>
          </p:txBody>
        </p:sp>
        <p:sp>
          <p:nvSpPr>
            <p:cNvPr id="119" name="Rechteck 118">
              <a:extLst>
                <a:ext uri="{FF2B5EF4-FFF2-40B4-BE49-F238E27FC236}">
                  <a16:creationId xmlns:a16="http://schemas.microsoft.com/office/drawing/2014/main" id="{7FD10FC3-ABF9-7B9C-D27A-9AF3D0750CDF}"/>
                </a:ext>
              </a:extLst>
            </p:cNvPr>
            <p:cNvSpPr/>
            <p:nvPr/>
          </p:nvSpPr>
          <p:spPr>
            <a:xfrm>
              <a:off x="7939373" y="1735493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OpC</a:t>
              </a:r>
            </a:p>
          </p:txBody>
        </p:sp>
      </p:grpSp>
      <p:cxnSp>
        <p:nvCxnSpPr>
          <p:cNvPr id="132" name="Gerader Verbinder 131">
            <a:extLst>
              <a:ext uri="{FF2B5EF4-FFF2-40B4-BE49-F238E27FC236}">
                <a16:creationId xmlns:a16="http://schemas.microsoft.com/office/drawing/2014/main" id="{EE2E9144-2E50-61D5-6EF0-4D405BB2ED93}"/>
              </a:ext>
            </a:extLst>
          </p:cNvPr>
          <p:cNvCxnSpPr>
            <a:cxnSpLocks/>
          </p:cNvCxnSpPr>
          <p:nvPr/>
        </p:nvCxnSpPr>
        <p:spPr>
          <a:xfrm>
            <a:off x="5466452" y="12195515"/>
            <a:ext cx="145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Gerader Verbinder 136">
            <a:extLst>
              <a:ext uri="{FF2B5EF4-FFF2-40B4-BE49-F238E27FC236}">
                <a16:creationId xmlns:a16="http://schemas.microsoft.com/office/drawing/2014/main" id="{FA120268-DBD1-31E3-D560-DFCE67F86135}"/>
              </a:ext>
            </a:extLst>
          </p:cNvPr>
          <p:cNvCxnSpPr>
            <a:cxnSpLocks/>
            <a:stCxn id="94" idx="3"/>
            <a:endCxn id="96" idx="1"/>
          </p:cNvCxnSpPr>
          <p:nvPr/>
        </p:nvCxnSpPr>
        <p:spPr>
          <a:xfrm flipV="1">
            <a:off x="6779207" y="12813236"/>
            <a:ext cx="1909923" cy="2859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FF6D5A19-3A23-06BE-47EA-CFC2DA6CE54F}"/>
              </a:ext>
            </a:extLst>
          </p:cNvPr>
          <p:cNvCxnSpPr>
            <a:cxnSpLocks/>
            <a:stCxn id="98" idx="1"/>
            <a:endCxn id="96" idx="3"/>
          </p:cNvCxnSpPr>
          <p:nvPr/>
        </p:nvCxnSpPr>
        <p:spPr>
          <a:xfrm flipH="1">
            <a:off x="9027267" y="12813232"/>
            <a:ext cx="485775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9" name="Gerader Verbinder 138">
            <a:extLst>
              <a:ext uri="{FF2B5EF4-FFF2-40B4-BE49-F238E27FC236}">
                <a16:creationId xmlns:a16="http://schemas.microsoft.com/office/drawing/2014/main" id="{9AF164CF-4371-1D84-FE7D-B883D938C666}"/>
              </a:ext>
            </a:extLst>
          </p:cNvPr>
          <p:cNvCxnSpPr>
            <a:cxnSpLocks/>
            <a:stCxn id="100" idx="1"/>
            <a:endCxn id="98" idx="3"/>
          </p:cNvCxnSpPr>
          <p:nvPr/>
        </p:nvCxnSpPr>
        <p:spPr>
          <a:xfrm flipH="1">
            <a:off x="9851175" y="12802603"/>
            <a:ext cx="917488" cy="10633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D00B38C7-6860-5F20-0291-BDDAD5ADC652}"/>
              </a:ext>
            </a:extLst>
          </p:cNvPr>
          <p:cNvCxnSpPr>
            <a:cxnSpLocks/>
            <a:stCxn id="116" idx="3"/>
          </p:cNvCxnSpPr>
          <p:nvPr/>
        </p:nvCxnSpPr>
        <p:spPr>
          <a:xfrm flipH="1">
            <a:off x="9757335" y="9813719"/>
            <a:ext cx="1" cy="48577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3" name="Gerader Verbinder 142">
            <a:extLst>
              <a:ext uri="{FF2B5EF4-FFF2-40B4-BE49-F238E27FC236}">
                <a16:creationId xmlns:a16="http://schemas.microsoft.com/office/drawing/2014/main" id="{5024DC42-ED37-5014-2ACF-25AB816D582D}"/>
              </a:ext>
            </a:extLst>
          </p:cNvPr>
          <p:cNvCxnSpPr>
            <a:cxnSpLocks/>
            <a:stCxn id="119" idx="3"/>
            <a:endCxn id="110" idx="1"/>
          </p:cNvCxnSpPr>
          <p:nvPr/>
        </p:nvCxnSpPr>
        <p:spPr>
          <a:xfrm flipH="1">
            <a:off x="9757335" y="10637635"/>
            <a:ext cx="1" cy="106333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556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hteck 289">
            <a:extLst>
              <a:ext uri="{FF2B5EF4-FFF2-40B4-BE49-F238E27FC236}">
                <a16:creationId xmlns:a16="http://schemas.microsoft.com/office/drawing/2014/main" id="{AD55E515-56A7-41AB-80D9-5F2EEBA06909}"/>
              </a:ext>
            </a:extLst>
          </p:cNvPr>
          <p:cNvSpPr/>
          <p:nvPr/>
        </p:nvSpPr>
        <p:spPr>
          <a:xfrm>
            <a:off x="2547947" y="11872349"/>
            <a:ext cx="6311488" cy="1952970"/>
          </a:xfrm>
          <a:prstGeom prst="rect">
            <a:avLst/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289" name="Rechteck 288">
            <a:extLst>
              <a:ext uri="{FF2B5EF4-FFF2-40B4-BE49-F238E27FC236}">
                <a16:creationId xmlns:a16="http://schemas.microsoft.com/office/drawing/2014/main" id="{F7F77AA1-771F-42F7-8FB9-D67AE4A16483}"/>
              </a:ext>
            </a:extLst>
          </p:cNvPr>
          <p:cNvSpPr/>
          <p:nvPr/>
        </p:nvSpPr>
        <p:spPr>
          <a:xfrm>
            <a:off x="12156294" y="11872349"/>
            <a:ext cx="6311488" cy="1952970"/>
          </a:xfrm>
          <a:prstGeom prst="rect">
            <a:avLst/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288" name="Rechteck 287">
            <a:extLst>
              <a:ext uri="{FF2B5EF4-FFF2-40B4-BE49-F238E27FC236}">
                <a16:creationId xmlns:a16="http://schemas.microsoft.com/office/drawing/2014/main" id="{3A9B4262-A48D-FB94-6E29-10CE9577508C}"/>
              </a:ext>
            </a:extLst>
          </p:cNvPr>
          <p:cNvSpPr/>
          <p:nvPr/>
        </p:nvSpPr>
        <p:spPr>
          <a:xfrm>
            <a:off x="15695840" y="7526337"/>
            <a:ext cx="6629959" cy="4343400"/>
          </a:xfrm>
          <a:prstGeom prst="rect">
            <a:avLst/>
          </a:prstGeom>
          <a:solidFill>
            <a:srgbClr val="00B0F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</a:t>
            </a:r>
          </a:p>
        </p:txBody>
      </p:sp>
      <p:grpSp>
        <p:nvGrpSpPr>
          <p:cNvPr id="287" name="Gruppieren 286">
            <a:extLst>
              <a:ext uri="{FF2B5EF4-FFF2-40B4-BE49-F238E27FC236}">
                <a16:creationId xmlns:a16="http://schemas.microsoft.com/office/drawing/2014/main" id="{F10524AF-7993-403E-9151-7990C002DAC3}"/>
              </a:ext>
            </a:extLst>
          </p:cNvPr>
          <p:cNvGrpSpPr/>
          <p:nvPr/>
        </p:nvGrpSpPr>
        <p:grpSpPr>
          <a:xfrm>
            <a:off x="6133073" y="3563937"/>
            <a:ext cx="11204167" cy="8305800"/>
            <a:chOff x="5066703" y="863600"/>
            <a:chExt cx="11204167" cy="8305800"/>
          </a:xfrm>
        </p:grpSpPr>
        <p:sp>
          <p:nvSpPr>
            <p:cNvPr id="281" name="Rechteck 280">
              <a:extLst>
                <a:ext uri="{FF2B5EF4-FFF2-40B4-BE49-F238E27FC236}">
                  <a16:creationId xmlns:a16="http://schemas.microsoft.com/office/drawing/2014/main" id="{2D320F09-9AA6-A469-D6F0-BE4E94481CB3}"/>
                </a:ext>
              </a:extLst>
            </p:cNvPr>
            <p:cNvSpPr/>
            <p:nvPr/>
          </p:nvSpPr>
          <p:spPr>
            <a:xfrm>
              <a:off x="5066703" y="863600"/>
              <a:ext cx="8738197" cy="8305800"/>
            </a:xfrm>
            <a:prstGeom prst="rect">
              <a:avLst/>
            </a:prstGeom>
            <a:solidFill>
              <a:srgbClr val="92D05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de-DE" sz="1400">
                  <a:solidFill>
                    <a:schemeClr val="tx1"/>
                  </a:solidFill>
                </a:rPr>
                <a:t>MediatorVM</a:t>
              </a:r>
            </a:p>
          </p:txBody>
        </p:sp>
        <p:sp>
          <p:nvSpPr>
            <p:cNvPr id="282" name="Rechteck 281">
              <a:extLst>
                <a:ext uri="{FF2B5EF4-FFF2-40B4-BE49-F238E27FC236}">
                  <a16:creationId xmlns:a16="http://schemas.microsoft.com/office/drawing/2014/main" id="{C9453577-A74B-CA25-645C-51DCBD053ABB}"/>
                </a:ext>
              </a:extLst>
            </p:cNvPr>
            <p:cNvSpPr/>
            <p:nvPr/>
          </p:nvSpPr>
          <p:spPr>
            <a:xfrm>
              <a:off x="13804900" y="863600"/>
              <a:ext cx="2465970" cy="2986805"/>
            </a:xfrm>
            <a:prstGeom prst="rect">
              <a:avLst/>
            </a:prstGeom>
            <a:solidFill>
              <a:srgbClr val="92D05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endParaRPr lang="de-DE" sz="1400">
                <a:solidFill>
                  <a:schemeClr val="tx1"/>
                </a:solidFill>
              </a:endParaRPr>
            </a:p>
          </p:txBody>
        </p:sp>
      </p:grpSp>
      <p:sp>
        <p:nvSpPr>
          <p:cNvPr id="286" name="Rechteck 285">
            <a:extLst>
              <a:ext uri="{FF2B5EF4-FFF2-40B4-BE49-F238E27FC236}">
                <a16:creationId xmlns:a16="http://schemas.microsoft.com/office/drawing/2014/main" id="{D8AE4052-8F1E-F4E2-B431-FFA8193EC50D}"/>
              </a:ext>
            </a:extLst>
          </p:cNvPr>
          <p:cNvSpPr/>
          <p:nvPr/>
        </p:nvSpPr>
        <p:spPr>
          <a:xfrm>
            <a:off x="6272858" y="8132719"/>
            <a:ext cx="8496789" cy="363833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MediatorProcess [*]</a:t>
            </a:r>
          </a:p>
        </p:txBody>
      </p:sp>
      <p:sp>
        <p:nvSpPr>
          <p:cNvPr id="279" name="Rechteck 278">
            <a:extLst>
              <a:ext uri="{FF2B5EF4-FFF2-40B4-BE49-F238E27FC236}">
                <a16:creationId xmlns:a16="http://schemas.microsoft.com/office/drawing/2014/main" id="{C83F54BE-E7F0-D9AE-A1D5-FC225483FC63}"/>
              </a:ext>
            </a:extLst>
          </p:cNvPr>
          <p:cNvSpPr/>
          <p:nvPr/>
        </p:nvSpPr>
        <p:spPr>
          <a:xfrm>
            <a:off x="1066369" y="3563937"/>
            <a:ext cx="4283165" cy="8305800"/>
          </a:xfrm>
          <a:prstGeom prst="rect">
            <a:avLst/>
          </a:prstGeom>
          <a:solidFill>
            <a:srgbClr val="FFC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280" name="Rechteck 279">
            <a:extLst>
              <a:ext uri="{FF2B5EF4-FFF2-40B4-BE49-F238E27FC236}">
                <a16:creationId xmlns:a16="http://schemas.microsoft.com/office/drawing/2014/main" id="{92D55D44-2758-C888-E7D3-17F8487BBFAA}"/>
              </a:ext>
            </a:extLst>
          </p:cNvPr>
          <p:cNvSpPr/>
          <p:nvPr/>
        </p:nvSpPr>
        <p:spPr>
          <a:xfrm>
            <a:off x="1147738" y="8923180"/>
            <a:ext cx="4084142" cy="28529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MountPoint [*]</a:t>
            </a:r>
          </a:p>
        </p:txBody>
      </p:sp>
      <p:sp>
        <p:nvSpPr>
          <p:cNvPr id="56" name="Abgerundetes Rechteck 1">
            <a:extLst>
              <a:ext uri="{FF2B5EF4-FFF2-40B4-BE49-F238E27FC236}">
                <a16:creationId xmlns:a16="http://schemas.microsoft.com/office/drawing/2014/main" id="{5403E44F-74C3-C3A1-D91F-775BF540BEEE}"/>
              </a:ext>
            </a:extLst>
          </p:cNvPr>
          <p:cNvSpPr/>
          <p:nvPr/>
        </p:nvSpPr>
        <p:spPr>
          <a:xfrm>
            <a:off x="1255322" y="394623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57" name="Abgerundetes Rechteck 2">
            <a:extLst>
              <a:ext uri="{FF2B5EF4-FFF2-40B4-BE49-F238E27FC236}">
                <a16:creationId xmlns:a16="http://schemas.microsoft.com/office/drawing/2014/main" id="{D8ECBA16-38C1-6E5C-4344-15952AA848A3}"/>
              </a:ext>
            </a:extLst>
          </p:cNvPr>
          <p:cNvSpPr/>
          <p:nvPr/>
        </p:nvSpPr>
        <p:spPr>
          <a:xfrm>
            <a:off x="1255322" y="915943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58" name="Abgerundetes Rechteck 3">
            <a:extLst>
              <a:ext uri="{FF2B5EF4-FFF2-40B4-BE49-F238E27FC236}">
                <a16:creationId xmlns:a16="http://schemas.microsoft.com/office/drawing/2014/main" id="{42B12C50-5935-2305-7271-A9353E3F5DF4}"/>
              </a:ext>
            </a:extLst>
          </p:cNvPr>
          <p:cNvSpPr/>
          <p:nvPr/>
        </p:nvSpPr>
        <p:spPr>
          <a:xfrm>
            <a:off x="1255322" y="10413691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F05705B2-207A-7473-B0D3-D0E210757D90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1523969" y="4391812"/>
            <a:ext cx="0" cy="476762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31F39F20-E4F1-A8E9-AE0E-229810F32A73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>
            <a:off x="1523969" y="9605007"/>
            <a:ext cx="0" cy="80868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2" name="Abgerundetes Rechteck 8">
            <a:extLst>
              <a:ext uri="{FF2B5EF4-FFF2-40B4-BE49-F238E27FC236}">
                <a16:creationId xmlns:a16="http://schemas.microsoft.com/office/drawing/2014/main" id="{D931E7C7-2676-B390-3748-944ED677BBE8}"/>
              </a:ext>
            </a:extLst>
          </p:cNvPr>
          <p:cNvSpPr/>
          <p:nvPr/>
        </p:nvSpPr>
        <p:spPr>
          <a:xfrm>
            <a:off x="2344788" y="10414469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NetconfClient [1]</a:t>
            </a:r>
          </a:p>
        </p:txBody>
      </p:sp>
      <p:sp>
        <p:nvSpPr>
          <p:cNvPr id="63" name="Abgerundetes Rechteck 9">
            <a:extLst>
              <a:ext uri="{FF2B5EF4-FFF2-40B4-BE49-F238E27FC236}">
                <a16:creationId xmlns:a16="http://schemas.microsoft.com/office/drawing/2014/main" id="{CD324EEE-7E30-AD7C-F620-BB3FA6A55BF3}"/>
              </a:ext>
            </a:extLst>
          </p:cNvPr>
          <p:cNvSpPr/>
          <p:nvPr/>
        </p:nvSpPr>
        <p:spPr>
          <a:xfrm>
            <a:off x="2344788" y="1113470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6CAB819F-3E7C-B92D-18BD-47685B07CF72}"/>
              </a:ext>
            </a:extLst>
          </p:cNvPr>
          <p:cNvCxnSpPr>
            <a:stCxn id="62" idx="1"/>
            <a:endCxn id="58" idx="3"/>
          </p:cNvCxnSpPr>
          <p:nvPr/>
        </p:nvCxnSpPr>
        <p:spPr>
          <a:xfrm flipH="1" flipV="1">
            <a:off x="1792618" y="10636477"/>
            <a:ext cx="552168" cy="77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EBC282F3-5516-9CD9-4A58-3B1D951F6FD4}"/>
              </a:ext>
            </a:extLst>
          </p:cNvPr>
          <p:cNvCxnSpPr>
            <a:stCxn id="63" idx="1"/>
            <a:endCxn id="58" idx="3"/>
          </p:cNvCxnSpPr>
          <p:nvPr/>
        </p:nvCxnSpPr>
        <p:spPr>
          <a:xfrm flipH="1" flipV="1">
            <a:off x="1792618" y="10636480"/>
            <a:ext cx="552168" cy="72101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0E6B0DC9-48D2-9B58-0F1D-1EA4D398F1D3}"/>
              </a:ext>
            </a:extLst>
          </p:cNvPr>
          <p:cNvSpPr/>
          <p:nvPr/>
        </p:nvSpPr>
        <p:spPr>
          <a:xfrm>
            <a:off x="2344785" y="4053743"/>
            <a:ext cx="14711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>
                <a:solidFill>
                  <a:prstClr val="black"/>
                </a:solidFill>
                <a:latin typeface="Calibri" panose="020F0502020204030204"/>
              </a:rPr>
              <a:t>ControlConstructPac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externalLabel=controllerName</a:t>
            </a:r>
          </a:p>
        </p:txBody>
      </p: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61405C5D-4998-3705-F84F-AA9A6D7300F6}"/>
              </a:ext>
            </a:extLst>
          </p:cNvPr>
          <p:cNvCxnSpPr>
            <a:cxnSpLocks/>
            <a:stCxn id="63" idx="3"/>
            <a:endCxn id="73" idx="1"/>
          </p:cNvCxnSpPr>
          <p:nvPr/>
        </p:nvCxnSpPr>
        <p:spPr>
          <a:xfrm>
            <a:off x="3506238" y="11357494"/>
            <a:ext cx="571738" cy="38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25DCB85E-D87D-CC40-1FF0-DD6FDC0AF410}"/>
              </a:ext>
            </a:extLst>
          </p:cNvPr>
          <p:cNvCxnSpPr>
            <a:cxnSpLocks/>
            <a:stCxn id="56" idx="3"/>
            <a:endCxn id="67" idx="1"/>
          </p:cNvCxnSpPr>
          <p:nvPr/>
        </p:nvCxnSpPr>
        <p:spPr>
          <a:xfrm>
            <a:off x="1792621" y="4169026"/>
            <a:ext cx="552167" cy="5275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D4C53D9F-5A49-C19A-5474-E3DC89FF2AB8}"/>
              </a:ext>
            </a:extLst>
          </p:cNvPr>
          <p:cNvSpPr/>
          <p:nvPr/>
        </p:nvSpPr>
        <p:spPr>
          <a:xfrm>
            <a:off x="4077979" y="11140728"/>
            <a:ext cx="893641" cy="44126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8E303147-0B25-3184-7D85-94E7D636036D}"/>
              </a:ext>
            </a:extLst>
          </p:cNvPr>
          <p:cNvSpPr/>
          <p:nvPr/>
        </p:nvSpPr>
        <p:spPr>
          <a:xfrm>
            <a:off x="4077979" y="10413854"/>
            <a:ext cx="893641" cy="31210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3065BECA-C0D8-DABC-4838-03A9DADBC8E4}"/>
              </a:ext>
            </a:extLst>
          </p:cNvPr>
          <p:cNvCxnSpPr>
            <a:cxnSpLocks/>
            <a:stCxn id="62" idx="3"/>
            <a:endCxn id="90" idx="1"/>
          </p:cNvCxnSpPr>
          <p:nvPr/>
        </p:nvCxnSpPr>
        <p:spPr>
          <a:xfrm flipV="1">
            <a:off x="3506238" y="10569909"/>
            <a:ext cx="571738" cy="6734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" name="Abgerundetes Rechteck 8">
            <a:extLst>
              <a:ext uri="{FF2B5EF4-FFF2-40B4-BE49-F238E27FC236}">
                <a16:creationId xmlns:a16="http://schemas.microsoft.com/office/drawing/2014/main" id="{FA04FE7A-8C91-5969-0B4C-381A07F25EF4}"/>
              </a:ext>
            </a:extLst>
          </p:cNvPr>
          <p:cNvSpPr/>
          <p:nvPr/>
        </p:nvSpPr>
        <p:spPr>
          <a:xfrm>
            <a:off x="11313512" y="10416787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SnmpClient [1]</a:t>
            </a:r>
          </a:p>
        </p:txBody>
      </p:sp>
      <p:sp>
        <p:nvSpPr>
          <p:cNvPr id="17" name="Abgerundetes Rechteck 9">
            <a:extLst>
              <a:ext uri="{FF2B5EF4-FFF2-40B4-BE49-F238E27FC236}">
                <a16:creationId xmlns:a16="http://schemas.microsoft.com/office/drawing/2014/main" id="{DB15B1A3-8090-1C0B-973D-BF8F69FAEBA4}"/>
              </a:ext>
            </a:extLst>
          </p:cNvPr>
          <p:cNvSpPr/>
          <p:nvPr/>
        </p:nvSpPr>
        <p:spPr>
          <a:xfrm>
            <a:off x="11313512" y="1113702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TcpClient [1]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BF281436-8991-1735-21B9-A5BE2EAAC435}"/>
              </a:ext>
            </a:extLst>
          </p:cNvPr>
          <p:cNvCxnSpPr>
            <a:cxnSpLocks/>
            <a:stCxn id="16" idx="1"/>
            <a:endCxn id="131" idx="3"/>
          </p:cNvCxnSpPr>
          <p:nvPr/>
        </p:nvCxnSpPr>
        <p:spPr>
          <a:xfrm flipH="1" flipV="1">
            <a:off x="10761341" y="10636291"/>
            <a:ext cx="552168" cy="328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E011974-68D0-2B66-DFDD-EA1837A3A003}"/>
              </a:ext>
            </a:extLst>
          </p:cNvPr>
          <p:cNvCxnSpPr>
            <a:cxnSpLocks/>
            <a:stCxn id="17" idx="1"/>
            <a:endCxn id="131" idx="3"/>
          </p:cNvCxnSpPr>
          <p:nvPr/>
        </p:nvCxnSpPr>
        <p:spPr>
          <a:xfrm flipH="1" flipV="1">
            <a:off x="10761341" y="10636288"/>
            <a:ext cx="552168" cy="7235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0F4C1EE-BA58-27B6-3CEB-D51FD6F237BD}"/>
              </a:ext>
            </a:extLst>
          </p:cNvPr>
          <p:cNvCxnSpPr>
            <a:stCxn id="17" idx="3"/>
            <a:endCxn id="27" idx="1"/>
          </p:cNvCxnSpPr>
          <p:nvPr/>
        </p:nvCxnSpPr>
        <p:spPr>
          <a:xfrm>
            <a:off x="12474962" y="11359812"/>
            <a:ext cx="571738" cy="64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141A7E87-1BDC-31FA-FF1D-F3854B2C1EF8}"/>
              </a:ext>
            </a:extLst>
          </p:cNvPr>
          <p:cNvSpPr/>
          <p:nvPr/>
        </p:nvSpPr>
        <p:spPr>
          <a:xfrm>
            <a:off x="13046700" y="11145646"/>
            <a:ext cx="1425832" cy="44126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Abgerundetes Rechteck 88">
            <a:extLst>
              <a:ext uri="{FF2B5EF4-FFF2-40B4-BE49-F238E27FC236}">
                <a16:creationId xmlns:a16="http://schemas.microsoft.com/office/drawing/2014/main" id="{E0866C50-0FC1-8A65-C2E4-AFEDC9C879A3}"/>
              </a:ext>
            </a:extLst>
          </p:cNvPr>
          <p:cNvSpPr/>
          <p:nvPr/>
        </p:nvSpPr>
        <p:spPr>
          <a:xfrm>
            <a:off x="8510426" y="1113702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9" name="Abgerundetes Rechteck 89">
            <a:extLst>
              <a:ext uri="{FF2B5EF4-FFF2-40B4-BE49-F238E27FC236}">
                <a16:creationId xmlns:a16="http://schemas.microsoft.com/office/drawing/2014/main" id="{0CCFFAAB-77ED-5692-76E1-51970536581E}"/>
              </a:ext>
            </a:extLst>
          </p:cNvPr>
          <p:cNvSpPr/>
          <p:nvPr/>
        </p:nvSpPr>
        <p:spPr>
          <a:xfrm>
            <a:off x="8510426" y="10416009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NetconfServer[1]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54AFCF35-5CC9-CCE5-6728-1FEC39A555FE}"/>
              </a:ext>
            </a:extLst>
          </p:cNvPr>
          <p:cNvCxnSpPr>
            <a:cxnSpLocks/>
            <a:stCxn id="29" idx="3"/>
            <a:endCxn id="131" idx="1"/>
          </p:cNvCxnSpPr>
          <p:nvPr/>
        </p:nvCxnSpPr>
        <p:spPr>
          <a:xfrm flipV="1">
            <a:off x="9671876" y="10636291"/>
            <a:ext cx="552166" cy="250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C69A5856-7D4F-2BF7-2F35-56BB361F0DE2}"/>
              </a:ext>
            </a:extLst>
          </p:cNvPr>
          <p:cNvCxnSpPr>
            <a:cxnSpLocks/>
            <a:stCxn id="28" idx="3"/>
            <a:endCxn id="131" idx="1"/>
          </p:cNvCxnSpPr>
          <p:nvPr/>
        </p:nvCxnSpPr>
        <p:spPr>
          <a:xfrm flipV="1">
            <a:off x="9671876" y="10636288"/>
            <a:ext cx="552166" cy="7235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36" name="Rechteck 35">
            <a:extLst>
              <a:ext uri="{FF2B5EF4-FFF2-40B4-BE49-F238E27FC236}">
                <a16:creationId xmlns:a16="http://schemas.microsoft.com/office/drawing/2014/main" id="{7839F9AB-0E9E-3CD3-0688-75C82B3622F5}"/>
              </a:ext>
            </a:extLst>
          </p:cNvPr>
          <p:cNvSpPr/>
          <p:nvPr/>
        </p:nvSpPr>
        <p:spPr>
          <a:xfrm>
            <a:off x="6510989" y="11133704"/>
            <a:ext cx="1425832" cy="43249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893C73A-48A8-6D1F-40D2-0A9F5851FE5C}"/>
              </a:ext>
            </a:extLst>
          </p:cNvPr>
          <p:cNvCxnSpPr>
            <a:cxnSpLocks/>
            <a:stCxn id="28" idx="1"/>
            <a:endCxn id="36" idx="3"/>
          </p:cNvCxnSpPr>
          <p:nvPr/>
        </p:nvCxnSpPr>
        <p:spPr>
          <a:xfrm flipH="1" flipV="1">
            <a:off x="7936821" y="11349950"/>
            <a:ext cx="573602" cy="986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D6180C09-80DE-B8FB-D98B-2D79204A965B}"/>
              </a:ext>
            </a:extLst>
          </p:cNvPr>
          <p:cNvSpPr/>
          <p:nvPr/>
        </p:nvSpPr>
        <p:spPr>
          <a:xfrm>
            <a:off x="6510989" y="10127098"/>
            <a:ext cx="1425832" cy="3676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12D49DF6-85AB-4875-3211-DF09274DF36A}"/>
              </a:ext>
            </a:extLst>
          </p:cNvPr>
          <p:cNvCxnSpPr>
            <a:cxnSpLocks/>
            <a:stCxn id="29" idx="1"/>
            <a:endCxn id="38" idx="3"/>
          </p:cNvCxnSpPr>
          <p:nvPr/>
        </p:nvCxnSpPr>
        <p:spPr>
          <a:xfrm flipH="1" flipV="1">
            <a:off x="7936821" y="10310929"/>
            <a:ext cx="573602" cy="32786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DDD580D5-0B17-FEDA-A7D7-84BCAB8DD12F}"/>
              </a:ext>
            </a:extLst>
          </p:cNvPr>
          <p:cNvSpPr/>
          <p:nvPr/>
        </p:nvSpPr>
        <p:spPr>
          <a:xfrm>
            <a:off x="13046700" y="10416170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deviceName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BA13D890-B8BA-7E5D-B4EB-3559460FEA0B}"/>
              </a:ext>
            </a:extLst>
          </p:cNvPr>
          <p:cNvCxnSpPr>
            <a:cxnSpLocks/>
            <a:stCxn id="16" idx="3"/>
            <a:endCxn id="44" idx="1"/>
          </p:cNvCxnSpPr>
          <p:nvPr/>
        </p:nvCxnSpPr>
        <p:spPr>
          <a:xfrm flipV="1">
            <a:off x="12474962" y="10584207"/>
            <a:ext cx="571738" cy="5536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9" name="Abgerundetes Rechteck 1">
            <a:extLst>
              <a:ext uri="{FF2B5EF4-FFF2-40B4-BE49-F238E27FC236}">
                <a16:creationId xmlns:a16="http://schemas.microsoft.com/office/drawing/2014/main" id="{0B3696B8-459B-81BC-F007-25C4FCAE7AF6}"/>
              </a:ext>
            </a:extLst>
          </p:cNvPr>
          <p:cNvSpPr/>
          <p:nvPr/>
        </p:nvSpPr>
        <p:spPr>
          <a:xfrm>
            <a:off x="10224045" y="394812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130" name="Abgerundetes Rechteck 2">
            <a:extLst>
              <a:ext uri="{FF2B5EF4-FFF2-40B4-BE49-F238E27FC236}">
                <a16:creationId xmlns:a16="http://schemas.microsoft.com/office/drawing/2014/main" id="{44E9B2AD-2D82-4A80-07DA-1326EE5556DF}"/>
              </a:ext>
            </a:extLst>
          </p:cNvPr>
          <p:cNvSpPr/>
          <p:nvPr/>
        </p:nvSpPr>
        <p:spPr>
          <a:xfrm>
            <a:off x="10224045" y="916131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131" name="Abgerundetes Rechteck 3">
            <a:extLst>
              <a:ext uri="{FF2B5EF4-FFF2-40B4-BE49-F238E27FC236}">
                <a16:creationId xmlns:a16="http://schemas.microsoft.com/office/drawing/2014/main" id="{38AABEEE-D5A9-7960-91DE-A0715B1E1097}"/>
              </a:ext>
            </a:extLst>
          </p:cNvPr>
          <p:cNvSpPr/>
          <p:nvPr/>
        </p:nvSpPr>
        <p:spPr>
          <a:xfrm>
            <a:off x="10224045" y="1041350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132" name="Gerade Verbindung mit Pfeil 131">
            <a:extLst>
              <a:ext uri="{FF2B5EF4-FFF2-40B4-BE49-F238E27FC236}">
                <a16:creationId xmlns:a16="http://schemas.microsoft.com/office/drawing/2014/main" id="{24B8BA13-AD4E-5D96-4439-B969CB4D0F1B}"/>
              </a:ext>
            </a:extLst>
          </p:cNvPr>
          <p:cNvCxnSpPr>
            <a:stCxn id="129" idx="2"/>
            <a:endCxn id="130" idx="0"/>
          </p:cNvCxnSpPr>
          <p:nvPr/>
        </p:nvCxnSpPr>
        <p:spPr>
          <a:xfrm>
            <a:off x="10492692" y="4393695"/>
            <a:ext cx="0" cy="476762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F9346835-875D-6801-F071-4CB2B804900B}"/>
              </a:ext>
            </a:extLst>
          </p:cNvPr>
          <p:cNvCxnSpPr>
            <a:stCxn id="130" idx="2"/>
            <a:endCxn id="131" idx="0"/>
          </p:cNvCxnSpPr>
          <p:nvPr/>
        </p:nvCxnSpPr>
        <p:spPr>
          <a:xfrm>
            <a:off x="10492692" y="9606890"/>
            <a:ext cx="0" cy="8066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5" name="Abgerundetes Rechteck 74">
            <a:extLst>
              <a:ext uri="{FF2B5EF4-FFF2-40B4-BE49-F238E27FC236}">
                <a16:creationId xmlns:a16="http://schemas.microsoft.com/office/drawing/2014/main" id="{9F76D0E1-4E66-342A-E3B2-52119B669652}"/>
              </a:ext>
            </a:extLst>
          </p:cNvPr>
          <p:cNvSpPr/>
          <p:nvPr/>
        </p:nvSpPr>
        <p:spPr>
          <a:xfrm>
            <a:off x="8510425" y="573562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err="1">
                <a:solidFill>
                  <a:prstClr val="white"/>
                </a:solidFill>
                <a:latin typeface="Calibri" panose="020F0502020204030204"/>
              </a:rPr>
              <a:t>OperationServer</a:t>
            </a:r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7" name="Abgerundetes Rechteck 88">
            <a:extLst>
              <a:ext uri="{FF2B5EF4-FFF2-40B4-BE49-F238E27FC236}">
                <a16:creationId xmlns:a16="http://schemas.microsoft.com/office/drawing/2014/main" id="{8BC9E276-53B6-5995-622D-0AC9EB9DE1B3}"/>
              </a:ext>
            </a:extLst>
          </p:cNvPr>
          <p:cNvSpPr/>
          <p:nvPr/>
        </p:nvSpPr>
        <p:spPr>
          <a:xfrm>
            <a:off x="8510425" y="717765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err="1">
                <a:solidFill>
                  <a:prstClr val="white"/>
                </a:solidFill>
                <a:latin typeface="Calibri" panose="020F0502020204030204"/>
              </a:rPr>
              <a:t>TcpServer</a:t>
            </a:r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8" name="Abgerundetes Rechteck 89">
            <a:extLst>
              <a:ext uri="{FF2B5EF4-FFF2-40B4-BE49-F238E27FC236}">
                <a16:creationId xmlns:a16="http://schemas.microsoft.com/office/drawing/2014/main" id="{14E901DD-3FD2-DD78-E2D1-8BE2B4D09279}"/>
              </a:ext>
            </a:extLst>
          </p:cNvPr>
          <p:cNvSpPr/>
          <p:nvPr/>
        </p:nvSpPr>
        <p:spPr>
          <a:xfrm>
            <a:off x="8510425" y="645663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err="1">
                <a:solidFill>
                  <a:prstClr val="white"/>
                </a:solidFill>
                <a:latin typeface="Calibri" panose="020F0502020204030204"/>
              </a:rPr>
              <a:t>HttpServer</a:t>
            </a:r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49" name="Gerade Verbindung mit Pfeil 148">
            <a:extLst>
              <a:ext uri="{FF2B5EF4-FFF2-40B4-BE49-F238E27FC236}">
                <a16:creationId xmlns:a16="http://schemas.microsoft.com/office/drawing/2014/main" id="{77D0C046-112B-F61C-51ED-422966C3B7D4}"/>
              </a:ext>
            </a:extLst>
          </p:cNvPr>
          <p:cNvCxnSpPr>
            <a:stCxn id="148" idx="3"/>
            <a:endCxn id="131" idx="1"/>
          </p:cNvCxnSpPr>
          <p:nvPr/>
        </p:nvCxnSpPr>
        <p:spPr>
          <a:xfrm>
            <a:off x="9671878" y="6679424"/>
            <a:ext cx="552167" cy="39568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89E76792-F816-11E2-7AD6-F99179AC2EAF}"/>
              </a:ext>
            </a:extLst>
          </p:cNvPr>
          <p:cNvCxnSpPr>
            <a:stCxn id="147" idx="3"/>
            <a:endCxn id="131" idx="1"/>
          </p:cNvCxnSpPr>
          <p:nvPr/>
        </p:nvCxnSpPr>
        <p:spPr>
          <a:xfrm>
            <a:off x="9671878" y="7400444"/>
            <a:ext cx="552167" cy="323584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51" name="Gerade Verbindung mit Pfeil 150">
            <a:extLst>
              <a:ext uri="{FF2B5EF4-FFF2-40B4-BE49-F238E27FC236}">
                <a16:creationId xmlns:a16="http://schemas.microsoft.com/office/drawing/2014/main" id="{FB99CDA0-2D2C-C26F-89EE-72E2DAEA2188}"/>
              </a:ext>
            </a:extLst>
          </p:cNvPr>
          <p:cNvCxnSpPr>
            <a:stCxn id="145" idx="3"/>
            <a:endCxn id="131" idx="1"/>
          </p:cNvCxnSpPr>
          <p:nvPr/>
        </p:nvCxnSpPr>
        <p:spPr>
          <a:xfrm>
            <a:off x="9671878" y="5958410"/>
            <a:ext cx="552167" cy="467788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52" name="Rechteck 151">
            <a:extLst>
              <a:ext uri="{FF2B5EF4-FFF2-40B4-BE49-F238E27FC236}">
                <a16:creationId xmlns:a16="http://schemas.microsoft.com/office/drawing/2014/main" id="{E3E04050-9C25-B09E-3C76-37E1DD41737D}"/>
              </a:ext>
            </a:extLst>
          </p:cNvPr>
          <p:cNvSpPr/>
          <p:nvPr/>
        </p:nvSpPr>
        <p:spPr>
          <a:xfrm>
            <a:off x="6510988" y="4503195"/>
            <a:ext cx="1425832" cy="32767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err="1">
                <a:solidFill>
                  <a:prstClr val="black"/>
                </a:solidFill>
                <a:latin typeface="Calibri" panose="020F0502020204030204"/>
              </a:rPr>
              <a:t>operationName</a:t>
            </a:r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3" name="Rechteck 152">
            <a:extLst>
              <a:ext uri="{FF2B5EF4-FFF2-40B4-BE49-F238E27FC236}">
                <a16:creationId xmlns:a16="http://schemas.microsoft.com/office/drawing/2014/main" id="{4DFA1D3E-C6E5-809E-760C-5C9B254E07A8}"/>
              </a:ext>
            </a:extLst>
          </p:cNvPr>
          <p:cNvSpPr/>
          <p:nvPr/>
        </p:nvSpPr>
        <p:spPr>
          <a:xfrm>
            <a:off x="6510988" y="4858710"/>
            <a:ext cx="1425832" cy="70465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lifeCycleState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operation-key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4" name="Rechteck 153">
            <a:extLst>
              <a:ext uri="{FF2B5EF4-FFF2-40B4-BE49-F238E27FC236}">
                <a16:creationId xmlns:a16="http://schemas.microsoft.com/office/drawing/2014/main" id="{603038BB-B38F-04CB-CE97-EB1D3BC5A2ED}"/>
              </a:ext>
            </a:extLst>
          </p:cNvPr>
          <p:cNvSpPr/>
          <p:nvPr/>
        </p:nvSpPr>
        <p:spPr>
          <a:xfrm>
            <a:off x="6510988" y="6688555"/>
            <a:ext cx="1425832" cy="6838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description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localProtocol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AE72E1DE-8F09-CAEE-F70B-BD74C656E315}"/>
              </a:ext>
            </a:extLst>
          </p:cNvPr>
          <p:cNvCxnSpPr>
            <a:cxnSpLocks/>
            <a:stCxn id="147" idx="1"/>
            <a:endCxn id="154" idx="3"/>
          </p:cNvCxnSpPr>
          <p:nvPr/>
        </p:nvCxnSpPr>
        <p:spPr>
          <a:xfrm flipH="1" flipV="1">
            <a:off x="7936820" y="7030495"/>
            <a:ext cx="573602" cy="36994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6" name="Rechteck 155">
            <a:extLst>
              <a:ext uri="{FF2B5EF4-FFF2-40B4-BE49-F238E27FC236}">
                <a16:creationId xmlns:a16="http://schemas.microsoft.com/office/drawing/2014/main" id="{A2DD233B-D011-6931-E9B5-093D279C83E7}"/>
              </a:ext>
            </a:extLst>
          </p:cNvPr>
          <p:cNvSpPr/>
          <p:nvPr/>
        </p:nvSpPr>
        <p:spPr>
          <a:xfrm>
            <a:off x="6510988" y="5604036"/>
            <a:ext cx="1425832" cy="105148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applicationName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releaseNumber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applicationPurpose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dataUpdatePeriod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ownerName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ownerEmailAddress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releaseList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7" name="Gerade Verbindung mit Pfeil 156">
            <a:extLst>
              <a:ext uri="{FF2B5EF4-FFF2-40B4-BE49-F238E27FC236}">
                <a16:creationId xmlns:a16="http://schemas.microsoft.com/office/drawing/2014/main" id="{016EC4D1-F635-FB0B-C4C9-8B3006B16E87}"/>
              </a:ext>
            </a:extLst>
          </p:cNvPr>
          <p:cNvCxnSpPr>
            <a:stCxn id="145" idx="1"/>
            <a:endCxn id="153" idx="3"/>
          </p:cNvCxnSpPr>
          <p:nvPr/>
        </p:nvCxnSpPr>
        <p:spPr>
          <a:xfrm flipH="1" flipV="1">
            <a:off x="7936820" y="5211035"/>
            <a:ext cx="573602" cy="74737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8" name="Gerade Verbindung mit Pfeil 157">
            <a:extLst>
              <a:ext uri="{FF2B5EF4-FFF2-40B4-BE49-F238E27FC236}">
                <a16:creationId xmlns:a16="http://schemas.microsoft.com/office/drawing/2014/main" id="{7F8AF69D-63A6-BB6A-B020-F4C20183069E}"/>
              </a:ext>
            </a:extLst>
          </p:cNvPr>
          <p:cNvCxnSpPr>
            <a:cxnSpLocks/>
            <a:stCxn id="145" idx="1"/>
            <a:endCxn id="152" idx="3"/>
          </p:cNvCxnSpPr>
          <p:nvPr/>
        </p:nvCxnSpPr>
        <p:spPr>
          <a:xfrm flipH="1" flipV="1">
            <a:off x="7936820" y="4667037"/>
            <a:ext cx="573602" cy="129137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E0072063-E071-5BFA-07F7-75E642B28E77}"/>
              </a:ext>
            </a:extLst>
          </p:cNvPr>
          <p:cNvCxnSpPr>
            <a:cxnSpLocks/>
            <a:stCxn id="148" idx="1"/>
            <a:endCxn id="156" idx="3"/>
          </p:cNvCxnSpPr>
          <p:nvPr/>
        </p:nvCxnSpPr>
        <p:spPr>
          <a:xfrm flipH="1" flipV="1">
            <a:off x="7936820" y="6129778"/>
            <a:ext cx="573602" cy="54964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4" name="Abgerundetes Rechteck 45">
            <a:extLst>
              <a:ext uri="{FF2B5EF4-FFF2-40B4-BE49-F238E27FC236}">
                <a16:creationId xmlns:a16="http://schemas.microsoft.com/office/drawing/2014/main" id="{6EC8F9F0-0814-58A0-1A03-1B7B7F229B7A}"/>
              </a:ext>
            </a:extLst>
          </p:cNvPr>
          <p:cNvSpPr/>
          <p:nvPr/>
        </p:nvSpPr>
        <p:spPr>
          <a:xfrm>
            <a:off x="11570031" y="394812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PC</a:t>
            </a:r>
          </a:p>
        </p:txBody>
      </p:sp>
      <p:sp>
        <p:nvSpPr>
          <p:cNvPr id="165" name="Abgerundetes Rechteck 46">
            <a:extLst>
              <a:ext uri="{FF2B5EF4-FFF2-40B4-BE49-F238E27FC236}">
                <a16:creationId xmlns:a16="http://schemas.microsoft.com/office/drawing/2014/main" id="{3A261E11-A8FF-8461-9D6C-DB4253244219}"/>
              </a:ext>
            </a:extLst>
          </p:cNvPr>
          <p:cNvSpPr/>
          <p:nvPr/>
        </p:nvSpPr>
        <p:spPr>
          <a:xfrm>
            <a:off x="12916017" y="395255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1D0C2E28-ECAC-7C41-C57C-93E87A3CDD27}"/>
              </a:ext>
            </a:extLst>
          </p:cNvPr>
          <p:cNvCxnSpPr>
            <a:stCxn id="129" idx="3"/>
            <a:endCxn id="164" idx="1"/>
          </p:cNvCxnSpPr>
          <p:nvPr/>
        </p:nvCxnSpPr>
        <p:spPr>
          <a:xfrm>
            <a:off x="10761344" y="4170906"/>
            <a:ext cx="808687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F54F4961-4CD8-1757-6D3E-4ED507AC3D06}"/>
              </a:ext>
            </a:extLst>
          </p:cNvPr>
          <p:cNvCxnSpPr>
            <a:stCxn id="164" idx="3"/>
            <a:endCxn id="165" idx="1"/>
          </p:cNvCxnSpPr>
          <p:nvPr/>
        </p:nvCxnSpPr>
        <p:spPr>
          <a:xfrm>
            <a:off x="12107330" y="4170909"/>
            <a:ext cx="808687" cy="443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8" name="Rechteck 167">
            <a:extLst>
              <a:ext uri="{FF2B5EF4-FFF2-40B4-BE49-F238E27FC236}">
                <a16:creationId xmlns:a16="http://schemas.microsoft.com/office/drawing/2014/main" id="{CF8AC0D9-3EBA-3573-B442-A8577BA331CA}"/>
              </a:ext>
            </a:extLst>
          </p:cNvPr>
          <p:cNvSpPr/>
          <p:nvPr/>
        </p:nvSpPr>
        <p:spPr>
          <a:xfrm>
            <a:off x="8123848" y="3967698"/>
            <a:ext cx="1425832" cy="32767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operationalState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lifecycleState</a:t>
            </a:r>
          </a:p>
        </p:txBody>
      </p: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BA0DE7E0-3E00-4D1E-00E4-096475C7D555}"/>
              </a:ext>
            </a:extLst>
          </p:cNvPr>
          <p:cNvCxnSpPr>
            <a:cxnSpLocks/>
            <a:stCxn id="168" idx="3"/>
            <a:endCxn id="129" idx="1"/>
          </p:cNvCxnSpPr>
          <p:nvPr/>
        </p:nvCxnSpPr>
        <p:spPr>
          <a:xfrm>
            <a:off x="9549680" y="4131540"/>
            <a:ext cx="674362" cy="3936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0" name="Abgerundetes Rechteck 66">
            <a:extLst>
              <a:ext uri="{FF2B5EF4-FFF2-40B4-BE49-F238E27FC236}">
                <a16:creationId xmlns:a16="http://schemas.microsoft.com/office/drawing/2014/main" id="{E923FF91-857D-1980-0058-CEC6AE11A650}"/>
              </a:ext>
            </a:extLst>
          </p:cNvPr>
          <p:cNvSpPr/>
          <p:nvPr/>
        </p:nvSpPr>
        <p:spPr>
          <a:xfrm>
            <a:off x="14007234" y="396381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 err="1">
                <a:solidFill>
                  <a:prstClr val="white"/>
                </a:solidFill>
                <a:latin typeface="Calibri" panose="020F0502020204030204"/>
              </a:rPr>
              <a:t>StringProfile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71" name="Gerade Verbindung mit Pfeil 170">
            <a:extLst>
              <a:ext uri="{FF2B5EF4-FFF2-40B4-BE49-F238E27FC236}">
                <a16:creationId xmlns:a16="http://schemas.microsoft.com/office/drawing/2014/main" id="{57E5131C-F4A7-B1C2-99E2-BDAAC61E1664}"/>
              </a:ext>
            </a:extLst>
          </p:cNvPr>
          <p:cNvCxnSpPr>
            <a:cxnSpLocks/>
            <a:stCxn id="170" idx="1"/>
            <a:endCxn id="165" idx="3"/>
          </p:cNvCxnSpPr>
          <p:nvPr/>
        </p:nvCxnSpPr>
        <p:spPr>
          <a:xfrm flipH="1" flipV="1">
            <a:off x="13453313" y="4175346"/>
            <a:ext cx="553918" cy="1125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72" name="Rechteck 171">
            <a:extLst>
              <a:ext uri="{FF2B5EF4-FFF2-40B4-BE49-F238E27FC236}">
                <a16:creationId xmlns:a16="http://schemas.microsoft.com/office/drawing/2014/main" id="{EB4B0C19-05A4-9F67-7DF1-843375E09128}"/>
              </a:ext>
            </a:extLst>
          </p:cNvPr>
          <p:cNvSpPr/>
          <p:nvPr/>
        </p:nvSpPr>
        <p:spPr>
          <a:xfrm>
            <a:off x="15743635" y="3988189"/>
            <a:ext cx="1425832" cy="67884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stringName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mediatorVmTemplateName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mediatorUserName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mediatorUserPassword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3" name="Rechteck 172">
            <a:extLst>
              <a:ext uri="{FF2B5EF4-FFF2-40B4-BE49-F238E27FC236}">
                <a16:creationId xmlns:a16="http://schemas.microsoft.com/office/drawing/2014/main" id="{4CBD0BBA-3755-9310-47FE-8B5EF03DB68E}"/>
              </a:ext>
            </a:extLst>
          </p:cNvPr>
          <p:cNvSpPr/>
          <p:nvPr/>
        </p:nvSpPr>
        <p:spPr>
          <a:xfrm>
            <a:off x="15743635" y="4716070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stringValue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74" name="Gerade Verbindung mit Pfeil 173">
            <a:extLst>
              <a:ext uri="{FF2B5EF4-FFF2-40B4-BE49-F238E27FC236}">
                <a16:creationId xmlns:a16="http://schemas.microsoft.com/office/drawing/2014/main" id="{3E00DD38-E312-FDAE-E0CF-019349FE88A3}"/>
              </a:ext>
            </a:extLst>
          </p:cNvPr>
          <p:cNvCxnSpPr>
            <a:cxnSpLocks/>
            <a:stCxn id="170" idx="3"/>
            <a:endCxn id="172" idx="1"/>
          </p:cNvCxnSpPr>
          <p:nvPr/>
        </p:nvCxnSpPr>
        <p:spPr>
          <a:xfrm>
            <a:off x="15168687" y="4186602"/>
            <a:ext cx="574951" cy="14101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5" name="Gerade Verbindung mit Pfeil 174">
            <a:extLst>
              <a:ext uri="{FF2B5EF4-FFF2-40B4-BE49-F238E27FC236}">
                <a16:creationId xmlns:a16="http://schemas.microsoft.com/office/drawing/2014/main" id="{134A9A26-D904-FED7-A00D-A8B5BACBD1F1}"/>
              </a:ext>
            </a:extLst>
          </p:cNvPr>
          <p:cNvCxnSpPr>
            <a:stCxn id="170" idx="3"/>
            <a:endCxn id="173" idx="1"/>
          </p:cNvCxnSpPr>
          <p:nvPr/>
        </p:nvCxnSpPr>
        <p:spPr>
          <a:xfrm>
            <a:off x="15168687" y="4186605"/>
            <a:ext cx="574951" cy="69750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8" name="Abgerundetes Rechteck 2">
            <a:extLst>
              <a:ext uri="{FF2B5EF4-FFF2-40B4-BE49-F238E27FC236}">
                <a16:creationId xmlns:a16="http://schemas.microsoft.com/office/drawing/2014/main" id="{5D271881-6F30-DFD6-72F1-3F674E68933F}"/>
              </a:ext>
            </a:extLst>
          </p:cNvPr>
          <p:cNvSpPr/>
          <p:nvPr/>
        </p:nvSpPr>
        <p:spPr>
          <a:xfrm>
            <a:off x="11570030" y="520237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FD</a:t>
            </a:r>
          </a:p>
        </p:txBody>
      </p:sp>
      <p:cxnSp>
        <p:nvCxnSpPr>
          <p:cNvPr id="179" name="Gerade Verbindung mit Pfeil 178">
            <a:extLst>
              <a:ext uri="{FF2B5EF4-FFF2-40B4-BE49-F238E27FC236}">
                <a16:creationId xmlns:a16="http://schemas.microsoft.com/office/drawing/2014/main" id="{140A27B0-12E3-6EFB-FFEB-53372328F579}"/>
              </a:ext>
            </a:extLst>
          </p:cNvPr>
          <p:cNvCxnSpPr>
            <a:cxnSpLocks/>
            <a:stCxn id="129" idx="2"/>
            <a:endCxn id="178" idx="0"/>
          </p:cNvCxnSpPr>
          <p:nvPr/>
        </p:nvCxnSpPr>
        <p:spPr>
          <a:xfrm>
            <a:off x="10492695" y="4393692"/>
            <a:ext cx="1345985" cy="8086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3" name="Abgerundetes Rechteck 2">
            <a:extLst>
              <a:ext uri="{FF2B5EF4-FFF2-40B4-BE49-F238E27FC236}">
                <a16:creationId xmlns:a16="http://schemas.microsoft.com/office/drawing/2014/main" id="{081EC501-C2CA-9E15-39FF-56B5A787FDD0}"/>
              </a:ext>
            </a:extLst>
          </p:cNvPr>
          <p:cNvSpPr/>
          <p:nvPr/>
        </p:nvSpPr>
        <p:spPr>
          <a:xfrm>
            <a:off x="11570030" y="847760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FC</a:t>
            </a:r>
          </a:p>
        </p:txBody>
      </p:sp>
      <p:cxnSp>
        <p:nvCxnSpPr>
          <p:cNvPr id="190" name="Gerade Verbindung mit Pfeil 189">
            <a:extLst>
              <a:ext uri="{FF2B5EF4-FFF2-40B4-BE49-F238E27FC236}">
                <a16:creationId xmlns:a16="http://schemas.microsoft.com/office/drawing/2014/main" id="{296A82BB-6F95-7547-C6E1-A06AE5A97651}"/>
              </a:ext>
            </a:extLst>
          </p:cNvPr>
          <p:cNvCxnSpPr>
            <a:cxnSpLocks/>
            <a:stCxn id="178" idx="2"/>
            <a:endCxn id="183" idx="0"/>
          </p:cNvCxnSpPr>
          <p:nvPr/>
        </p:nvCxnSpPr>
        <p:spPr>
          <a:xfrm>
            <a:off x="11838677" y="5647950"/>
            <a:ext cx="0" cy="282965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3" name="Rechteck 192">
            <a:extLst>
              <a:ext uri="{FF2B5EF4-FFF2-40B4-BE49-F238E27FC236}">
                <a16:creationId xmlns:a16="http://schemas.microsoft.com/office/drawing/2014/main" id="{0EBFB0DE-9E6A-84BE-0CC5-FB4877E6209C}"/>
              </a:ext>
            </a:extLst>
          </p:cNvPr>
          <p:cNvSpPr/>
          <p:nvPr/>
        </p:nvSpPr>
        <p:spPr>
          <a:xfrm>
            <a:off x="13046700" y="8536254"/>
            <a:ext cx="1425832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deviceName</a:t>
            </a:r>
          </a:p>
        </p:txBody>
      </p:sp>
      <p:cxnSp>
        <p:nvCxnSpPr>
          <p:cNvPr id="194" name="Gerade Verbindung mit Pfeil 193">
            <a:extLst>
              <a:ext uri="{FF2B5EF4-FFF2-40B4-BE49-F238E27FC236}">
                <a16:creationId xmlns:a16="http://schemas.microsoft.com/office/drawing/2014/main" id="{30D22D7A-9AC9-DD60-5253-1BC73B206C29}"/>
              </a:ext>
            </a:extLst>
          </p:cNvPr>
          <p:cNvCxnSpPr>
            <a:cxnSpLocks/>
            <a:stCxn id="183" idx="3"/>
            <a:endCxn id="193" idx="1"/>
          </p:cNvCxnSpPr>
          <p:nvPr/>
        </p:nvCxnSpPr>
        <p:spPr>
          <a:xfrm>
            <a:off x="12107326" y="8700395"/>
            <a:ext cx="939374" cy="389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9" name="Abgerundetes Rechteck 2">
            <a:extLst>
              <a:ext uri="{FF2B5EF4-FFF2-40B4-BE49-F238E27FC236}">
                <a16:creationId xmlns:a16="http://schemas.microsoft.com/office/drawing/2014/main" id="{B08CDC80-9681-7C36-4CBD-B2099103EA1A}"/>
              </a:ext>
            </a:extLst>
          </p:cNvPr>
          <p:cNvSpPr/>
          <p:nvPr/>
        </p:nvSpPr>
        <p:spPr>
          <a:xfrm>
            <a:off x="11570030" y="959210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FCP</a:t>
            </a:r>
          </a:p>
        </p:txBody>
      </p:sp>
      <p:cxnSp>
        <p:nvCxnSpPr>
          <p:cNvPr id="202" name="Gerade Verbindung mit Pfeil 201">
            <a:extLst>
              <a:ext uri="{FF2B5EF4-FFF2-40B4-BE49-F238E27FC236}">
                <a16:creationId xmlns:a16="http://schemas.microsoft.com/office/drawing/2014/main" id="{71E46005-C51C-4CCB-EF13-C0C55DA3B420}"/>
              </a:ext>
            </a:extLst>
          </p:cNvPr>
          <p:cNvCxnSpPr>
            <a:cxnSpLocks/>
            <a:stCxn id="183" idx="2"/>
            <a:endCxn id="199" idx="0"/>
          </p:cNvCxnSpPr>
          <p:nvPr/>
        </p:nvCxnSpPr>
        <p:spPr>
          <a:xfrm>
            <a:off x="11838677" y="8923181"/>
            <a:ext cx="0" cy="66892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5" name="Gerade Verbindung mit Pfeil 204">
            <a:extLst>
              <a:ext uri="{FF2B5EF4-FFF2-40B4-BE49-F238E27FC236}">
                <a16:creationId xmlns:a16="http://schemas.microsoft.com/office/drawing/2014/main" id="{6788FE90-8D70-D6A1-9340-2FB938146C10}"/>
              </a:ext>
            </a:extLst>
          </p:cNvPr>
          <p:cNvCxnSpPr>
            <a:cxnSpLocks/>
            <a:stCxn id="199" idx="1"/>
            <a:endCxn id="131" idx="3"/>
          </p:cNvCxnSpPr>
          <p:nvPr/>
        </p:nvCxnSpPr>
        <p:spPr>
          <a:xfrm flipH="1">
            <a:off x="10761341" y="9814892"/>
            <a:ext cx="808686" cy="82139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10" name="Rechteck 209">
            <a:extLst>
              <a:ext uri="{FF2B5EF4-FFF2-40B4-BE49-F238E27FC236}">
                <a16:creationId xmlns:a16="http://schemas.microsoft.com/office/drawing/2014/main" id="{9BC48371-0AF2-465F-826E-D379F9BB6507}"/>
              </a:ext>
            </a:extLst>
          </p:cNvPr>
          <p:cNvSpPr/>
          <p:nvPr/>
        </p:nvSpPr>
        <p:spPr>
          <a:xfrm>
            <a:off x="6510988" y="10538335"/>
            <a:ext cx="1425832" cy="30748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>
                <a:solidFill>
                  <a:prstClr val="black"/>
                </a:solidFill>
                <a:latin typeface="Calibri" panose="020F0502020204030204"/>
              </a:rPr>
              <a:t>Status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interfaceStatus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11" name="Gerade Verbindung mit Pfeil 210">
            <a:extLst>
              <a:ext uri="{FF2B5EF4-FFF2-40B4-BE49-F238E27FC236}">
                <a16:creationId xmlns:a16="http://schemas.microsoft.com/office/drawing/2014/main" id="{FD15BF2E-431D-FF86-B0A9-F508E3870F53}"/>
              </a:ext>
            </a:extLst>
          </p:cNvPr>
          <p:cNvCxnSpPr>
            <a:cxnSpLocks/>
            <a:stCxn id="29" idx="1"/>
            <a:endCxn id="210" idx="3"/>
          </p:cNvCxnSpPr>
          <p:nvPr/>
        </p:nvCxnSpPr>
        <p:spPr>
          <a:xfrm flipH="1">
            <a:off x="7936823" y="10638795"/>
            <a:ext cx="573603" cy="5328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16" name="Abgerundetes Rechteck 1">
            <a:extLst>
              <a:ext uri="{FF2B5EF4-FFF2-40B4-BE49-F238E27FC236}">
                <a16:creationId xmlns:a16="http://schemas.microsoft.com/office/drawing/2014/main" id="{E4A62BC8-924C-84E9-9ED3-A6A081AB7FE4}"/>
              </a:ext>
            </a:extLst>
          </p:cNvPr>
          <p:cNvSpPr/>
          <p:nvPr/>
        </p:nvSpPr>
        <p:spPr>
          <a:xfrm>
            <a:off x="19582208" y="790382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217" name="Abgerundetes Rechteck 2">
            <a:extLst>
              <a:ext uri="{FF2B5EF4-FFF2-40B4-BE49-F238E27FC236}">
                <a16:creationId xmlns:a16="http://schemas.microsoft.com/office/drawing/2014/main" id="{99DFCE16-D31D-A2C4-AF66-C2D2E0DD8F69}"/>
              </a:ext>
            </a:extLst>
          </p:cNvPr>
          <p:cNvSpPr/>
          <p:nvPr/>
        </p:nvSpPr>
        <p:spPr>
          <a:xfrm>
            <a:off x="19582208" y="9158079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218" name="Abgerundetes Rechteck 3">
            <a:extLst>
              <a:ext uri="{FF2B5EF4-FFF2-40B4-BE49-F238E27FC236}">
                <a16:creationId xmlns:a16="http://schemas.microsoft.com/office/drawing/2014/main" id="{D91288CE-E056-17B7-03D1-9F4B70721B71}"/>
              </a:ext>
            </a:extLst>
          </p:cNvPr>
          <p:cNvSpPr/>
          <p:nvPr/>
        </p:nvSpPr>
        <p:spPr>
          <a:xfrm>
            <a:off x="19582208" y="1041233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219" name="Gerade Verbindung mit Pfeil 218">
            <a:extLst>
              <a:ext uri="{FF2B5EF4-FFF2-40B4-BE49-F238E27FC236}">
                <a16:creationId xmlns:a16="http://schemas.microsoft.com/office/drawing/2014/main" id="{F3812ADC-C552-3888-AD96-B6C6C4A66D2D}"/>
              </a:ext>
            </a:extLst>
          </p:cNvPr>
          <p:cNvCxnSpPr>
            <a:stCxn id="216" idx="2"/>
            <a:endCxn id="217" idx="0"/>
          </p:cNvCxnSpPr>
          <p:nvPr/>
        </p:nvCxnSpPr>
        <p:spPr>
          <a:xfrm>
            <a:off x="19850854" y="8349392"/>
            <a:ext cx="0" cy="8086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0" name="Gerade Verbindung mit Pfeil 219">
            <a:extLst>
              <a:ext uri="{FF2B5EF4-FFF2-40B4-BE49-F238E27FC236}">
                <a16:creationId xmlns:a16="http://schemas.microsoft.com/office/drawing/2014/main" id="{58DA10C6-91F7-D5E5-C61D-C688A420AA08}"/>
              </a:ext>
            </a:extLst>
          </p:cNvPr>
          <p:cNvCxnSpPr>
            <a:stCxn id="217" idx="2"/>
            <a:endCxn id="218" idx="0"/>
          </p:cNvCxnSpPr>
          <p:nvPr/>
        </p:nvCxnSpPr>
        <p:spPr>
          <a:xfrm>
            <a:off x="19850854" y="9603654"/>
            <a:ext cx="0" cy="80868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2" name="Abgerundetes Rechteck 88">
            <a:extLst>
              <a:ext uri="{FF2B5EF4-FFF2-40B4-BE49-F238E27FC236}">
                <a16:creationId xmlns:a16="http://schemas.microsoft.com/office/drawing/2014/main" id="{CA0AEA30-500F-B7AD-AACA-E7D8EDE7AACC}"/>
              </a:ext>
            </a:extLst>
          </p:cNvPr>
          <p:cNvSpPr/>
          <p:nvPr/>
        </p:nvSpPr>
        <p:spPr>
          <a:xfrm>
            <a:off x="17868588" y="1113335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TcpServer [1]</a:t>
            </a:r>
          </a:p>
        </p:txBody>
      </p:sp>
      <p:sp>
        <p:nvSpPr>
          <p:cNvPr id="223" name="Abgerundetes Rechteck 89">
            <a:extLst>
              <a:ext uri="{FF2B5EF4-FFF2-40B4-BE49-F238E27FC236}">
                <a16:creationId xmlns:a16="http://schemas.microsoft.com/office/drawing/2014/main" id="{044D5B40-A091-29AF-E39A-C4A69555BAD1}"/>
              </a:ext>
            </a:extLst>
          </p:cNvPr>
          <p:cNvSpPr/>
          <p:nvPr/>
        </p:nvSpPr>
        <p:spPr>
          <a:xfrm>
            <a:off x="17868588" y="1041233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SnmpServer [*]</a:t>
            </a:r>
          </a:p>
        </p:txBody>
      </p:sp>
      <p:cxnSp>
        <p:nvCxnSpPr>
          <p:cNvPr id="224" name="Gerade Verbindung mit Pfeil 223">
            <a:extLst>
              <a:ext uri="{FF2B5EF4-FFF2-40B4-BE49-F238E27FC236}">
                <a16:creationId xmlns:a16="http://schemas.microsoft.com/office/drawing/2014/main" id="{C4923F46-6E35-ECDC-0AF1-6BAC283218B2}"/>
              </a:ext>
            </a:extLst>
          </p:cNvPr>
          <p:cNvCxnSpPr>
            <a:stCxn id="223" idx="3"/>
            <a:endCxn id="218" idx="1"/>
          </p:cNvCxnSpPr>
          <p:nvPr/>
        </p:nvCxnSpPr>
        <p:spPr>
          <a:xfrm>
            <a:off x="19030037" y="10635124"/>
            <a:ext cx="552168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25" name="Gerade Verbindung mit Pfeil 224">
            <a:extLst>
              <a:ext uri="{FF2B5EF4-FFF2-40B4-BE49-F238E27FC236}">
                <a16:creationId xmlns:a16="http://schemas.microsoft.com/office/drawing/2014/main" id="{C9D65C52-F7D7-4E03-4D70-221077F95329}"/>
              </a:ext>
            </a:extLst>
          </p:cNvPr>
          <p:cNvCxnSpPr>
            <a:stCxn id="222" idx="3"/>
            <a:endCxn id="218" idx="1"/>
          </p:cNvCxnSpPr>
          <p:nvPr/>
        </p:nvCxnSpPr>
        <p:spPr>
          <a:xfrm flipV="1">
            <a:off x="19030037" y="10635127"/>
            <a:ext cx="552168" cy="72101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30" name="Rechteck 229">
            <a:extLst>
              <a:ext uri="{FF2B5EF4-FFF2-40B4-BE49-F238E27FC236}">
                <a16:creationId xmlns:a16="http://schemas.microsoft.com/office/drawing/2014/main" id="{3A0F905E-26BB-EADC-40B0-7140549F1DE4}"/>
              </a:ext>
            </a:extLst>
          </p:cNvPr>
          <p:cNvSpPr/>
          <p:nvPr/>
        </p:nvSpPr>
        <p:spPr>
          <a:xfrm>
            <a:off x="15869151" y="11130033"/>
            <a:ext cx="1425832" cy="4329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Configuration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1" name="Gerade Verbindung mit Pfeil 230">
            <a:extLst>
              <a:ext uri="{FF2B5EF4-FFF2-40B4-BE49-F238E27FC236}">
                <a16:creationId xmlns:a16="http://schemas.microsoft.com/office/drawing/2014/main" id="{E2AA1378-2624-C82E-46F5-DAE3598C92F9}"/>
              </a:ext>
            </a:extLst>
          </p:cNvPr>
          <p:cNvCxnSpPr>
            <a:stCxn id="222" idx="1"/>
            <a:endCxn id="230" idx="3"/>
          </p:cNvCxnSpPr>
          <p:nvPr/>
        </p:nvCxnSpPr>
        <p:spPr>
          <a:xfrm flipH="1" flipV="1">
            <a:off x="17294983" y="11346513"/>
            <a:ext cx="573602" cy="962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2" name="Rechteck 231">
            <a:extLst>
              <a:ext uri="{FF2B5EF4-FFF2-40B4-BE49-F238E27FC236}">
                <a16:creationId xmlns:a16="http://schemas.microsoft.com/office/drawing/2014/main" id="{D24AFCEE-3415-2633-C02F-42F690432881}"/>
              </a:ext>
            </a:extLst>
          </p:cNvPr>
          <p:cNvSpPr/>
          <p:nvPr/>
        </p:nvSpPr>
        <p:spPr>
          <a:xfrm>
            <a:off x="15869151" y="10399835"/>
            <a:ext cx="1425832" cy="47476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 dirty="0" err="1">
                <a:solidFill>
                  <a:prstClr val="black"/>
                </a:solidFill>
                <a:latin typeface="Calibri" panose="020F0502020204030204"/>
              </a:rPr>
              <a:t>Capability</a:t>
            </a:r>
            <a:endParaRPr lang="de-DE" sz="800" u="sng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mediatorUserPassword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5" name="Gerade Verbindung mit Pfeil 234">
            <a:extLst>
              <a:ext uri="{FF2B5EF4-FFF2-40B4-BE49-F238E27FC236}">
                <a16:creationId xmlns:a16="http://schemas.microsoft.com/office/drawing/2014/main" id="{4A5D1682-99D1-7876-EEFC-EA1180222379}"/>
              </a:ext>
            </a:extLst>
          </p:cNvPr>
          <p:cNvCxnSpPr>
            <a:cxnSpLocks/>
            <a:stCxn id="223" idx="1"/>
            <a:endCxn id="232" idx="3"/>
          </p:cNvCxnSpPr>
          <p:nvPr/>
        </p:nvCxnSpPr>
        <p:spPr>
          <a:xfrm flipH="1">
            <a:off x="17294983" y="10635127"/>
            <a:ext cx="573602" cy="209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1" name="Rechteck 240">
            <a:extLst>
              <a:ext uri="{FF2B5EF4-FFF2-40B4-BE49-F238E27FC236}">
                <a16:creationId xmlns:a16="http://schemas.microsoft.com/office/drawing/2014/main" id="{8AE67609-FF85-AA36-4EAC-A2C055DD14DD}"/>
              </a:ext>
            </a:extLst>
          </p:cNvPr>
          <p:cNvSpPr/>
          <p:nvPr/>
        </p:nvSpPr>
        <p:spPr>
          <a:xfrm>
            <a:off x="20671671" y="7903181"/>
            <a:ext cx="1471132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u="sng" kern="0">
                <a:solidFill>
                  <a:prstClr val="black"/>
                </a:solidFill>
                <a:latin typeface="Calibri" panose="020F0502020204030204"/>
              </a:rPr>
              <a:t>ControlConstructPac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externalLabel=deviceName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deviceModelName</a:t>
            </a:r>
          </a:p>
        </p:txBody>
      </p:sp>
      <p:cxnSp>
        <p:nvCxnSpPr>
          <p:cNvPr id="242" name="Gerade Verbindung mit Pfeil 241">
            <a:extLst>
              <a:ext uri="{FF2B5EF4-FFF2-40B4-BE49-F238E27FC236}">
                <a16:creationId xmlns:a16="http://schemas.microsoft.com/office/drawing/2014/main" id="{D02907C9-C5BE-29CD-04AE-14DC78D81D7F}"/>
              </a:ext>
            </a:extLst>
          </p:cNvPr>
          <p:cNvCxnSpPr>
            <a:cxnSpLocks/>
            <a:stCxn id="216" idx="3"/>
            <a:endCxn id="241" idx="1"/>
          </p:cNvCxnSpPr>
          <p:nvPr/>
        </p:nvCxnSpPr>
        <p:spPr>
          <a:xfrm flipV="1">
            <a:off x="20119507" y="8125970"/>
            <a:ext cx="552167" cy="63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5" name="Abgerundetes Rechteck 1">
            <a:extLst>
              <a:ext uri="{FF2B5EF4-FFF2-40B4-BE49-F238E27FC236}">
                <a16:creationId xmlns:a16="http://schemas.microsoft.com/office/drawing/2014/main" id="{0624A5C3-D3B9-BB7E-0BD0-0012F0BB8FBE}"/>
              </a:ext>
            </a:extLst>
          </p:cNvPr>
          <p:cNvSpPr/>
          <p:nvPr/>
        </p:nvSpPr>
        <p:spPr>
          <a:xfrm>
            <a:off x="15034850" y="1198205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6" name="Abgerundetes Rechteck 2">
            <a:extLst>
              <a:ext uri="{FF2B5EF4-FFF2-40B4-BE49-F238E27FC236}">
                <a16:creationId xmlns:a16="http://schemas.microsoft.com/office/drawing/2014/main" id="{5FD1B592-B627-5A5A-AA41-A7B91547AE68}"/>
              </a:ext>
            </a:extLst>
          </p:cNvPr>
          <p:cNvSpPr/>
          <p:nvPr/>
        </p:nvSpPr>
        <p:spPr>
          <a:xfrm>
            <a:off x="15034850" y="1323631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EPL</a:t>
            </a:r>
          </a:p>
        </p:txBody>
      </p:sp>
      <p:cxnSp>
        <p:nvCxnSpPr>
          <p:cNvPr id="257" name="Gerade Verbindung mit Pfeil 256">
            <a:extLst>
              <a:ext uri="{FF2B5EF4-FFF2-40B4-BE49-F238E27FC236}">
                <a16:creationId xmlns:a16="http://schemas.microsoft.com/office/drawing/2014/main" id="{B48E44D1-8330-80C7-3E84-A5EF43DBA4E1}"/>
              </a:ext>
            </a:extLst>
          </p:cNvPr>
          <p:cNvCxnSpPr>
            <a:stCxn id="255" idx="2"/>
            <a:endCxn id="256" idx="0"/>
          </p:cNvCxnSpPr>
          <p:nvPr/>
        </p:nvCxnSpPr>
        <p:spPr>
          <a:xfrm>
            <a:off x="15303496" y="12427627"/>
            <a:ext cx="0" cy="8086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8" name="Abgerundetes Rechteck 8">
            <a:extLst>
              <a:ext uri="{FF2B5EF4-FFF2-40B4-BE49-F238E27FC236}">
                <a16:creationId xmlns:a16="http://schemas.microsoft.com/office/drawing/2014/main" id="{1DB5ECCE-0529-9E73-AE92-2C49B712E8E7}"/>
              </a:ext>
            </a:extLst>
          </p:cNvPr>
          <p:cNvSpPr/>
          <p:nvPr/>
        </p:nvSpPr>
        <p:spPr>
          <a:xfrm>
            <a:off x="16124315" y="13220920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/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SnmpServer [1]</a:t>
            </a:r>
          </a:p>
        </p:txBody>
      </p:sp>
      <p:cxnSp>
        <p:nvCxnSpPr>
          <p:cNvPr id="259" name="Gerade Verbindung mit Pfeil 258">
            <a:extLst>
              <a:ext uri="{FF2B5EF4-FFF2-40B4-BE49-F238E27FC236}">
                <a16:creationId xmlns:a16="http://schemas.microsoft.com/office/drawing/2014/main" id="{48192E11-C1F9-7526-1DD7-BDA73B10C866}"/>
              </a:ext>
            </a:extLst>
          </p:cNvPr>
          <p:cNvCxnSpPr>
            <a:cxnSpLocks/>
            <a:stCxn id="258" idx="1"/>
            <a:endCxn id="256" idx="3"/>
          </p:cNvCxnSpPr>
          <p:nvPr/>
        </p:nvCxnSpPr>
        <p:spPr>
          <a:xfrm flipH="1">
            <a:off x="15572146" y="13443706"/>
            <a:ext cx="552166" cy="1539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60" name="Abgerundetes Rechteck 89">
            <a:extLst>
              <a:ext uri="{FF2B5EF4-FFF2-40B4-BE49-F238E27FC236}">
                <a16:creationId xmlns:a16="http://schemas.microsoft.com/office/drawing/2014/main" id="{B422358F-0F33-890D-60EB-ADF8DB6F886F}"/>
              </a:ext>
            </a:extLst>
          </p:cNvPr>
          <p:cNvSpPr/>
          <p:nvPr/>
        </p:nvSpPr>
        <p:spPr>
          <a:xfrm>
            <a:off x="13322225" y="1322306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/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SnmpClient [1]</a:t>
            </a:r>
          </a:p>
        </p:txBody>
      </p:sp>
      <p:cxnSp>
        <p:nvCxnSpPr>
          <p:cNvPr id="261" name="Gerade Verbindung mit Pfeil 260">
            <a:extLst>
              <a:ext uri="{FF2B5EF4-FFF2-40B4-BE49-F238E27FC236}">
                <a16:creationId xmlns:a16="http://schemas.microsoft.com/office/drawing/2014/main" id="{135B6C77-E883-AABF-A35F-24D77B29B66F}"/>
              </a:ext>
            </a:extLst>
          </p:cNvPr>
          <p:cNvCxnSpPr>
            <a:cxnSpLocks/>
            <a:stCxn id="260" idx="3"/>
            <a:endCxn id="256" idx="1"/>
          </p:cNvCxnSpPr>
          <p:nvPr/>
        </p:nvCxnSpPr>
        <p:spPr>
          <a:xfrm>
            <a:off x="14483675" y="13445850"/>
            <a:ext cx="551172" cy="1325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62" name="Rechteck 261">
            <a:extLst>
              <a:ext uri="{FF2B5EF4-FFF2-40B4-BE49-F238E27FC236}">
                <a16:creationId xmlns:a16="http://schemas.microsoft.com/office/drawing/2014/main" id="{87873D30-2BDD-9834-C7A7-EA52C14A631E}"/>
              </a:ext>
            </a:extLst>
          </p:cNvPr>
          <p:cNvSpPr/>
          <p:nvPr/>
        </p:nvSpPr>
        <p:spPr>
          <a:xfrm>
            <a:off x="17857502" y="13222132"/>
            <a:ext cx="432000" cy="432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_CC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_LTP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_LP</a:t>
            </a:r>
          </a:p>
          <a:p>
            <a:pPr defTabSz="914400">
              <a:defRPr/>
            </a:pP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63" name="Gerade Verbindung mit Pfeil 262">
            <a:extLst>
              <a:ext uri="{FF2B5EF4-FFF2-40B4-BE49-F238E27FC236}">
                <a16:creationId xmlns:a16="http://schemas.microsoft.com/office/drawing/2014/main" id="{94D7A550-857D-353A-FF4B-C684C85B73B7}"/>
              </a:ext>
            </a:extLst>
          </p:cNvPr>
          <p:cNvCxnSpPr>
            <a:cxnSpLocks/>
            <a:stCxn id="258" idx="3"/>
            <a:endCxn id="262" idx="1"/>
          </p:cNvCxnSpPr>
          <p:nvPr/>
        </p:nvCxnSpPr>
        <p:spPr>
          <a:xfrm flipV="1">
            <a:off x="17285768" y="13438132"/>
            <a:ext cx="571737" cy="557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4" name="Rechteck 263">
            <a:extLst>
              <a:ext uri="{FF2B5EF4-FFF2-40B4-BE49-F238E27FC236}">
                <a16:creationId xmlns:a16="http://schemas.microsoft.com/office/drawing/2014/main" id="{EBFEF96A-5427-2197-E648-918795AE37B3}"/>
              </a:ext>
            </a:extLst>
          </p:cNvPr>
          <p:cNvSpPr/>
          <p:nvPr/>
        </p:nvSpPr>
        <p:spPr>
          <a:xfrm>
            <a:off x="12298883" y="13225909"/>
            <a:ext cx="432000" cy="4329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_CC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_LTP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_LP</a:t>
            </a:r>
          </a:p>
        </p:txBody>
      </p:sp>
      <p:cxnSp>
        <p:nvCxnSpPr>
          <p:cNvPr id="265" name="Gerade Verbindung mit Pfeil 264">
            <a:extLst>
              <a:ext uri="{FF2B5EF4-FFF2-40B4-BE49-F238E27FC236}">
                <a16:creationId xmlns:a16="http://schemas.microsoft.com/office/drawing/2014/main" id="{91102010-72C4-FF4E-77F7-A592036BAC6A}"/>
              </a:ext>
            </a:extLst>
          </p:cNvPr>
          <p:cNvCxnSpPr>
            <a:cxnSpLocks/>
            <a:stCxn id="260" idx="1"/>
            <a:endCxn id="264" idx="3"/>
          </p:cNvCxnSpPr>
          <p:nvPr/>
        </p:nvCxnSpPr>
        <p:spPr>
          <a:xfrm flipH="1" flipV="1">
            <a:off x="12730886" y="13442389"/>
            <a:ext cx="591339" cy="345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6" name="Abgerundetes Rechteck 1">
            <a:extLst>
              <a:ext uri="{FF2B5EF4-FFF2-40B4-BE49-F238E27FC236}">
                <a16:creationId xmlns:a16="http://schemas.microsoft.com/office/drawing/2014/main" id="{B5F6C23A-180F-DEDC-F09E-C8DCBAB3658B}"/>
              </a:ext>
            </a:extLst>
          </p:cNvPr>
          <p:cNvSpPr/>
          <p:nvPr/>
        </p:nvSpPr>
        <p:spPr>
          <a:xfrm>
            <a:off x="5439973" y="1196412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7" name="Abgerundetes Rechteck 2">
            <a:extLst>
              <a:ext uri="{FF2B5EF4-FFF2-40B4-BE49-F238E27FC236}">
                <a16:creationId xmlns:a16="http://schemas.microsoft.com/office/drawing/2014/main" id="{9985935D-8D52-01AF-312B-9F91D95BB509}"/>
              </a:ext>
            </a:extLst>
          </p:cNvPr>
          <p:cNvSpPr/>
          <p:nvPr/>
        </p:nvSpPr>
        <p:spPr>
          <a:xfrm>
            <a:off x="5439973" y="1321838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EPL</a:t>
            </a:r>
          </a:p>
        </p:txBody>
      </p:sp>
      <p:cxnSp>
        <p:nvCxnSpPr>
          <p:cNvPr id="268" name="Gerade Verbindung mit Pfeil 267">
            <a:extLst>
              <a:ext uri="{FF2B5EF4-FFF2-40B4-BE49-F238E27FC236}">
                <a16:creationId xmlns:a16="http://schemas.microsoft.com/office/drawing/2014/main" id="{A2807A54-9F60-B09B-A668-827575138DB5}"/>
              </a:ext>
            </a:extLst>
          </p:cNvPr>
          <p:cNvCxnSpPr>
            <a:stCxn id="266" idx="2"/>
            <a:endCxn id="267" idx="0"/>
          </p:cNvCxnSpPr>
          <p:nvPr/>
        </p:nvCxnSpPr>
        <p:spPr>
          <a:xfrm>
            <a:off x="5708619" y="12409699"/>
            <a:ext cx="0" cy="8086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9" name="Abgerundetes Rechteck 8">
            <a:extLst>
              <a:ext uri="{FF2B5EF4-FFF2-40B4-BE49-F238E27FC236}">
                <a16:creationId xmlns:a16="http://schemas.microsoft.com/office/drawing/2014/main" id="{AD2F12B9-6272-42FF-221E-C3C61690E8DD}"/>
              </a:ext>
            </a:extLst>
          </p:cNvPr>
          <p:cNvSpPr/>
          <p:nvPr/>
        </p:nvSpPr>
        <p:spPr>
          <a:xfrm>
            <a:off x="6529438" y="13202992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/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NetconfServer[1]</a:t>
            </a:r>
          </a:p>
        </p:txBody>
      </p:sp>
      <p:cxnSp>
        <p:nvCxnSpPr>
          <p:cNvPr id="270" name="Gerade Verbindung mit Pfeil 269">
            <a:extLst>
              <a:ext uri="{FF2B5EF4-FFF2-40B4-BE49-F238E27FC236}">
                <a16:creationId xmlns:a16="http://schemas.microsoft.com/office/drawing/2014/main" id="{93A98F19-9A41-C011-58EF-3E80CE45C755}"/>
              </a:ext>
            </a:extLst>
          </p:cNvPr>
          <p:cNvCxnSpPr>
            <a:cxnSpLocks/>
            <a:stCxn id="269" idx="1"/>
            <a:endCxn id="267" idx="3"/>
          </p:cNvCxnSpPr>
          <p:nvPr/>
        </p:nvCxnSpPr>
        <p:spPr>
          <a:xfrm flipH="1">
            <a:off x="5977269" y="13425778"/>
            <a:ext cx="552166" cy="1539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71" name="Abgerundetes Rechteck 89">
            <a:extLst>
              <a:ext uri="{FF2B5EF4-FFF2-40B4-BE49-F238E27FC236}">
                <a16:creationId xmlns:a16="http://schemas.microsoft.com/office/drawing/2014/main" id="{D3682311-09F4-75FF-E492-B072762E8AE2}"/>
              </a:ext>
            </a:extLst>
          </p:cNvPr>
          <p:cNvSpPr/>
          <p:nvPr/>
        </p:nvSpPr>
        <p:spPr>
          <a:xfrm>
            <a:off x="3727348" y="13205133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/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NetconfClient [1]</a:t>
            </a:r>
          </a:p>
        </p:txBody>
      </p:sp>
      <p:cxnSp>
        <p:nvCxnSpPr>
          <p:cNvPr id="272" name="Gerade Verbindung mit Pfeil 271">
            <a:extLst>
              <a:ext uri="{FF2B5EF4-FFF2-40B4-BE49-F238E27FC236}">
                <a16:creationId xmlns:a16="http://schemas.microsoft.com/office/drawing/2014/main" id="{F968136D-DA1C-FDD9-C94E-320407CB7B47}"/>
              </a:ext>
            </a:extLst>
          </p:cNvPr>
          <p:cNvCxnSpPr>
            <a:cxnSpLocks/>
            <a:stCxn id="271" idx="3"/>
            <a:endCxn id="267" idx="1"/>
          </p:cNvCxnSpPr>
          <p:nvPr/>
        </p:nvCxnSpPr>
        <p:spPr>
          <a:xfrm>
            <a:off x="4888798" y="13427922"/>
            <a:ext cx="551172" cy="1325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73" name="Rechteck 272">
            <a:extLst>
              <a:ext uri="{FF2B5EF4-FFF2-40B4-BE49-F238E27FC236}">
                <a16:creationId xmlns:a16="http://schemas.microsoft.com/office/drawing/2014/main" id="{771A5464-1E30-00C6-4AFD-A73D41A929FC}"/>
              </a:ext>
            </a:extLst>
          </p:cNvPr>
          <p:cNvSpPr/>
          <p:nvPr/>
        </p:nvSpPr>
        <p:spPr>
          <a:xfrm>
            <a:off x="8262625" y="13204204"/>
            <a:ext cx="432000" cy="432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_CC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_LTP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_LP</a:t>
            </a:r>
          </a:p>
          <a:p>
            <a:pPr defTabSz="914400">
              <a:defRPr/>
            </a:pP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74" name="Gerade Verbindung mit Pfeil 273">
            <a:extLst>
              <a:ext uri="{FF2B5EF4-FFF2-40B4-BE49-F238E27FC236}">
                <a16:creationId xmlns:a16="http://schemas.microsoft.com/office/drawing/2014/main" id="{EC7C8802-3E9D-E370-EA0D-2699CDEFB92A}"/>
              </a:ext>
            </a:extLst>
          </p:cNvPr>
          <p:cNvCxnSpPr>
            <a:cxnSpLocks/>
            <a:stCxn id="269" idx="3"/>
            <a:endCxn id="273" idx="1"/>
          </p:cNvCxnSpPr>
          <p:nvPr/>
        </p:nvCxnSpPr>
        <p:spPr>
          <a:xfrm flipV="1">
            <a:off x="7690891" y="13420204"/>
            <a:ext cx="571737" cy="557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5" name="Rechteck 274">
            <a:extLst>
              <a:ext uri="{FF2B5EF4-FFF2-40B4-BE49-F238E27FC236}">
                <a16:creationId xmlns:a16="http://schemas.microsoft.com/office/drawing/2014/main" id="{FF45B9B1-440A-4FCD-45D5-59915C7C53C8}"/>
              </a:ext>
            </a:extLst>
          </p:cNvPr>
          <p:cNvSpPr/>
          <p:nvPr/>
        </p:nvSpPr>
        <p:spPr>
          <a:xfrm>
            <a:off x="2704006" y="13207981"/>
            <a:ext cx="432000" cy="4329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_CC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_LTP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_LP</a:t>
            </a:r>
          </a:p>
        </p:txBody>
      </p:sp>
      <p:cxnSp>
        <p:nvCxnSpPr>
          <p:cNvPr id="276" name="Gerade Verbindung mit Pfeil 275">
            <a:extLst>
              <a:ext uri="{FF2B5EF4-FFF2-40B4-BE49-F238E27FC236}">
                <a16:creationId xmlns:a16="http://schemas.microsoft.com/office/drawing/2014/main" id="{5ADE99BC-C10A-7918-9434-FFD8A652FF10}"/>
              </a:ext>
            </a:extLst>
          </p:cNvPr>
          <p:cNvCxnSpPr>
            <a:cxnSpLocks/>
            <a:stCxn id="271" idx="1"/>
            <a:endCxn id="275" idx="3"/>
          </p:cNvCxnSpPr>
          <p:nvPr/>
        </p:nvCxnSpPr>
        <p:spPr>
          <a:xfrm flipH="1" flipV="1">
            <a:off x="3136009" y="13424461"/>
            <a:ext cx="591339" cy="345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646DBA9D-E880-728B-E6F0-CC597E215D41}"/>
              </a:ext>
            </a:extLst>
          </p:cNvPr>
          <p:cNvSpPr/>
          <p:nvPr/>
        </p:nvSpPr>
        <p:spPr>
          <a:xfrm>
            <a:off x="6918171" y="12013142"/>
            <a:ext cx="817085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deviceName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90995353-8E96-46F2-FD06-4585E41DE660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5977272" y="12181179"/>
            <a:ext cx="940899" cy="573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AC07F7C7-09C5-CE6A-BB5C-15DF3424A6DB}"/>
              </a:ext>
            </a:extLst>
          </p:cNvPr>
          <p:cNvSpPr/>
          <p:nvPr/>
        </p:nvSpPr>
        <p:spPr>
          <a:xfrm>
            <a:off x="16499387" y="12040386"/>
            <a:ext cx="817085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name</a:t>
            </a:r>
          </a:p>
          <a:p>
            <a:pPr defTabSz="914400">
              <a:defRPr/>
            </a:pPr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- deviceName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E0C4C5C4-5CF3-C93C-84DF-AFA8E24F54EA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5572146" y="12204841"/>
            <a:ext cx="927238" cy="358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56160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44600e-3e04-492e-baa1-25ec245c6f10}" enabled="0" method="" siteId="{9744600e-3e04-492e-baa1-25ec245c6f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1922</Words>
  <Application>Microsoft Office PowerPoint</Application>
  <PresentationFormat>Benutzerdefiniert</PresentationFormat>
  <Paragraphs>902</Paragraphs>
  <Slides>15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Consolas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58</cp:revision>
  <dcterms:created xsi:type="dcterms:W3CDTF">2025-01-24T13:53:29Z</dcterms:created>
  <dcterms:modified xsi:type="dcterms:W3CDTF">2025-04-09T08:56:05Z</dcterms:modified>
</cp:coreProperties>
</file>