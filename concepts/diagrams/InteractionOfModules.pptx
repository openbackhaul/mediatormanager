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89" r:id="rId2"/>
    <p:sldId id="258" r:id="rId3"/>
    <p:sldId id="280" r:id="rId4"/>
    <p:sldId id="287" r:id="rId5"/>
    <p:sldId id="286" r:id="rId6"/>
    <p:sldId id="282" r:id="rId7"/>
    <p:sldId id="285" r:id="rId8"/>
    <p:sldId id="288" r:id="rId9"/>
  </p:sldIdLst>
  <p:sldSz cx="21599525" cy="1259998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0424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7611" autoAdjust="0"/>
    <p:restoredTop sz="90850" autoAdjust="0"/>
  </p:normalViewPr>
  <p:slideViewPr>
    <p:cSldViewPr snapToGrid="0">
      <p:cViewPr varScale="1">
        <p:scale>
          <a:sx n="75" d="100"/>
          <a:sy n="75" d="100"/>
        </p:scale>
        <p:origin x="90" y="7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9941" y="2062083"/>
            <a:ext cx="16199644" cy="4386662"/>
          </a:xfrm>
        </p:spPr>
        <p:txBody>
          <a:bodyPr anchor="b"/>
          <a:lstStyle>
            <a:lvl1pPr algn="ctr">
              <a:defRPr sz="1063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9941" y="6617911"/>
            <a:ext cx="16199644" cy="3042080"/>
          </a:xfrm>
        </p:spPr>
        <p:txBody>
          <a:bodyPr/>
          <a:lstStyle>
            <a:lvl1pPr marL="0" indent="0" algn="ctr">
              <a:buNone/>
              <a:defRPr sz="4252"/>
            </a:lvl1pPr>
            <a:lvl2pPr marL="809976" indent="0" algn="ctr">
              <a:buNone/>
              <a:defRPr sz="3543"/>
            </a:lvl2pPr>
            <a:lvl3pPr marL="1619951" indent="0" algn="ctr">
              <a:buNone/>
              <a:defRPr sz="3189"/>
            </a:lvl3pPr>
            <a:lvl4pPr marL="2429927" indent="0" algn="ctr">
              <a:buNone/>
              <a:defRPr sz="2835"/>
            </a:lvl4pPr>
            <a:lvl5pPr marL="3239902" indent="0" algn="ctr">
              <a:buNone/>
              <a:defRPr sz="2835"/>
            </a:lvl5pPr>
            <a:lvl6pPr marL="4049878" indent="0" algn="ctr">
              <a:buNone/>
              <a:defRPr sz="2835"/>
            </a:lvl6pPr>
            <a:lvl7pPr marL="4859853" indent="0" algn="ctr">
              <a:buNone/>
              <a:defRPr sz="2835"/>
            </a:lvl7pPr>
            <a:lvl8pPr marL="5669829" indent="0" algn="ctr">
              <a:buNone/>
              <a:defRPr sz="2835"/>
            </a:lvl8pPr>
            <a:lvl9pPr marL="6479804" indent="0" algn="ctr">
              <a:buNone/>
              <a:defRPr sz="2835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304981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701716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73718" y="3141249"/>
            <a:ext cx="18629590" cy="5241244"/>
          </a:xfrm>
        </p:spPr>
        <p:txBody>
          <a:bodyPr anchor="b"/>
          <a:lstStyle>
            <a:lvl1pPr>
              <a:defRPr sz="1063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73718" y="8432077"/>
            <a:ext cx="18629590" cy="2756246"/>
          </a:xfrm>
        </p:spPr>
        <p:txBody>
          <a:bodyPr/>
          <a:lstStyle>
            <a:lvl1pPr marL="0" indent="0">
              <a:buNone/>
              <a:defRPr sz="4252">
                <a:solidFill>
                  <a:schemeClr val="tx1">
                    <a:tint val="82000"/>
                  </a:schemeClr>
                </a:solidFill>
              </a:defRPr>
            </a:lvl1pPr>
            <a:lvl2pPr marL="809976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2pPr>
            <a:lvl3pPr marL="1619951" indent="0">
              <a:buNone/>
              <a:defRPr sz="3189">
                <a:solidFill>
                  <a:schemeClr val="tx1">
                    <a:tint val="82000"/>
                  </a:schemeClr>
                </a:solidFill>
              </a:defRPr>
            </a:lvl3pPr>
            <a:lvl4pPr marL="2429927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4pPr>
            <a:lvl5pPr marL="3239902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5pPr>
            <a:lvl6pPr marL="4049878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6pPr>
            <a:lvl7pPr marL="4859853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7pPr>
            <a:lvl8pPr marL="5669829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8pPr>
            <a:lvl9pPr marL="6479804" indent="0">
              <a:buNone/>
              <a:defRPr sz="2835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001599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84967" y="3354163"/>
            <a:ext cx="9179798" cy="799457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34760" y="3354163"/>
            <a:ext cx="9179798" cy="799457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40946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1" y="670834"/>
            <a:ext cx="18629590" cy="2435415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7781" y="3088748"/>
            <a:ext cx="9137611" cy="1513748"/>
          </a:xfrm>
        </p:spPr>
        <p:txBody>
          <a:bodyPr anchor="b"/>
          <a:lstStyle>
            <a:lvl1pPr marL="0" indent="0">
              <a:buNone/>
              <a:defRPr sz="4252" b="1"/>
            </a:lvl1pPr>
            <a:lvl2pPr marL="809976" indent="0">
              <a:buNone/>
              <a:defRPr sz="3543" b="1"/>
            </a:lvl2pPr>
            <a:lvl3pPr marL="1619951" indent="0">
              <a:buNone/>
              <a:defRPr sz="3189" b="1"/>
            </a:lvl3pPr>
            <a:lvl4pPr marL="2429927" indent="0">
              <a:buNone/>
              <a:defRPr sz="2835" b="1"/>
            </a:lvl4pPr>
            <a:lvl5pPr marL="3239902" indent="0">
              <a:buNone/>
              <a:defRPr sz="2835" b="1"/>
            </a:lvl5pPr>
            <a:lvl6pPr marL="4049878" indent="0">
              <a:buNone/>
              <a:defRPr sz="2835" b="1"/>
            </a:lvl6pPr>
            <a:lvl7pPr marL="4859853" indent="0">
              <a:buNone/>
              <a:defRPr sz="2835" b="1"/>
            </a:lvl7pPr>
            <a:lvl8pPr marL="5669829" indent="0">
              <a:buNone/>
              <a:defRPr sz="2835" b="1"/>
            </a:lvl8pPr>
            <a:lvl9pPr marL="6479804" indent="0">
              <a:buNone/>
              <a:defRPr sz="283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87781" y="4602496"/>
            <a:ext cx="9137611" cy="676957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0934760" y="3088748"/>
            <a:ext cx="9182611" cy="1513748"/>
          </a:xfrm>
        </p:spPr>
        <p:txBody>
          <a:bodyPr anchor="b"/>
          <a:lstStyle>
            <a:lvl1pPr marL="0" indent="0">
              <a:buNone/>
              <a:defRPr sz="4252" b="1"/>
            </a:lvl1pPr>
            <a:lvl2pPr marL="809976" indent="0">
              <a:buNone/>
              <a:defRPr sz="3543" b="1"/>
            </a:lvl2pPr>
            <a:lvl3pPr marL="1619951" indent="0">
              <a:buNone/>
              <a:defRPr sz="3189" b="1"/>
            </a:lvl3pPr>
            <a:lvl4pPr marL="2429927" indent="0">
              <a:buNone/>
              <a:defRPr sz="2835" b="1"/>
            </a:lvl4pPr>
            <a:lvl5pPr marL="3239902" indent="0">
              <a:buNone/>
              <a:defRPr sz="2835" b="1"/>
            </a:lvl5pPr>
            <a:lvl6pPr marL="4049878" indent="0">
              <a:buNone/>
              <a:defRPr sz="2835" b="1"/>
            </a:lvl6pPr>
            <a:lvl7pPr marL="4859853" indent="0">
              <a:buNone/>
              <a:defRPr sz="2835" b="1"/>
            </a:lvl7pPr>
            <a:lvl8pPr marL="5669829" indent="0">
              <a:buNone/>
              <a:defRPr sz="2835" b="1"/>
            </a:lvl8pPr>
            <a:lvl9pPr marL="6479804" indent="0">
              <a:buNone/>
              <a:defRPr sz="2835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0934760" y="4602496"/>
            <a:ext cx="9182611" cy="676957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26.03.2025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7747995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26.03.2025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80988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26.03.2025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149889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839999"/>
            <a:ext cx="6966408" cy="2939997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182611" y="1814166"/>
            <a:ext cx="10934760" cy="8954158"/>
          </a:xfrm>
        </p:spPr>
        <p:txBody>
          <a:bodyPr/>
          <a:lstStyle>
            <a:lvl1pPr>
              <a:defRPr sz="5669"/>
            </a:lvl1pPr>
            <a:lvl2pPr>
              <a:defRPr sz="4960"/>
            </a:lvl2pPr>
            <a:lvl3pPr>
              <a:defRPr sz="4252"/>
            </a:lvl3pPr>
            <a:lvl4pPr>
              <a:defRPr sz="3543"/>
            </a:lvl4pPr>
            <a:lvl5pPr>
              <a:defRPr sz="3543"/>
            </a:lvl5pPr>
            <a:lvl6pPr>
              <a:defRPr sz="3543"/>
            </a:lvl6pPr>
            <a:lvl7pPr>
              <a:defRPr sz="3543"/>
            </a:lvl7pPr>
            <a:lvl8pPr>
              <a:defRPr sz="3543"/>
            </a:lvl8pPr>
            <a:lvl9pPr>
              <a:defRPr sz="3543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3779996"/>
            <a:ext cx="6966408" cy="7002911"/>
          </a:xfrm>
        </p:spPr>
        <p:txBody>
          <a:bodyPr/>
          <a:lstStyle>
            <a:lvl1pPr marL="0" indent="0">
              <a:buNone/>
              <a:defRPr sz="2835"/>
            </a:lvl1pPr>
            <a:lvl2pPr marL="809976" indent="0">
              <a:buNone/>
              <a:defRPr sz="2480"/>
            </a:lvl2pPr>
            <a:lvl3pPr marL="1619951" indent="0">
              <a:buNone/>
              <a:defRPr sz="2126"/>
            </a:lvl3pPr>
            <a:lvl4pPr marL="2429927" indent="0">
              <a:buNone/>
              <a:defRPr sz="1772"/>
            </a:lvl4pPr>
            <a:lvl5pPr marL="3239902" indent="0">
              <a:buNone/>
              <a:defRPr sz="1772"/>
            </a:lvl5pPr>
            <a:lvl6pPr marL="4049878" indent="0">
              <a:buNone/>
              <a:defRPr sz="1772"/>
            </a:lvl6pPr>
            <a:lvl7pPr marL="4859853" indent="0">
              <a:buNone/>
              <a:defRPr sz="1772"/>
            </a:lvl7pPr>
            <a:lvl8pPr marL="5669829" indent="0">
              <a:buNone/>
              <a:defRPr sz="1772"/>
            </a:lvl8pPr>
            <a:lvl9pPr marL="6479804" indent="0">
              <a:buNone/>
              <a:defRPr sz="177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035625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7782" y="839999"/>
            <a:ext cx="6966408" cy="2939997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182611" y="1814166"/>
            <a:ext cx="10934760" cy="8954158"/>
          </a:xfrm>
        </p:spPr>
        <p:txBody>
          <a:bodyPr anchor="t"/>
          <a:lstStyle>
            <a:lvl1pPr marL="0" indent="0">
              <a:buNone/>
              <a:defRPr sz="5669"/>
            </a:lvl1pPr>
            <a:lvl2pPr marL="809976" indent="0">
              <a:buNone/>
              <a:defRPr sz="4960"/>
            </a:lvl2pPr>
            <a:lvl3pPr marL="1619951" indent="0">
              <a:buNone/>
              <a:defRPr sz="4252"/>
            </a:lvl3pPr>
            <a:lvl4pPr marL="2429927" indent="0">
              <a:buNone/>
              <a:defRPr sz="3543"/>
            </a:lvl4pPr>
            <a:lvl5pPr marL="3239902" indent="0">
              <a:buNone/>
              <a:defRPr sz="3543"/>
            </a:lvl5pPr>
            <a:lvl6pPr marL="4049878" indent="0">
              <a:buNone/>
              <a:defRPr sz="3543"/>
            </a:lvl6pPr>
            <a:lvl7pPr marL="4859853" indent="0">
              <a:buNone/>
              <a:defRPr sz="3543"/>
            </a:lvl7pPr>
            <a:lvl8pPr marL="5669829" indent="0">
              <a:buNone/>
              <a:defRPr sz="3543"/>
            </a:lvl8pPr>
            <a:lvl9pPr marL="6479804" indent="0">
              <a:buNone/>
              <a:defRPr sz="3543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87782" y="3779996"/>
            <a:ext cx="6966408" cy="7002911"/>
          </a:xfrm>
        </p:spPr>
        <p:txBody>
          <a:bodyPr/>
          <a:lstStyle>
            <a:lvl1pPr marL="0" indent="0">
              <a:buNone/>
              <a:defRPr sz="2835"/>
            </a:lvl1pPr>
            <a:lvl2pPr marL="809976" indent="0">
              <a:buNone/>
              <a:defRPr sz="2480"/>
            </a:lvl2pPr>
            <a:lvl3pPr marL="1619951" indent="0">
              <a:buNone/>
              <a:defRPr sz="2126"/>
            </a:lvl3pPr>
            <a:lvl4pPr marL="2429927" indent="0">
              <a:buNone/>
              <a:defRPr sz="1772"/>
            </a:lvl4pPr>
            <a:lvl5pPr marL="3239902" indent="0">
              <a:buNone/>
              <a:defRPr sz="1772"/>
            </a:lvl5pPr>
            <a:lvl6pPr marL="4049878" indent="0">
              <a:buNone/>
              <a:defRPr sz="1772"/>
            </a:lvl6pPr>
            <a:lvl7pPr marL="4859853" indent="0">
              <a:buNone/>
              <a:defRPr sz="1772"/>
            </a:lvl7pPr>
            <a:lvl8pPr marL="5669829" indent="0">
              <a:buNone/>
              <a:defRPr sz="1772"/>
            </a:lvl8pPr>
            <a:lvl9pPr marL="6479804" indent="0">
              <a:buNone/>
              <a:defRPr sz="1772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26.03.2025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239372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2236284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457160" y="670833"/>
            <a:ext cx="4657398" cy="10677907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84967" y="670833"/>
            <a:ext cx="13702199" cy="1067790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2764DB-E7DF-4EA7-A1AF-05A77C280FCA}" type="datetimeFigureOut">
              <a:rPr lang="de-DE" smtClean="0"/>
              <a:t>26.03.2025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0078018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84968" y="670834"/>
            <a:ext cx="18629590" cy="243541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4968" y="3354163"/>
            <a:ext cx="18629590" cy="79945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84967" y="11678323"/>
            <a:ext cx="4859893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764DB-E7DF-4EA7-A1AF-05A77C280FCA}" type="datetimeFigureOut">
              <a:rPr lang="de-DE" smtClean="0"/>
              <a:t>26.03.2025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154843" y="11678323"/>
            <a:ext cx="7289840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254665" y="11678323"/>
            <a:ext cx="4859893" cy="670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26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A02A80-A104-426B-9779-D7499AE27B60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7092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1619951" rtl="0" eaLnBrk="1" latinLnBrk="0" hangingPunct="1">
        <a:lnSpc>
          <a:spcPct val="90000"/>
        </a:lnSpc>
        <a:spcBef>
          <a:spcPct val="0"/>
        </a:spcBef>
        <a:buNone/>
        <a:defRPr sz="779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4988" indent="-404988" algn="l" defTabSz="1619951" rtl="0" eaLnBrk="1" latinLnBrk="0" hangingPunct="1">
        <a:lnSpc>
          <a:spcPct val="90000"/>
        </a:lnSpc>
        <a:spcBef>
          <a:spcPts val="1772"/>
        </a:spcBef>
        <a:buFont typeface="Arial" panose="020B0604020202020204" pitchFamily="34" charset="0"/>
        <a:buChar char="•"/>
        <a:defRPr sz="4960" kern="1200">
          <a:solidFill>
            <a:schemeClr val="tx1"/>
          </a:solidFill>
          <a:latin typeface="+mn-lt"/>
          <a:ea typeface="+mn-ea"/>
          <a:cs typeface="+mn-cs"/>
        </a:defRPr>
      </a:lvl1pPr>
      <a:lvl2pPr marL="1214963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4252" kern="1200">
          <a:solidFill>
            <a:schemeClr val="tx1"/>
          </a:solidFill>
          <a:latin typeface="+mn-lt"/>
          <a:ea typeface="+mn-ea"/>
          <a:cs typeface="+mn-cs"/>
        </a:defRPr>
      </a:lvl2pPr>
      <a:lvl3pPr marL="2024939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834914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4pPr>
      <a:lvl5pPr marL="3644890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5pPr>
      <a:lvl6pPr marL="4454865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6pPr>
      <a:lvl7pPr marL="5264841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7pPr>
      <a:lvl8pPr marL="6074816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8pPr>
      <a:lvl9pPr marL="6884792" indent="-404988" algn="l" defTabSz="1619951" rtl="0" eaLnBrk="1" latinLnBrk="0" hangingPunct="1">
        <a:lnSpc>
          <a:spcPct val="90000"/>
        </a:lnSpc>
        <a:spcBef>
          <a:spcPts val="886"/>
        </a:spcBef>
        <a:buFont typeface="Arial" panose="020B0604020202020204" pitchFamily="34" charset="0"/>
        <a:buChar char="•"/>
        <a:defRPr sz="318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1pPr>
      <a:lvl2pPr marL="809976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2pPr>
      <a:lvl3pPr marL="1619951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3pPr>
      <a:lvl4pPr marL="2429927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4pPr>
      <a:lvl5pPr marL="3239902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5pPr>
      <a:lvl6pPr marL="4049878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6pPr>
      <a:lvl7pPr marL="4859853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7pPr>
      <a:lvl8pPr marL="5669829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8pPr>
      <a:lvl9pPr marL="6479804" algn="l" defTabSz="1619951" rtl="0" eaLnBrk="1" latinLnBrk="0" hangingPunct="1">
        <a:defRPr sz="318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llipse 3">
            <a:extLst>
              <a:ext uri="{FF2B5EF4-FFF2-40B4-BE49-F238E27FC236}">
                <a16:creationId xmlns:a16="http://schemas.microsoft.com/office/drawing/2014/main" id="{5218ADE7-149F-AEAA-E16C-ECC717D52C18}"/>
              </a:ext>
            </a:extLst>
          </p:cNvPr>
          <p:cNvSpPr>
            <a:spLocks noChangeAspect="1"/>
          </p:cNvSpPr>
          <p:nvPr/>
        </p:nvSpPr>
        <p:spPr>
          <a:xfrm>
            <a:off x="1402916" y="1149658"/>
            <a:ext cx="3006246" cy="3006246"/>
          </a:xfrm>
          <a:prstGeom prst="ellipse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sz="2400">
                <a:solidFill>
                  <a:schemeClr val="tx1"/>
                </a:solidFill>
              </a:rPr>
              <a:t>MO</a:t>
            </a:r>
          </a:p>
          <a:p>
            <a:pPr algn="ctr"/>
            <a:endParaRPr lang="de-DE" sz="2400">
              <a:solidFill>
                <a:schemeClr val="tx1"/>
              </a:solidFill>
            </a:endParaRP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675DA3A0-6949-EFCF-D48A-61E182577535}"/>
              </a:ext>
            </a:extLst>
          </p:cNvPr>
          <p:cNvSpPr>
            <a:spLocks noChangeAspect="1"/>
          </p:cNvSpPr>
          <p:nvPr/>
        </p:nvSpPr>
        <p:spPr>
          <a:xfrm>
            <a:off x="2360885" y="2187419"/>
            <a:ext cx="1800000" cy="1800000"/>
          </a:xfrm>
          <a:prstGeom prst="ellipse">
            <a:avLst/>
          </a:prstGeom>
          <a:solidFill>
            <a:schemeClr val="bg1">
              <a:lumMod val="85000"/>
            </a:schemeClr>
          </a:solidFill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sz="2400">
                <a:solidFill>
                  <a:schemeClr val="tx1"/>
                </a:solidFill>
              </a:rPr>
              <a:t>NIM</a:t>
            </a:r>
          </a:p>
          <a:p>
            <a:pPr algn="ctr"/>
            <a:endParaRPr lang="de-DE" sz="2400">
              <a:solidFill>
                <a:schemeClr val="tx1"/>
              </a:solidFill>
            </a:endParaRPr>
          </a:p>
        </p:txBody>
      </p:sp>
      <p:sp>
        <p:nvSpPr>
          <p:cNvPr id="2" name="Ellipse 1">
            <a:extLst>
              <a:ext uri="{FF2B5EF4-FFF2-40B4-BE49-F238E27FC236}">
                <a16:creationId xmlns:a16="http://schemas.microsoft.com/office/drawing/2014/main" id="{F80BB42F-C061-5BD7-590A-36D407385D41}"/>
              </a:ext>
            </a:extLst>
          </p:cNvPr>
          <p:cNvSpPr/>
          <p:nvPr/>
        </p:nvSpPr>
        <p:spPr>
          <a:xfrm>
            <a:off x="3152787" y="3087419"/>
            <a:ext cx="720000" cy="720000"/>
          </a:xfrm>
          <a:prstGeom prst="ellipse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2000">
                <a:solidFill>
                  <a:schemeClr val="tx1"/>
                </a:solidFill>
              </a:rPr>
              <a:t>MIM</a:t>
            </a:r>
          </a:p>
        </p:txBody>
      </p:sp>
      <p:cxnSp>
        <p:nvCxnSpPr>
          <p:cNvPr id="6" name="Gerader Verbinder 5">
            <a:extLst>
              <a:ext uri="{FF2B5EF4-FFF2-40B4-BE49-F238E27FC236}">
                <a16:creationId xmlns:a16="http://schemas.microsoft.com/office/drawing/2014/main" id="{14E7114E-39A2-E921-2ED6-4699B05E2E15}"/>
              </a:ext>
            </a:extLst>
          </p:cNvPr>
          <p:cNvCxnSpPr/>
          <p:nvPr/>
        </p:nvCxnSpPr>
        <p:spPr>
          <a:xfrm>
            <a:off x="4521896" y="730036"/>
            <a:ext cx="0" cy="3845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6844F7E-DBA0-E020-52CD-43026421C539}"/>
              </a:ext>
            </a:extLst>
          </p:cNvPr>
          <p:cNvCxnSpPr>
            <a:cxnSpLocks/>
          </p:cNvCxnSpPr>
          <p:nvPr/>
        </p:nvCxnSpPr>
        <p:spPr>
          <a:xfrm rot="16200000">
            <a:off x="2906039" y="2359914"/>
            <a:ext cx="0" cy="3845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Ellipse 7">
            <a:extLst>
              <a:ext uri="{FF2B5EF4-FFF2-40B4-BE49-F238E27FC236}">
                <a16:creationId xmlns:a16="http://schemas.microsoft.com/office/drawing/2014/main" id="{4E2F49D3-045E-490E-E5E5-D56137E4398B}"/>
              </a:ext>
            </a:extLst>
          </p:cNvPr>
          <p:cNvSpPr>
            <a:spLocks noChangeAspect="1"/>
          </p:cNvSpPr>
          <p:nvPr/>
        </p:nvSpPr>
        <p:spPr>
          <a:xfrm>
            <a:off x="5749447" y="1149658"/>
            <a:ext cx="3006246" cy="3006246"/>
          </a:xfrm>
          <a:prstGeom prst="ellipse">
            <a:avLst/>
          </a:prstGeom>
          <a:solidFill>
            <a:schemeClr val="bg1">
              <a:lumMod val="95000"/>
            </a:schemeClr>
          </a:solidFill>
          <a:ln/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sz="2400">
                <a:solidFill>
                  <a:schemeClr val="tx1"/>
                </a:solidFill>
              </a:rPr>
              <a:t>RCM</a:t>
            </a:r>
          </a:p>
          <a:p>
            <a:pPr algn="ctr"/>
            <a:endParaRPr lang="de-DE" sz="2400">
              <a:solidFill>
                <a:schemeClr val="tx1"/>
              </a:solidFill>
            </a:endParaRPr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86F3769D-F5C1-C78A-E482-6458F11DA1C9}"/>
              </a:ext>
            </a:extLst>
          </p:cNvPr>
          <p:cNvSpPr>
            <a:spLocks noChangeAspect="1"/>
          </p:cNvSpPr>
          <p:nvPr/>
        </p:nvSpPr>
        <p:spPr>
          <a:xfrm>
            <a:off x="6707416" y="2187419"/>
            <a:ext cx="1800000" cy="1800000"/>
          </a:xfrm>
          <a:prstGeom prst="ellipse">
            <a:avLst/>
          </a:prstGeom>
          <a:solidFill>
            <a:schemeClr val="bg1">
              <a:lumMod val="85000"/>
            </a:schemeClr>
          </a:solidFill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de-DE" sz="2400">
                <a:solidFill>
                  <a:schemeClr val="tx1"/>
                </a:solidFill>
              </a:rPr>
              <a:t>NCM</a:t>
            </a:r>
          </a:p>
          <a:p>
            <a:pPr algn="ctr"/>
            <a:endParaRPr lang="de-DE" sz="2400">
              <a:solidFill>
                <a:schemeClr val="tx1"/>
              </a:solidFill>
            </a:endParaRPr>
          </a:p>
        </p:txBody>
      </p:sp>
      <p:sp>
        <p:nvSpPr>
          <p:cNvPr id="10" name="Ellipse 9">
            <a:extLst>
              <a:ext uri="{FF2B5EF4-FFF2-40B4-BE49-F238E27FC236}">
                <a16:creationId xmlns:a16="http://schemas.microsoft.com/office/drawing/2014/main" id="{AB0B8231-E9DB-17CF-1BDF-87E132EFC754}"/>
              </a:ext>
            </a:extLst>
          </p:cNvPr>
          <p:cNvSpPr/>
          <p:nvPr/>
        </p:nvSpPr>
        <p:spPr>
          <a:xfrm>
            <a:off x="7499318" y="3087419"/>
            <a:ext cx="720000" cy="720000"/>
          </a:xfrm>
          <a:prstGeom prst="ellipse">
            <a:avLst/>
          </a:prstGeom>
          <a:ln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>
                <a:solidFill>
                  <a:schemeClr val="tx1"/>
                </a:solidFill>
              </a:rPr>
              <a:t>SCM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515FA688-FD44-D74E-A0FA-5B656F25129F}"/>
              </a:ext>
            </a:extLst>
          </p:cNvPr>
          <p:cNvCxnSpPr/>
          <p:nvPr/>
        </p:nvCxnSpPr>
        <p:spPr>
          <a:xfrm>
            <a:off x="8868427" y="730036"/>
            <a:ext cx="0" cy="3845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Gerader Verbinder 11">
            <a:extLst>
              <a:ext uri="{FF2B5EF4-FFF2-40B4-BE49-F238E27FC236}">
                <a16:creationId xmlns:a16="http://schemas.microsoft.com/office/drawing/2014/main" id="{44F73EA6-CABB-B847-4C30-11316CACFA5A}"/>
              </a:ext>
            </a:extLst>
          </p:cNvPr>
          <p:cNvCxnSpPr>
            <a:cxnSpLocks/>
          </p:cNvCxnSpPr>
          <p:nvPr/>
        </p:nvCxnSpPr>
        <p:spPr>
          <a:xfrm rot="16200000">
            <a:off x="7252570" y="2359914"/>
            <a:ext cx="0" cy="3845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347810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hteck 24">
            <a:extLst>
              <a:ext uri="{FF2B5EF4-FFF2-40B4-BE49-F238E27FC236}">
                <a16:creationId xmlns:a16="http://schemas.microsoft.com/office/drawing/2014/main" id="{94075D25-CDA8-F234-39C9-86E1C2A49D1B}"/>
              </a:ext>
            </a:extLst>
          </p:cNvPr>
          <p:cNvSpPr/>
          <p:nvPr/>
        </p:nvSpPr>
        <p:spPr>
          <a:xfrm>
            <a:off x="5410061" y="464907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57C349C4-9D91-1431-A139-33AEE673A522}"/>
              </a:ext>
            </a:extLst>
          </p:cNvPr>
          <p:cNvSpPr/>
          <p:nvPr/>
        </p:nvSpPr>
        <p:spPr>
          <a:xfrm>
            <a:off x="1519007" y="464908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5" name="Ellipse 4">
            <a:extLst>
              <a:ext uri="{FF2B5EF4-FFF2-40B4-BE49-F238E27FC236}">
                <a16:creationId xmlns:a16="http://schemas.microsoft.com/office/drawing/2014/main" id="{7F6D26E3-0A36-6BB9-CF33-F53D492067FF}"/>
              </a:ext>
            </a:extLst>
          </p:cNvPr>
          <p:cNvSpPr/>
          <p:nvPr/>
        </p:nvSpPr>
        <p:spPr>
          <a:xfrm>
            <a:off x="2937276" y="5332303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B93278D7-67C4-F0B3-F6BF-FFCCB4978F19}"/>
              </a:ext>
            </a:extLst>
          </p:cNvPr>
          <p:cNvSpPr/>
          <p:nvPr/>
        </p:nvSpPr>
        <p:spPr>
          <a:xfrm>
            <a:off x="1519007" y="315818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2B2D5C2F-E116-89BE-29E4-4B519C2CF449}"/>
              </a:ext>
            </a:extLst>
          </p:cNvPr>
          <p:cNvSpPr/>
          <p:nvPr/>
        </p:nvSpPr>
        <p:spPr>
          <a:xfrm>
            <a:off x="2839730" y="3790611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Zylinder 7">
            <a:extLst>
              <a:ext uri="{FF2B5EF4-FFF2-40B4-BE49-F238E27FC236}">
                <a16:creationId xmlns:a16="http://schemas.microsoft.com/office/drawing/2014/main" id="{D161311A-2E17-E871-FE81-80AA99818B20}"/>
              </a:ext>
            </a:extLst>
          </p:cNvPr>
          <p:cNvSpPr/>
          <p:nvPr/>
        </p:nvSpPr>
        <p:spPr>
          <a:xfrm>
            <a:off x="1610441" y="6294907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CAE96537-E936-312C-60B5-FE43AD1A2FC6}"/>
              </a:ext>
            </a:extLst>
          </p:cNvPr>
          <p:cNvCxnSpPr>
            <a:stCxn id="7" idx="4"/>
            <a:endCxn id="5" idx="0"/>
          </p:cNvCxnSpPr>
          <p:nvPr/>
        </p:nvCxnSpPr>
        <p:spPr>
          <a:xfrm>
            <a:off x="2981962" y="4054753"/>
            <a:ext cx="97546" cy="1277548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F1800BDA-43AD-0104-65C4-D6CFC3B1562D}"/>
              </a:ext>
            </a:extLst>
          </p:cNvPr>
          <p:cNvCxnSpPr>
            <a:cxnSpLocks/>
            <a:endCxn id="8" idx="1"/>
          </p:cNvCxnSpPr>
          <p:nvPr/>
        </p:nvCxnSpPr>
        <p:spPr>
          <a:xfrm flipH="1">
            <a:off x="2357157" y="5602203"/>
            <a:ext cx="761787" cy="69270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6" name="Rechteck 15">
            <a:extLst>
              <a:ext uri="{FF2B5EF4-FFF2-40B4-BE49-F238E27FC236}">
                <a16:creationId xmlns:a16="http://schemas.microsoft.com/office/drawing/2014/main" id="{3A05DC17-DAE3-78F9-5748-64AE45B31731}"/>
              </a:ext>
            </a:extLst>
          </p:cNvPr>
          <p:cNvSpPr/>
          <p:nvPr/>
        </p:nvSpPr>
        <p:spPr>
          <a:xfrm>
            <a:off x="3434057" y="464908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4EF28868-5936-866F-7C3F-0E410A50F686}"/>
              </a:ext>
            </a:extLst>
          </p:cNvPr>
          <p:cNvSpPr/>
          <p:nvPr/>
        </p:nvSpPr>
        <p:spPr>
          <a:xfrm>
            <a:off x="4864442" y="529112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E224F990-E855-9514-65F0-543CB1D3B36A}"/>
              </a:ext>
            </a:extLst>
          </p:cNvPr>
          <p:cNvSpPr/>
          <p:nvPr/>
        </p:nvSpPr>
        <p:spPr>
          <a:xfrm>
            <a:off x="3434057" y="315818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352F294C-EC06-861E-F435-8E1EEF0B5924}"/>
              </a:ext>
            </a:extLst>
          </p:cNvPr>
          <p:cNvSpPr/>
          <p:nvPr/>
        </p:nvSpPr>
        <p:spPr>
          <a:xfrm>
            <a:off x="4775100" y="3859482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0" name="Zylinder 19">
            <a:extLst>
              <a:ext uri="{FF2B5EF4-FFF2-40B4-BE49-F238E27FC236}">
                <a16:creationId xmlns:a16="http://schemas.microsoft.com/office/drawing/2014/main" id="{19AA76ED-7D66-4FA0-0A22-04EE5B4EB5E7}"/>
              </a:ext>
            </a:extLst>
          </p:cNvPr>
          <p:cNvSpPr/>
          <p:nvPr/>
        </p:nvSpPr>
        <p:spPr>
          <a:xfrm>
            <a:off x="4075126" y="6340623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E28C82D3-6157-62FF-5BC4-2C8D8C11AD9F}"/>
              </a:ext>
            </a:extLst>
          </p:cNvPr>
          <p:cNvCxnSpPr>
            <a:cxnSpLocks/>
            <a:stCxn id="19" idx="4"/>
            <a:endCxn id="17" idx="0"/>
          </p:cNvCxnSpPr>
          <p:nvPr/>
        </p:nvCxnSpPr>
        <p:spPr>
          <a:xfrm>
            <a:off x="4917332" y="4123626"/>
            <a:ext cx="89342" cy="1167499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2" name="Gerade Verbindung mit Pfeil 21">
            <a:extLst>
              <a:ext uri="{FF2B5EF4-FFF2-40B4-BE49-F238E27FC236}">
                <a16:creationId xmlns:a16="http://schemas.microsoft.com/office/drawing/2014/main" id="{B5706053-3CA9-33BC-F1AF-03A1A31229D2}"/>
              </a:ext>
            </a:extLst>
          </p:cNvPr>
          <p:cNvCxnSpPr>
            <a:cxnSpLocks/>
            <a:stCxn id="17" idx="4"/>
            <a:endCxn id="20" idx="1"/>
          </p:cNvCxnSpPr>
          <p:nvPr/>
        </p:nvCxnSpPr>
        <p:spPr>
          <a:xfrm flipH="1">
            <a:off x="4821842" y="5555267"/>
            <a:ext cx="184830" cy="78535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26" name="Ellipse 25">
            <a:extLst>
              <a:ext uri="{FF2B5EF4-FFF2-40B4-BE49-F238E27FC236}">
                <a16:creationId xmlns:a16="http://schemas.microsoft.com/office/drawing/2014/main" id="{B87B4BB5-AC70-B25B-DDF9-EF790103BC1F}"/>
              </a:ext>
            </a:extLst>
          </p:cNvPr>
          <p:cNvSpPr/>
          <p:nvPr/>
        </p:nvSpPr>
        <p:spPr>
          <a:xfrm>
            <a:off x="6816660" y="529112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2042BB0D-49EF-61D5-8DCF-4632CF1E0EC2}"/>
              </a:ext>
            </a:extLst>
          </p:cNvPr>
          <p:cNvCxnSpPr>
            <a:cxnSpLocks/>
            <a:stCxn id="26" idx="4"/>
            <a:endCxn id="20" idx="1"/>
          </p:cNvCxnSpPr>
          <p:nvPr/>
        </p:nvCxnSpPr>
        <p:spPr>
          <a:xfrm flipH="1">
            <a:off x="4821842" y="5555269"/>
            <a:ext cx="2137050" cy="78535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E93C0B71-E0BF-D97B-B0EE-B313C364AC2E}"/>
              </a:ext>
            </a:extLst>
          </p:cNvPr>
          <p:cNvSpPr/>
          <p:nvPr/>
        </p:nvSpPr>
        <p:spPr>
          <a:xfrm>
            <a:off x="7330192" y="464908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9" name="Ellipse 38">
            <a:extLst>
              <a:ext uri="{FF2B5EF4-FFF2-40B4-BE49-F238E27FC236}">
                <a16:creationId xmlns:a16="http://schemas.microsoft.com/office/drawing/2014/main" id="{A18DF9C9-1030-8F4C-1A21-64AC0FFBDCD5}"/>
              </a:ext>
            </a:extLst>
          </p:cNvPr>
          <p:cNvSpPr/>
          <p:nvPr/>
        </p:nvSpPr>
        <p:spPr>
          <a:xfrm>
            <a:off x="8724057" y="525237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0" name="Rechteck 39">
            <a:extLst>
              <a:ext uri="{FF2B5EF4-FFF2-40B4-BE49-F238E27FC236}">
                <a16:creationId xmlns:a16="http://schemas.microsoft.com/office/drawing/2014/main" id="{AEE19B6F-403D-1598-718B-9BBA177643B9}"/>
              </a:ext>
            </a:extLst>
          </p:cNvPr>
          <p:cNvSpPr/>
          <p:nvPr/>
        </p:nvSpPr>
        <p:spPr>
          <a:xfrm>
            <a:off x="7330192" y="315818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41" name="Ellipse 40">
            <a:extLst>
              <a:ext uri="{FF2B5EF4-FFF2-40B4-BE49-F238E27FC236}">
                <a16:creationId xmlns:a16="http://schemas.microsoft.com/office/drawing/2014/main" id="{E7C64477-9CE2-C926-A0C1-67AB78210D07}"/>
              </a:ext>
            </a:extLst>
          </p:cNvPr>
          <p:cNvSpPr/>
          <p:nvPr/>
        </p:nvSpPr>
        <p:spPr>
          <a:xfrm>
            <a:off x="8671434" y="3879087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2" name="Zylinder 41">
            <a:extLst>
              <a:ext uri="{FF2B5EF4-FFF2-40B4-BE49-F238E27FC236}">
                <a16:creationId xmlns:a16="http://schemas.microsoft.com/office/drawing/2014/main" id="{7CFD1A68-A4B8-1784-05D5-10C1CB2E49DD}"/>
              </a:ext>
            </a:extLst>
          </p:cNvPr>
          <p:cNvSpPr/>
          <p:nvPr/>
        </p:nvSpPr>
        <p:spPr>
          <a:xfrm>
            <a:off x="8038363" y="637110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44" name="Gerade Verbindung mit Pfeil 43">
            <a:extLst>
              <a:ext uri="{FF2B5EF4-FFF2-40B4-BE49-F238E27FC236}">
                <a16:creationId xmlns:a16="http://schemas.microsoft.com/office/drawing/2014/main" id="{413A8BC9-CE02-780A-C1DA-91D909D2FA52}"/>
              </a:ext>
            </a:extLst>
          </p:cNvPr>
          <p:cNvCxnSpPr>
            <a:cxnSpLocks/>
            <a:stCxn id="39" idx="4"/>
            <a:endCxn id="42" idx="1"/>
          </p:cNvCxnSpPr>
          <p:nvPr/>
        </p:nvCxnSpPr>
        <p:spPr>
          <a:xfrm flipH="1">
            <a:off x="8785078" y="5516517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5" name="Rechteck 44">
            <a:extLst>
              <a:ext uri="{FF2B5EF4-FFF2-40B4-BE49-F238E27FC236}">
                <a16:creationId xmlns:a16="http://schemas.microsoft.com/office/drawing/2014/main" id="{DC9D3973-C0FB-B4D9-78CA-126B6555F912}"/>
              </a:ext>
            </a:extLst>
          </p:cNvPr>
          <p:cNvSpPr/>
          <p:nvPr/>
        </p:nvSpPr>
        <p:spPr>
          <a:xfrm>
            <a:off x="9306196" y="464907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46" name="Ellipse 45">
            <a:extLst>
              <a:ext uri="{FF2B5EF4-FFF2-40B4-BE49-F238E27FC236}">
                <a16:creationId xmlns:a16="http://schemas.microsoft.com/office/drawing/2014/main" id="{46DFFB4E-977E-9DC9-A3B7-B6EC25621D5A}"/>
              </a:ext>
            </a:extLst>
          </p:cNvPr>
          <p:cNvSpPr/>
          <p:nvPr/>
        </p:nvSpPr>
        <p:spPr>
          <a:xfrm>
            <a:off x="10718890" y="539071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47" name="Gerade Verbindung mit Pfeil 46">
            <a:extLst>
              <a:ext uri="{FF2B5EF4-FFF2-40B4-BE49-F238E27FC236}">
                <a16:creationId xmlns:a16="http://schemas.microsoft.com/office/drawing/2014/main" id="{F062F8D0-B3DD-E184-09B4-16CC109D8EB0}"/>
              </a:ext>
            </a:extLst>
          </p:cNvPr>
          <p:cNvCxnSpPr>
            <a:cxnSpLocks/>
            <a:stCxn id="46" idx="2"/>
            <a:endCxn id="42" idx="1"/>
          </p:cNvCxnSpPr>
          <p:nvPr/>
        </p:nvCxnSpPr>
        <p:spPr>
          <a:xfrm flipH="1">
            <a:off x="8785079" y="5522790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Gerade Verbindung mit Pfeil 42">
            <a:extLst>
              <a:ext uri="{FF2B5EF4-FFF2-40B4-BE49-F238E27FC236}">
                <a16:creationId xmlns:a16="http://schemas.microsoft.com/office/drawing/2014/main" id="{3F506CE4-9050-3E1A-7709-FA037DC2D9BA}"/>
              </a:ext>
            </a:extLst>
          </p:cNvPr>
          <p:cNvCxnSpPr>
            <a:cxnSpLocks/>
            <a:stCxn id="41" idx="4"/>
          </p:cNvCxnSpPr>
          <p:nvPr/>
        </p:nvCxnSpPr>
        <p:spPr>
          <a:xfrm>
            <a:off x="8813666" y="4143231"/>
            <a:ext cx="1055917" cy="1147894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73" name="Gerader Verbinder 72">
            <a:extLst>
              <a:ext uri="{FF2B5EF4-FFF2-40B4-BE49-F238E27FC236}">
                <a16:creationId xmlns:a16="http://schemas.microsoft.com/office/drawing/2014/main" id="{18189E7C-C9B6-7EC8-C814-44E1E84D7C4E}"/>
              </a:ext>
            </a:extLst>
          </p:cNvPr>
          <p:cNvCxnSpPr/>
          <p:nvPr/>
        </p:nvCxnSpPr>
        <p:spPr>
          <a:xfrm>
            <a:off x="3322301" y="2397504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Gerader Verbinder 73">
            <a:extLst>
              <a:ext uri="{FF2B5EF4-FFF2-40B4-BE49-F238E27FC236}">
                <a16:creationId xmlns:a16="http://schemas.microsoft.com/office/drawing/2014/main" id="{76985AFB-6F05-C92E-F1A7-C2E049F6C3D0}"/>
              </a:ext>
            </a:extLst>
          </p:cNvPr>
          <p:cNvCxnSpPr/>
          <p:nvPr/>
        </p:nvCxnSpPr>
        <p:spPr>
          <a:xfrm>
            <a:off x="7213359" y="2402587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feld 75">
            <a:extLst>
              <a:ext uri="{FF2B5EF4-FFF2-40B4-BE49-F238E27FC236}">
                <a16:creationId xmlns:a16="http://schemas.microsoft.com/office/drawing/2014/main" id="{189D6A6E-DA6D-0D05-8121-CD49CA608112}"/>
              </a:ext>
            </a:extLst>
          </p:cNvPr>
          <p:cNvSpPr txBox="1"/>
          <p:nvPr/>
        </p:nvSpPr>
        <p:spPr>
          <a:xfrm>
            <a:off x="1519008" y="2379755"/>
            <a:ext cx="868571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Sate1</a:t>
            </a:r>
          </a:p>
        </p:txBody>
      </p:sp>
      <p:sp>
        <p:nvSpPr>
          <p:cNvPr id="102" name="Textfeld 101">
            <a:extLst>
              <a:ext uri="{FF2B5EF4-FFF2-40B4-BE49-F238E27FC236}">
                <a16:creationId xmlns:a16="http://schemas.microsoft.com/office/drawing/2014/main" id="{7B2C5807-4978-BFC4-0C9B-52EB3A1BD31F}"/>
              </a:ext>
            </a:extLst>
          </p:cNvPr>
          <p:cNvSpPr txBox="1"/>
          <p:nvPr/>
        </p:nvSpPr>
        <p:spPr>
          <a:xfrm>
            <a:off x="3622008" y="2372133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2</a:t>
            </a:r>
          </a:p>
        </p:txBody>
      </p:sp>
      <p:sp>
        <p:nvSpPr>
          <p:cNvPr id="103" name="Textfeld 102">
            <a:extLst>
              <a:ext uri="{FF2B5EF4-FFF2-40B4-BE49-F238E27FC236}">
                <a16:creationId xmlns:a16="http://schemas.microsoft.com/office/drawing/2014/main" id="{9BC017A0-BBF2-3218-075F-C49555D27F7C}"/>
              </a:ext>
            </a:extLst>
          </p:cNvPr>
          <p:cNvSpPr txBox="1"/>
          <p:nvPr/>
        </p:nvSpPr>
        <p:spPr>
          <a:xfrm>
            <a:off x="7462271" y="2382294"/>
            <a:ext cx="420308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…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ECFA04D4-8464-CFF4-EF11-00806DD1F0E6}"/>
              </a:ext>
            </a:extLst>
          </p:cNvPr>
          <p:cNvSpPr/>
          <p:nvPr/>
        </p:nvSpPr>
        <p:spPr>
          <a:xfrm>
            <a:off x="11241792" y="464908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FA8063DB-0350-14BA-00A7-1A33D8DD68D1}"/>
              </a:ext>
            </a:extLst>
          </p:cNvPr>
          <p:cNvSpPr/>
          <p:nvPr/>
        </p:nvSpPr>
        <p:spPr>
          <a:xfrm>
            <a:off x="12635657" y="5252375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B86B998D-D668-245F-D642-BF661032B272}"/>
              </a:ext>
            </a:extLst>
          </p:cNvPr>
          <p:cNvSpPr/>
          <p:nvPr/>
        </p:nvSpPr>
        <p:spPr>
          <a:xfrm>
            <a:off x="11241792" y="315818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98E40CAA-E109-688B-D101-83643A48623F}"/>
              </a:ext>
            </a:extLst>
          </p:cNvPr>
          <p:cNvSpPr/>
          <p:nvPr/>
        </p:nvSpPr>
        <p:spPr>
          <a:xfrm>
            <a:off x="12583034" y="3879087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2" name="Zylinder 31">
            <a:extLst>
              <a:ext uri="{FF2B5EF4-FFF2-40B4-BE49-F238E27FC236}">
                <a16:creationId xmlns:a16="http://schemas.microsoft.com/office/drawing/2014/main" id="{08C5657F-733F-CF27-87B6-B4CD926E6DBA}"/>
              </a:ext>
            </a:extLst>
          </p:cNvPr>
          <p:cNvSpPr/>
          <p:nvPr/>
        </p:nvSpPr>
        <p:spPr>
          <a:xfrm>
            <a:off x="11949963" y="6371100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cxnSp>
        <p:nvCxnSpPr>
          <p:cNvPr id="33" name="Gerade Verbindung mit Pfeil 32">
            <a:extLst>
              <a:ext uri="{FF2B5EF4-FFF2-40B4-BE49-F238E27FC236}">
                <a16:creationId xmlns:a16="http://schemas.microsoft.com/office/drawing/2014/main" id="{E18F2D3E-B85D-85A7-6F69-4DEE2599B3F0}"/>
              </a:ext>
            </a:extLst>
          </p:cNvPr>
          <p:cNvCxnSpPr>
            <a:cxnSpLocks/>
            <a:stCxn id="29" idx="4"/>
            <a:endCxn id="32" idx="1"/>
          </p:cNvCxnSpPr>
          <p:nvPr/>
        </p:nvCxnSpPr>
        <p:spPr>
          <a:xfrm flipH="1">
            <a:off x="12696678" y="5516517"/>
            <a:ext cx="81209" cy="85458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34" name="Rechteck 33">
            <a:extLst>
              <a:ext uri="{FF2B5EF4-FFF2-40B4-BE49-F238E27FC236}">
                <a16:creationId xmlns:a16="http://schemas.microsoft.com/office/drawing/2014/main" id="{65927F4D-6693-3B1A-72AA-47667F1B3C6D}"/>
              </a:ext>
            </a:extLst>
          </p:cNvPr>
          <p:cNvSpPr/>
          <p:nvPr/>
        </p:nvSpPr>
        <p:spPr>
          <a:xfrm>
            <a:off x="13217796" y="464907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CD45C68A-5907-B2C9-7E47-D80D1AF79BA0}"/>
              </a:ext>
            </a:extLst>
          </p:cNvPr>
          <p:cNvSpPr/>
          <p:nvPr/>
        </p:nvSpPr>
        <p:spPr>
          <a:xfrm>
            <a:off x="14630490" y="5390718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5AC32AE9-C35E-662B-CE04-AF25FE7E44AF}"/>
              </a:ext>
            </a:extLst>
          </p:cNvPr>
          <p:cNvCxnSpPr>
            <a:cxnSpLocks/>
            <a:stCxn id="35" idx="2"/>
            <a:endCxn id="32" idx="1"/>
          </p:cNvCxnSpPr>
          <p:nvPr/>
        </p:nvCxnSpPr>
        <p:spPr>
          <a:xfrm flipH="1">
            <a:off x="12696679" y="5522790"/>
            <a:ext cx="1933811" cy="84831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77F51B4D-B23E-98A7-A78C-E7FE1E615931}"/>
              </a:ext>
            </a:extLst>
          </p:cNvPr>
          <p:cNvCxnSpPr>
            <a:cxnSpLocks/>
            <a:stCxn id="31" idx="4"/>
            <a:endCxn id="35" idx="1"/>
          </p:cNvCxnSpPr>
          <p:nvPr/>
        </p:nvCxnSpPr>
        <p:spPr>
          <a:xfrm>
            <a:off x="12725266" y="4143231"/>
            <a:ext cx="1946883" cy="128617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48" name="Rechteck 47">
            <a:extLst>
              <a:ext uri="{FF2B5EF4-FFF2-40B4-BE49-F238E27FC236}">
                <a16:creationId xmlns:a16="http://schemas.microsoft.com/office/drawing/2014/main" id="{3FB701FB-6985-6C08-2EF4-B83C5A03B45F}"/>
              </a:ext>
            </a:extLst>
          </p:cNvPr>
          <p:cNvSpPr/>
          <p:nvPr/>
        </p:nvSpPr>
        <p:spPr>
          <a:xfrm>
            <a:off x="15087131" y="4649080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endParaRPr lang="de-DE" sz="132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0" name="Rechteck 49">
            <a:extLst>
              <a:ext uri="{FF2B5EF4-FFF2-40B4-BE49-F238E27FC236}">
                <a16:creationId xmlns:a16="http://schemas.microsoft.com/office/drawing/2014/main" id="{0F1571F3-7F52-8FC2-83B8-7F3582351EFE}"/>
              </a:ext>
            </a:extLst>
          </p:cNvPr>
          <p:cNvSpPr/>
          <p:nvPr/>
        </p:nvSpPr>
        <p:spPr>
          <a:xfrm>
            <a:off x="15087131" y="3158186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Controller</a:t>
            </a:r>
          </a:p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de-DE" sz="1260">
                <a:solidFill>
                  <a:schemeClr val="tx1">
                    <a:lumMod val="75000"/>
                    <a:lumOff val="25000"/>
                  </a:schemeClr>
                </a:solidFill>
              </a:rPr>
              <a:t>mountPoint</a:t>
            </a:r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B4F67C50-22D3-3DD0-1B70-E21AA58E383E}"/>
              </a:ext>
            </a:extLst>
          </p:cNvPr>
          <p:cNvSpPr/>
          <p:nvPr/>
        </p:nvSpPr>
        <p:spPr>
          <a:xfrm>
            <a:off x="16397696" y="3831247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59" name="Zylinder 58">
            <a:extLst>
              <a:ext uri="{FF2B5EF4-FFF2-40B4-BE49-F238E27FC236}">
                <a16:creationId xmlns:a16="http://schemas.microsoft.com/office/drawing/2014/main" id="{296D4B84-45FB-F326-0011-A9722BE5F162}"/>
              </a:ext>
            </a:extLst>
          </p:cNvPr>
          <p:cNvSpPr/>
          <p:nvPr/>
        </p:nvSpPr>
        <p:spPr>
          <a:xfrm>
            <a:off x="15762734" y="6340623"/>
            <a:ext cx="1493432" cy="497810"/>
          </a:xfrm>
          <a:prstGeom prst="can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Device</a:t>
            </a:r>
          </a:p>
        </p:txBody>
      </p:sp>
      <p:sp>
        <p:nvSpPr>
          <p:cNvPr id="60" name="Rechteck 59">
            <a:extLst>
              <a:ext uri="{FF2B5EF4-FFF2-40B4-BE49-F238E27FC236}">
                <a16:creationId xmlns:a16="http://schemas.microsoft.com/office/drawing/2014/main" id="{6B8D4334-24BE-63F6-0351-BBC1E4026722}"/>
              </a:ext>
            </a:extLst>
          </p:cNvPr>
          <p:cNvSpPr/>
          <p:nvPr/>
        </p:nvSpPr>
        <p:spPr>
          <a:xfrm>
            <a:off x="17063136" y="4649079"/>
            <a:ext cx="1676301" cy="1005781"/>
          </a:xfrm>
          <a:prstGeom prst="rect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2160">
                <a:solidFill>
                  <a:schemeClr val="tx1">
                    <a:lumMod val="75000"/>
                    <a:lumOff val="25000"/>
                  </a:schemeClr>
                </a:solidFill>
              </a:rPr>
              <a:t>mediatorVM</a:t>
            </a:r>
          </a:p>
          <a:p>
            <a:r>
              <a:rPr lang="de-DE" sz="1320">
                <a:solidFill>
                  <a:schemeClr val="tx1">
                    <a:lumMod val="75000"/>
                    <a:lumOff val="25000"/>
                  </a:schemeClr>
                </a:solidFill>
              </a:rPr>
              <a:t>mediatorProcess</a:t>
            </a:r>
          </a:p>
        </p:txBody>
      </p:sp>
      <p:sp>
        <p:nvSpPr>
          <p:cNvPr id="61" name="Ellipse 60">
            <a:extLst>
              <a:ext uri="{FF2B5EF4-FFF2-40B4-BE49-F238E27FC236}">
                <a16:creationId xmlns:a16="http://schemas.microsoft.com/office/drawing/2014/main" id="{9575412C-609D-E06C-40F6-04AAE4BABA67}"/>
              </a:ext>
            </a:extLst>
          </p:cNvPr>
          <p:cNvSpPr/>
          <p:nvPr/>
        </p:nvSpPr>
        <p:spPr>
          <a:xfrm>
            <a:off x="18427495" y="5361611"/>
            <a:ext cx="284464" cy="264144"/>
          </a:xfrm>
          <a:prstGeom prst="ellipse">
            <a:avLst/>
          </a:prstGeom>
          <a:solidFill>
            <a:schemeClr val="accent1">
              <a:alpha val="28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216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cxnSp>
        <p:nvCxnSpPr>
          <p:cNvPr id="62" name="Gerade Verbindung mit Pfeil 61">
            <a:extLst>
              <a:ext uri="{FF2B5EF4-FFF2-40B4-BE49-F238E27FC236}">
                <a16:creationId xmlns:a16="http://schemas.microsoft.com/office/drawing/2014/main" id="{0FA22D83-E249-D68C-C407-44DE9F9DEDB5}"/>
              </a:ext>
            </a:extLst>
          </p:cNvPr>
          <p:cNvCxnSpPr>
            <a:cxnSpLocks/>
            <a:stCxn id="61" idx="2"/>
            <a:endCxn id="59" idx="1"/>
          </p:cNvCxnSpPr>
          <p:nvPr/>
        </p:nvCxnSpPr>
        <p:spPr>
          <a:xfrm flipH="1">
            <a:off x="16509450" y="5493683"/>
            <a:ext cx="1918045" cy="84694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49B3D795-1BD8-E0FC-B7B9-0E6BAC54303F}"/>
              </a:ext>
            </a:extLst>
          </p:cNvPr>
          <p:cNvCxnSpPr>
            <a:cxnSpLocks/>
            <a:stCxn id="54" idx="4"/>
            <a:endCxn id="61" idx="1"/>
          </p:cNvCxnSpPr>
          <p:nvPr/>
        </p:nvCxnSpPr>
        <p:spPr>
          <a:xfrm>
            <a:off x="16539928" y="4095391"/>
            <a:ext cx="1929226" cy="1304903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DBBE4409-667C-9E2E-3880-75471AAEDFE4}"/>
              </a:ext>
            </a:extLst>
          </p:cNvPr>
          <p:cNvCxnSpPr/>
          <p:nvPr/>
        </p:nvCxnSpPr>
        <p:spPr>
          <a:xfrm>
            <a:off x="11124959" y="2402587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7870ED2E-2366-F9BF-70EC-96AA5E0DCEF9}"/>
              </a:ext>
            </a:extLst>
          </p:cNvPr>
          <p:cNvCxnSpPr/>
          <p:nvPr/>
        </p:nvCxnSpPr>
        <p:spPr>
          <a:xfrm>
            <a:off x="14985532" y="2407662"/>
            <a:ext cx="0" cy="4898105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feld 65">
            <a:extLst>
              <a:ext uri="{FF2B5EF4-FFF2-40B4-BE49-F238E27FC236}">
                <a16:creationId xmlns:a16="http://schemas.microsoft.com/office/drawing/2014/main" id="{B760A0B0-C77F-4115-9648-6048E0863E44}"/>
              </a:ext>
            </a:extLst>
          </p:cNvPr>
          <p:cNvSpPr txBox="1"/>
          <p:nvPr/>
        </p:nvSpPr>
        <p:spPr>
          <a:xfrm>
            <a:off x="11373871" y="2382294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3</a:t>
            </a:r>
          </a:p>
        </p:txBody>
      </p:sp>
      <p:sp>
        <p:nvSpPr>
          <p:cNvPr id="67" name="Textfeld 66">
            <a:extLst>
              <a:ext uri="{FF2B5EF4-FFF2-40B4-BE49-F238E27FC236}">
                <a16:creationId xmlns:a16="http://schemas.microsoft.com/office/drawing/2014/main" id="{B0048E22-0A2D-74E6-3D21-0181016AD3B6}"/>
              </a:ext>
            </a:extLst>
          </p:cNvPr>
          <p:cNvSpPr txBox="1"/>
          <p:nvPr/>
        </p:nvSpPr>
        <p:spPr>
          <a:xfrm>
            <a:off x="15261348" y="2372133"/>
            <a:ext cx="1013354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State 4</a:t>
            </a:r>
          </a:p>
        </p:txBody>
      </p:sp>
      <p:sp>
        <p:nvSpPr>
          <p:cNvPr id="69" name="Pfeil: nach oben 68">
            <a:extLst>
              <a:ext uri="{FF2B5EF4-FFF2-40B4-BE49-F238E27FC236}">
                <a16:creationId xmlns:a16="http://schemas.microsoft.com/office/drawing/2014/main" id="{8E659198-4832-FABD-6FC4-4C5B4FCBADCD}"/>
              </a:ext>
            </a:extLst>
          </p:cNvPr>
          <p:cNvSpPr/>
          <p:nvPr/>
        </p:nvSpPr>
        <p:spPr>
          <a:xfrm>
            <a:off x="8480227" y="2441947"/>
            <a:ext cx="326297" cy="695503"/>
          </a:xfrm>
          <a:prstGeom prst="upArrow">
            <a:avLst/>
          </a:prstGeom>
          <a:ln/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0" name="Textfeld 69">
            <a:extLst>
              <a:ext uri="{FF2B5EF4-FFF2-40B4-BE49-F238E27FC236}">
                <a16:creationId xmlns:a16="http://schemas.microsoft.com/office/drawing/2014/main" id="{CB18D3D7-84D4-4E6E-CA57-BA4CC28D4132}"/>
              </a:ext>
            </a:extLst>
          </p:cNvPr>
          <p:cNvSpPr txBox="1"/>
          <p:nvPr/>
        </p:nvSpPr>
        <p:spPr>
          <a:xfrm>
            <a:off x="8742098" y="2577332"/>
            <a:ext cx="1586460" cy="4247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2160"/>
              <a:t>Notification</a:t>
            </a:r>
          </a:p>
        </p:txBody>
      </p:sp>
      <p:sp>
        <p:nvSpPr>
          <p:cNvPr id="71" name="Gewitterblitz 70">
            <a:extLst>
              <a:ext uri="{FF2B5EF4-FFF2-40B4-BE49-F238E27FC236}">
                <a16:creationId xmlns:a16="http://schemas.microsoft.com/office/drawing/2014/main" id="{A357F203-11EC-F0F7-7992-A76C6B4D1C1F}"/>
              </a:ext>
            </a:extLst>
          </p:cNvPr>
          <p:cNvSpPr/>
          <p:nvPr/>
        </p:nvSpPr>
        <p:spPr>
          <a:xfrm>
            <a:off x="7967824" y="2717138"/>
            <a:ext cx="585738" cy="778431"/>
          </a:xfrm>
          <a:prstGeom prst="lightningBol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 b="1">
              <a:ln w="22225">
                <a:solidFill>
                  <a:schemeClr val="accent2"/>
                </a:solidFill>
                <a:prstDash val="solid"/>
              </a:ln>
              <a:solidFill>
                <a:schemeClr val="accent2">
                  <a:lumMod val="40000"/>
                  <a:lumOff val="6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410835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5" y="1721848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29" y="182639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502512" y="1485368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sp>
        <p:nvSpPr>
          <p:cNvPr id="15" name="Scrollen: vertikal 14">
            <a:extLst>
              <a:ext uri="{FF2B5EF4-FFF2-40B4-BE49-F238E27FC236}">
                <a16:creationId xmlns:a16="http://schemas.microsoft.com/office/drawing/2014/main" id="{E0D6D35F-81FE-6F08-CAD9-CEFA629499EC}"/>
              </a:ext>
            </a:extLst>
          </p:cNvPr>
          <p:cNvSpPr/>
          <p:nvPr/>
        </p:nvSpPr>
        <p:spPr>
          <a:xfrm>
            <a:off x="8135660" y="6606994"/>
            <a:ext cx="1476137" cy="92392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rgbClr val="FF0000"/>
                </a:solidFill>
              </a:rPr>
              <a:t>netconf</a:t>
            </a:r>
            <a:r>
              <a:rPr lang="de-DE" sz="800"/>
              <a:t> </a:t>
            </a:r>
            <a:r>
              <a:rPr lang="de-DE" sz="800">
                <a:solidFill>
                  <a:srgbClr val="FF0000"/>
                </a:solidFill>
              </a:rPr>
              <a:t>interfaces</a:t>
            </a:r>
            <a:r>
              <a:rPr lang="de-DE" sz="800"/>
              <a:t> that need to be provided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15" idx="0"/>
          </p:cNvCxnSpPr>
          <p:nvPr/>
        </p:nvCxnSpPr>
        <p:spPr>
          <a:xfrm>
            <a:off x="6199063" y="2127137"/>
            <a:ext cx="2674666" cy="447985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7" y="204379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698" y="8009753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15" idx="0"/>
          </p:cNvCxnSpPr>
          <p:nvPr/>
        </p:nvCxnSpPr>
        <p:spPr>
          <a:xfrm>
            <a:off x="6247955" y="5888085"/>
            <a:ext cx="2625774" cy="718909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15" idx="0"/>
          </p:cNvCxnSpPr>
          <p:nvPr/>
        </p:nvCxnSpPr>
        <p:spPr>
          <a:xfrm flipV="1">
            <a:off x="6254057" y="6606994"/>
            <a:ext cx="2619672" cy="2698438"/>
          </a:xfrm>
          <a:prstGeom prst="curvedConnector4">
            <a:avLst>
              <a:gd name="adj1" fmla="val 35913"/>
              <a:gd name="adj2" fmla="val 108472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4" y="9489618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15" idx="2"/>
            <a:endCxn id="75" idx="0"/>
          </p:cNvCxnSpPr>
          <p:nvPr/>
        </p:nvCxnSpPr>
        <p:spPr>
          <a:xfrm rot="5400000">
            <a:off x="8385479" y="7748969"/>
            <a:ext cx="706299" cy="2702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258005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6" y="277433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-762648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3300183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3300183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4" y="289639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1" y="7164411"/>
            <a:ext cx="1571625" cy="196434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UnusedMediatorProcessEraser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5325129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59605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836510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959618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3" y="93896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7" y="76078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1" y="490136"/>
            <a:ext cx="1571625" cy="1320166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94276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2209852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2423288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274351" y="2434038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639160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698" y="633959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4" y="6528994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629944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6754734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6" y="671146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809295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325813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1" y="291880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4" y="3395525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316597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3621265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6" y="357799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515374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522926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3" y="856569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3804673"/>
            <a:ext cx="1461538" cy="541614"/>
          </a:xfrm>
          <a:prstGeom prst="can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800" i="1"/>
              <a:t>AppDATA</a:t>
            </a:r>
            <a:br>
              <a:rPr lang="de-DE" sz="800" i="1"/>
            </a:br>
            <a:r>
              <a:rPr lang="de-DE" sz="800" i="1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2" y="3804673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770875" y="8237220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4" y="85414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3" y="886194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43210" y="1067941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20351" y="941139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7" y="101423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7" y="459564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465723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9607898" y="10112648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0" y="818194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9602762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446704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5" y="734826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1" y="988637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6" y="84654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88" y="770064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2" y="693418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1" y="64703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0" y="649457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691698" y="1530543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AppDATA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6178141" y="23681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6153344" y="210427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6160803" y="1686233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99" idx="1"/>
          </p:cNvCxnSpPr>
          <p:nvPr/>
        </p:nvCxnSpPr>
        <p:spPr>
          <a:xfrm>
            <a:off x="6206522" y="1709093"/>
            <a:ext cx="5375443" cy="2095580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6" y="333365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4" y="1431821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6" y="3933749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66988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3804673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4346287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348393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38" y="9282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38" y="944779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4" y="106547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772350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6" y="459564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588" y="4794125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3593499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7816772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3322692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071518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0696231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7093166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7308790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5" y="2061423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0" y="9909239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366070" y="9435600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24706" y="4383683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3694717" y="639792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3386807" y="382559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3648122" y="773550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3589093" y="757011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6246722" y="2386559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1129523" y="896175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9388929" y="4346287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6990854" y="266594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770876" y="1264542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8404534" y="1468087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135" y="8328566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316" y="7371120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9846410" y="168216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195" y="274291"/>
            <a:ext cx="260088" cy="273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7153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Rechteck 71">
            <a:extLst>
              <a:ext uri="{FF2B5EF4-FFF2-40B4-BE49-F238E27FC236}">
                <a16:creationId xmlns:a16="http://schemas.microsoft.com/office/drawing/2014/main" id="{11768FDB-BA6E-EAEB-5BB8-2ED406AD6C41}"/>
              </a:ext>
            </a:extLst>
          </p:cNvPr>
          <p:cNvSpPr/>
          <p:nvPr/>
        </p:nvSpPr>
        <p:spPr>
          <a:xfrm>
            <a:off x="1936958" y="1057028"/>
            <a:ext cx="9931400" cy="498817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000">
                <a:solidFill>
                  <a:schemeClr val="tx1"/>
                </a:solidFill>
              </a:rPr>
              <a:t>Automation Application</a:t>
            </a:r>
          </a:p>
        </p:txBody>
      </p:sp>
      <p:sp>
        <p:nvSpPr>
          <p:cNvPr id="78" name="Rechteck 77">
            <a:extLst>
              <a:ext uri="{FF2B5EF4-FFF2-40B4-BE49-F238E27FC236}">
                <a16:creationId xmlns:a16="http://schemas.microsoft.com/office/drawing/2014/main" id="{58728409-DD53-4F5E-410F-51809028D5C6}"/>
              </a:ext>
            </a:extLst>
          </p:cNvPr>
          <p:cNvSpPr/>
          <p:nvPr/>
        </p:nvSpPr>
        <p:spPr>
          <a:xfrm>
            <a:off x="8524719" y="3193300"/>
            <a:ext cx="2691267" cy="246672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7" name="Rechteck 76">
            <a:extLst>
              <a:ext uri="{FF2B5EF4-FFF2-40B4-BE49-F238E27FC236}">
                <a16:creationId xmlns:a16="http://schemas.microsoft.com/office/drawing/2014/main" id="{9707959B-5A26-7BE3-760D-2FC620E8901C}"/>
              </a:ext>
            </a:extLst>
          </p:cNvPr>
          <p:cNvSpPr/>
          <p:nvPr/>
        </p:nvSpPr>
        <p:spPr>
          <a:xfrm>
            <a:off x="9013733" y="1920926"/>
            <a:ext cx="2465406" cy="153018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6F1EFD85-439B-2FE8-5AAE-C84AA7312CAA}"/>
              </a:ext>
            </a:extLst>
          </p:cNvPr>
          <p:cNvSpPr/>
          <p:nvPr/>
        </p:nvSpPr>
        <p:spPr>
          <a:xfrm>
            <a:off x="5918179" y="1844228"/>
            <a:ext cx="2468048" cy="177209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4" name="Rechteck 73">
            <a:extLst>
              <a:ext uri="{FF2B5EF4-FFF2-40B4-BE49-F238E27FC236}">
                <a16:creationId xmlns:a16="http://schemas.microsoft.com/office/drawing/2014/main" id="{E34E15D0-F58C-24F5-1C8F-16CA7C95A22A}"/>
              </a:ext>
            </a:extLst>
          </p:cNvPr>
          <p:cNvSpPr/>
          <p:nvPr/>
        </p:nvSpPr>
        <p:spPr>
          <a:xfrm>
            <a:off x="3532155" y="3351161"/>
            <a:ext cx="2853775" cy="151293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73" name="Rechteck 72">
            <a:extLst>
              <a:ext uri="{FF2B5EF4-FFF2-40B4-BE49-F238E27FC236}">
                <a16:creationId xmlns:a16="http://schemas.microsoft.com/office/drawing/2014/main" id="{68AFF515-41F4-F81B-ADB9-A4A94586F5DA}"/>
              </a:ext>
            </a:extLst>
          </p:cNvPr>
          <p:cNvSpPr/>
          <p:nvPr/>
        </p:nvSpPr>
        <p:spPr>
          <a:xfrm>
            <a:off x="2717801" y="1892301"/>
            <a:ext cx="2426154" cy="20701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81679757-9FB1-0F6D-3098-BDE0BFEDE84D}"/>
              </a:ext>
            </a:extLst>
          </p:cNvPr>
          <p:cNvSpPr/>
          <p:nvPr/>
        </p:nvSpPr>
        <p:spPr>
          <a:xfrm>
            <a:off x="3107374" y="319722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0" name="Grafik 19">
            <a:extLst>
              <a:ext uri="{FF2B5EF4-FFF2-40B4-BE49-F238E27FC236}">
                <a16:creationId xmlns:a16="http://schemas.microsoft.com/office/drawing/2014/main" id="{BCF78038-D1DC-7915-C516-0912B97724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3674" y="3276195"/>
            <a:ext cx="166165" cy="174914"/>
          </a:xfrm>
          <a:prstGeom prst="rect">
            <a:avLst/>
          </a:prstGeom>
        </p:spPr>
      </p:pic>
      <p:sp>
        <p:nvSpPr>
          <p:cNvPr id="2" name="Zylinder 1">
            <a:extLst>
              <a:ext uri="{FF2B5EF4-FFF2-40B4-BE49-F238E27FC236}">
                <a16:creationId xmlns:a16="http://schemas.microsoft.com/office/drawing/2014/main" id="{8651D4E8-1F7A-9069-1B56-0215F8312C74}"/>
              </a:ext>
            </a:extLst>
          </p:cNvPr>
          <p:cNvSpPr/>
          <p:nvPr/>
        </p:nvSpPr>
        <p:spPr>
          <a:xfrm>
            <a:off x="4615260" y="2944725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/>
              <a:t>AdministrativeState</a:t>
            </a:r>
            <a:endParaRPr lang="de-DE" sz="1200">
              <a:solidFill>
                <a:schemeClr val="tx1"/>
              </a:solidFill>
            </a:endParaRPr>
          </a:p>
        </p:txBody>
      </p:sp>
      <p:sp>
        <p:nvSpPr>
          <p:cNvPr id="3" name="Zylinder 2">
            <a:extLst>
              <a:ext uri="{FF2B5EF4-FFF2-40B4-BE49-F238E27FC236}">
                <a16:creationId xmlns:a16="http://schemas.microsoft.com/office/drawing/2014/main" id="{7DF83F7F-72CE-BA07-8399-1799F2491A81}"/>
              </a:ext>
            </a:extLst>
          </p:cNvPr>
          <p:cNvSpPr/>
          <p:nvPr/>
        </p:nvSpPr>
        <p:spPr>
          <a:xfrm>
            <a:off x="8175486" y="2947851"/>
            <a:ext cx="1534230" cy="570807"/>
          </a:xfrm>
          <a:prstGeom prst="can">
            <a:avLst/>
          </a:prstGeom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OperationalState</a:t>
            </a:r>
          </a:p>
        </p:txBody>
      </p:sp>
      <p:sp>
        <p:nvSpPr>
          <p:cNvPr id="6" name="Scrollen: vertikal 5">
            <a:extLst>
              <a:ext uri="{FF2B5EF4-FFF2-40B4-BE49-F238E27FC236}">
                <a16:creationId xmlns:a16="http://schemas.microsoft.com/office/drawing/2014/main" id="{65808CD5-63F0-0767-C688-C4C5BD28C087}"/>
              </a:ext>
            </a:extLst>
          </p:cNvPr>
          <p:cNvSpPr/>
          <p:nvPr/>
        </p:nvSpPr>
        <p:spPr>
          <a:xfrm>
            <a:off x="6749282" y="4013294"/>
            <a:ext cx="1470660" cy="1303020"/>
          </a:xfrm>
          <a:prstGeom prst="verticalScroll">
            <a:avLst/>
          </a:prstGeom>
          <a:ln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200">
                <a:solidFill>
                  <a:schemeClr val="tx1"/>
                </a:solidFill>
              </a:rPr>
              <a:t>AlarmList</a:t>
            </a:r>
          </a:p>
          <a:p>
            <a:pPr algn="ctr"/>
            <a:r>
              <a:rPr lang="de-DE" sz="1200">
                <a:solidFill>
                  <a:schemeClr val="tx1"/>
                </a:solidFill>
              </a:rPr>
              <a:t>(ToDo-List)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4921D2B2-A1CD-5B5A-7BDE-9B8F734176BC}"/>
              </a:ext>
            </a:extLst>
          </p:cNvPr>
          <p:cNvSpPr/>
          <p:nvPr/>
        </p:nvSpPr>
        <p:spPr>
          <a:xfrm>
            <a:off x="2950263" y="229044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AB85860A-A1C5-AF4E-519F-B31760899D3D}"/>
              </a:ext>
            </a:extLst>
          </p:cNvPr>
          <p:cNvSpPr/>
          <p:nvPr/>
        </p:nvSpPr>
        <p:spPr>
          <a:xfrm>
            <a:off x="3069543" y="255333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7AE13B01-B4C3-D5F1-CC62-E2FB37AD2428}"/>
              </a:ext>
            </a:extLst>
          </p:cNvPr>
          <p:cNvSpPr/>
          <p:nvPr/>
        </p:nvSpPr>
        <p:spPr>
          <a:xfrm>
            <a:off x="3298132" y="345110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2518E1E4-7D07-0174-BD08-75A840537E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256" y="3515532"/>
            <a:ext cx="166165" cy="174914"/>
          </a:xfrm>
          <a:prstGeom prst="rect">
            <a:avLst/>
          </a:prstGeom>
        </p:spPr>
      </p:pic>
      <p:cxnSp>
        <p:nvCxnSpPr>
          <p:cNvPr id="16" name="Gerade Verbindung mit Pfeil 15">
            <a:extLst>
              <a:ext uri="{FF2B5EF4-FFF2-40B4-BE49-F238E27FC236}">
                <a16:creationId xmlns:a16="http://schemas.microsoft.com/office/drawing/2014/main" id="{A41C170E-5BE5-4CC7-0B74-FD347727DFC6}"/>
              </a:ext>
            </a:extLst>
          </p:cNvPr>
          <p:cNvCxnSpPr/>
          <p:nvPr/>
        </p:nvCxnSpPr>
        <p:spPr>
          <a:xfrm>
            <a:off x="1310171" y="2499996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326039E-2586-A1D8-1CFF-BB0395E97CF5}"/>
              </a:ext>
            </a:extLst>
          </p:cNvPr>
          <p:cNvCxnSpPr>
            <a:cxnSpLocks/>
          </p:cNvCxnSpPr>
          <p:nvPr/>
        </p:nvCxnSpPr>
        <p:spPr>
          <a:xfrm flipH="1" flipV="1">
            <a:off x="1310171" y="2609313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B15F98CA-500C-497C-9BEB-4DC69798E624}"/>
              </a:ext>
            </a:extLst>
          </p:cNvPr>
          <p:cNvSpPr txBox="1"/>
          <p:nvPr/>
        </p:nvSpPr>
        <p:spPr>
          <a:xfrm>
            <a:off x="2887021" y="1908400"/>
            <a:ext cx="2256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/>
              <a:t>Modules that are changing the AdministrativeState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5E682443-CB6A-7EC0-8599-973D53EC0436}"/>
              </a:ext>
            </a:extLst>
          </p:cNvPr>
          <p:cNvSpPr/>
          <p:nvPr/>
        </p:nvSpPr>
        <p:spPr>
          <a:xfrm>
            <a:off x="10343846" y="293941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886A27DD-C9F0-DC50-F102-4D63B907E2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20146" y="3018385"/>
            <a:ext cx="166165" cy="174914"/>
          </a:xfrm>
          <a:prstGeom prst="rect">
            <a:avLst/>
          </a:prstGeom>
        </p:spPr>
      </p:pic>
      <p:sp>
        <p:nvSpPr>
          <p:cNvPr id="30" name="Textfeld 29">
            <a:extLst>
              <a:ext uri="{FF2B5EF4-FFF2-40B4-BE49-F238E27FC236}">
                <a16:creationId xmlns:a16="http://schemas.microsoft.com/office/drawing/2014/main" id="{F8F209D8-265F-5230-5DB1-DC91F74B162F}"/>
              </a:ext>
            </a:extLst>
          </p:cNvPr>
          <p:cNvSpPr txBox="1"/>
          <p:nvPr/>
        </p:nvSpPr>
        <p:spPr>
          <a:xfrm>
            <a:off x="8989519" y="1908400"/>
            <a:ext cx="285377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/>
              <a:t>Modules that are updating the </a:t>
            </a:r>
            <a:r>
              <a:rPr lang="de-DE" sz="1200">
                <a:solidFill>
                  <a:schemeClr val="tx1"/>
                </a:solidFill>
              </a:rPr>
              <a:t>OperationalState</a:t>
            </a:r>
            <a:endParaRPr lang="de-DE" sz="1200"/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BEBB1305-415F-C61D-3CE9-248E0D923398}"/>
              </a:ext>
            </a:extLst>
          </p:cNvPr>
          <p:cNvSpPr/>
          <p:nvPr/>
        </p:nvSpPr>
        <p:spPr>
          <a:xfrm>
            <a:off x="10386518" y="231076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2" name="Grafik 31">
            <a:extLst>
              <a:ext uri="{FF2B5EF4-FFF2-40B4-BE49-F238E27FC236}">
                <a16:creationId xmlns:a16="http://schemas.microsoft.com/office/drawing/2014/main" id="{AB09B62C-A946-E9FF-4720-2246483489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62818" y="2389735"/>
            <a:ext cx="166165" cy="174914"/>
          </a:xfrm>
          <a:prstGeom prst="rect">
            <a:avLst/>
          </a:prstGeom>
        </p:spPr>
      </p:pic>
      <p:sp>
        <p:nvSpPr>
          <p:cNvPr id="33" name="Rechteck 32">
            <a:extLst>
              <a:ext uri="{FF2B5EF4-FFF2-40B4-BE49-F238E27FC236}">
                <a16:creationId xmlns:a16="http://schemas.microsoft.com/office/drawing/2014/main" id="{AAE5ECF3-C8FE-F2FB-5245-974B2825FA42}"/>
              </a:ext>
            </a:extLst>
          </p:cNvPr>
          <p:cNvSpPr/>
          <p:nvPr/>
        </p:nvSpPr>
        <p:spPr>
          <a:xfrm>
            <a:off x="10577276" y="256464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34" name="Grafik 33">
            <a:extLst>
              <a:ext uri="{FF2B5EF4-FFF2-40B4-BE49-F238E27FC236}">
                <a16:creationId xmlns:a16="http://schemas.microsoft.com/office/drawing/2014/main" id="{820EF47B-6F6E-5327-FE6B-AB86187AB3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8400" y="2629072"/>
            <a:ext cx="166165" cy="174914"/>
          </a:xfrm>
          <a:prstGeom prst="rect">
            <a:avLst/>
          </a:prstGeom>
        </p:spPr>
      </p:pic>
      <p:cxnSp>
        <p:nvCxnSpPr>
          <p:cNvPr id="35" name="Gerade Verbindung mit Pfeil 34">
            <a:extLst>
              <a:ext uri="{FF2B5EF4-FFF2-40B4-BE49-F238E27FC236}">
                <a16:creationId xmlns:a16="http://schemas.microsoft.com/office/drawing/2014/main" id="{C3993F86-8ECE-B926-B471-6625E7F7319D}"/>
              </a:ext>
            </a:extLst>
          </p:cNvPr>
          <p:cNvCxnSpPr/>
          <p:nvPr/>
        </p:nvCxnSpPr>
        <p:spPr>
          <a:xfrm>
            <a:off x="11025228" y="238883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Gerade Verbindung mit Pfeil 35">
            <a:extLst>
              <a:ext uri="{FF2B5EF4-FFF2-40B4-BE49-F238E27FC236}">
                <a16:creationId xmlns:a16="http://schemas.microsoft.com/office/drawing/2014/main" id="{F28B876E-0BE4-F188-B266-07D970137D3D}"/>
              </a:ext>
            </a:extLst>
          </p:cNvPr>
          <p:cNvCxnSpPr>
            <a:cxnSpLocks/>
          </p:cNvCxnSpPr>
          <p:nvPr/>
        </p:nvCxnSpPr>
        <p:spPr>
          <a:xfrm flipH="1" flipV="1">
            <a:off x="11025228" y="2498149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feld 36">
            <a:extLst>
              <a:ext uri="{FF2B5EF4-FFF2-40B4-BE49-F238E27FC236}">
                <a16:creationId xmlns:a16="http://schemas.microsoft.com/office/drawing/2014/main" id="{933E09A7-88FD-74AD-4549-31C42BDB99FD}"/>
              </a:ext>
            </a:extLst>
          </p:cNvPr>
          <p:cNvSpPr txBox="1"/>
          <p:nvPr/>
        </p:nvSpPr>
        <p:spPr>
          <a:xfrm>
            <a:off x="5723210" y="1851530"/>
            <a:ext cx="285377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sz="1200"/>
              <a:t>Modules for comparing AdministrativeState with </a:t>
            </a:r>
            <a:r>
              <a:rPr lang="de-DE" sz="1200">
                <a:solidFill>
                  <a:schemeClr val="tx1"/>
                </a:solidFill>
              </a:rPr>
              <a:t>OperationalState</a:t>
            </a:r>
            <a:r>
              <a:rPr lang="de-DE" sz="1200"/>
              <a:t> and documenting divergences</a:t>
            </a:r>
          </a:p>
        </p:txBody>
      </p:sp>
      <p:sp>
        <p:nvSpPr>
          <p:cNvPr id="38" name="Pfeil: nach unten 37">
            <a:extLst>
              <a:ext uri="{FF2B5EF4-FFF2-40B4-BE49-F238E27FC236}">
                <a16:creationId xmlns:a16="http://schemas.microsoft.com/office/drawing/2014/main" id="{16B278CA-304F-33B3-E8D1-DE31DD22F9AC}"/>
              </a:ext>
            </a:extLst>
          </p:cNvPr>
          <p:cNvSpPr/>
          <p:nvPr/>
        </p:nvSpPr>
        <p:spPr>
          <a:xfrm>
            <a:off x="7062408" y="3543286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42" name="Rechteck 41">
            <a:extLst>
              <a:ext uri="{FF2B5EF4-FFF2-40B4-BE49-F238E27FC236}">
                <a16:creationId xmlns:a16="http://schemas.microsoft.com/office/drawing/2014/main" id="{ECC3A7AC-6D82-3D20-89BC-4C6701A7D54A}"/>
              </a:ext>
            </a:extLst>
          </p:cNvPr>
          <p:cNvSpPr/>
          <p:nvPr/>
        </p:nvSpPr>
        <p:spPr>
          <a:xfrm>
            <a:off x="8805095" y="443470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3" name="Grafik 42">
            <a:extLst>
              <a:ext uri="{FF2B5EF4-FFF2-40B4-BE49-F238E27FC236}">
                <a16:creationId xmlns:a16="http://schemas.microsoft.com/office/drawing/2014/main" id="{8D0099E2-2E76-AD23-470B-45BF3CB63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81395" y="4513675"/>
            <a:ext cx="166165" cy="174914"/>
          </a:xfrm>
          <a:prstGeom prst="rect">
            <a:avLst/>
          </a:prstGeom>
        </p:spPr>
      </p:pic>
      <p:sp>
        <p:nvSpPr>
          <p:cNvPr id="44" name="Rechteck 43">
            <a:extLst>
              <a:ext uri="{FF2B5EF4-FFF2-40B4-BE49-F238E27FC236}">
                <a16:creationId xmlns:a16="http://schemas.microsoft.com/office/drawing/2014/main" id="{EA6EFE08-8623-3C92-521A-E62587924E1F}"/>
              </a:ext>
            </a:extLst>
          </p:cNvPr>
          <p:cNvSpPr/>
          <p:nvPr/>
        </p:nvSpPr>
        <p:spPr>
          <a:xfrm>
            <a:off x="8995853" y="468858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5" name="Grafik 44">
            <a:extLst>
              <a:ext uri="{FF2B5EF4-FFF2-40B4-BE49-F238E27FC236}">
                <a16:creationId xmlns:a16="http://schemas.microsoft.com/office/drawing/2014/main" id="{9320FA18-5E00-08C4-D1B1-9198B35B64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6977" y="4753012"/>
            <a:ext cx="166165" cy="174914"/>
          </a:xfrm>
          <a:prstGeom prst="rect">
            <a:avLst/>
          </a:prstGeom>
        </p:spPr>
      </p:pic>
      <p:sp>
        <p:nvSpPr>
          <p:cNvPr id="46" name="Rechteck 45">
            <a:extLst>
              <a:ext uri="{FF2B5EF4-FFF2-40B4-BE49-F238E27FC236}">
                <a16:creationId xmlns:a16="http://schemas.microsoft.com/office/drawing/2014/main" id="{FDA4DB3A-D86A-FC0E-4540-DF3D46895C02}"/>
              </a:ext>
            </a:extLst>
          </p:cNvPr>
          <p:cNvSpPr/>
          <p:nvPr/>
        </p:nvSpPr>
        <p:spPr>
          <a:xfrm>
            <a:off x="8847767" y="380605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7" name="Grafik 46">
            <a:extLst>
              <a:ext uri="{FF2B5EF4-FFF2-40B4-BE49-F238E27FC236}">
                <a16:creationId xmlns:a16="http://schemas.microsoft.com/office/drawing/2014/main" id="{79753B46-3760-CFFB-B858-92910CA7D7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24067" y="3885025"/>
            <a:ext cx="166165" cy="174914"/>
          </a:xfrm>
          <a:prstGeom prst="rect">
            <a:avLst/>
          </a:prstGeom>
        </p:spPr>
      </p:pic>
      <p:sp>
        <p:nvSpPr>
          <p:cNvPr id="48" name="Rechteck 47">
            <a:extLst>
              <a:ext uri="{FF2B5EF4-FFF2-40B4-BE49-F238E27FC236}">
                <a16:creationId xmlns:a16="http://schemas.microsoft.com/office/drawing/2014/main" id="{71BCDD80-7A46-50D8-092A-7DDBF641E7ED}"/>
              </a:ext>
            </a:extLst>
          </p:cNvPr>
          <p:cNvSpPr/>
          <p:nvPr/>
        </p:nvSpPr>
        <p:spPr>
          <a:xfrm>
            <a:off x="9038525" y="4059939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9" name="Grafik 48">
            <a:extLst>
              <a:ext uri="{FF2B5EF4-FFF2-40B4-BE49-F238E27FC236}">
                <a16:creationId xmlns:a16="http://schemas.microsoft.com/office/drawing/2014/main" id="{F30FB4E0-9047-2FC9-990C-7F49073431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99649" y="4124362"/>
            <a:ext cx="166165" cy="174914"/>
          </a:xfrm>
          <a:prstGeom prst="rect">
            <a:avLst/>
          </a:prstGeom>
        </p:spPr>
      </p:pic>
      <p:sp>
        <p:nvSpPr>
          <p:cNvPr id="50" name="Textfeld 49">
            <a:extLst>
              <a:ext uri="{FF2B5EF4-FFF2-40B4-BE49-F238E27FC236}">
                <a16:creationId xmlns:a16="http://schemas.microsoft.com/office/drawing/2014/main" id="{8A6152E2-D527-62AF-329F-BE5199B5A685}"/>
              </a:ext>
            </a:extLst>
          </p:cNvPr>
          <p:cNvSpPr txBox="1"/>
          <p:nvPr/>
        </p:nvSpPr>
        <p:spPr>
          <a:xfrm>
            <a:off x="8274357" y="5022500"/>
            <a:ext cx="295106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/>
              <a:t>Modules for resolving </a:t>
            </a:r>
            <a:br>
              <a:rPr lang="de-DE" sz="1200"/>
            </a:br>
            <a:r>
              <a:rPr lang="de-DE" sz="1200"/>
              <a:t>divergences between </a:t>
            </a:r>
            <a:r>
              <a:rPr lang="de-DE" sz="1200">
                <a:solidFill>
                  <a:schemeClr val="tx1"/>
                </a:solidFill>
              </a:rPr>
              <a:t>OperationalState</a:t>
            </a:r>
            <a:br>
              <a:rPr lang="de-DE" sz="1200">
                <a:solidFill>
                  <a:schemeClr val="tx1"/>
                </a:solidFill>
              </a:rPr>
            </a:br>
            <a:r>
              <a:rPr lang="de-DE" sz="1200"/>
              <a:t>and AdministrativeState</a:t>
            </a:r>
          </a:p>
        </p:txBody>
      </p:sp>
      <p:cxnSp>
        <p:nvCxnSpPr>
          <p:cNvPr id="51" name="Gerade Verbindung mit Pfeil 50">
            <a:extLst>
              <a:ext uri="{FF2B5EF4-FFF2-40B4-BE49-F238E27FC236}">
                <a16:creationId xmlns:a16="http://schemas.microsoft.com/office/drawing/2014/main" id="{7BBAD315-E803-8AD8-F507-559315369AF0}"/>
              </a:ext>
            </a:extLst>
          </p:cNvPr>
          <p:cNvCxnSpPr>
            <a:cxnSpLocks/>
          </p:cNvCxnSpPr>
          <p:nvPr/>
        </p:nvCxnSpPr>
        <p:spPr>
          <a:xfrm>
            <a:off x="9708525" y="4161103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Gerade Verbindung mit Pfeil 51">
            <a:extLst>
              <a:ext uri="{FF2B5EF4-FFF2-40B4-BE49-F238E27FC236}">
                <a16:creationId xmlns:a16="http://schemas.microsoft.com/office/drawing/2014/main" id="{B15CF59D-D0AF-C7CC-3C94-FB6D305D84E6}"/>
              </a:ext>
            </a:extLst>
          </p:cNvPr>
          <p:cNvCxnSpPr>
            <a:cxnSpLocks/>
          </p:cNvCxnSpPr>
          <p:nvPr/>
        </p:nvCxnSpPr>
        <p:spPr>
          <a:xfrm flipH="1" flipV="1">
            <a:off x="9708525" y="4270420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echteck 54">
            <a:extLst>
              <a:ext uri="{FF2B5EF4-FFF2-40B4-BE49-F238E27FC236}">
                <a16:creationId xmlns:a16="http://schemas.microsoft.com/office/drawing/2014/main" id="{998CEDEB-E815-0B9D-F828-05A7711734B2}"/>
              </a:ext>
            </a:extLst>
          </p:cNvPr>
          <p:cNvSpPr/>
          <p:nvPr/>
        </p:nvSpPr>
        <p:spPr>
          <a:xfrm>
            <a:off x="5320542" y="3819393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6" name="Grafik 55">
            <a:extLst>
              <a:ext uri="{FF2B5EF4-FFF2-40B4-BE49-F238E27FC236}">
                <a16:creationId xmlns:a16="http://schemas.microsoft.com/office/drawing/2014/main" id="{78BFDC2D-D878-BE1D-4E34-51802A5909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6842" y="3898362"/>
            <a:ext cx="166165" cy="174914"/>
          </a:xfrm>
          <a:prstGeom prst="rect">
            <a:avLst/>
          </a:prstGeom>
        </p:spPr>
      </p:pic>
      <p:sp>
        <p:nvSpPr>
          <p:cNvPr id="57" name="Rechteck 56">
            <a:extLst>
              <a:ext uri="{FF2B5EF4-FFF2-40B4-BE49-F238E27FC236}">
                <a16:creationId xmlns:a16="http://schemas.microsoft.com/office/drawing/2014/main" id="{F1661307-0A5B-5E08-2177-0EC27A984C77}"/>
              </a:ext>
            </a:extLst>
          </p:cNvPr>
          <p:cNvSpPr/>
          <p:nvPr/>
        </p:nvSpPr>
        <p:spPr>
          <a:xfrm>
            <a:off x="5511300" y="4073276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8" name="Grafik 57">
            <a:extLst>
              <a:ext uri="{FF2B5EF4-FFF2-40B4-BE49-F238E27FC236}">
                <a16:creationId xmlns:a16="http://schemas.microsoft.com/office/drawing/2014/main" id="{1634BDF2-1E6E-2CB9-1179-2AFB119643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2424" y="4137699"/>
            <a:ext cx="166165" cy="174914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D6339C93-8299-27F4-6747-DD225C958812}"/>
              </a:ext>
            </a:extLst>
          </p:cNvPr>
          <p:cNvCxnSpPr/>
          <p:nvPr/>
        </p:nvCxnSpPr>
        <p:spPr>
          <a:xfrm>
            <a:off x="1429451" y="2806636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1658B39E-547F-E511-D20E-25569104B4B9}"/>
              </a:ext>
            </a:extLst>
          </p:cNvPr>
          <p:cNvCxnSpPr>
            <a:cxnSpLocks/>
          </p:cNvCxnSpPr>
          <p:nvPr/>
        </p:nvCxnSpPr>
        <p:spPr>
          <a:xfrm flipH="1" flipV="1">
            <a:off x="1429451" y="2915953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Gerade Verbindung mit Pfeil 8">
            <a:extLst>
              <a:ext uri="{FF2B5EF4-FFF2-40B4-BE49-F238E27FC236}">
                <a16:creationId xmlns:a16="http://schemas.microsoft.com/office/drawing/2014/main" id="{B598A49F-7FDE-0781-D3E7-FD0BEDC62DC4}"/>
              </a:ext>
            </a:extLst>
          </p:cNvPr>
          <p:cNvCxnSpPr/>
          <p:nvPr/>
        </p:nvCxnSpPr>
        <p:spPr>
          <a:xfrm>
            <a:off x="11215986" y="2743264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Gerade Verbindung mit Pfeil 14">
            <a:extLst>
              <a:ext uri="{FF2B5EF4-FFF2-40B4-BE49-F238E27FC236}">
                <a16:creationId xmlns:a16="http://schemas.microsoft.com/office/drawing/2014/main" id="{C2AAE509-94C2-D339-BD6E-168F99A2FDA1}"/>
              </a:ext>
            </a:extLst>
          </p:cNvPr>
          <p:cNvCxnSpPr>
            <a:cxnSpLocks/>
          </p:cNvCxnSpPr>
          <p:nvPr/>
        </p:nvCxnSpPr>
        <p:spPr>
          <a:xfrm flipH="1" flipV="1">
            <a:off x="11215986" y="2852581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CA6A77B5-080D-6A54-ECF2-4D8B53BF51F1}"/>
              </a:ext>
            </a:extLst>
          </p:cNvPr>
          <p:cNvCxnSpPr/>
          <p:nvPr/>
        </p:nvCxnSpPr>
        <p:spPr>
          <a:xfrm>
            <a:off x="10973994" y="3083982"/>
            <a:ext cx="164009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23">
            <a:extLst>
              <a:ext uri="{FF2B5EF4-FFF2-40B4-BE49-F238E27FC236}">
                <a16:creationId xmlns:a16="http://schemas.microsoft.com/office/drawing/2014/main" id="{8CDD7D3A-76C9-4BDC-4E80-536CDBDCAD1C}"/>
              </a:ext>
            </a:extLst>
          </p:cNvPr>
          <p:cNvCxnSpPr>
            <a:cxnSpLocks/>
          </p:cNvCxnSpPr>
          <p:nvPr/>
        </p:nvCxnSpPr>
        <p:spPr>
          <a:xfrm flipH="1" flipV="1">
            <a:off x="10973994" y="3193299"/>
            <a:ext cx="1640092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hteck 28">
            <a:extLst>
              <a:ext uri="{FF2B5EF4-FFF2-40B4-BE49-F238E27FC236}">
                <a16:creationId xmlns:a16="http://schemas.microsoft.com/office/drawing/2014/main" id="{1B1BBE33-3AF4-FE6D-E071-46F92113CD19}"/>
              </a:ext>
            </a:extLst>
          </p:cNvPr>
          <p:cNvSpPr/>
          <p:nvPr/>
        </p:nvSpPr>
        <p:spPr>
          <a:xfrm>
            <a:off x="6484611" y="2762652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40" name="Grafik 39">
            <a:extLst>
              <a:ext uri="{FF2B5EF4-FFF2-40B4-BE49-F238E27FC236}">
                <a16:creationId xmlns:a16="http://schemas.microsoft.com/office/drawing/2014/main" id="{E09BDAA4-67BB-F896-6F09-0E1F9FBF8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911" y="2841621"/>
            <a:ext cx="166165" cy="174914"/>
          </a:xfrm>
          <a:prstGeom prst="rect">
            <a:avLst/>
          </a:prstGeom>
        </p:spPr>
      </p:pic>
      <p:sp>
        <p:nvSpPr>
          <p:cNvPr id="41" name="Rechteck 40">
            <a:extLst>
              <a:ext uri="{FF2B5EF4-FFF2-40B4-BE49-F238E27FC236}">
                <a16:creationId xmlns:a16="http://schemas.microsoft.com/office/drawing/2014/main" id="{A6E45B43-9BE7-A098-7AF2-59295E61598B}"/>
              </a:ext>
            </a:extLst>
          </p:cNvPr>
          <p:cNvSpPr/>
          <p:nvPr/>
        </p:nvSpPr>
        <p:spPr>
          <a:xfrm>
            <a:off x="6675369" y="3016535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53" name="Grafik 52">
            <a:extLst>
              <a:ext uri="{FF2B5EF4-FFF2-40B4-BE49-F238E27FC236}">
                <a16:creationId xmlns:a16="http://schemas.microsoft.com/office/drawing/2014/main" id="{121D0D37-DE66-DCCA-16C9-16066F0815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493" y="3080958"/>
            <a:ext cx="166165" cy="174914"/>
          </a:xfrm>
          <a:prstGeom prst="rect">
            <a:avLst/>
          </a:prstGeom>
        </p:spPr>
      </p:pic>
      <p:sp>
        <p:nvSpPr>
          <p:cNvPr id="54" name="Rechteck 53">
            <a:extLst>
              <a:ext uri="{FF2B5EF4-FFF2-40B4-BE49-F238E27FC236}">
                <a16:creationId xmlns:a16="http://schemas.microsoft.com/office/drawing/2014/main" id="{8F8F26CE-AB6A-6A62-91BD-2A8161955A6F}"/>
              </a:ext>
            </a:extLst>
          </p:cNvPr>
          <p:cNvSpPr/>
          <p:nvPr/>
        </p:nvSpPr>
        <p:spPr>
          <a:xfrm>
            <a:off x="7089931" y="2848038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0" name="Grafik 59">
            <a:extLst>
              <a:ext uri="{FF2B5EF4-FFF2-40B4-BE49-F238E27FC236}">
                <a16:creationId xmlns:a16="http://schemas.microsoft.com/office/drawing/2014/main" id="{04A1A064-B679-3656-0949-02313E2D7C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6231" y="2927007"/>
            <a:ext cx="166165" cy="174914"/>
          </a:xfrm>
          <a:prstGeom prst="rect">
            <a:avLst/>
          </a:prstGeom>
        </p:spPr>
      </p:pic>
      <p:sp>
        <p:nvSpPr>
          <p:cNvPr id="61" name="Rechteck 60">
            <a:extLst>
              <a:ext uri="{FF2B5EF4-FFF2-40B4-BE49-F238E27FC236}">
                <a16:creationId xmlns:a16="http://schemas.microsoft.com/office/drawing/2014/main" id="{D6BDC734-8B7E-DFBB-129E-71E3C1B430B8}"/>
              </a:ext>
            </a:extLst>
          </p:cNvPr>
          <p:cNvSpPr/>
          <p:nvPr/>
        </p:nvSpPr>
        <p:spPr>
          <a:xfrm>
            <a:off x="7280689" y="3101921"/>
            <a:ext cx="638710" cy="4191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endParaRPr lang="de-DE" sz="800"/>
          </a:p>
        </p:txBody>
      </p:sp>
      <p:pic>
        <p:nvPicPr>
          <p:cNvPr id="62" name="Grafik 61">
            <a:extLst>
              <a:ext uri="{FF2B5EF4-FFF2-40B4-BE49-F238E27FC236}">
                <a16:creationId xmlns:a16="http://schemas.microsoft.com/office/drawing/2014/main" id="{F7C7F3DD-ECC4-4BD5-0946-1E129614D3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1813" y="3166344"/>
            <a:ext cx="166165" cy="174914"/>
          </a:xfrm>
          <a:prstGeom prst="rect">
            <a:avLst/>
          </a:prstGeom>
        </p:spPr>
      </p:pic>
      <p:cxnSp>
        <p:nvCxnSpPr>
          <p:cNvPr id="63" name="Gerade Verbindung mit Pfeil 62">
            <a:extLst>
              <a:ext uri="{FF2B5EF4-FFF2-40B4-BE49-F238E27FC236}">
                <a16:creationId xmlns:a16="http://schemas.microsoft.com/office/drawing/2014/main" id="{BBC574BA-725B-72F5-EF5E-3E57C781CBD4}"/>
              </a:ext>
            </a:extLst>
          </p:cNvPr>
          <p:cNvCxnSpPr>
            <a:cxnSpLocks/>
          </p:cNvCxnSpPr>
          <p:nvPr/>
        </p:nvCxnSpPr>
        <p:spPr>
          <a:xfrm>
            <a:off x="9484495" y="3908836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80BE29C0-B5A4-26F6-59D9-655860A46635}"/>
              </a:ext>
            </a:extLst>
          </p:cNvPr>
          <p:cNvCxnSpPr>
            <a:cxnSpLocks/>
          </p:cNvCxnSpPr>
          <p:nvPr/>
        </p:nvCxnSpPr>
        <p:spPr>
          <a:xfrm flipH="1" flipV="1">
            <a:off x="9484495" y="4018153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CFAD1B13-F4B3-0191-090A-B230AE73F719}"/>
              </a:ext>
            </a:extLst>
          </p:cNvPr>
          <p:cNvCxnSpPr>
            <a:cxnSpLocks/>
          </p:cNvCxnSpPr>
          <p:nvPr/>
        </p:nvCxnSpPr>
        <p:spPr>
          <a:xfrm>
            <a:off x="9443805" y="4555487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B15351C2-4638-07BC-FDF2-1B13276FA1B0}"/>
              </a:ext>
            </a:extLst>
          </p:cNvPr>
          <p:cNvCxnSpPr>
            <a:cxnSpLocks/>
          </p:cNvCxnSpPr>
          <p:nvPr/>
        </p:nvCxnSpPr>
        <p:spPr>
          <a:xfrm flipH="1" flipV="1">
            <a:off x="9443805" y="4664804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Gerade Verbindung mit Pfeil 66">
            <a:extLst>
              <a:ext uri="{FF2B5EF4-FFF2-40B4-BE49-F238E27FC236}">
                <a16:creationId xmlns:a16="http://schemas.microsoft.com/office/drawing/2014/main" id="{4BD764D8-9CB1-5DD4-A424-B6E59418E0A7}"/>
              </a:ext>
            </a:extLst>
          </p:cNvPr>
          <p:cNvCxnSpPr>
            <a:cxnSpLocks/>
          </p:cNvCxnSpPr>
          <p:nvPr/>
        </p:nvCxnSpPr>
        <p:spPr>
          <a:xfrm>
            <a:off x="9634563" y="4842311"/>
            <a:ext cx="3096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67">
            <a:extLst>
              <a:ext uri="{FF2B5EF4-FFF2-40B4-BE49-F238E27FC236}">
                <a16:creationId xmlns:a16="http://schemas.microsoft.com/office/drawing/2014/main" id="{77067898-E101-32BA-37E4-8FA3618B4FD0}"/>
              </a:ext>
            </a:extLst>
          </p:cNvPr>
          <p:cNvCxnSpPr>
            <a:cxnSpLocks/>
          </p:cNvCxnSpPr>
          <p:nvPr/>
        </p:nvCxnSpPr>
        <p:spPr>
          <a:xfrm flipH="1" flipV="1">
            <a:off x="9634563" y="4951628"/>
            <a:ext cx="3096000" cy="8813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feld 69">
            <a:extLst>
              <a:ext uri="{FF2B5EF4-FFF2-40B4-BE49-F238E27FC236}">
                <a16:creationId xmlns:a16="http://schemas.microsoft.com/office/drawing/2014/main" id="{DEB442AC-31D6-845A-4716-7598BED1D91C}"/>
              </a:ext>
            </a:extLst>
          </p:cNvPr>
          <p:cNvSpPr txBox="1"/>
          <p:nvPr/>
        </p:nvSpPr>
        <p:spPr>
          <a:xfrm>
            <a:off x="3512633" y="4395335"/>
            <a:ext cx="30285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200"/>
              <a:t>Modules for keeping the AdministrativeState clean and consistent</a:t>
            </a:r>
          </a:p>
        </p:txBody>
      </p:sp>
      <p:sp>
        <p:nvSpPr>
          <p:cNvPr id="71" name="Pfeil: nach unten 70">
            <a:extLst>
              <a:ext uri="{FF2B5EF4-FFF2-40B4-BE49-F238E27FC236}">
                <a16:creationId xmlns:a16="http://schemas.microsoft.com/office/drawing/2014/main" id="{860000F8-4BE8-02EE-361D-984158792427}"/>
              </a:ext>
            </a:extLst>
          </p:cNvPr>
          <p:cNvSpPr/>
          <p:nvPr/>
        </p:nvSpPr>
        <p:spPr>
          <a:xfrm rot="16200000">
            <a:off x="8321672" y="4203130"/>
            <a:ext cx="220975" cy="417022"/>
          </a:xfrm>
          <a:prstGeom prst="downArrow">
            <a:avLst/>
          </a:prstGeom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451392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: abgerundete Ecken 9">
            <a:extLst>
              <a:ext uri="{FF2B5EF4-FFF2-40B4-BE49-F238E27FC236}">
                <a16:creationId xmlns:a16="http://schemas.microsoft.com/office/drawing/2014/main" id="{C82E5833-4438-2189-74F2-6F0A00400E55}"/>
              </a:ext>
            </a:extLst>
          </p:cNvPr>
          <p:cNvSpPr/>
          <p:nvPr/>
        </p:nvSpPr>
        <p:spPr>
          <a:xfrm>
            <a:off x="365755" y="1721848"/>
            <a:ext cx="447675" cy="76414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cxnSp>
        <p:nvCxnSpPr>
          <p:cNvPr id="11" name="Gerade Verbindung mit Pfeil 10">
            <a:extLst>
              <a:ext uri="{FF2B5EF4-FFF2-40B4-BE49-F238E27FC236}">
                <a16:creationId xmlns:a16="http://schemas.microsoft.com/office/drawing/2014/main" id="{51A69868-6103-625F-02C0-18B79D5F8321}"/>
              </a:ext>
            </a:extLst>
          </p:cNvPr>
          <p:cNvCxnSpPr>
            <a:cxnSpLocks/>
          </p:cNvCxnSpPr>
          <p:nvPr/>
        </p:nvCxnSpPr>
        <p:spPr>
          <a:xfrm>
            <a:off x="813429" y="1826393"/>
            <a:ext cx="3872863" cy="204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feld 11">
            <a:extLst>
              <a:ext uri="{FF2B5EF4-FFF2-40B4-BE49-F238E27FC236}">
                <a16:creationId xmlns:a16="http://schemas.microsoft.com/office/drawing/2014/main" id="{B532003B-47C2-54BB-664F-E6480C2F5F29}"/>
              </a:ext>
            </a:extLst>
          </p:cNvPr>
          <p:cNvSpPr txBox="1"/>
          <p:nvPr/>
        </p:nvSpPr>
        <p:spPr>
          <a:xfrm>
            <a:off x="502512" y="1485368"/>
            <a:ext cx="4197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900"/>
              <a:t>/v1/establish-netconf-connection</a:t>
            </a:r>
            <a:br>
              <a:rPr lang="de-DE" sz="900">
                <a:solidFill>
                  <a:srgbClr val="FF0000"/>
                </a:solidFill>
              </a:rPr>
            </a:br>
            <a:r>
              <a:rPr lang="de-DE" sz="900">
                <a:solidFill>
                  <a:srgbClr val="FF0000"/>
                </a:solidFill>
              </a:rPr>
              <a:t>{controllerName, mountName, deviceIp, deviceModel}</a:t>
            </a:r>
          </a:p>
        </p:txBody>
      </p:sp>
      <p:cxnSp>
        <p:nvCxnSpPr>
          <p:cNvPr id="17" name="Verbinder: gekrümmt 16">
            <a:extLst>
              <a:ext uri="{FF2B5EF4-FFF2-40B4-BE49-F238E27FC236}">
                <a16:creationId xmlns:a16="http://schemas.microsoft.com/office/drawing/2014/main" id="{2864ED64-2EE7-65DC-593B-667C0BE96ED5}"/>
              </a:ext>
            </a:extLst>
          </p:cNvPr>
          <p:cNvCxnSpPr>
            <a:cxnSpLocks/>
            <a:stCxn id="252" idx="6"/>
            <a:endCxn id="7" idx="1"/>
          </p:cNvCxnSpPr>
          <p:nvPr/>
        </p:nvCxnSpPr>
        <p:spPr>
          <a:xfrm>
            <a:off x="6199063" y="2127137"/>
            <a:ext cx="3274653" cy="3652356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FDF7E4D6-68B6-0355-CB3A-A2A0E28C931E}"/>
              </a:ext>
            </a:extLst>
          </p:cNvPr>
          <p:cNvCxnSpPr>
            <a:cxnSpLocks/>
          </p:cNvCxnSpPr>
          <p:nvPr/>
        </p:nvCxnSpPr>
        <p:spPr>
          <a:xfrm flipH="1" flipV="1">
            <a:off x="813427" y="2043798"/>
            <a:ext cx="3872865" cy="17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Rechteck 55">
            <a:extLst>
              <a:ext uri="{FF2B5EF4-FFF2-40B4-BE49-F238E27FC236}">
                <a16:creationId xmlns:a16="http://schemas.microsoft.com/office/drawing/2014/main" id="{9EBFEA2E-B45C-8A04-7DFE-5C0D54E2AEC3}"/>
              </a:ext>
            </a:extLst>
          </p:cNvPr>
          <p:cNvSpPr/>
          <p:nvPr/>
        </p:nvSpPr>
        <p:spPr>
          <a:xfrm>
            <a:off x="4691698" y="8009753"/>
            <a:ext cx="1571625" cy="160702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MediatorVmPhaseOut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Check operational state and life cycle state of mediatorVm</a:t>
            </a:r>
          </a:p>
          <a:p>
            <a:endParaRPr lang="de-DE" sz="800"/>
          </a:p>
          <a:p>
            <a:r>
              <a:rPr lang="de-DE" sz="800"/>
              <a:t>IF mediatorVm not operational or marked deprecated</a:t>
            </a:r>
          </a:p>
          <a:p>
            <a:r>
              <a:rPr lang="de-DE" sz="800"/>
              <a:t>THEN add all related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createQueue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  <a:p>
            <a:endParaRPr lang="de-DE" sz="800"/>
          </a:p>
        </p:txBody>
      </p:sp>
      <p:cxnSp>
        <p:nvCxnSpPr>
          <p:cNvPr id="61" name="Verbinder: gekrümmt 60">
            <a:extLst>
              <a:ext uri="{FF2B5EF4-FFF2-40B4-BE49-F238E27FC236}">
                <a16:creationId xmlns:a16="http://schemas.microsoft.com/office/drawing/2014/main" id="{BB2D77CC-429A-4157-5B5F-8EF25F79FEC7}"/>
              </a:ext>
            </a:extLst>
          </p:cNvPr>
          <p:cNvCxnSpPr>
            <a:cxnSpLocks/>
            <a:stCxn id="269" idx="6"/>
            <a:endCxn id="7" idx="1"/>
          </p:cNvCxnSpPr>
          <p:nvPr/>
        </p:nvCxnSpPr>
        <p:spPr>
          <a:xfrm flipV="1">
            <a:off x="6247955" y="5779493"/>
            <a:ext cx="3225761" cy="108592"/>
          </a:xfrm>
          <a:prstGeom prst="curvedConnector4">
            <a:avLst>
              <a:gd name="adj1" fmla="val 39116"/>
              <a:gd name="adj2" fmla="val 310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Verbinder: gekrümmt 70">
            <a:extLst>
              <a:ext uri="{FF2B5EF4-FFF2-40B4-BE49-F238E27FC236}">
                <a16:creationId xmlns:a16="http://schemas.microsoft.com/office/drawing/2014/main" id="{7A46D94E-44A3-06EB-80F4-E03CA33A63EF}"/>
              </a:ext>
            </a:extLst>
          </p:cNvPr>
          <p:cNvCxnSpPr>
            <a:cxnSpLocks/>
            <a:stCxn id="306" idx="6"/>
            <a:endCxn id="7" idx="1"/>
          </p:cNvCxnSpPr>
          <p:nvPr/>
        </p:nvCxnSpPr>
        <p:spPr>
          <a:xfrm flipV="1">
            <a:off x="6254057" y="5779493"/>
            <a:ext cx="3219659" cy="3525939"/>
          </a:xfrm>
          <a:prstGeom prst="curvedConnector4">
            <a:avLst>
              <a:gd name="adj1" fmla="val 39095"/>
              <a:gd name="adj2" fmla="val 10648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Rechteck: abgerundete Ecken 76">
            <a:extLst>
              <a:ext uri="{FF2B5EF4-FFF2-40B4-BE49-F238E27FC236}">
                <a16:creationId xmlns:a16="http://schemas.microsoft.com/office/drawing/2014/main" id="{8DFFF67D-D75C-32F2-8280-CB92247117F7}"/>
              </a:ext>
            </a:extLst>
          </p:cNvPr>
          <p:cNvSpPr/>
          <p:nvPr/>
        </p:nvSpPr>
        <p:spPr>
          <a:xfrm>
            <a:off x="12151784" y="9489618"/>
            <a:ext cx="447675" cy="32861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CP</a:t>
            </a:r>
          </a:p>
        </p:txBody>
      </p:sp>
      <p:cxnSp>
        <p:nvCxnSpPr>
          <p:cNvPr id="90" name="Verbinder: gekrümmt 89">
            <a:extLst>
              <a:ext uri="{FF2B5EF4-FFF2-40B4-BE49-F238E27FC236}">
                <a16:creationId xmlns:a16="http://schemas.microsoft.com/office/drawing/2014/main" id="{4D6640C8-1C91-CE56-09D4-B2581D76A95E}"/>
              </a:ext>
            </a:extLst>
          </p:cNvPr>
          <p:cNvCxnSpPr>
            <a:cxnSpLocks/>
            <a:stCxn id="7" idx="3"/>
          </p:cNvCxnSpPr>
          <p:nvPr/>
        </p:nvCxnSpPr>
        <p:spPr>
          <a:xfrm rot="16200000" flipH="1">
            <a:off x="9288910" y="6968465"/>
            <a:ext cx="557015" cy="187402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Scrollen: vertikal 102">
            <a:extLst>
              <a:ext uri="{FF2B5EF4-FFF2-40B4-BE49-F238E27FC236}">
                <a16:creationId xmlns:a16="http://schemas.microsoft.com/office/drawing/2014/main" id="{CC6A1FEE-2FD5-A0BD-9923-2B7D18953F4E}"/>
              </a:ext>
            </a:extLst>
          </p:cNvPr>
          <p:cNvSpPr/>
          <p:nvPr/>
        </p:nvSpPr>
        <p:spPr>
          <a:xfrm>
            <a:off x="14348316" y="2580052"/>
            <a:ext cx="1560042" cy="997947"/>
          </a:xfrm>
          <a:prstGeom prst="verticalScroll">
            <a:avLst/>
          </a:prstGeom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Queue of </a:t>
            </a:r>
            <a:r>
              <a:rPr lang="de-DE" sz="800">
                <a:solidFill>
                  <a:schemeClr val="accent5"/>
                </a:solidFill>
              </a:rPr>
              <a:t>mediatorProcesses</a:t>
            </a:r>
            <a:r>
              <a:rPr lang="de-DE" sz="800"/>
              <a:t> to be deleted</a:t>
            </a:r>
          </a:p>
        </p:txBody>
      </p:sp>
      <p:sp>
        <p:nvSpPr>
          <p:cNvPr id="104" name="Flussdiagramm: Zusammenstellen 103">
            <a:extLst>
              <a:ext uri="{FF2B5EF4-FFF2-40B4-BE49-F238E27FC236}">
                <a16:creationId xmlns:a16="http://schemas.microsoft.com/office/drawing/2014/main" id="{6181BD8D-E00F-C65B-E014-B40604A43C3E}"/>
              </a:ext>
            </a:extLst>
          </p:cNvPr>
          <p:cNvSpPr/>
          <p:nvPr/>
        </p:nvSpPr>
        <p:spPr>
          <a:xfrm>
            <a:off x="8064096" y="2774334"/>
            <a:ext cx="369117" cy="525849"/>
          </a:xfrm>
          <a:prstGeom prst="flowChartCollate">
            <a:avLst/>
          </a:prstGeom>
          <a:solidFill>
            <a:srgbClr val="FFC000"/>
          </a:solidFill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>
              <a:solidFill>
                <a:schemeClr val="tx1"/>
              </a:solidFill>
            </a:endParaRPr>
          </a:p>
        </p:txBody>
      </p:sp>
      <p:cxnSp>
        <p:nvCxnSpPr>
          <p:cNvPr id="106" name="Verbinder: gekrümmt 105">
            <a:extLst>
              <a:ext uri="{FF2B5EF4-FFF2-40B4-BE49-F238E27FC236}">
                <a16:creationId xmlns:a16="http://schemas.microsoft.com/office/drawing/2014/main" id="{D52FD071-631C-02F8-0686-931FA6B13A38}"/>
              </a:ext>
            </a:extLst>
          </p:cNvPr>
          <p:cNvCxnSpPr>
            <a:cxnSpLocks/>
            <a:stCxn id="104" idx="0"/>
            <a:endCxn id="103" idx="0"/>
          </p:cNvCxnSpPr>
          <p:nvPr/>
        </p:nvCxnSpPr>
        <p:spPr>
          <a:xfrm rot="5400000" flipH="1" flipV="1">
            <a:off x="11591355" y="-762648"/>
            <a:ext cx="194282" cy="6879682"/>
          </a:xfrm>
          <a:prstGeom prst="curvedConnector3">
            <a:avLst>
              <a:gd name="adj1" fmla="val 217664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Verbinder: gekrümmt 106">
            <a:extLst>
              <a:ext uri="{FF2B5EF4-FFF2-40B4-BE49-F238E27FC236}">
                <a16:creationId xmlns:a16="http://schemas.microsoft.com/office/drawing/2014/main" id="{D5EE6150-51F0-0E75-4A56-1F02BD0E5818}"/>
              </a:ext>
            </a:extLst>
          </p:cNvPr>
          <p:cNvCxnSpPr>
            <a:cxnSpLocks/>
            <a:stCxn id="270" idx="6"/>
            <a:endCxn id="104" idx="2"/>
          </p:cNvCxnSpPr>
          <p:nvPr/>
        </p:nvCxnSpPr>
        <p:spPr>
          <a:xfrm flipV="1">
            <a:off x="6247955" y="3300183"/>
            <a:ext cx="2000700" cy="2701388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krümmt 110">
            <a:extLst>
              <a:ext uri="{FF2B5EF4-FFF2-40B4-BE49-F238E27FC236}">
                <a16:creationId xmlns:a16="http://schemas.microsoft.com/office/drawing/2014/main" id="{BF8CEEB0-27E7-67FE-9CD2-F7BC154D1FF5}"/>
              </a:ext>
            </a:extLst>
          </p:cNvPr>
          <p:cNvCxnSpPr>
            <a:cxnSpLocks/>
            <a:stCxn id="314" idx="6"/>
            <a:endCxn id="104" idx="2"/>
          </p:cNvCxnSpPr>
          <p:nvPr/>
        </p:nvCxnSpPr>
        <p:spPr>
          <a:xfrm flipV="1">
            <a:off x="6254057" y="3300183"/>
            <a:ext cx="1994598" cy="617047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feld 104">
            <a:extLst>
              <a:ext uri="{FF2B5EF4-FFF2-40B4-BE49-F238E27FC236}">
                <a16:creationId xmlns:a16="http://schemas.microsoft.com/office/drawing/2014/main" id="{CAA8C806-679B-A077-8EA7-09C210CD301E}"/>
              </a:ext>
            </a:extLst>
          </p:cNvPr>
          <p:cNvSpPr txBox="1"/>
          <p:nvPr/>
        </p:nvSpPr>
        <p:spPr>
          <a:xfrm>
            <a:off x="7843114" y="2896395"/>
            <a:ext cx="96051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DelayElement</a:t>
            </a:r>
          </a:p>
        </p:txBody>
      </p:sp>
      <p:sp>
        <p:nvSpPr>
          <p:cNvPr id="125" name="Rechteck 124">
            <a:extLst>
              <a:ext uri="{FF2B5EF4-FFF2-40B4-BE49-F238E27FC236}">
                <a16:creationId xmlns:a16="http://schemas.microsoft.com/office/drawing/2014/main" id="{1FE31B48-04FF-C298-6453-7225A40DA40D}"/>
              </a:ext>
            </a:extLst>
          </p:cNvPr>
          <p:cNvSpPr/>
          <p:nvPr/>
        </p:nvSpPr>
        <p:spPr>
          <a:xfrm>
            <a:off x="14250371" y="7164411"/>
            <a:ext cx="1571625" cy="1964349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UnusedMediatorProcessEraser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IF there is a mountPoint with same deviceName in ODL (ask MO) using this mediatorProc. </a:t>
            </a:r>
          </a:p>
          <a:p>
            <a:r>
              <a:rPr lang="de-DE" sz="800"/>
              <a:t>THEN terminate without change</a:t>
            </a:r>
          </a:p>
          <a:p>
            <a:r>
              <a:rPr lang="de-DE" sz="800"/>
              <a:t>ELSE</a:t>
            </a:r>
          </a:p>
          <a:p>
            <a:r>
              <a:rPr lang="de-DE" sz="800"/>
              <a:t>- Dismantle mediatorProc</a:t>
            </a:r>
          </a:p>
          <a:p>
            <a:r>
              <a:rPr lang="de-DE" sz="800"/>
              <a:t>- Delete from AppDATA:</a:t>
            </a:r>
          </a:p>
          <a:p>
            <a:r>
              <a:rPr lang="de-DE" sz="800"/>
              <a:t>   . Netconf connection</a:t>
            </a:r>
          </a:p>
          <a:p>
            <a:r>
              <a:rPr lang="de-DE" sz="800"/>
              <a:t>   . Snmp connection</a:t>
            </a:r>
          </a:p>
          <a:p>
            <a:r>
              <a:rPr lang="de-DE" sz="800"/>
              <a:t>   . mediatorProcess</a:t>
            </a:r>
          </a:p>
        </p:txBody>
      </p:sp>
      <p:cxnSp>
        <p:nvCxnSpPr>
          <p:cNvPr id="134" name="Verbinder: gekrümmt 133">
            <a:extLst>
              <a:ext uri="{FF2B5EF4-FFF2-40B4-BE49-F238E27FC236}">
                <a16:creationId xmlns:a16="http://schemas.microsoft.com/office/drawing/2014/main" id="{5D7864F1-1ED2-2D1B-8095-C111EA57113A}"/>
              </a:ext>
            </a:extLst>
          </p:cNvPr>
          <p:cNvCxnSpPr>
            <a:cxnSpLocks/>
            <a:stCxn id="103" idx="2"/>
            <a:endCxn id="125" idx="0"/>
          </p:cNvCxnSpPr>
          <p:nvPr/>
        </p:nvCxnSpPr>
        <p:spPr>
          <a:xfrm rot="5400000">
            <a:off x="13289055" y="5325129"/>
            <a:ext cx="3586412" cy="92153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feld 143">
            <a:extLst>
              <a:ext uri="{FF2B5EF4-FFF2-40B4-BE49-F238E27FC236}">
                <a16:creationId xmlns:a16="http://schemas.microsoft.com/office/drawing/2014/main" id="{29D2BC74-3BE7-174C-D371-53D0640E1A05}"/>
              </a:ext>
            </a:extLst>
          </p:cNvPr>
          <p:cNvSpPr txBox="1"/>
          <p:nvPr/>
        </p:nvSpPr>
        <p:spPr>
          <a:xfrm>
            <a:off x="18448076" y="596056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/v1/dismantle-netconf-connection</a:t>
            </a:r>
          </a:p>
        </p:txBody>
      </p:sp>
      <p:cxnSp>
        <p:nvCxnSpPr>
          <p:cNvPr id="146" name="Gerade Verbindung mit Pfeil 145">
            <a:extLst>
              <a:ext uri="{FF2B5EF4-FFF2-40B4-BE49-F238E27FC236}">
                <a16:creationId xmlns:a16="http://schemas.microsoft.com/office/drawing/2014/main" id="{76527FFD-A27D-C191-D636-0418D2347CF0}"/>
              </a:ext>
            </a:extLst>
          </p:cNvPr>
          <p:cNvCxnSpPr>
            <a:cxnSpLocks/>
          </p:cNvCxnSpPr>
          <p:nvPr/>
        </p:nvCxnSpPr>
        <p:spPr>
          <a:xfrm flipH="1">
            <a:off x="18419924" y="836510"/>
            <a:ext cx="227352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Gerade Verbindung mit Pfeil 147">
            <a:extLst>
              <a:ext uri="{FF2B5EF4-FFF2-40B4-BE49-F238E27FC236}">
                <a16:creationId xmlns:a16="http://schemas.microsoft.com/office/drawing/2014/main" id="{D5350EC3-81F5-928A-7AB1-C83683A18AC5}"/>
              </a:ext>
            </a:extLst>
          </p:cNvPr>
          <p:cNvCxnSpPr>
            <a:cxnSpLocks/>
          </p:cNvCxnSpPr>
          <p:nvPr/>
        </p:nvCxnSpPr>
        <p:spPr>
          <a:xfrm>
            <a:off x="18419924" y="959618"/>
            <a:ext cx="2273522" cy="2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feld 148">
            <a:extLst>
              <a:ext uri="{FF2B5EF4-FFF2-40B4-BE49-F238E27FC236}">
                <a16:creationId xmlns:a16="http://schemas.microsoft.com/office/drawing/2014/main" id="{B4C32C75-C175-6476-37BE-A82F695B7FF2}"/>
              </a:ext>
            </a:extLst>
          </p:cNvPr>
          <p:cNvSpPr txBox="1"/>
          <p:nvPr/>
        </p:nvSpPr>
        <p:spPr>
          <a:xfrm flipH="1">
            <a:off x="19927563" y="938962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210" name="Rechteck: abgerundete Ecken 209">
            <a:extLst>
              <a:ext uri="{FF2B5EF4-FFF2-40B4-BE49-F238E27FC236}">
                <a16:creationId xmlns:a16="http://schemas.microsoft.com/office/drawing/2014/main" id="{44B2B777-E588-B36C-E091-FFDB6E04A573}"/>
              </a:ext>
            </a:extLst>
          </p:cNvPr>
          <p:cNvSpPr/>
          <p:nvPr/>
        </p:nvSpPr>
        <p:spPr>
          <a:xfrm>
            <a:off x="20693447" y="760783"/>
            <a:ext cx="447675" cy="30468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MO</a:t>
            </a:r>
          </a:p>
        </p:txBody>
      </p:sp>
      <p:sp>
        <p:nvSpPr>
          <p:cNvPr id="213" name="Rechteck 212">
            <a:extLst>
              <a:ext uri="{FF2B5EF4-FFF2-40B4-BE49-F238E27FC236}">
                <a16:creationId xmlns:a16="http://schemas.microsoft.com/office/drawing/2014/main" id="{65B05C39-22C7-3BDA-ABC8-0E08C367F8F4}"/>
              </a:ext>
            </a:extLst>
          </p:cNvPr>
          <p:cNvSpPr/>
          <p:nvPr/>
        </p:nvSpPr>
        <p:spPr>
          <a:xfrm>
            <a:off x="16847351" y="490136"/>
            <a:ext cx="1571625" cy="1320166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Search throu all mediatorVms for mediatorProcesses for the defined deviceName</a:t>
            </a:r>
          </a:p>
          <a:p>
            <a:endParaRPr lang="de-DE" sz="800"/>
          </a:p>
          <a:p>
            <a:r>
              <a:rPr lang="de-DE" sz="800"/>
              <a:t>Add all mediatorProcesses</a:t>
            </a:r>
          </a:p>
          <a:p>
            <a:pPr marL="171450" indent="-171450">
              <a:buFontTx/>
              <a:buChar char="-"/>
            </a:pPr>
            <a:r>
              <a:rPr lang="de-DE" sz="800"/>
              <a:t>to dismantleQueue</a:t>
            </a:r>
          </a:p>
        </p:txBody>
      </p:sp>
      <p:cxnSp>
        <p:nvCxnSpPr>
          <p:cNvPr id="220" name="Verbinder: gekrümmt 219">
            <a:extLst>
              <a:ext uri="{FF2B5EF4-FFF2-40B4-BE49-F238E27FC236}">
                <a16:creationId xmlns:a16="http://schemas.microsoft.com/office/drawing/2014/main" id="{561F252A-8C14-74DE-20EB-D490C3D6B7B2}"/>
              </a:ext>
            </a:extLst>
          </p:cNvPr>
          <p:cNvCxnSpPr>
            <a:cxnSpLocks/>
            <a:stCxn id="213" idx="2"/>
            <a:endCxn id="103" idx="0"/>
          </p:cNvCxnSpPr>
          <p:nvPr/>
        </p:nvCxnSpPr>
        <p:spPr>
          <a:xfrm rot="5400000">
            <a:off x="15995876" y="942764"/>
            <a:ext cx="769750" cy="2504827"/>
          </a:xfrm>
          <a:prstGeom prst="curved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5" name="Rechteck 224">
            <a:extLst>
              <a:ext uri="{FF2B5EF4-FFF2-40B4-BE49-F238E27FC236}">
                <a16:creationId xmlns:a16="http://schemas.microsoft.com/office/drawing/2014/main" id="{8778D23D-E927-DABD-0332-D93807833FA4}"/>
              </a:ext>
            </a:extLst>
          </p:cNvPr>
          <p:cNvSpPr/>
          <p:nvPr/>
        </p:nvSpPr>
        <p:spPr>
          <a:xfrm>
            <a:off x="16829126" y="2209852"/>
            <a:ext cx="1798430" cy="26781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InactiveMediatorProcessTracker</a:t>
            </a:r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mediatorProcesses at all mediatorVms</a:t>
            </a:r>
          </a:p>
          <a:p>
            <a:endParaRPr lang="de-DE" sz="800"/>
          </a:p>
          <a:p>
            <a:r>
              <a:rPr lang="de-DE" sz="800"/>
              <a:t>IF mediatorProcess is responsive on netconf</a:t>
            </a:r>
          </a:p>
          <a:p>
            <a:r>
              <a:rPr lang="de-DE" sz="800"/>
              <a:t>THEN set firstSilenceDate=‚‘</a:t>
            </a:r>
          </a:p>
          <a:p>
            <a:r>
              <a:rPr lang="de-DE" sz="800"/>
              <a:t>ELSE check firstSilenceDate</a:t>
            </a:r>
          </a:p>
          <a:p>
            <a:endParaRPr lang="de-DE" sz="800"/>
          </a:p>
          <a:p>
            <a:r>
              <a:rPr lang="de-DE" sz="800"/>
              <a:t>IF firstSilenceDate==‚‘</a:t>
            </a:r>
            <a:br>
              <a:rPr lang="de-DE" sz="800"/>
            </a:br>
            <a:r>
              <a:rPr lang="de-DE" sz="800"/>
              <a:t>THEN set firstSilenceDate= currentDate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ELSE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IF currentDate – firstSilenceDate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&lt;=[keepMediatorProcessPeriode]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THEN no change</a:t>
            </a:r>
          </a:p>
          <a:p>
            <a:pPr>
              <a:tabLst>
                <a:tab pos="108000" algn="l"/>
              </a:tabLst>
            </a:pPr>
            <a:r>
              <a:rPr lang="de-DE" sz="800"/>
              <a:t>	ELSE add to dismantleQueue</a:t>
            </a:r>
          </a:p>
        </p:txBody>
      </p:sp>
      <p:pic>
        <p:nvPicPr>
          <p:cNvPr id="226" name="Grafik 225">
            <a:extLst>
              <a:ext uri="{FF2B5EF4-FFF2-40B4-BE49-F238E27FC236}">
                <a16:creationId xmlns:a16="http://schemas.microsoft.com/office/drawing/2014/main" id="{E590A6FC-6F27-1F52-01B4-64301CA599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2423288"/>
            <a:ext cx="260088" cy="251271"/>
          </a:xfrm>
          <a:prstGeom prst="rect">
            <a:avLst/>
          </a:prstGeom>
        </p:spPr>
      </p:pic>
      <p:cxnSp>
        <p:nvCxnSpPr>
          <p:cNvPr id="227" name="Verbinder: gekrümmt 226">
            <a:extLst>
              <a:ext uri="{FF2B5EF4-FFF2-40B4-BE49-F238E27FC236}">
                <a16:creationId xmlns:a16="http://schemas.microsoft.com/office/drawing/2014/main" id="{2DB9CE1C-063B-8F4A-85EB-0564067865B1}"/>
              </a:ext>
            </a:extLst>
          </p:cNvPr>
          <p:cNvCxnSpPr>
            <a:cxnSpLocks/>
            <a:stCxn id="225" idx="2"/>
            <a:endCxn id="103" idx="0"/>
          </p:cNvCxnSpPr>
          <p:nvPr/>
        </p:nvCxnSpPr>
        <p:spPr>
          <a:xfrm rot="5400000" flipH="1">
            <a:off x="15274351" y="2434038"/>
            <a:ext cx="2307976" cy="2600004"/>
          </a:xfrm>
          <a:prstGeom prst="curvedConnector5">
            <a:avLst>
              <a:gd name="adj1" fmla="val -9905"/>
              <a:gd name="adj2" fmla="val 52292"/>
              <a:gd name="adj3" fmla="val 109905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6" name="Grafik 5">
            <a:extLst>
              <a:ext uri="{FF2B5EF4-FFF2-40B4-BE49-F238E27FC236}">
                <a16:creationId xmlns:a16="http://schemas.microsoft.com/office/drawing/2014/main" id="{BB4CEC89-E2AF-ACDF-4C17-3FFE58CA1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6391604"/>
            <a:ext cx="447675" cy="439333"/>
          </a:xfrm>
          <a:prstGeom prst="rect">
            <a:avLst/>
          </a:prstGeo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4668BABB-C444-CB57-7286-A2F16DFE205B}"/>
              </a:ext>
            </a:extLst>
          </p:cNvPr>
          <p:cNvSpPr/>
          <p:nvPr/>
        </p:nvSpPr>
        <p:spPr>
          <a:xfrm>
            <a:off x="4691698" y="6339594"/>
            <a:ext cx="1571625" cy="1454839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Check feasibility of deleting mediatorVm without the total number of mediatorProcesses exceeding the capacity of remaining mediatorVms</a:t>
            </a:r>
          </a:p>
          <a:p>
            <a:endParaRPr lang="de-DE" sz="800"/>
          </a:p>
          <a:p>
            <a:r>
              <a:rPr lang="de-DE" sz="800"/>
              <a:t>IF reducing resources feasible</a:t>
            </a:r>
          </a:p>
          <a:p>
            <a:r>
              <a:rPr lang="de-DE" sz="800"/>
              <a:t>THEN mark life cycle state of defined mediatorVm to be deprecated</a:t>
            </a:r>
          </a:p>
          <a:p>
            <a:r>
              <a:rPr lang="de-DE" sz="800"/>
              <a:t>ELSE respond error code</a:t>
            </a:r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9AAB2F06-0754-E97D-8AB1-446BC5BE28CA}"/>
              </a:ext>
            </a:extLst>
          </p:cNvPr>
          <p:cNvCxnSpPr>
            <a:cxnSpLocks/>
          </p:cNvCxnSpPr>
          <p:nvPr/>
        </p:nvCxnSpPr>
        <p:spPr>
          <a:xfrm>
            <a:off x="760324" y="6528994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feld 15">
            <a:extLst>
              <a:ext uri="{FF2B5EF4-FFF2-40B4-BE49-F238E27FC236}">
                <a16:creationId xmlns:a16="http://schemas.microsoft.com/office/drawing/2014/main" id="{2E92D9DA-09E1-FFC1-98ED-74AC6BF930F6}"/>
              </a:ext>
            </a:extLst>
          </p:cNvPr>
          <p:cNvSpPr txBox="1"/>
          <p:nvPr/>
        </p:nvSpPr>
        <p:spPr>
          <a:xfrm>
            <a:off x="2256572" y="6299444"/>
            <a:ext cx="2548404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000"/>
              <a:t>/v1/disregard-mediator-instance-manager</a:t>
            </a:r>
          </a:p>
        </p:txBody>
      </p: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BFF5680D-94F2-F4E3-FACF-63C223B4FC46}"/>
              </a:ext>
            </a:extLst>
          </p:cNvPr>
          <p:cNvCxnSpPr>
            <a:cxnSpLocks/>
          </p:cNvCxnSpPr>
          <p:nvPr/>
        </p:nvCxnSpPr>
        <p:spPr>
          <a:xfrm flipH="1">
            <a:off x="808595" y="6754734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feld 18">
            <a:extLst>
              <a:ext uri="{FF2B5EF4-FFF2-40B4-BE49-F238E27FC236}">
                <a16:creationId xmlns:a16="http://schemas.microsoft.com/office/drawing/2014/main" id="{9104B411-5652-1AC8-0AF7-757041C6FEF8}"/>
              </a:ext>
            </a:extLst>
          </p:cNvPr>
          <p:cNvSpPr txBox="1"/>
          <p:nvPr/>
        </p:nvSpPr>
        <p:spPr>
          <a:xfrm>
            <a:off x="826996" y="6711468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pic>
        <p:nvPicPr>
          <p:cNvPr id="31" name="Grafik 30">
            <a:extLst>
              <a:ext uri="{FF2B5EF4-FFF2-40B4-BE49-F238E27FC236}">
                <a16:creationId xmlns:a16="http://schemas.microsoft.com/office/drawing/2014/main" id="{A6E275FF-6DBA-3F21-5F4B-5FB306A7F7C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8975" y="8092952"/>
            <a:ext cx="260088" cy="273783"/>
          </a:xfrm>
          <a:prstGeom prst="rect">
            <a:avLst/>
          </a:prstGeom>
        </p:spPr>
      </p:pic>
      <p:pic>
        <p:nvPicPr>
          <p:cNvPr id="52" name="Grafik 51">
            <a:extLst>
              <a:ext uri="{FF2B5EF4-FFF2-40B4-BE49-F238E27FC236}">
                <a16:creationId xmlns:a16="http://schemas.microsoft.com/office/drawing/2014/main" id="{ED8304CB-60E8-CF50-67B6-A0D2890F54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397721" y="3258135"/>
            <a:ext cx="447675" cy="439333"/>
          </a:xfrm>
          <a:prstGeom prst="rect">
            <a:avLst/>
          </a:prstGeom>
        </p:spPr>
      </p:pic>
      <p:sp>
        <p:nvSpPr>
          <p:cNvPr id="53" name="Rechteck 52">
            <a:extLst>
              <a:ext uri="{FF2B5EF4-FFF2-40B4-BE49-F238E27FC236}">
                <a16:creationId xmlns:a16="http://schemas.microsoft.com/office/drawing/2014/main" id="{0CB49B7E-39F6-8FA1-969C-E823B6707C2C}"/>
              </a:ext>
            </a:extLst>
          </p:cNvPr>
          <p:cNvSpPr/>
          <p:nvPr/>
        </p:nvSpPr>
        <p:spPr>
          <a:xfrm>
            <a:off x="4699861" y="2918802"/>
            <a:ext cx="1571625" cy="829711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Create new MIM in CONFIGfile of MM</a:t>
            </a:r>
          </a:p>
          <a:p>
            <a:endParaRPr lang="de-DE" sz="800"/>
          </a:p>
          <a:p>
            <a:r>
              <a:rPr lang="de-DE" sz="800"/>
              <a:t>Create new mediatorVm of defined mediatorVmTemplate in internal data</a:t>
            </a:r>
          </a:p>
          <a:p>
            <a:r>
              <a:rPr lang="de-DE" sz="800"/>
              <a:t> </a:t>
            </a:r>
          </a:p>
        </p:txBody>
      </p:sp>
      <p:cxnSp>
        <p:nvCxnSpPr>
          <p:cNvPr id="54" name="Gerade Verbindung mit Pfeil 53">
            <a:extLst>
              <a:ext uri="{FF2B5EF4-FFF2-40B4-BE49-F238E27FC236}">
                <a16:creationId xmlns:a16="http://schemas.microsoft.com/office/drawing/2014/main" id="{364C45C3-6320-2BE5-6D29-5D768A0B74C2}"/>
              </a:ext>
            </a:extLst>
          </p:cNvPr>
          <p:cNvCxnSpPr>
            <a:cxnSpLocks/>
          </p:cNvCxnSpPr>
          <p:nvPr/>
        </p:nvCxnSpPr>
        <p:spPr>
          <a:xfrm>
            <a:off x="760324" y="3395525"/>
            <a:ext cx="3939537" cy="166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feld 54">
            <a:extLst>
              <a:ext uri="{FF2B5EF4-FFF2-40B4-BE49-F238E27FC236}">
                <a16:creationId xmlns:a16="http://schemas.microsoft.com/office/drawing/2014/main" id="{7ADFF6E2-BED2-7001-6D8F-FB1B1141882C}"/>
              </a:ext>
            </a:extLst>
          </p:cNvPr>
          <p:cNvSpPr txBox="1"/>
          <p:nvPr/>
        </p:nvSpPr>
        <p:spPr>
          <a:xfrm>
            <a:off x="2294672" y="3165975"/>
            <a:ext cx="23970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000"/>
              <a:t>/v1/regard-mediator-instance-manager</a:t>
            </a:r>
          </a:p>
        </p:txBody>
      </p:sp>
      <p:cxnSp>
        <p:nvCxnSpPr>
          <p:cNvPr id="58" name="Gerade Verbindung mit Pfeil 57">
            <a:extLst>
              <a:ext uri="{FF2B5EF4-FFF2-40B4-BE49-F238E27FC236}">
                <a16:creationId xmlns:a16="http://schemas.microsoft.com/office/drawing/2014/main" id="{A54EFF6E-FB0C-128D-DA81-486F143823EE}"/>
              </a:ext>
            </a:extLst>
          </p:cNvPr>
          <p:cNvCxnSpPr>
            <a:cxnSpLocks/>
          </p:cNvCxnSpPr>
          <p:nvPr/>
        </p:nvCxnSpPr>
        <p:spPr>
          <a:xfrm flipH="1">
            <a:off x="808595" y="3621265"/>
            <a:ext cx="3891262" cy="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feld 59">
            <a:extLst>
              <a:ext uri="{FF2B5EF4-FFF2-40B4-BE49-F238E27FC236}">
                <a16:creationId xmlns:a16="http://schemas.microsoft.com/office/drawing/2014/main" id="{0EE42FE5-8A58-E39B-A6C9-FAEC5A5A3985}"/>
              </a:ext>
            </a:extLst>
          </p:cNvPr>
          <p:cNvSpPr txBox="1"/>
          <p:nvPr/>
        </p:nvSpPr>
        <p:spPr>
          <a:xfrm>
            <a:off x="826996" y="3577999"/>
            <a:ext cx="82907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sp>
        <p:nvSpPr>
          <p:cNvPr id="65" name="Rechteck 64">
            <a:extLst>
              <a:ext uri="{FF2B5EF4-FFF2-40B4-BE49-F238E27FC236}">
                <a16:creationId xmlns:a16="http://schemas.microsoft.com/office/drawing/2014/main" id="{B91D68D4-8FDC-2F63-0B78-6959E36F48EA}"/>
              </a:ext>
            </a:extLst>
          </p:cNvPr>
          <p:cNvSpPr/>
          <p:nvPr/>
        </p:nvSpPr>
        <p:spPr>
          <a:xfrm>
            <a:off x="16829126" y="5153743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EmptyMediatorVmEraser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through all mediatorVms</a:t>
            </a:r>
          </a:p>
          <a:p>
            <a:endParaRPr lang="de-DE" sz="800"/>
          </a:p>
          <a:p>
            <a:r>
              <a:rPr lang="de-DE" sz="800"/>
              <a:t>IF mediatorVm is marked to be  deprecated AND number of mediatorProcesses==0</a:t>
            </a:r>
          </a:p>
          <a:p>
            <a:endParaRPr lang="de-DE" sz="800"/>
          </a:p>
          <a:p>
            <a:r>
              <a:rPr lang="de-DE" sz="800"/>
              <a:t>THEN 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MIM from CONFIGfile</a:t>
            </a:r>
          </a:p>
          <a:p>
            <a:pPr marL="171450" indent="-171450">
              <a:buFontTx/>
              <a:buChar char="-"/>
            </a:pPr>
            <a:r>
              <a:rPr lang="de-DE" sz="800"/>
              <a:t>delete mediatorVm from AppDATA</a:t>
            </a:r>
          </a:p>
          <a:p>
            <a:pPr marL="171450" indent="-171450">
              <a:buFontTx/>
              <a:buChar char="-"/>
            </a:pPr>
            <a:endParaRPr lang="de-DE" sz="800"/>
          </a:p>
          <a:p>
            <a:pPr marL="171450" indent="-171450">
              <a:buFontTx/>
              <a:buChar char="-"/>
            </a:pPr>
            <a:endParaRPr lang="de-DE" sz="800"/>
          </a:p>
        </p:txBody>
      </p:sp>
      <p:pic>
        <p:nvPicPr>
          <p:cNvPr id="66" name="Grafik 65">
            <a:extLst>
              <a:ext uri="{FF2B5EF4-FFF2-40B4-BE49-F238E27FC236}">
                <a16:creationId xmlns:a16="http://schemas.microsoft.com/office/drawing/2014/main" id="{CF2B14E0-79EE-778B-31F8-147AF761DB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78931" y="5229262"/>
            <a:ext cx="260088" cy="251271"/>
          </a:xfrm>
          <a:prstGeom prst="rect">
            <a:avLst/>
          </a:prstGeom>
        </p:spPr>
      </p:pic>
      <p:cxnSp>
        <p:nvCxnSpPr>
          <p:cNvPr id="94" name="Verbinder: gekrümmt 93">
            <a:extLst>
              <a:ext uri="{FF2B5EF4-FFF2-40B4-BE49-F238E27FC236}">
                <a16:creationId xmlns:a16="http://schemas.microsoft.com/office/drawing/2014/main" id="{FAA648C8-F1C2-EED5-2050-3327EE9688C6}"/>
              </a:ext>
            </a:extLst>
          </p:cNvPr>
          <p:cNvCxnSpPr>
            <a:cxnSpLocks/>
            <a:stCxn id="96" idx="6"/>
            <a:endCxn id="77" idx="0"/>
          </p:cNvCxnSpPr>
          <p:nvPr/>
        </p:nvCxnSpPr>
        <p:spPr>
          <a:xfrm>
            <a:off x="9428513" y="8565691"/>
            <a:ext cx="2947109" cy="923927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9" name="Zylinder 98">
            <a:extLst>
              <a:ext uri="{FF2B5EF4-FFF2-40B4-BE49-F238E27FC236}">
                <a16:creationId xmlns:a16="http://schemas.microsoft.com/office/drawing/2014/main" id="{891D0F3E-4EDF-452F-15BB-368A6160A5A0}"/>
              </a:ext>
            </a:extLst>
          </p:cNvPr>
          <p:cNvSpPr/>
          <p:nvPr/>
        </p:nvSpPr>
        <p:spPr>
          <a:xfrm>
            <a:off x="10851196" y="3804673"/>
            <a:ext cx="1461538" cy="541614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1050"/>
              <a:t>AppDATA</a:t>
            </a:r>
            <a:br>
              <a:rPr lang="de-DE" sz="1050"/>
            </a:br>
            <a:r>
              <a:rPr lang="de-DE" sz="1050"/>
              <a:t>(ElasticSearch)</a:t>
            </a:r>
          </a:p>
        </p:txBody>
      </p:sp>
      <p:cxnSp>
        <p:nvCxnSpPr>
          <p:cNvPr id="102" name="Verbinder: gekrümmt 101">
            <a:extLst>
              <a:ext uri="{FF2B5EF4-FFF2-40B4-BE49-F238E27FC236}">
                <a16:creationId xmlns:a16="http://schemas.microsoft.com/office/drawing/2014/main" id="{4A175909-FAD8-251A-99E3-765E8C9D63C1}"/>
              </a:ext>
            </a:extLst>
          </p:cNvPr>
          <p:cNvCxnSpPr>
            <a:cxnSpLocks/>
            <a:stCxn id="100" idx="6"/>
            <a:endCxn id="99" idx="1"/>
          </p:cNvCxnSpPr>
          <p:nvPr/>
        </p:nvCxnSpPr>
        <p:spPr>
          <a:xfrm flipV="1">
            <a:off x="9429852" y="3804673"/>
            <a:ext cx="2152113" cy="5081478"/>
          </a:xfrm>
          <a:prstGeom prst="curvedConnector4">
            <a:avLst>
              <a:gd name="adj1" fmla="val 33022"/>
              <a:gd name="adj2" fmla="val 104499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5" name="Rechteck 74">
            <a:extLst>
              <a:ext uri="{FF2B5EF4-FFF2-40B4-BE49-F238E27FC236}">
                <a16:creationId xmlns:a16="http://schemas.microsoft.com/office/drawing/2014/main" id="{20FFD60F-206D-CB5E-071D-9AF309A2C14D}"/>
              </a:ext>
            </a:extLst>
          </p:cNvPr>
          <p:cNvSpPr/>
          <p:nvPr/>
        </p:nvSpPr>
        <p:spPr>
          <a:xfrm>
            <a:off x="7770875" y="8237220"/>
            <a:ext cx="1665303" cy="3139440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NetconfConnectionBuilder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Prepare device (if not 204, create alarm in AppDATA)</a:t>
            </a:r>
          </a:p>
          <a:p>
            <a:r>
              <a:rPr lang="de-DE" sz="800"/>
              <a:t>Add SnmpServers to AppDATA</a:t>
            </a:r>
          </a:p>
          <a:p>
            <a:endParaRPr lang="de-DE" sz="800"/>
          </a:p>
          <a:p>
            <a:r>
              <a:rPr lang="de-DE" sz="800"/>
              <a:t>Pick mediatorVm in </a:t>
            </a:r>
            <a:r>
              <a:rPr lang="de-DE" sz="800" i="1"/>
              <a:t>installed </a:t>
            </a:r>
            <a:r>
              <a:rPr lang="de-DE" sz="800"/>
              <a:t>and </a:t>
            </a:r>
            <a:r>
              <a:rPr lang="de-DE" sz="800" i="1"/>
              <a:t>enabled</a:t>
            </a:r>
            <a:r>
              <a:rPr lang="de-DE" sz="800"/>
              <a:t> states with lowest number of mediatorProcesses</a:t>
            </a:r>
          </a:p>
          <a:p>
            <a:endParaRPr lang="de-DE" sz="800"/>
          </a:p>
          <a:p>
            <a:r>
              <a:rPr lang="de-DE" sz="800"/>
              <a:t>Create mediatorProcess</a:t>
            </a:r>
          </a:p>
          <a:p>
            <a:endParaRPr lang="de-DE" sz="800"/>
          </a:p>
          <a:p>
            <a:r>
              <a:rPr lang="de-DE" sz="800"/>
              <a:t>add to AppDATA:</a:t>
            </a:r>
          </a:p>
          <a:p>
            <a:pPr marL="171450" indent="-171450">
              <a:buFontTx/>
              <a:buChar char="-"/>
            </a:pPr>
            <a:r>
              <a:rPr lang="de-DE" sz="800"/>
              <a:t>mediatorProcess </a:t>
            </a:r>
          </a:p>
          <a:p>
            <a:pPr marL="171450" indent="-171450">
              <a:buFontTx/>
              <a:buChar char="-"/>
            </a:pPr>
            <a:r>
              <a:rPr lang="de-DE" sz="800"/>
              <a:t>(update NetconClient at Controller)</a:t>
            </a:r>
          </a:p>
          <a:p>
            <a:pPr marL="171450" indent="-171450">
              <a:buFontTx/>
              <a:buChar char="-"/>
            </a:pPr>
            <a:r>
              <a:rPr lang="de-DE" sz="800"/>
              <a:t>Snmp connection</a:t>
            </a:r>
          </a:p>
          <a:p>
            <a:pPr marL="171450" indent="-171450">
              <a:buFontTx/>
              <a:buChar char="-"/>
            </a:pPr>
            <a:r>
              <a:rPr lang="de-DE" sz="800"/>
              <a:t>Netconf connection</a:t>
            </a:r>
          </a:p>
          <a:p>
            <a:endParaRPr lang="de-DE" sz="800"/>
          </a:p>
          <a:p>
            <a:r>
              <a:rPr lang="de-DE" sz="800"/>
              <a:t>Meassure operationalState of netconfInterface</a:t>
            </a:r>
          </a:p>
          <a:p>
            <a:endParaRPr lang="de-DE" sz="800"/>
          </a:p>
          <a:p>
            <a:r>
              <a:rPr lang="de-DE" sz="800"/>
              <a:t>Update AppDATA with operationalState</a:t>
            </a:r>
          </a:p>
        </p:txBody>
      </p:sp>
      <p:sp>
        <p:nvSpPr>
          <p:cNvPr id="96" name="Ellipse 95">
            <a:extLst>
              <a:ext uri="{FF2B5EF4-FFF2-40B4-BE49-F238E27FC236}">
                <a16:creationId xmlns:a16="http://schemas.microsoft.com/office/drawing/2014/main" id="{F17CEFED-6C55-18CE-0DC0-A02405C77B87}"/>
              </a:ext>
            </a:extLst>
          </p:cNvPr>
          <p:cNvSpPr/>
          <p:nvPr/>
        </p:nvSpPr>
        <p:spPr>
          <a:xfrm>
            <a:off x="9382794" y="854148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00" name="Ellipse 99">
            <a:extLst>
              <a:ext uri="{FF2B5EF4-FFF2-40B4-BE49-F238E27FC236}">
                <a16:creationId xmlns:a16="http://schemas.microsoft.com/office/drawing/2014/main" id="{0316B798-F84B-8F58-B450-28890D99FD37}"/>
              </a:ext>
            </a:extLst>
          </p:cNvPr>
          <p:cNvSpPr/>
          <p:nvPr/>
        </p:nvSpPr>
        <p:spPr>
          <a:xfrm>
            <a:off x="9384133" y="8861949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3" name="Ellipse 162">
            <a:extLst>
              <a:ext uri="{FF2B5EF4-FFF2-40B4-BE49-F238E27FC236}">
                <a16:creationId xmlns:a16="http://schemas.microsoft.com/office/drawing/2014/main" id="{64EE5B7C-EB86-A4BA-C1DC-A5CF5509B0DF}"/>
              </a:ext>
            </a:extLst>
          </p:cNvPr>
          <p:cNvSpPr/>
          <p:nvPr/>
        </p:nvSpPr>
        <p:spPr>
          <a:xfrm>
            <a:off x="9343210" y="10679414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6" name="Ellipse 165">
            <a:extLst>
              <a:ext uri="{FF2B5EF4-FFF2-40B4-BE49-F238E27FC236}">
                <a16:creationId xmlns:a16="http://schemas.microsoft.com/office/drawing/2014/main" id="{628ABCC8-58C9-4BCD-7F8B-F84942659C2C}"/>
              </a:ext>
            </a:extLst>
          </p:cNvPr>
          <p:cNvSpPr/>
          <p:nvPr/>
        </p:nvSpPr>
        <p:spPr>
          <a:xfrm>
            <a:off x="9320351" y="941139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86" name="Ellipse 185">
            <a:extLst>
              <a:ext uri="{FF2B5EF4-FFF2-40B4-BE49-F238E27FC236}">
                <a16:creationId xmlns:a16="http://schemas.microsoft.com/office/drawing/2014/main" id="{3D249596-FA55-E138-EB1E-1CF618EE9902}"/>
              </a:ext>
            </a:extLst>
          </p:cNvPr>
          <p:cNvSpPr/>
          <p:nvPr/>
        </p:nvSpPr>
        <p:spPr>
          <a:xfrm>
            <a:off x="9357107" y="10142336"/>
            <a:ext cx="45719" cy="4840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" name="Rechteck 204">
            <a:extLst>
              <a:ext uri="{FF2B5EF4-FFF2-40B4-BE49-F238E27FC236}">
                <a16:creationId xmlns:a16="http://schemas.microsoft.com/office/drawing/2014/main" id="{25949520-17DD-825A-771B-50A9F85D5649}"/>
              </a:ext>
            </a:extLst>
          </p:cNvPr>
          <p:cNvSpPr/>
          <p:nvPr/>
        </p:nvSpPr>
        <p:spPr>
          <a:xfrm>
            <a:off x="10803997" y="4595645"/>
            <a:ext cx="1571625" cy="1507975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MediatorVmReconciler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update AppDATA with configuration data about all mediatorVms</a:t>
            </a:r>
            <a:br>
              <a:rPr lang="de-DE" sz="800"/>
            </a:br>
            <a:endParaRPr lang="de-DE" sz="800"/>
          </a:p>
          <a:p>
            <a:r>
              <a:rPr lang="de-DE" sz="800"/>
              <a:t>IF not responding</a:t>
            </a:r>
            <a:br>
              <a:rPr lang="de-DE" sz="800"/>
            </a:br>
            <a:r>
              <a:rPr lang="de-DE" sz="800"/>
              <a:t>THEN operationState of the mediatorVM to be set to UNAVAILABLE)</a:t>
            </a:r>
          </a:p>
        </p:txBody>
      </p:sp>
      <p:pic>
        <p:nvPicPr>
          <p:cNvPr id="206" name="Grafik 205">
            <a:extLst>
              <a:ext uri="{FF2B5EF4-FFF2-40B4-BE49-F238E27FC236}">
                <a16:creationId xmlns:a16="http://schemas.microsoft.com/office/drawing/2014/main" id="{32DFB1AC-4A02-46A6-0902-CDB05ECAF1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91841" y="4657234"/>
            <a:ext cx="260088" cy="273783"/>
          </a:xfrm>
          <a:prstGeom prst="rect">
            <a:avLst/>
          </a:prstGeom>
        </p:spPr>
      </p:pic>
      <p:sp>
        <p:nvSpPr>
          <p:cNvPr id="207" name="Textfeld 206">
            <a:extLst>
              <a:ext uri="{FF2B5EF4-FFF2-40B4-BE49-F238E27FC236}">
                <a16:creationId xmlns:a16="http://schemas.microsoft.com/office/drawing/2014/main" id="{7B3F1610-212D-C5AF-6461-4AF848173708}"/>
              </a:ext>
            </a:extLst>
          </p:cNvPr>
          <p:cNvSpPr txBox="1"/>
          <p:nvPr/>
        </p:nvSpPr>
        <p:spPr>
          <a:xfrm rot="3530940">
            <a:off x="9607898" y="10112648"/>
            <a:ext cx="19217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/v1/provide-mediator-instance</a:t>
            </a:r>
          </a:p>
          <a:p>
            <a:r>
              <a:rPr lang="de-DE" sz="600"/>
              <a:t>{deviceName, deviceIp, deviceModel}</a:t>
            </a:r>
          </a:p>
        </p:txBody>
      </p:sp>
      <p:cxnSp>
        <p:nvCxnSpPr>
          <p:cNvPr id="208" name="Verbinder: gekrümmt 207">
            <a:extLst>
              <a:ext uri="{FF2B5EF4-FFF2-40B4-BE49-F238E27FC236}">
                <a16:creationId xmlns:a16="http://schemas.microsoft.com/office/drawing/2014/main" id="{03D99CD0-D661-AEB6-B7DB-B8279173FD62}"/>
              </a:ext>
            </a:extLst>
          </p:cNvPr>
          <p:cNvCxnSpPr>
            <a:cxnSpLocks/>
            <a:stCxn id="205" idx="2"/>
            <a:endCxn id="366" idx="1"/>
          </p:cNvCxnSpPr>
          <p:nvPr/>
        </p:nvCxnSpPr>
        <p:spPr>
          <a:xfrm rot="5400000">
            <a:off x="8931600" y="8181944"/>
            <a:ext cx="4736535" cy="579887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Textfeld 215">
            <a:extLst>
              <a:ext uri="{FF2B5EF4-FFF2-40B4-BE49-F238E27FC236}">
                <a16:creationId xmlns:a16="http://schemas.microsoft.com/office/drawing/2014/main" id="{FB2DD6AF-ADEF-2063-C223-F2D4C5A446DF}"/>
              </a:ext>
            </a:extLst>
          </p:cNvPr>
          <p:cNvSpPr txBox="1"/>
          <p:nvPr/>
        </p:nvSpPr>
        <p:spPr>
          <a:xfrm rot="16538606">
            <a:off x="10048009" y="9602762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/v1/list-mediator-instances</a:t>
            </a:r>
          </a:p>
        </p:txBody>
      </p:sp>
      <p:cxnSp>
        <p:nvCxnSpPr>
          <p:cNvPr id="217" name="Verbinder: gekrümmt 216">
            <a:extLst>
              <a:ext uri="{FF2B5EF4-FFF2-40B4-BE49-F238E27FC236}">
                <a16:creationId xmlns:a16="http://schemas.microsoft.com/office/drawing/2014/main" id="{1A29FBAB-E411-12EF-C0AC-859391AAC5FF}"/>
              </a:ext>
            </a:extLst>
          </p:cNvPr>
          <p:cNvCxnSpPr>
            <a:cxnSpLocks/>
            <a:stCxn id="205" idx="0"/>
            <a:endCxn id="99" idx="3"/>
          </p:cNvCxnSpPr>
          <p:nvPr/>
        </p:nvCxnSpPr>
        <p:spPr>
          <a:xfrm rot="16200000" flipV="1">
            <a:off x="11461209" y="4467043"/>
            <a:ext cx="249358" cy="7845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3" name="Ellipse 232">
            <a:extLst>
              <a:ext uri="{FF2B5EF4-FFF2-40B4-BE49-F238E27FC236}">
                <a16:creationId xmlns:a16="http://schemas.microsoft.com/office/drawing/2014/main" id="{5A08106D-934F-EB86-4CA1-0A5FF2908077}"/>
              </a:ext>
            </a:extLst>
          </p:cNvPr>
          <p:cNvSpPr/>
          <p:nvPr/>
        </p:nvSpPr>
        <p:spPr>
          <a:xfrm>
            <a:off x="15775655" y="734826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6" name="Ellipse 235">
            <a:extLst>
              <a:ext uri="{FF2B5EF4-FFF2-40B4-BE49-F238E27FC236}">
                <a16:creationId xmlns:a16="http://schemas.microsoft.com/office/drawing/2014/main" id="{EFFB7ABE-B8F6-7B01-1534-91C8EEE1822D}"/>
              </a:ext>
            </a:extLst>
          </p:cNvPr>
          <p:cNvSpPr/>
          <p:nvPr/>
        </p:nvSpPr>
        <p:spPr>
          <a:xfrm>
            <a:off x="9343211" y="988637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7" name="Ellipse 236">
            <a:extLst>
              <a:ext uri="{FF2B5EF4-FFF2-40B4-BE49-F238E27FC236}">
                <a16:creationId xmlns:a16="http://schemas.microsoft.com/office/drawing/2014/main" id="{68D95A02-3B3D-25B5-488B-B9B18912DDAC}"/>
              </a:ext>
            </a:extLst>
          </p:cNvPr>
          <p:cNvSpPr/>
          <p:nvPr/>
        </p:nvSpPr>
        <p:spPr>
          <a:xfrm>
            <a:off x="6233976" y="84654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9" name="Ellipse 238">
            <a:extLst>
              <a:ext uri="{FF2B5EF4-FFF2-40B4-BE49-F238E27FC236}">
                <a16:creationId xmlns:a16="http://schemas.microsoft.com/office/drawing/2014/main" id="{699FEFDF-5F9D-D272-08D7-FC35BCE49259}"/>
              </a:ext>
            </a:extLst>
          </p:cNvPr>
          <p:cNvSpPr/>
          <p:nvPr/>
        </p:nvSpPr>
        <p:spPr>
          <a:xfrm>
            <a:off x="15777188" y="7700641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47" name="Ellipse 246">
            <a:extLst>
              <a:ext uri="{FF2B5EF4-FFF2-40B4-BE49-F238E27FC236}">
                <a16:creationId xmlns:a16="http://schemas.microsoft.com/office/drawing/2014/main" id="{251A60F8-F452-DA9F-FF1A-280D4C63F686}"/>
              </a:ext>
            </a:extLst>
          </p:cNvPr>
          <p:cNvSpPr/>
          <p:nvPr/>
        </p:nvSpPr>
        <p:spPr>
          <a:xfrm>
            <a:off x="6215192" y="6934189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0" name="Ellipse 249">
            <a:extLst>
              <a:ext uri="{FF2B5EF4-FFF2-40B4-BE49-F238E27FC236}">
                <a16:creationId xmlns:a16="http://schemas.microsoft.com/office/drawing/2014/main" id="{65F29E2F-51E4-E254-C00D-19FC22B9266A}"/>
              </a:ext>
            </a:extLst>
          </p:cNvPr>
          <p:cNvSpPr/>
          <p:nvPr/>
        </p:nvSpPr>
        <p:spPr>
          <a:xfrm>
            <a:off x="16856071" y="647030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1" name="Ellipse 250">
            <a:extLst>
              <a:ext uri="{FF2B5EF4-FFF2-40B4-BE49-F238E27FC236}">
                <a16:creationId xmlns:a16="http://schemas.microsoft.com/office/drawing/2014/main" id="{C90EDC9F-D9EE-82C5-8D77-44BDA50CEFAB}"/>
              </a:ext>
            </a:extLst>
          </p:cNvPr>
          <p:cNvSpPr/>
          <p:nvPr/>
        </p:nvSpPr>
        <p:spPr>
          <a:xfrm>
            <a:off x="6207980" y="649457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0870663B-C73A-4771-A211-4239452F5C6F}"/>
              </a:ext>
            </a:extLst>
          </p:cNvPr>
          <p:cNvSpPr/>
          <p:nvPr/>
        </p:nvSpPr>
        <p:spPr>
          <a:xfrm>
            <a:off x="4691698" y="1530543"/>
            <a:ext cx="1579788" cy="1208742"/>
          </a:xfrm>
          <a:prstGeom prst="rect">
            <a:avLst/>
          </a:prstGeom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/>
              <a:t>IF an additional interface can be provided without exceeding the engineering limit</a:t>
            </a:r>
          </a:p>
          <a:p>
            <a:r>
              <a:rPr lang="de-DE" sz="800"/>
              <a:t>THEN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device to targetState</a:t>
            </a:r>
          </a:p>
          <a:p>
            <a:pPr marL="171450" indent="-171450">
              <a:buFontTx/>
              <a:buChar char="-"/>
            </a:pPr>
            <a:r>
              <a:rPr lang="de-DE" sz="800"/>
              <a:t>add mountPoint to targetState</a:t>
            </a:r>
          </a:p>
          <a:p>
            <a:pPr marL="171450" indent="-171450">
              <a:buFontTx/>
              <a:buChar char="-"/>
            </a:pPr>
            <a:r>
              <a:rPr lang="de-DE" sz="800">
                <a:solidFill>
                  <a:srgbClr val="FF0000"/>
                </a:solidFill>
              </a:rPr>
              <a:t>add to createQueue</a:t>
            </a:r>
          </a:p>
          <a:p>
            <a:r>
              <a:rPr lang="de-DE" sz="800"/>
              <a:t>ELSE respond error code</a:t>
            </a:r>
          </a:p>
        </p:txBody>
      </p:sp>
      <p:sp>
        <p:nvSpPr>
          <p:cNvPr id="248" name="Ellipse 247">
            <a:extLst>
              <a:ext uri="{FF2B5EF4-FFF2-40B4-BE49-F238E27FC236}">
                <a16:creationId xmlns:a16="http://schemas.microsoft.com/office/drawing/2014/main" id="{A692FBE6-EE2E-AF3B-EC93-8B8A9207898A}"/>
              </a:ext>
            </a:extLst>
          </p:cNvPr>
          <p:cNvSpPr/>
          <p:nvPr/>
        </p:nvSpPr>
        <p:spPr>
          <a:xfrm>
            <a:off x="6178141" y="2368158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2" name="Ellipse 251">
            <a:extLst>
              <a:ext uri="{FF2B5EF4-FFF2-40B4-BE49-F238E27FC236}">
                <a16:creationId xmlns:a16="http://schemas.microsoft.com/office/drawing/2014/main" id="{913FE3AE-A440-CC21-792C-79FD25782F18}"/>
              </a:ext>
            </a:extLst>
          </p:cNvPr>
          <p:cNvSpPr/>
          <p:nvPr/>
        </p:nvSpPr>
        <p:spPr>
          <a:xfrm>
            <a:off x="6153344" y="2104277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53" name="Ellipse 252">
            <a:extLst>
              <a:ext uri="{FF2B5EF4-FFF2-40B4-BE49-F238E27FC236}">
                <a16:creationId xmlns:a16="http://schemas.microsoft.com/office/drawing/2014/main" id="{C6D8E57B-9A7E-DB25-D05B-D55D542817D4}"/>
              </a:ext>
            </a:extLst>
          </p:cNvPr>
          <p:cNvSpPr/>
          <p:nvPr/>
        </p:nvSpPr>
        <p:spPr>
          <a:xfrm>
            <a:off x="6160803" y="1686233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55" name="Verbinder: gekrümmt 254">
            <a:extLst>
              <a:ext uri="{FF2B5EF4-FFF2-40B4-BE49-F238E27FC236}">
                <a16:creationId xmlns:a16="http://schemas.microsoft.com/office/drawing/2014/main" id="{7AEAA726-2F8B-A437-D670-2CD4209FF0BB}"/>
              </a:ext>
            </a:extLst>
          </p:cNvPr>
          <p:cNvCxnSpPr>
            <a:cxnSpLocks/>
            <a:stCxn id="253" idx="6"/>
            <a:endCxn id="7" idx="2"/>
          </p:cNvCxnSpPr>
          <p:nvPr/>
        </p:nvCxnSpPr>
        <p:spPr>
          <a:xfrm>
            <a:off x="6206522" y="1709093"/>
            <a:ext cx="2564989" cy="4572483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0" name="Verbinder: gekrümmt 259">
            <a:extLst>
              <a:ext uri="{FF2B5EF4-FFF2-40B4-BE49-F238E27FC236}">
                <a16:creationId xmlns:a16="http://schemas.microsoft.com/office/drawing/2014/main" id="{E162F2CB-7C2A-AD67-4219-003FF27FD4F3}"/>
              </a:ext>
            </a:extLst>
          </p:cNvPr>
          <p:cNvCxnSpPr>
            <a:cxnSpLocks/>
            <a:stCxn id="53" idx="3"/>
            <a:endCxn id="99" idx="3"/>
          </p:cNvCxnSpPr>
          <p:nvPr/>
        </p:nvCxnSpPr>
        <p:spPr>
          <a:xfrm>
            <a:off x="6271486" y="3333658"/>
            <a:ext cx="5310479" cy="1012629"/>
          </a:xfrm>
          <a:prstGeom prst="curvedConnector4">
            <a:avLst>
              <a:gd name="adj1" fmla="val 43120"/>
              <a:gd name="adj2" fmla="val 122575"/>
            </a:avLst>
          </a:prstGeom>
          <a:ln>
            <a:solidFill>
              <a:schemeClr val="accent6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5" name="Verbinder: gekrümmt 264">
            <a:extLst>
              <a:ext uri="{FF2B5EF4-FFF2-40B4-BE49-F238E27FC236}">
                <a16:creationId xmlns:a16="http://schemas.microsoft.com/office/drawing/2014/main" id="{503582BC-0E02-58A4-A693-1CBB2113D5CD}"/>
              </a:ext>
            </a:extLst>
          </p:cNvPr>
          <p:cNvCxnSpPr>
            <a:cxnSpLocks/>
            <a:stCxn id="243" idx="7"/>
            <a:endCxn id="99" idx="1"/>
          </p:cNvCxnSpPr>
          <p:nvPr/>
        </p:nvCxnSpPr>
        <p:spPr>
          <a:xfrm rot="5400000" flipH="1" flipV="1">
            <a:off x="8616164" y="1431821"/>
            <a:ext cx="592949" cy="5338654"/>
          </a:xfrm>
          <a:prstGeom prst="curvedConnector3">
            <a:avLst>
              <a:gd name="adj1" fmla="val 13855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74" name="Gruppieren 273">
            <a:extLst>
              <a:ext uri="{FF2B5EF4-FFF2-40B4-BE49-F238E27FC236}">
                <a16:creationId xmlns:a16="http://schemas.microsoft.com/office/drawing/2014/main" id="{B6F62F1F-22A3-BA43-A9C9-60D2BA520C01}"/>
              </a:ext>
            </a:extLst>
          </p:cNvPr>
          <p:cNvGrpSpPr/>
          <p:nvPr/>
        </p:nvGrpSpPr>
        <p:grpSpPr>
          <a:xfrm>
            <a:off x="4699866" y="3933749"/>
            <a:ext cx="1571625" cy="2213250"/>
            <a:chOff x="4699866" y="3563189"/>
            <a:chExt cx="1571625" cy="2213250"/>
          </a:xfrm>
        </p:grpSpPr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0A919349-A95E-3FB9-AA37-0D6D48B0754E}"/>
                </a:ext>
              </a:extLst>
            </p:cNvPr>
            <p:cNvSpPr/>
            <p:nvPr/>
          </p:nvSpPr>
          <p:spPr>
            <a:xfrm>
              <a:off x="4699866" y="3563189"/>
              <a:ext cx="1571625" cy="221325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r>
                <a:rPr lang="de-DE" sz="800" i="1"/>
                <a:t>ContinuousLoadSharing</a:t>
              </a:r>
            </a:p>
            <a:p>
              <a:endParaRPr lang="de-DE" sz="800"/>
            </a:p>
            <a:p>
              <a:endParaRPr lang="de-DE" sz="800"/>
            </a:p>
            <a:p>
              <a:r>
                <a:rPr lang="de-DE" sz="800"/>
                <a:t>Calculate average number of mediatorProcesses at available mediatorVms of same mediatorVmTemplate</a:t>
              </a:r>
            </a:p>
            <a:p>
              <a:endParaRPr lang="de-DE" sz="800"/>
            </a:p>
            <a:p>
              <a:r>
                <a:rPr lang="de-DE" sz="800"/>
                <a:t>IF some mediatorVm exceeds average by more than a </a:t>
              </a:r>
              <a:r>
                <a:rPr lang="de-DE" sz="800" i="1"/>
                <a:t>[threshold]</a:t>
              </a:r>
            </a:p>
            <a:p>
              <a:r>
                <a:rPr lang="de-DE" sz="800"/>
                <a:t>THEN 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calculate number of mediatorProcesses to be re-allocated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createQueue</a:t>
              </a:r>
            </a:p>
            <a:p>
              <a:pPr marL="171450" indent="-171450">
                <a:buFontTx/>
                <a:buChar char="-"/>
              </a:pPr>
              <a:r>
                <a:rPr lang="de-DE" sz="800"/>
                <a:t>add to dismantleQueue</a:t>
              </a:r>
            </a:p>
            <a:p>
              <a:pPr marL="171450" indent="-171450">
                <a:buFontTx/>
                <a:buChar char="-"/>
              </a:pPr>
              <a:endParaRPr lang="de-DE" sz="800"/>
            </a:p>
            <a:p>
              <a:endParaRPr lang="de-DE" sz="800"/>
            </a:p>
          </p:txBody>
        </p:sp>
        <p:pic>
          <p:nvPicPr>
            <p:cNvPr id="41" name="Grafik 40">
              <a:extLst>
                <a:ext uri="{FF2B5EF4-FFF2-40B4-BE49-F238E27FC236}">
                  <a16:creationId xmlns:a16="http://schemas.microsoft.com/office/drawing/2014/main" id="{06E9B889-5E01-4664-FE1F-8B1AA87DF8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783360" y="3645991"/>
              <a:ext cx="260088" cy="251271"/>
            </a:xfrm>
            <a:prstGeom prst="rect">
              <a:avLst/>
            </a:prstGeom>
          </p:spPr>
        </p:pic>
        <p:sp>
          <p:nvSpPr>
            <p:cNvPr id="243" name="Ellipse 242">
              <a:extLst>
                <a:ext uri="{FF2B5EF4-FFF2-40B4-BE49-F238E27FC236}">
                  <a16:creationId xmlns:a16="http://schemas.microsoft.com/office/drawing/2014/main" id="{155E365C-AD3C-E52C-E1E7-A9A0B6D0E6D2}"/>
                </a:ext>
              </a:extLst>
            </p:cNvPr>
            <p:cNvSpPr/>
            <p:nvPr/>
          </p:nvSpPr>
          <p:spPr>
            <a:xfrm>
              <a:off x="6204287" y="4020367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69" name="Ellipse 268">
              <a:extLst>
                <a:ext uri="{FF2B5EF4-FFF2-40B4-BE49-F238E27FC236}">
                  <a16:creationId xmlns:a16="http://schemas.microsoft.com/office/drawing/2014/main" id="{C72007A6-BE0E-D0E3-59A3-5062510B8F81}"/>
                </a:ext>
              </a:extLst>
            </p:cNvPr>
            <p:cNvSpPr/>
            <p:nvPr/>
          </p:nvSpPr>
          <p:spPr>
            <a:xfrm>
              <a:off x="6202236" y="549466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70" name="Ellipse 269">
              <a:extLst>
                <a:ext uri="{FF2B5EF4-FFF2-40B4-BE49-F238E27FC236}">
                  <a16:creationId xmlns:a16="http://schemas.microsoft.com/office/drawing/2014/main" id="{38997AE1-6E30-E4A9-D73F-B36BE7AA4AB6}"/>
                </a:ext>
              </a:extLst>
            </p:cNvPr>
            <p:cNvSpPr/>
            <p:nvPr/>
          </p:nvSpPr>
          <p:spPr>
            <a:xfrm>
              <a:off x="6202236" y="560815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281" name="Verbinder: gekrümmt 280">
            <a:extLst>
              <a:ext uri="{FF2B5EF4-FFF2-40B4-BE49-F238E27FC236}">
                <a16:creationId xmlns:a16="http://schemas.microsoft.com/office/drawing/2014/main" id="{634204CB-EC13-119C-997C-7C9884C5DEC8}"/>
              </a:ext>
            </a:extLst>
          </p:cNvPr>
          <p:cNvCxnSpPr>
            <a:cxnSpLocks/>
            <a:stCxn id="250" idx="2"/>
            <a:endCxn id="99" idx="1"/>
          </p:cNvCxnSpPr>
          <p:nvPr/>
        </p:nvCxnSpPr>
        <p:spPr>
          <a:xfrm rot="10800000" flipV="1">
            <a:off x="11581965" y="669889"/>
            <a:ext cx="5274106" cy="3134783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Verbinder: gekrümmt 293">
            <a:extLst>
              <a:ext uri="{FF2B5EF4-FFF2-40B4-BE49-F238E27FC236}">
                <a16:creationId xmlns:a16="http://schemas.microsoft.com/office/drawing/2014/main" id="{E067D299-71C2-27F9-678A-7BDD854ED661}"/>
              </a:ext>
            </a:extLst>
          </p:cNvPr>
          <p:cNvCxnSpPr>
            <a:cxnSpLocks/>
            <a:stCxn id="251" idx="6"/>
            <a:endCxn id="99" idx="1"/>
          </p:cNvCxnSpPr>
          <p:nvPr/>
        </p:nvCxnSpPr>
        <p:spPr>
          <a:xfrm flipV="1">
            <a:off x="6253699" y="3804673"/>
            <a:ext cx="5328266" cy="2712762"/>
          </a:xfrm>
          <a:prstGeom prst="curvedConnector4">
            <a:avLst>
              <a:gd name="adj1" fmla="val 43143"/>
              <a:gd name="adj2" fmla="val 10842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Verbinder: gekrümmt 296">
            <a:extLst>
              <a:ext uri="{FF2B5EF4-FFF2-40B4-BE49-F238E27FC236}">
                <a16:creationId xmlns:a16="http://schemas.microsoft.com/office/drawing/2014/main" id="{A53EADE9-A1A9-04F8-ED1D-624A078F0D86}"/>
              </a:ext>
            </a:extLst>
          </p:cNvPr>
          <p:cNvCxnSpPr>
            <a:cxnSpLocks/>
            <a:stCxn id="247" idx="6"/>
            <a:endCxn id="99" idx="3"/>
          </p:cNvCxnSpPr>
          <p:nvPr/>
        </p:nvCxnSpPr>
        <p:spPr>
          <a:xfrm flipV="1">
            <a:off x="6260911" y="4346287"/>
            <a:ext cx="5321054" cy="2610762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Verbinder: gekrümmt 304">
            <a:extLst>
              <a:ext uri="{FF2B5EF4-FFF2-40B4-BE49-F238E27FC236}">
                <a16:creationId xmlns:a16="http://schemas.microsoft.com/office/drawing/2014/main" id="{9A6FDAFC-2F83-3C10-82E9-21AD364A062C}"/>
              </a:ext>
            </a:extLst>
          </p:cNvPr>
          <p:cNvCxnSpPr>
            <a:cxnSpLocks/>
            <a:stCxn id="237" idx="7"/>
            <a:endCxn id="99" idx="1"/>
          </p:cNvCxnSpPr>
          <p:nvPr/>
        </p:nvCxnSpPr>
        <p:spPr>
          <a:xfrm rot="5400000" flipH="1" flipV="1">
            <a:off x="6593742" y="3483931"/>
            <a:ext cx="4667480" cy="5308965"/>
          </a:xfrm>
          <a:prstGeom prst="curvedConnector3">
            <a:avLst>
              <a:gd name="adj1" fmla="val 104898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6" name="Ellipse 305">
            <a:extLst>
              <a:ext uri="{FF2B5EF4-FFF2-40B4-BE49-F238E27FC236}">
                <a16:creationId xmlns:a16="http://schemas.microsoft.com/office/drawing/2014/main" id="{4EDFCD88-C51B-124F-B009-FF682DA1F8D2}"/>
              </a:ext>
            </a:extLst>
          </p:cNvPr>
          <p:cNvSpPr/>
          <p:nvPr/>
        </p:nvSpPr>
        <p:spPr>
          <a:xfrm>
            <a:off x="6208338" y="9282572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4" name="Ellipse 313">
            <a:extLst>
              <a:ext uri="{FF2B5EF4-FFF2-40B4-BE49-F238E27FC236}">
                <a16:creationId xmlns:a16="http://schemas.microsoft.com/office/drawing/2014/main" id="{C39D2EEF-7699-FF86-C89D-04ACFCF32E31}"/>
              </a:ext>
            </a:extLst>
          </p:cNvPr>
          <p:cNvSpPr/>
          <p:nvPr/>
        </p:nvSpPr>
        <p:spPr>
          <a:xfrm>
            <a:off x="6208338" y="9447795"/>
            <a:ext cx="45719" cy="45719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20" name="Verbinder: gekrümmt 319">
            <a:extLst>
              <a:ext uri="{FF2B5EF4-FFF2-40B4-BE49-F238E27FC236}">
                <a16:creationId xmlns:a16="http://schemas.microsoft.com/office/drawing/2014/main" id="{D47B3217-2E2D-88F4-CEF8-C155B5FF44DA}"/>
              </a:ext>
            </a:extLst>
          </p:cNvPr>
          <p:cNvCxnSpPr>
            <a:cxnSpLocks/>
            <a:stCxn id="233" idx="6"/>
            <a:endCxn id="210" idx="2"/>
          </p:cNvCxnSpPr>
          <p:nvPr/>
        </p:nvCxnSpPr>
        <p:spPr>
          <a:xfrm flipV="1">
            <a:off x="15821374" y="1065472"/>
            <a:ext cx="5095911" cy="6305649"/>
          </a:xfrm>
          <a:prstGeom prst="curved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Verbinder: gekrümmt 325">
            <a:extLst>
              <a:ext uri="{FF2B5EF4-FFF2-40B4-BE49-F238E27FC236}">
                <a16:creationId xmlns:a16="http://schemas.microsoft.com/office/drawing/2014/main" id="{8D92A0B0-8F15-20BD-3BFC-A1733049A130}"/>
              </a:ext>
            </a:extLst>
          </p:cNvPr>
          <p:cNvCxnSpPr>
            <a:cxnSpLocks/>
            <a:stCxn id="239" idx="6"/>
            <a:endCxn id="84" idx="3"/>
          </p:cNvCxnSpPr>
          <p:nvPr/>
        </p:nvCxnSpPr>
        <p:spPr>
          <a:xfrm flipH="1">
            <a:off x="11342427" y="7723501"/>
            <a:ext cx="4480480" cy="3243747"/>
          </a:xfrm>
          <a:prstGeom prst="curvedConnector3">
            <a:avLst>
              <a:gd name="adj1" fmla="val -510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5" name="Rechteck 344">
            <a:extLst>
              <a:ext uri="{FF2B5EF4-FFF2-40B4-BE49-F238E27FC236}">
                <a16:creationId xmlns:a16="http://schemas.microsoft.com/office/drawing/2014/main" id="{A9FAA250-F266-90C1-2B0C-43D14650F20C}"/>
              </a:ext>
            </a:extLst>
          </p:cNvPr>
          <p:cNvSpPr/>
          <p:nvPr/>
        </p:nvSpPr>
        <p:spPr>
          <a:xfrm>
            <a:off x="12551086" y="4595645"/>
            <a:ext cx="1571625" cy="1507975"/>
          </a:xfrm>
          <a:prstGeom prst="rect">
            <a:avLst/>
          </a:prstGeom>
          <a:ln>
            <a:solidFill>
              <a:srgbClr val="04243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800" i="1"/>
              <a:t>NetconfInterfaceStateAnalyzer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Regularly send netconf requests to all documented mediatorProcesses to determine their operational state and update AppDATA with status data</a:t>
            </a:r>
          </a:p>
        </p:txBody>
      </p:sp>
      <p:pic>
        <p:nvPicPr>
          <p:cNvPr id="346" name="Grafik 345">
            <a:extLst>
              <a:ext uri="{FF2B5EF4-FFF2-40B4-BE49-F238E27FC236}">
                <a16:creationId xmlns:a16="http://schemas.microsoft.com/office/drawing/2014/main" id="{EFF0F8E7-A9DA-88D8-2ACB-F80ECF9789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35588" y="4794125"/>
            <a:ext cx="260088" cy="273783"/>
          </a:xfrm>
          <a:prstGeom prst="rect">
            <a:avLst/>
          </a:prstGeom>
        </p:spPr>
      </p:pic>
      <p:cxnSp>
        <p:nvCxnSpPr>
          <p:cNvPr id="347" name="Verbinder: gekrümmt 346">
            <a:extLst>
              <a:ext uri="{FF2B5EF4-FFF2-40B4-BE49-F238E27FC236}">
                <a16:creationId xmlns:a16="http://schemas.microsoft.com/office/drawing/2014/main" id="{907C5ECB-8D81-E02A-D05F-356C446EE16A}"/>
              </a:ext>
            </a:extLst>
          </p:cNvPr>
          <p:cNvCxnSpPr>
            <a:cxnSpLocks/>
            <a:stCxn id="345" idx="0"/>
            <a:endCxn id="99" idx="3"/>
          </p:cNvCxnSpPr>
          <p:nvPr/>
        </p:nvCxnSpPr>
        <p:spPr>
          <a:xfrm rot="16200000" flipV="1">
            <a:off x="12334753" y="3593499"/>
            <a:ext cx="249358" cy="1754934"/>
          </a:xfrm>
          <a:prstGeom prst="curved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9" name="Verbinder: gekrümmt 348">
            <a:extLst>
              <a:ext uri="{FF2B5EF4-FFF2-40B4-BE49-F238E27FC236}">
                <a16:creationId xmlns:a16="http://schemas.microsoft.com/office/drawing/2014/main" id="{F96F34AD-F463-3D89-2CA1-85EC87B0FA4F}"/>
              </a:ext>
            </a:extLst>
          </p:cNvPr>
          <p:cNvCxnSpPr>
            <a:cxnSpLocks/>
            <a:stCxn id="345" idx="2"/>
            <a:endCxn id="114" idx="3"/>
          </p:cNvCxnSpPr>
          <p:nvPr/>
        </p:nvCxnSpPr>
        <p:spPr>
          <a:xfrm rot="5400000">
            <a:off x="9629275" y="7816772"/>
            <a:ext cx="5420776" cy="1994472"/>
          </a:xfrm>
          <a:prstGeom prst="curved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3" name="Verbinder: gekrümmt 352">
            <a:extLst>
              <a:ext uri="{FF2B5EF4-FFF2-40B4-BE49-F238E27FC236}">
                <a16:creationId xmlns:a16="http://schemas.microsoft.com/office/drawing/2014/main" id="{5C9CE3CC-A505-0137-60F5-65EB22F4E8FA}"/>
              </a:ext>
            </a:extLst>
          </p:cNvPr>
          <p:cNvCxnSpPr>
            <a:cxnSpLocks/>
            <a:stCxn id="345" idx="0"/>
            <a:endCxn id="99" idx="1"/>
          </p:cNvCxnSpPr>
          <p:nvPr/>
        </p:nvCxnSpPr>
        <p:spPr>
          <a:xfrm rot="16200000" flipV="1">
            <a:off x="12063946" y="3322692"/>
            <a:ext cx="790972" cy="1754934"/>
          </a:xfrm>
          <a:prstGeom prst="curvedConnector3">
            <a:avLst>
              <a:gd name="adj1" fmla="val 128901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1" name="Textfeld 360">
            <a:extLst>
              <a:ext uri="{FF2B5EF4-FFF2-40B4-BE49-F238E27FC236}">
                <a16:creationId xmlns:a16="http://schemas.microsoft.com/office/drawing/2014/main" id="{6F960F18-3AF0-3FBE-9EFF-0F931AABE477}"/>
              </a:ext>
            </a:extLst>
          </p:cNvPr>
          <p:cNvSpPr txBox="1"/>
          <p:nvPr/>
        </p:nvSpPr>
        <p:spPr>
          <a:xfrm>
            <a:off x="11335628" y="1071518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/v1/dismantle-mediator-instance</a:t>
            </a:r>
          </a:p>
        </p:txBody>
      </p:sp>
      <p:grpSp>
        <p:nvGrpSpPr>
          <p:cNvPr id="368" name="Gruppieren 367">
            <a:extLst>
              <a:ext uri="{FF2B5EF4-FFF2-40B4-BE49-F238E27FC236}">
                <a16:creationId xmlns:a16="http://schemas.microsoft.com/office/drawing/2014/main" id="{544AB122-FC55-7CAB-709A-1F82B50EFF40}"/>
              </a:ext>
            </a:extLst>
          </p:cNvPr>
          <p:cNvGrpSpPr/>
          <p:nvPr/>
        </p:nvGrpSpPr>
        <p:grpSpPr>
          <a:xfrm>
            <a:off x="9971235" y="10696231"/>
            <a:ext cx="1371192" cy="1549618"/>
            <a:chOff x="7951059" y="10590996"/>
            <a:chExt cx="1371192" cy="1549618"/>
          </a:xfrm>
        </p:grpSpPr>
        <p:grpSp>
          <p:nvGrpSpPr>
            <p:cNvPr id="202" name="Gruppieren 201">
              <a:extLst>
                <a:ext uri="{FF2B5EF4-FFF2-40B4-BE49-F238E27FC236}">
                  <a16:creationId xmlns:a16="http://schemas.microsoft.com/office/drawing/2014/main" id="{5AEE2D10-F89B-E123-FB17-177128F8D172}"/>
                </a:ext>
              </a:extLst>
            </p:cNvPr>
            <p:cNvGrpSpPr/>
            <p:nvPr/>
          </p:nvGrpSpPr>
          <p:grpSpPr>
            <a:xfrm>
              <a:off x="7951059" y="10590996"/>
              <a:ext cx="1257300" cy="1442907"/>
              <a:chOff x="10924900" y="10591007"/>
              <a:chExt cx="1257300" cy="1442907"/>
            </a:xfrm>
          </p:grpSpPr>
          <p:sp>
            <p:nvSpPr>
              <p:cNvPr id="196" name="Rechteck: abgerundete Ecken 195">
                <a:extLst>
                  <a:ext uri="{FF2B5EF4-FFF2-40B4-BE49-F238E27FC236}">
                    <a16:creationId xmlns:a16="http://schemas.microsoft.com/office/drawing/2014/main" id="{E5C8744C-C02C-AE9B-4068-2EA3CF897565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1442907"/>
              </a:xfrm>
              <a:prstGeom prst="roundRect">
                <a:avLst/>
              </a:prstGeom>
              <a:solidFill>
                <a:schemeClr val="accent2">
                  <a:lumMod val="75000"/>
                </a:schemeClr>
              </a:solidFill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197" name="Rechteck: abgerundete Ecken 196">
                <a:extLst>
                  <a:ext uri="{FF2B5EF4-FFF2-40B4-BE49-F238E27FC236}">
                    <a16:creationId xmlns:a16="http://schemas.microsoft.com/office/drawing/2014/main" id="{DE1EF18F-9F6B-4DEF-80C2-451681BC0416}"/>
                  </a:ext>
                </a:extLst>
              </p:cNvPr>
              <p:cNvSpPr/>
              <p:nvPr/>
            </p:nvSpPr>
            <p:spPr>
              <a:xfrm>
                <a:off x="10924900" y="10591007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98" name="Ellipse 197">
                <a:extLst>
                  <a:ext uri="{FF2B5EF4-FFF2-40B4-BE49-F238E27FC236}">
                    <a16:creationId xmlns:a16="http://schemas.microsoft.com/office/drawing/2014/main" id="{81EDEA61-9EF0-BCF7-3AD9-C2A5DFD686D2}"/>
                  </a:ext>
                </a:extLst>
              </p:cNvPr>
              <p:cNvSpPr/>
              <p:nvPr/>
            </p:nvSpPr>
            <p:spPr>
              <a:xfrm>
                <a:off x="1094838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99" name="Ellipse 198">
                <a:extLst>
                  <a:ext uri="{FF2B5EF4-FFF2-40B4-BE49-F238E27FC236}">
                    <a16:creationId xmlns:a16="http://schemas.microsoft.com/office/drawing/2014/main" id="{586B154C-DFF2-10DA-F4CE-88E0CB4B6A0C}"/>
                  </a:ext>
                </a:extLst>
              </p:cNvPr>
              <p:cNvSpPr/>
              <p:nvPr/>
            </p:nvSpPr>
            <p:spPr>
              <a:xfrm>
                <a:off x="12069816" y="11689639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0" name="Ellipse 199">
                <a:extLst>
                  <a:ext uri="{FF2B5EF4-FFF2-40B4-BE49-F238E27FC236}">
                    <a16:creationId xmlns:a16="http://schemas.microsoft.com/office/drawing/2014/main" id="{DE7A60DA-6C97-CB59-B087-07F92C9D4C03}"/>
                  </a:ext>
                </a:extLst>
              </p:cNvPr>
              <p:cNvSpPr/>
              <p:nvPr/>
            </p:nvSpPr>
            <p:spPr>
              <a:xfrm>
                <a:off x="12101226" y="11326854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201" name="Ellipse 200">
                <a:extLst>
                  <a:ext uri="{FF2B5EF4-FFF2-40B4-BE49-F238E27FC236}">
                    <a16:creationId xmlns:a16="http://schemas.microsoft.com/office/drawing/2014/main" id="{E6E28A01-0D0E-43D3-D44D-488AC61BAF04}"/>
                  </a:ext>
                </a:extLst>
              </p:cNvPr>
              <p:cNvSpPr/>
              <p:nvPr/>
            </p:nvSpPr>
            <p:spPr>
              <a:xfrm>
                <a:off x="10979796" y="11332721"/>
                <a:ext cx="62820" cy="70114"/>
              </a:xfrm>
              <a:prstGeom prst="ellipse">
                <a:avLst/>
              </a:prstGeom>
              <a:solidFill>
                <a:schemeClr val="accent2">
                  <a:lumMod val="75000"/>
                </a:schemeClr>
              </a:solidFill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grpSp>
          <p:nvGrpSpPr>
            <p:cNvPr id="122" name="Gruppieren 121">
              <a:extLst>
                <a:ext uri="{FF2B5EF4-FFF2-40B4-BE49-F238E27FC236}">
                  <a16:creationId xmlns:a16="http://schemas.microsoft.com/office/drawing/2014/main" id="{5679A4A5-E986-DCF8-0EAF-8DDFE68C827D}"/>
                </a:ext>
              </a:extLst>
            </p:cNvPr>
            <p:cNvGrpSpPr/>
            <p:nvPr/>
          </p:nvGrpSpPr>
          <p:grpSpPr>
            <a:xfrm>
              <a:off x="8064951" y="10697707"/>
              <a:ext cx="1257300" cy="1442907"/>
              <a:chOff x="9442450" y="10552243"/>
              <a:chExt cx="1257300" cy="1442907"/>
            </a:xfrm>
          </p:grpSpPr>
          <p:sp>
            <p:nvSpPr>
              <p:cNvPr id="114" name="Rechteck: abgerundete Ecken 113">
                <a:extLst>
                  <a:ext uri="{FF2B5EF4-FFF2-40B4-BE49-F238E27FC236}">
                    <a16:creationId xmlns:a16="http://schemas.microsoft.com/office/drawing/2014/main" id="{C0D61018-DD68-B783-0D87-6E46773ABBA5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1442907"/>
              </a:xfrm>
              <a:prstGeom prst="roundRect">
                <a:avLst/>
              </a:prstGeom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  <a:p>
                <a:pPr algn="ctr"/>
                <a:endParaRPr lang="de-DE" sz="1050"/>
              </a:p>
              <a:p>
                <a:pPr algn="ctr"/>
                <a:r>
                  <a:rPr lang="de-DE" sz="1050"/>
                  <a:t>mediatorVM</a:t>
                </a:r>
              </a:p>
              <a:p>
                <a:endParaRPr lang="de-DE" sz="800"/>
              </a:p>
              <a:p>
                <a:r>
                  <a:rPr lang="de-DE" sz="800"/>
                  <a:t>mediatorProcess#1</a:t>
                </a:r>
              </a:p>
              <a:p>
                <a:r>
                  <a:rPr lang="de-DE" sz="800"/>
                  <a:t>mediatorProcess#2</a:t>
                </a:r>
              </a:p>
              <a:p>
                <a:r>
                  <a:rPr lang="de-DE" sz="800"/>
                  <a:t>…</a:t>
                </a:r>
              </a:p>
              <a:p>
                <a:r>
                  <a:rPr lang="de-DE" sz="800"/>
                  <a:t>mediatorProcess#n</a:t>
                </a:r>
              </a:p>
            </p:txBody>
          </p:sp>
          <p:sp>
            <p:nvSpPr>
              <p:cNvPr id="84" name="Rechteck: abgerundete Ecken 83">
                <a:extLst>
                  <a:ext uri="{FF2B5EF4-FFF2-40B4-BE49-F238E27FC236}">
                    <a16:creationId xmlns:a16="http://schemas.microsoft.com/office/drawing/2014/main" id="{7AB70A29-DF37-2F1A-F8F8-82ECADC63218}"/>
                  </a:ext>
                </a:extLst>
              </p:cNvPr>
              <p:cNvSpPr/>
              <p:nvPr/>
            </p:nvSpPr>
            <p:spPr>
              <a:xfrm>
                <a:off x="9442450" y="10552243"/>
                <a:ext cx="1257300" cy="32861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de-DE" sz="900"/>
                  <a:t>MIM</a:t>
                </a:r>
              </a:p>
            </p:txBody>
          </p:sp>
          <p:sp>
            <p:nvSpPr>
              <p:cNvPr id="118" name="Ellipse 117">
                <a:extLst>
                  <a:ext uri="{FF2B5EF4-FFF2-40B4-BE49-F238E27FC236}">
                    <a16:creationId xmlns:a16="http://schemas.microsoft.com/office/drawing/2014/main" id="{7EE6A8AA-2B90-132F-4D79-74C7F38E6645}"/>
                  </a:ext>
                </a:extLst>
              </p:cNvPr>
              <p:cNvSpPr/>
              <p:nvPr/>
            </p:nvSpPr>
            <p:spPr>
              <a:xfrm>
                <a:off x="946593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19" name="Ellipse 118">
                <a:extLst>
                  <a:ext uri="{FF2B5EF4-FFF2-40B4-BE49-F238E27FC236}">
                    <a16:creationId xmlns:a16="http://schemas.microsoft.com/office/drawing/2014/main" id="{29039A0C-2B5D-A65A-F96B-F0AC5BC95618}"/>
                  </a:ext>
                </a:extLst>
              </p:cNvPr>
              <p:cNvSpPr/>
              <p:nvPr/>
            </p:nvSpPr>
            <p:spPr>
              <a:xfrm>
                <a:off x="10587366" y="11650875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0" name="Ellipse 119">
                <a:extLst>
                  <a:ext uri="{FF2B5EF4-FFF2-40B4-BE49-F238E27FC236}">
                    <a16:creationId xmlns:a16="http://schemas.microsoft.com/office/drawing/2014/main" id="{AB71EFE7-7528-2E1F-DE68-34D159F1CA49}"/>
                  </a:ext>
                </a:extLst>
              </p:cNvPr>
              <p:cNvSpPr/>
              <p:nvPr/>
            </p:nvSpPr>
            <p:spPr>
              <a:xfrm>
                <a:off x="10618776" y="11288090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  <p:sp>
            <p:nvSpPr>
              <p:cNvPr id="121" name="Ellipse 120">
                <a:extLst>
                  <a:ext uri="{FF2B5EF4-FFF2-40B4-BE49-F238E27FC236}">
                    <a16:creationId xmlns:a16="http://schemas.microsoft.com/office/drawing/2014/main" id="{DF4D51F5-7C0B-1ADF-5880-79C88AAD6B0C}"/>
                  </a:ext>
                </a:extLst>
              </p:cNvPr>
              <p:cNvSpPr/>
              <p:nvPr/>
            </p:nvSpPr>
            <p:spPr>
              <a:xfrm>
                <a:off x="9497346" y="11293957"/>
                <a:ext cx="62820" cy="70114"/>
              </a:xfrm>
              <a:prstGeom prst="ellipse">
                <a:avLst/>
              </a:prstGeom>
              <a:ln>
                <a:noFill/>
              </a:ln>
            </p:spPr>
            <p:style>
              <a:lnRef idx="2">
                <a:schemeClr val="accent4">
                  <a:shade val="15000"/>
                </a:schemeClr>
              </a:lnRef>
              <a:fillRef idx="1">
                <a:schemeClr val="accent4"/>
              </a:fillRef>
              <a:effectRef idx="0">
                <a:schemeClr val="accent4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pPr algn="ctr"/>
                <a:endParaRPr lang="de-DE" sz="1050"/>
              </a:p>
            </p:txBody>
          </p:sp>
        </p:grpSp>
        <p:sp>
          <p:nvSpPr>
            <p:cNvPr id="234" name="Ellipse 233">
              <a:extLst>
                <a:ext uri="{FF2B5EF4-FFF2-40B4-BE49-F238E27FC236}">
                  <a16:creationId xmlns:a16="http://schemas.microsoft.com/office/drawing/2014/main" id="{9D92FC26-513D-F1A1-46E5-D0C12645E7F2}"/>
                </a:ext>
              </a:extLst>
            </p:cNvPr>
            <p:cNvSpPr/>
            <p:nvPr/>
          </p:nvSpPr>
          <p:spPr>
            <a:xfrm>
              <a:off x="9201126" y="10731541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244" name="Ellipse 243">
              <a:extLst>
                <a:ext uri="{FF2B5EF4-FFF2-40B4-BE49-F238E27FC236}">
                  <a16:creationId xmlns:a16="http://schemas.microsoft.com/office/drawing/2014/main" id="{00632EDC-13ED-D796-F3E2-9A8D80DB2728}"/>
                </a:ext>
              </a:extLst>
            </p:cNvPr>
            <p:cNvSpPr/>
            <p:nvPr/>
          </p:nvSpPr>
          <p:spPr>
            <a:xfrm>
              <a:off x="8117112" y="10733848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  <p:sp>
          <p:nvSpPr>
            <p:cNvPr id="366" name="Ellipse 365">
              <a:extLst>
                <a:ext uri="{FF2B5EF4-FFF2-40B4-BE49-F238E27FC236}">
                  <a16:creationId xmlns:a16="http://schemas.microsoft.com/office/drawing/2014/main" id="{828FC9DE-6473-436D-69FD-C4D4AA62218C}"/>
                </a:ext>
              </a:extLst>
            </p:cNvPr>
            <p:cNvSpPr/>
            <p:nvPr/>
          </p:nvSpPr>
          <p:spPr>
            <a:xfrm>
              <a:off x="8983052" y="10728225"/>
              <a:ext cx="45719" cy="45719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sp>
        <p:nvSpPr>
          <p:cNvPr id="379" name="Rechteck 378">
            <a:extLst>
              <a:ext uri="{FF2B5EF4-FFF2-40B4-BE49-F238E27FC236}">
                <a16:creationId xmlns:a16="http://schemas.microsoft.com/office/drawing/2014/main" id="{F6FC92C7-3D49-7205-A078-6D4B274D32F3}"/>
              </a:ext>
            </a:extLst>
          </p:cNvPr>
          <p:cNvSpPr/>
          <p:nvPr/>
        </p:nvSpPr>
        <p:spPr>
          <a:xfrm>
            <a:off x="16829126" y="7093166"/>
            <a:ext cx="1798430" cy="169415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UnusedMediatorProcessTracker</a:t>
            </a:r>
            <a:endParaRPr lang="de-DE" sz="800"/>
          </a:p>
          <a:p>
            <a:endParaRPr lang="de-DE" sz="800"/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Go slowly throu all mediatorProcess at all mediatorVms and ask the MO for the netconf port at the mountPoint in ODL</a:t>
            </a:r>
          </a:p>
          <a:p>
            <a:endParaRPr lang="de-DE" sz="800"/>
          </a:p>
          <a:p>
            <a:r>
              <a:rPr lang="de-DE" sz="800"/>
              <a:t>IF mountPoint is addressing another mediatorProcess</a:t>
            </a:r>
          </a:p>
          <a:p>
            <a:r>
              <a:rPr lang="de-DE" sz="800"/>
              <a:t>THEN add to dismantleQueue </a:t>
            </a:r>
          </a:p>
          <a:p>
            <a:r>
              <a:rPr lang="de-DE" sz="800"/>
              <a:t>ELSE no change</a:t>
            </a:r>
          </a:p>
        </p:txBody>
      </p:sp>
      <p:pic>
        <p:nvPicPr>
          <p:cNvPr id="380" name="Grafik 379">
            <a:extLst>
              <a:ext uri="{FF2B5EF4-FFF2-40B4-BE49-F238E27FC236}">
                <a16:creationId xmlns:a16="http://schemas.microsoft.com/office/drawing/2014/main" id="{F32C22D3-797D-88B2-894A-BD25852451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26323" y="7308790"/>
            <a:ext cx="260088" cy="251271"/>
          </a:xfrm>
          <a:prstGeom prst="rect">
            <a:avLst/>
          </a:prstGeom>
        </p:spPr>
      </p:pic>
      <p:sp>
        <p:nvSpPr>
          <p:cNvPr id="381" name="Textfeld 380">
            <a:extLst>
              <a:ext uri="{FF2B5EF4-FFF2-40B4-BE49-F238E27FC236}">
                <a16:creationId xmlns:a16="http://schemas.microsoft.com/office/drawing/2014/main" id="{CB1BBA9E-BA83-774D-6BC0-5FD2B534CD84}"/>
              </a:ext>
            </a:extLst>
          </p:cNvPr>
          <p:cNvSpPr txBox="1"/>
          <p:nvPr/>
        </p:nvSpPr>
        <p:spPr>
          <a:xfrm>
            <a:off x="846565" y="2061423"/>
            <a:ext cx="82266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204 / 500 …</a:t>
            </a:r>
          </a:p>
        </p:txBody>
      </p:sp>
      <p:cxnSp>
        <p:nvCxnSpPr>
          <p:cNvPr id="418" name="Verbinder: gekrümmt 417">
            <a:extLst>
              <a:ext uri="{FF2B5EF4-FFF2-40B4-BE49-F238E27FC236}">
                <a16:creationId xmlns:a16="http://schemas.microsoft.com/office/drawing/2014/main" id="{52669EDD-467C-6E1D-133F-905A1D3143D1}"/>
              </a:ext>
            </a:extLst>
          </p:cNvPr>
          <p:cNvCxnSpPr>
            <a:cxnSpLocks/>
            <a:stCxn id="236" idx="6"/>
            <a:endCxn id="121" idx="2"/>
          </p:cNvCxnSpPr>
          <p:nvPr/>
        </p:nvCxnSpPr>
        <p:spPr>
          <a:xfrm>
            <a:off x="9388930" y="9909239"/>
            <a:ext cx="751093" cy="1670474"/>
          </a:xfrm>
          <a:prstGeom prst="curvedConnector3">
            <a:avLst>
              <a:gd name="adj1" fmla="val 5000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Verbinder: gekrümmt 170">
            <a:extLst>
              <a:ext uri="{FF2B5EF4-FFF2-40B4-BE49-F238E27FC236}">
                <a16:creationId xmlns:a16="http://schemas.microsoft.com/office/drawing/2014/main" id="{5F1E594E-4CD0-D101-9518-C767663A5475}"/>
              </a:ext>
            </a:extLst>
          </p:cNvPr>
          <p:cNvCxnSpPr>
            <a:cxnSpLocks/>
            <a:stCxn id="166" idx="6"/>
            <a:endCxn id="197" idx="0"/>
          </p:cNvCxnSpPr>
          <p:nvPr/>
        </p:nvCxnSpPr>
        <p:spPr>
          <a:xfrm>
            <a:off x="9366070" y="9435600"/>
            <a:ext cx="1233815" cy="12606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2" name="Verbinder: gekrümmt 461">
            <a:extLst>
              <a:ext uri="{FF2B5EF4-FFF2-40B4-BE49-F238E27FC236}">
                <a16:creationId xmlns:a16="http://schemas.microsoft.com/office/drawing/2014/main" id="{7378382E-2658-1C8C-01AB-865DB8B750F2}"/>
              </a:ext>
            </a:extLst>
          </p:cNvPr>
          <p:cNvCxnSpPr>
            <a:cxnSpLocks/>
            <a:stCxn id="379" idx="2"/>
            <a:endCxn id="103" idx="0"/>
          </p:cNvCxnSpPr>
          <p:nvPr/>
        </p:nvCxnSpPr>
        <p:spPr>
          <a:xfrm rot="5400000" flipH="1">
            <a:off x="13324706" y="4383683"/>
            <a:ext cx="6207266" cy="2600004"/>
          </a:xfrm>
          <a:prstGeom prst="curvedConnector5">
            <a:avLst>
              <a:gd name="adj1" fmla="val -3683"/>
              <a:gd name="adj2" fmla="val 52292"/>
              <a:gd name="adj3" fmla="val 103683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Gerade Verbindung mit Pfeil 39">
            <a:extLst>
              <a:ext uri="{FF2B5EF4-FFF2-40B4-BE49-F238E27FC236}">
                <a16:creationId xmlns:a16="http://schemas.microsoft.com/office/drawing/2014/main" id="{5A45491C-39F5-65AF-9F68-2F3D46BA3DD7}"/>
              </a:ext>
            </a:extLst>
          </p:cNvPr>
          <p:cNvCxnSpPr>
            <a:cxnSpLocks/>
          </p:cNvCxnSpPr>
          <p:nvPr/>
        </p:nvCxnSpPr>
        <p:spPr>
          <a:xfrm>
            <a:off x="3694717" y="639792"/>
            <a:ext cx="3350973" cy="253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feld 41">
            <a:extLst>
              <a:ext uri="{FF2B5EF4-FFF2-40B4-BE49-F238E27FC236}">
                <a16:creationId xmlns:a16="http://schemas.microsoft.com/office/drawing/2014/main" id="{716B9F04-740C-64F6-1517-616A01104468}"/>
              </a:ext>
            </a:extLst>
          </p:cNvPr>
          <p:cNvSpPr txBox="1"/>
          <p:nvPr/>
        </p:nvSpPr>
        <p:spPr>
          <a:xfrm>
            <a:off x="3386807" y="382559"/>
            <a:ext cx="37289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/v1/provide-alarms-for-connection {connectionId==mountPoint)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69675F5D-C5FA-D48F-6C70-AAA7B4D8177B}"/>
              </a:ext>
            </a:extLst>
          </p:cNvPr>
          <p:cNvCxnSpPr>
            <a:cxnSpLocks/>
          </p:cNvCxnSpPr>
          <p:nvPr/>
        </p:nvCxnSpPr>
        <p:spPr>
          <a:xfrm flipH="1" flipV="1">
            <a:off x="3648122" y="773550"/>
            <a:ext cx="3436697" cy="35258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feld 46">
            <a:extLst>
              <a:ext uri="{FF2B5EF4-FFF2-40B4-BE49-F238E27FC236}">
                <a16:creationId xmlns:a16="http://schemas.microsoft.com/office/drawing/2014/main" id="{69550947-F7A9-678B-EACA-8B3BDC47C42A}"/>
              </a:ext>
            </a:extLst>
          </p:cNvPr>
          <p:cNvSpPr txBox="1"/>
          <p:nvPr/>
        </p:nvSpPr>
        <p:spPr>
          <a:xfrm>
            <a:off x="3589093" y="757011"/>
            <a:ext cx="18582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/>
              <a:t>{list of currently active alarms}</a:t>
            </a:r>
          </a:p>
        </p:txBody>
      </p:sp>
      <p:cxnSp>
        <p:nvCxnSpPr>
          <p:cNvPr id="50" name="Verbinder: gekrümmt 49">
            <a:extLst>
              <a:ext uri="{FF2B5EF4-FFF2-40B4-BE49-F238E27FC236}">
                <a16:creationId xmlns:a16="http://schemas.microsoft.com/office/drawing/2014/main" id="{A85011FA-55C4-40DC-919A-E4F55495E826}"/>
              </a:ext>
            </a:extLst>
          </p:cNvPr>
          <p:cNvCxnSpPr>
            <a:cxnSpLocks/>
            <a:endCxn id="99" idx="3"/>
          </p:cNvCxnSpPr>
          <p:nvPr/>
        </p:nvCxnSpPr>
        <p:spPr>
          <a:xfrm>
            <a:off x="6246722" y="2386559"/>
            <a:ext cx="5335243" cy="1959728"/>
          </a:xfrm>
          <a:prstGeom prst="curvedConnector4">
            <a:avLst>
              <a:gd name="adj1" fmla="val 43151"/>
              <a:gd name="adj2" fmla="val 11166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feld 61">
            <a:extLst>
              <a:ext uri="{FF2B5EF4-FFF2-40B4-BE49-F238E27FC236}">
                <a16:creationId xmlns:a16="http://schemas.microsoft.com/office/drawing/2014/main" id="{A774034F-560F-7CA7-9FFD-8EE28037E4F9}"/>
              </a:ext>
            </a:extLst>
          </p:cNvPr>
          <p:cNvSpPr txBox="1"/>
          <p:nvPr/>
        </p:nvSpPr>
        <p:spPr>
          <a:xfrm rot="1675356">
            <a:off x="11129523" y="8961757"/>
            <a:ext cx="192178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600"/>
              <a:t>/v1/prepare-connection {deviceIp, deviceModel}</a:t>
            </a:r>
          </a:p>
        </p:txBody>
      </p:sp>
      <p:cxnSp>
        <p:nvCxnSpPr>
          <p:cNvPr id="450" name="Verbinder: gekrümmt 449">
            <a:extLst>
              <a:ext uri="{FF2B5EF4-FFF2-40B4-BE49-F238E27FC236}">
                <a16:creationId xmlns:a16="http://schemas.microsoft.com/office/drawing/2014/main" id="{D086A7D4-5665-79AC-2FA5-1740BF4BDEED}"/>
              </a:ext>
            </a:extLst>
          </p:cNvPr>
          <p:cNvCxnSpPr>
            <a:cxnSpLocks/>
            <a:stCxn id="163" idx="6"/>
            <a:endCxn id="99" idx="3"/>
          </p:cNvCxnSpPr>
          <p:nvPr/>
        </p:nvCxnSpPr>
        <p:spPr>
          <a:xfrm flipV="1">
            <a:off x="9388929" y="4346287"/>
            <a:ext cx="2193036" cy="6357331"/>
          </a:xfrm>
          <a:prstGeom prst="curvedConnector2">
            <a:avLst/>
          </a:prstGeom>
          <a:ln>
            <a:solidFill>
              <a:schemeClr val="accent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Scrollen: vertikal 8">
            <a:extLst>
              <a:ext uri="{FF2B5EF4-FFF2-40B4-BE49-F238E27FC236}">
                <a16:creationId xmlns:a16="http://schemas.microsoft.com/office/drawing/2014/main" id="{955A8D41-311F-F1B9-433D-B3628AEE3ECC}"/>
              </a:ext>
            </a:extLst>
          </p:cNvPr>
          <p:cNvSpPr/>
          <p:nvPr/>
        </p:nvSpPr>
        <p:spPr>
          <a:xfrm>
            <a:off x="6990854" y="266594"/>
            <a:ext cx="1560042" cy="997947"/>
          </a:xfrm>
          <a:prstGeom prst="verticalScroll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rgbClr val="FF0000"/>
                </a:solidFill>
              </a:rPr>
              <a:t>AlarmList</a:t>
            </a:r>
          </a:p>
        </p:txBody>
      </p:sp>
      <p:cxnSp>
        <p:nvCxnSpPr>
          <p:cNvPr id="20" name="Verbinder: gekrümmt 19">
            <a:extLst>
              <a:ext uri="{FF2B5EF4-FFF2-40B4-BE49-F238E27FC236}">
                <a16:creationId xmlns:a16="http://schemas.microsoft.com/office/drawing/2014/main" id="{A4174CDF-3609-292F-0516-515356C0A33C}"/>
              </a:ext>
            </a:extLst>
          </p:cNvPr>
          <p:cNvCxnSpPr>
            <a:cxnSpLocks/>
            <a:endCxn id="9" idx="2"/>
          </p:cNvCxnSpPr>
          <p:nvPr/>
        </p:nvCxnSpPr>
        <p:spPr>
          <a:xfrm rot="10800000">
            <a:off x="7770876" y="1264542"/>
            <a:ext cx="2643125" cy="524155"/>
          </a:xfrm>
          <a:prstGeom prst="curvedConnector2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feld 25">
            <a:extLst>
              <a:ext uri="{FF2B5EF4-FFF2-40B4-BE49-F238E27FC236}">
                <a16:creationId xmlns:a16="http://schemas.microsoft.com/office/drawing/2014/main" id="{6EF19788-C1A1-5463-BE47-036CBEC31C59}"/>
              </a:ext>
            </a:extLst>
          </p:cNvPr>
          <p:cNvSpPr txBox="1"/>
          <p:nvPr/>
        </p:nvSpPr>
        <p:spPr>
          <a:xfrm rot="346354">
            <a:off x="8404534" y="1468087"/>
            <a:ext cx="166973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>
              <a:defRPr sz="600"/>
            </a:lvl1pPr>
          </a:lstStyle>
          <a:p>
            <a:r>
              <a:rPr lang="de-DE"/>
              <a:t>(private) /p1/create-entry-in-alarm-list</a:t>
            </a:r>
          </a:p>
          <a:p>
            <a:r>
              <a:rPr lang="de-DE"/>
              <a:t>(private) /p1/delete-entry-in-alarm-list</a:t>
            </a:r>
          </a:p>
        </p:txBody>
      </p:sp>
      <p:pic>
        <p:nvPicPr>
          <p:cNvPr id="35" name="Grafik 34">
            <a:extLst>
              <a:ext uri="{FF2B5EF4-FFF2-40B4-BE49-F238E27FC236}">
                <a16:creationId xmlns:a16="http://schemas.microsoft.com/office/drawing/2014/main" id="{B753D5BC-06A2-E444-F342-29D4F051BB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50135" y="8328566"/>
            <a:ext cx="260088" cy="273783"/>
          </a:xfrm>
          <a:prstGeom prst="rect">
            <a:avLst/>
          </a:prstGeom>
        </p:spPr>
      </p:pic>
      <p:pic>
        <p:nvPicPr>
          <p:cNvPr id="36" name="Grafik 35">
            <a:extLst>
              <a:ext uri="{FF2B5EF4-FFF2-40B4-BE49-F238E27FC236}">
                <a16:creationId xmlns:a16="http://schemas.microsoft.com/office/drawing/2014/main" id="{76AC2175-49FB-26F5-AE98-AF5889C5BA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48316" y="7371120"/>
            <a:ext cx="260088" cy="273783"/>
          </a:xfrm>
          <a:prstGeom prst="rect">
            <a:avLst/>
          </a:prstGeom>
        </p:spPr>
      </p:pic>
      <p:sp>
        <p:nvSpPr>
          <p:cNvPr id="43" name="Rechteck 42">
            <a:extLst>
              <a:ext uri="{FF2B5EF4-FFF2-40B4-BE49-F238E27FC236}">
                <a16:creationId xmlns:a16="http://schemas.microsoft.com/office/drawing/2014/main" id="{029D838B-9268-CDDA-BB54-8E25901775DF}"/>
              </a:ext>
            </a:extLst>
          </p:cNvPr>
          <p:cNvSpPr/>
          <p:nvPr/>
        </p:nvSpPr>
        <p:spPr>
          <a:xfrm>
            <a:off x="9846410" y="168216"/>
            <a:ext cx="1934110" cy="14067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>
              <a:tabLst>
                <a:tab pos="36000" algn="l"/>
              </a:tabLst>
            </a:pPr>
            <a:r>
              <a:rPr lang="de-DE" sz="800" i="1"/>
              <a:t>TroubleShooter</a:t>
            </a:r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endParaRPr lang="de-DE" sz="800"/>
          </a:p>
          <a:p>
            <a:pPr>
              <a:tabLst>
                <a:tab pos="36000" algn="l"/>
              </a:tabLst>
            </a:pPr>
            <a:r>
              <a:rPr lang="de-DE" sz="800"/>
              <a:t>Check AlarmList for 532</a:t>
            </a:r>
          </a:p>
          <a:p>
            <a:pPr>
              <a:tabLst>
                <a:tab pos="36000" algn="l"/>
              </a:tabLst>
            </a:pPr>
            <a:r>
              <a:rPr lang="de-DE" sz="800"/>
              <a:t>IF timestamp elder that </a:t>
            </a:r>
            <a:r>
              <a:rPr lang="de-DE" sz="800" i="1"/>
              <a:t>[threshold]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trigger </a:t>
            </a:r>
            <a:r>
              <a:rPr lang="de-DE" sz="800" i="1"/>
              <a:t>NetconfConnectionBuilder</a:t>
            </a:r>
          </a:p>
          <a:p>
            <a:pPr>
              <a:tabLst>
                <a:tab pos="36000" algn="l"/>
              </a:tabLst>
            </a:pP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Check AlarmList for …</a:t>
            </a:r>
            <a:endParaRPr lang="de-DE" sz="800" i="1"/>
          </a:p>
          <a:p>
            <a:pPr>
              <a:tabLst>
                <a:tab pos="36000" algn="l"/>
              </a:tabLst>
            </a:pPr>
            <a:r>
              <a:rPr lang="de-DE" sz="800"/>
              <a:t>IF condition</a:t>
            </a:r>
          </a:p>
          <a:p>
            <a:pPr>
              <a:tabLst>
                <a:tab pos="36000" algn="l"/>
              </a:tabLst>
            </a:pPr>
            <a:r>
              <a:rPr lang="de-DE" sz="800"/>
              <a:t>THEN counter measure</a:t>
            </a:r>
          </a:p>
          <a:p>
            <a:pPr>
              <a:tabLst>
                <a:tab pos="36000" algn="l"/>
              </a:tabLst>
            </a:pPr>
            <a:r>
              <a:rPr lang="de-DE" sz="800"/>
              <a:t>….</a:t>
            </a:r>
          </a:p>
        </p:txBody>
      </p:sp>
      <p:pic>
        <p:nvPicPr>
          <p:cNvPr id="38" name="Grafik 37">
            <a:extLst>
              <a:ext uri="{FF2B5EF4-FFF2-40B4-BE49-F238E27FC236}">
                <a16:creationId xmlns:a16="http://schemas.microsoft.com/office/drawing/2014/main" id="{C6F84473-3FA6-A539-02F4-FF4E7D27D0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53195" y="274291"/>
            <a:ext cx="260088" cy="273783"/>
          </a:xfrm>
          <a:prstGeom prst="rect">
            <a:avLst/>
          </a:prstGeom>
        </p:spPr>
      </p:pic>
      <p:sp>
        <p:nvSpPr>
          <p:cNvPr id="7" name="Zylinder 6">
            <a:extLst>
              <a:ext uri="{FF2B5EF4-FFF2-40B4-BE49-F238E27FC236}">
                <a16:creationId xmlns:a16="http://schemas.microsoft.com/office/drawing/2014/main" id="{233DA69B-402B-E4F6-2560-70F2ACC22E66}"/>
              </a:ext>
            </a:extLst>
          </p:cNvPr>
          <p:cNvSpPr/>
          <p:nvPr/>
        </p:nvSpPr>
        <p:spPr>
          <a:xfrm>
            <a:off x="8771511" y="5779493"/>
            <a:ext cx="1404410" cy="1004166"/>
          </a:xfrm>
          <a:prstGeom prst="can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/>
              <a:t>TargetState</a:t>
            </a:r>
          </a:p>
        </p:txBody>
      </p:sp>
    </p:spTree>
    <p:extLst>
      <p:ext uri="{BB962C8B-B14F-4D97-AF65-F5344CB8AC3E}">
        <p14:creationId xmlns:p14="http://schemas.microsoft.com/office/powerpoint/2010/main" val="40057101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eck 1">
            <a:extLst>
              <a:ext uri="{FF2B5EF4-FFF2-40B4-BE49-F238E27FC236}">
                <a16:creationId xmlns:a16="http://schemas.microsoft.com/office/drawing/2014/main" id="{81CE0A02-15DF-2896-7C2D-5DFC349920D1}"/>
              </a:ext>
            </a:extLst>
          </p:cNvPr>
          <p:cNvSpPr/>
          <p:nvPr/>
        </p:nvSpPr>
        <p:spPr>
          <a:xfrm>
            <a:off x="2484199" y="2962497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MWDI</a:t>
            </a:r>
          </a:p>
        </p:txBody>
      </p:sp>
      <p:sp>
        <p:nvSpPr>
          <p:cNvPr id="3" name="Rechteck 2">
            <a:extLst>
              <a:ext uri="{FF2B5EF4-FFF2-40B4-BE49-F238E27FC236}">
                <a16:creationId xmlns:a16="http://schemas.microsoft.com/office/drawing/2014/main" id="{ED02D88C-763B-A543-688D-9855AF14B01D}"/>
              </a:ext>
            </a:extLst>
          </p:cNvPr>
          <p:cNvSpPr/>
          <p:nvPr/>
        </p:nvSpPr>
        <p:spPr>
          <a:xfrm>
            <a:off x="4561273" y="2457450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0E53494D-28D6-8CC5-DB54-81059DB5AF24}"/>
              </a:ext>
            </a:extLst>
          </p:cNvPr>
          <p:cNvSpPr/>
          <p:nvPr/>
        </p:nvSpPr>
        <p:spPr>
          <a:xfrm>
            <a:off x="7628638" y="2457450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7B5FF00B-970D-C50C-579A-3D10911A26F3}"/>
              </a:ext>
            </a:extLst>
          </p:cNvPr>
          <p:cNvSpPr/>
          <p:nvPr/>
        </p:nvSpPr>
        <p:spPr>
          <a:xfrm>
            <a:off x="9691868" y="2951862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C2F32273-6801-7B92-0ADB-F67B56F3C9EE}"/>
              </a:ext>
            </a:extLst>
          </p:cNvPr>
          <p:cNvSpPr/>
          <p:nvPr/>
        </p:nvSpPr>
        <p:spPr>
          <a:xfrm>
            <a:off x="412769" y="2962498"/>
            <a:ext cx="1456660" cy="1573619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APTP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FDEC8BC-6708-4B28-28CF-7724B85F5A50}"/>
              </a:ext>
            </a:extLst>
          </p:cNvPr>
          <p:cNvSpPr/>
          <p:nvPr/>
        </p:nvSpPr>
        <p:spPr>
          <a:xfrm>
            <a:off x="550441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E1F7B44D-B1EF-E324-F605-AB033E82776D}"/>
              </a:ext>
            </a:extLst>
          </p:cNvPr>
          <p:cNvSpPr/>
          <p:nvPr/>
        </p:nvSpPr>
        <p:spPr>
          <a:xfrm>
            <a:off x="550441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548790B5-A649-43AD-C98B-435B22B7ED2F}"/>
              </a:ext>
            </a:extLst>
          </p:cNvPr>
          <p:cNvSpPr/>
          <p:nvPr/>
        </p:nvSpPr>
        <p:spPr>
          <a:xfrm>
            <a:off x="550441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BCEE26EF-C86B-A733-8DD9-059A9C6EC90E}"/>
              </a:ext>
            </a:extLst>
          </p:cNvPr>
          <p:cNvSpPr/>
          <p:nvPr/>
        </p:nvSpPr>
        <p:spPr>
          <a:xfrm>
            <a:off x="1374353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1" name="Rechteck 10">
            <a:extLst>
              <a:ext uri="{FF2B5EF4-FFF2-40B4-BE49-F238E27FC236}">
                <a16:creationId xmlns:a16="http://schemas.microsoft.com/office/drawing/2014/main" id="{FA455AB2-E932-7831-EE99-F5772CDAFD0C}"/>
              </a:ext>
            </a:extLst>
          </p:cNvPr>
          <p:cNvSpPr/>
          <p:nvPr/>
        </p:nvSpPr>
        <p:spPr>
          <a:xfrm>
            <a:off x="1374353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458F33B-C712-C71E-C879-C5DC8C91BB45}"/>
              </a:ext>
            </a:extLst>
          </p:cNvPr>
          <p:cNvSpPr/>
          <p:nvPr/>
        </p:nvSpPr>
        <p:spPr>
          <a:xfrm>
            <a:off x="1374353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3" name="Rechteck 12">
            <a:extLst>
              <a:ext uri="{FF2B5EF4-FFF2-40B4-BE49-F238E27FC236}">
                <a16:creationId xmlns:a16="http://schemas.microsoft.com/office/drawing/2014/main" id="{9F329620-3C22-08E1-6786-6E43712B3898}"/>
              </a:ext>
            </a:extLst>
          </p:cNvPr>
          <p:cNvSpPr/>
          <p:nvPr/>
        </p:nvSpPr>
        <p:spPr>
          <a:xfrm>
            <a:off x="2625701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4" name="Rechteck 13">
            <a:extLst>
              <a:ext uri="{FF2B5EF4-FFF2-40B4-BE49-F238E27FC236}">
                <a16:creationId xmlns:a16="http://schemas.microsoft.com/office/drawing/2014/main" id="{8B7992BE-C036-3AB7-C814-EBBDC7FC42E0}"/>
              </a:ext>
            </a:extLst>
          </p:cNvPr>
          <p:cNvSpPr/>
          <p:nvPr/>
        </p:nvSpPr>
        <p:spPr>
          <a:xfrm>
            <a:off x="2625701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15" name="Rechteck 14">
            <a:extLst>
              <a:ext uri="{FF2B5EF4-FFF2-40B4-BE49-F238E27FC236}">
                <a16:creationId xmlns:a16="http://schemas.microsoft.com/office/drawing/2014/main" id="{8AFB896A-158F-65F5-EA28-4BC001A350A5}"/>
              </a:ext>
            </a:extLst>
          </p:cNvPr>
          <p:cNvSpPr/>
          <p:nvPr/>
        </p:nvSpPr>
        <p:spPr>
          <a:xfrm>
            <a:off x="2625701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16" name="Rechteck 15">
            <a:extLst>
              <a:ext uri="{FF2B5EF4-FFF2-40B4-BE49-F238E27FC236}">
                <a16:creationId xmlns:a16="http://schemas.microsoft.com/office/drawing/2014/main" id="{CC3E0E05-CA92-3033-4FD9-38C5421204DC}"/>
              </a:ext>
            </a:extLst>
          </p:cNvPr>
          <p:cNvSpPr/>
          <p:nvPr/>
        </p:nvSpPr>
        <p:spPr>
          <a:xfrm>
            <a:off x="3449613" y="420373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17" name="Rechteck 16">
            <a:extLst>
              <a:ext uri="{FF2B5EF4-FFF2-40B4-BE49-F238E27FC236}">
                <a16:creationId xmlns:a16="http://schemas.microsoft.com/office/drawing/2014/main" id="{6FFA3122-55DA-CD89-A397-A8CD9750B2B9}"/>
              </a:ext>
            </a:extLst>
          </p:cNvPr>
          <p:cNvSpPr/>
          <p:nvPr/>
        </p:nvSpPr>
        <p:spPr>
          <a:xfrm>
            <a:off x="3449613" y="380368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HttpC</a:t>
            </a:r>
          </a:p>
        </p:txBody>
      </p:sp>
      <p:sp>
        <p:nvSpPr>
          <p:cNvPr id="18" name="Rechteck 17">
            <a:extLst>
              <a:ext uri="{FF2B5EF4-FFF2-40B4-BE49-F238E27FC236}">
                <a16:creationId xmlns:a16="http://schemas.microsoft.com/office/drawing/2014/main" id="{3AA074D4-D1AF-7759-FA69-2B0DD4CAFC2D}"/>
              </a:ext>
            </a:extLst>
          </p:cNvPr>
          <p:cNvSpPr/>
          <p:nvPr/>
        </p:nvSpPr>
        <p:spPr>
          <a:xfrm>
            <a:off x="3449613" y="340363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OpC</a:t>
            </a:r>
          </a:p>
        </p:txBody>
      </p:sp>
      <p:sp>
        <p:nvSpPr>
          <p:cNvPr id="19" name="Rechteck 18">
            <a:extLst>
              <a:ext uri="{FF2B5EF4-FFF2-40B4-BE49-F238E27FC236}">
                <a16:creationId xmlns:a16="http://schemas.microsoft.com/office/drawing/2014/main" id="{39E2AB45-4CA3-5B9B-E66E-E425E390B46B}"/>
              </a:ext>
            </a:extLst>
          </p:cNvPr>
          <p:cNvSpPr/>
          <p:nvPr/>
        </p:nvSpPr>
        <p:spPr>
          <a:xfrm>
            <a:off x="4717042" y="421437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0" name="Rechteck 19">
            <a:extLst>
              <a:ext uri="{FF2B5EF4-FFF2-40B4-BE49-F238E27FC236}">
                <a16:creationId xmlns:a16="http://schemas.microsoft.com/office/drawing/2014/main" id="{554BD9F7-6B6B-B381-6EAD-966962D972D7}"/>
              </a:ext>
            </a:extLst>
          </p:cNvPr>
          <p:cNvSpPr/>
          <p:nvPr/>
        </p:nvSpPr>
        <p:spPr>
          <a:xfrm>
            <a:off x="4717042" y="381432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HttpS</a:t>
            </a:r>
          </a:p>
        </p:txBody>
      </p:sp>
      <p:sp>
        <p:nvSpPr>
          <p:cNvPr id="21" name="Rechteck 20">
            <a:extLst>
              <a:ext uri="{FF2B5EF4-FFF2-40B4-BE49-F238E27FC236}">
                <a16:creationId xmlns:a16="http://schemas.microsoft.com/office/drawing/2014/main" id="{FA081826-1714-5339-1A4A-A1B6EB3DD00D}"/>
              </a:ext>
            </a:extLst>
          </p:cNvPr>
          <p:cNvSpPr/>
          <p:nvPr/>
        </p:nvSpPr>
        <p:spPr>
          <a:xfrm>
            <a:off x="4717042" y="341427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OpS</a:t>
            </a:r>
          </a:p>
        </p:txBody>
      </p:sp>
      <p:sp>
        <p:nvSpPr>
          <p:cNvPr id="22" name="Rechteck 21">
            <a:extLst>
              <a:ext uri="{FF2B5EF4-FFF2-40B4-BE49-F238E27FC236}">
                <a16:creationId xmlns:a16="http://schemas.microsoft.com/office/drawing/2014/main" id="{0DF739C3-C4E3-6849-2F41-DF62CEF1A558}"/>
              </a:ext>
            </a:extLst>
          </p:cNvPr>
          <p:cNvSpPr/>
          <p:nvPr/>
        </p:nvSpPr>
        <p:spPr>
          <a:xfrm>
            <a:off x="5540954" y="421437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211DDACA-62B1-F5B0-EEC2-CD44D410F5D4}"/>
              </a:ext>
            </a:extLst>
          </p:cNvPr>
          <p:cNvSpPr/>
          <p:nvPr/>
        </p:nvSpPr>
        <p:spPr>
          <a:xfrm>
            <a:off x="5540954" y="3819304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24" name="Rechteck 23">
            <a:extLst>
              <a:ext uri="{FF2B5EF4-FFF2-40B4-BE49-F238E27FC236}">
                <a16:creationId xmlns:a16="http://schemas.microsoft.com/office/drawing/2014/main" id="{A9DA1E85-2C49-6E8A-CFDB-48FE31EBD704}"/>
              </a:ext>
            </a:extLst>
          </p:cNvPr>
          <p:cNvSpPr/>
          <p:nvPr/>
        </p:nvSpPr>
        <p:spPr>
          <a:xfrm>
            <a:off x="7789014" y="421151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5" name="Rechteck 24">
            <a:extLst>
              <a:ext uri="{FF2B5EF4-FFF2-40B4-BE49-F238E27FC236}">
                <a16:creationId xmlns:a16="http://schemas.microsoft.com/office/drawing/2014/main" id="{C143F202-5361-48B9-4F64-3AA6EF735AD8}"/>
              </a:ext>
            </a:extLst>
          </p:cNvPr>
          <p:cNvSpPr/>
          <p:nvPr/>
        </p:nvSpPr>
        <p:spPr>
          <a:xfrm>
            <a:off x="7789014" y="38164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26" name="Rechteck 25">
            <a:extLst>
              <a:ext uri="{FF2B5EF4-FFF2-40B4-BE49-F238E27FC236}">
                <a16:creationId xmlns:a16="http://schemas.microsoft.com/office/drawing/2014/main" id="{DECBD2DF-E4B2-0439-FF9C-36D68796843C}"/>
              </a:ext>
            </a:extLst>
          </p:cNvPr>
          <p:cNvSpPr/>
          <p:nvPr/>
        </p:nvSpPr>
        <p:spPr>
          <a:xfrm>
            <a:off x="8612926" y="421151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27" name="Rechteck 26">
            <a:extLst>
              <a:ext uri="{FF2B5EF4-FFF2-40B4-BE49-F238E27FC236}">
                <a16:creationId xmlns:a16="http://schemas.microsoft.com/office/drawing/2014/main" id="{8C9B7C70-2BAF-3E76-BCAB-1FCC7BE517E5}"/>
              </a:ext>
            </a:extLst>
          </p:cNvPr>
          <p:cNvSpPr/>
          <p:nvPr/>
        </p:nvSpPr>
        <p:spPr>
          <a:xfrm>
            <a:off x="8612926" y="381644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28" name="Rechteck 27">
            <a:extLst>
              <a:ext uri="{FF2B5EF4-FFF2-40B4-BE49-F238E27FC236}">
                <a16:creationId xmlns:a16="http://schemas.microsoft.com/office/drawing/2014/main" id="{6A0BA429-EEC5-F81D-6AA8-80B5299E7BE5}"/>
              </a:ext>
            </a:extLst>
          </p:cNvPr>
          <p:cNvSpPr/>
          <p:nvPr/>
        </p:nvSpPr>
        <p:spPr>
          <a:xfrm>
            <a:off x="9868551" y="420088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29" name="Rechteck 28">
            <a:extLst>
              <a:ext uri="{FF2B5EF4-FFF2-40B4-BE49-F238E27FC236}">
                <a16:creationId xmlns:a16="http://schemas.microsoft.com/office/drawing/2014/main" id="{F30D131E-4A61-2933-7E0D-0D59F14C99BA}"/>
              </a:ext>
            </a:extLst>
          </p:cNvPr>
          <p:cNvSpPr/>
          <p:nvPr/>
        </p:nvSpPr>
        <p:spPr>
          <a:xfrm>
            <a:off x="9868551" y="380581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30" name="Rechteck 29">
            <a:extLst>
              <a:ext uri="{FF2B5EF4-FFF2-40B4-BE49-F238E27FC236}">
                <a16:creationId xmlns:a16="http://schemas.microsoft.com/office/drawing/2014/main" id="{23616450-B93D-DEBD-7CE3-CD7A817B8078}"/>
              </a:ext>
            </a:extLst>
          </p:cNvPr>
          <p:cNvSpPr/>
          <p:nvPr/>
        </p:nvSpPr>
        <p:spPr>
          <a:xfrm>
            <a:off x="11063711" y="513339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31" name="Rechteck 30">
            <a:extLst>
              <a:ext uri="{FF2B5EF4-FFF2-40B4-BE49-F238E27FC236}">
                <a16:creationId xmlns:a16="http://schemas.microsoft.com/office/drawing/2014/main" id="{2B2B469F-780C-7B6E-97F6-89C3641EDBC9}"/>
              </a:ext>
            </a:extLst>
          </p:cNvPr>
          <p:cNvSpPr/>
          <p:nvPr/>
        </p:nvSpPr>
        <p:spPr>
          <a:xfrm>
            <a:off x="11063711" y="473334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32" name="Rechteck 31">
            <a:extLst>
              <a:ext uri="{FF2B5EF4-FFF2-40B4-BE49-F238E27FC236}">
                <a16:creationId xmlns:a16="http://schemas.microsoft.com/office/drawing/2014/main" id="{B66A4ECD-0416-DEC7-F62C-900B4B28A617}"/>
              </a:ext>
            </a:extLst>
          </p:cNvPr>
          <p:cNvSpPr/>
          <p:nvPr/>
        </p:nvSpPr>
        <p:spPr>
          <a:xfrm>
            <a:off x="11063711" y="433329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33" name="Rechteck 32">
            <a:extLst>
              <a:ext uri="{FF2B5EF4-FFF2-40B4-BE49-F238E27FC236}">
                <a16:creationId xmlns:a16="http://schemas.microsoft.com/office/drawing/2014/main" id="{FB164F71-093D-4EAD-77A0-7D44E762E72F}"/>
              </a:ext>
            </a:extLst>
          </p:cNvPr>
          <p:cNvSpPr/>
          <p:nvPr/>
        </p:nvSpPr>
        <p:spPr>
          <a:xfrm>
            <a:off x="11063710" y="353319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34" name="Rechteck 33">
            <a:extLst>
              <a:ext uri="{FF2B5EF4-FFF2-40B4-BE49-F238E27FC236}">
                <a16:creationId xmlns:a16="http://schemas.microsoft.com/office/drawing/2014/main" id="{8A5166CA-90F8-FF86-8D3C-A9D517E4F906}"/>
              </a:ext>
            </a:extLst>
          </p:cNvPr>
          <p:cNvSpPr/>
          <p:nvPr/>
        </p:nvSpPr>
        <p:spPr>
          <a:xfrm>
            <a:off x="11063711" y="393324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35" name="Gerader Verbinder 34">
            <a:extLst>
              <a:ext uri="{FF2B5EF4-FFF2-40B4-BE49-F238E27FC236}">
                <a16:creationId xmlns:a16="http://schemas.microsoft.com/office/drawing/2014/main" id="{8122B215-EF92-DC6C-4D34-A3840F4E37F7}"/>
              </a:ext>
            </a:extLst>
          </p:cNvPr>
          <p:cNvCxnSpPr>
            <a:cxnSpLocks/>
          </p:cNvCxnSpPr>
          <p:nvPr/>
        </p:nvCxnSpPr>
        <p:spPr>
          <a:xfrm flipV="1">
            <a:off x="9691868" y="2962496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" name="Gruppieren 35">
            <a:extLst>
              <a:ext uri="{FF2B5EF4-FFF2-40B4-BE49-F238E27FC236}">
                <a16:creationId xmlns:a16="http://schemas.microsoft.com/office/drawing/2014/main" id="{B0A7E131-9A2D-FE2E-8F00-AC5963385B56}"/>
              </a:ext>
            </a:extLst>
          </p:cNvPr>
          <p:cNvGrpSpPr/>
          <p:nvPr/>
        </p:nvGrpSpPr>
        <p:grpSpPr>
          <a:xfrm rot="5400000">
            <a:off x="8288099" y="2473198"/>
            <a:ext cx="338137" cy="998176"/>
            <a:chOff x="7267925" y="3123310"/>
            <a:chExt cx="338137" cy="998176"/>
          </a:xfrm>
        </p:grpSpPr>
        <p:sp>
          <p:nvSpPr>
            <p:cNvPr id="37" name="Rechteck 36">
              <a:extLst>
                <a:ext uri="{FF2B5EF4-FFF2-40B4-BE49-F238E27FC236}">
                  <a16:creationId xmlns:a16="http://schemas.microsoft.com/office/drawing/2014/main" id="{E40F123A-7D28-DAF0-30FD-0C20E4BD610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38" name="Rechteck 37">
              <a:extLst>
                <a:ext uri="{FF2B5EF4-FFF2-40B4-BE49-F238E27FC236}">
                  <a16:creationId xmlns:a16="http://schemas.microsoft.com/office/drawing/2014/main" id="{79339DC1-FB69-E4B3-2427-B0D9C1C3D60C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39" name="Rechteck 38">
              <a:extLst>
                <a:ext uri="{FF2B5EF4-FFF2-40B4-BE49-F238E27FC236}">
                  <a16:creationId xmlns:a16="http://schemas.microsoft.com/office/drawing/2014/main" id="{A4C1EB5C-FBB1-A635-2577-1FDD4BB6C88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40" name="Gerader Verbinder 39">
            <a:extLst>
              <a:ext uri="{FF2B5EF4-FFF2-40B4-BE49-F238E27FC236}">
                <a16:creationId xmlns:a16="http://schemas.microsoft.com/office/drawing/2014/main" id="{68B5C107-E8B1-674E-0899-FA1D44E24ED9}"/>
              </a:ext>
            </a:extLst>
          </p:cNvPr>
          <p:cNvCxnSpPr>
            <a:cxnSpLocks/>
          </p:cNvCxnSpPr>
          <p:nvPr/>
        </p:nvCxnSpPr>
        <p:spPr>
          <a:xfrm>
            <a:off x="7622232" y="329776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hteck 40">
            <a:extLst>
              <a:ext uri="{FF2B5EF4-FFF2-40B4-BE49-F238E27FC236}">
                <a16:creationId xmlns:a16="http://schemas.microsoft.com/office/drawing/2014/main" id="{7A2DB98D-C693-6ABF-3F91-DC76D3BBE6EB}"/>
              </a:ext>
            </a:extLst>
          </p:cNvPr>
          <p:cNvSpPr/>
          <p:nvPr/>
        </p:nvSpPr>
        <p:spPr>
          <a:xfrm>
            <a:off x="7622233" y="23812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42" name="Gruppieren 41">
            <a:extLst>
              <a:ext uri="{FF2B5EF4-FFF2-40B4-BE49-F238E27FC236}">
                <a16:creationId xmlns:a16="http://schemas.microsoft.com/office/drawing/2014/main" id="{EA305853-A808-AB18-03A6-51C5387C71C7}"/>
              </a:ext>
            </a:extLst>
          </p:cNvPr>
          <p:cNvGrpSpPr/>
          <p:nvPr/>
        </p:nvGrpSpPr>
        <p:grpSpPr>
          <a:xfrm rot="5400000">
            <a:off x="7876144" y="659768"/>
            <a:ext cx="1162049" cy="998176"/>
            <a:chOff x="7115461" y="1735493"/>
            <a:chExt cx="1162049" cy="998176"/>
          </a:xfrm>
        </p:grpSpPr>
        <p:sp>
          <p:nvSpPr>
            <p:cNvPr id="43" name="Rechteck 42">
              <a:extLst>
                <a:ext uri="{FF2B5EF4-FFF2-40B4-BE49-F238E27FC236}">
                  <a16:creationId xmlns:a16="http://schemas.microsoft.com/office/drawing/2014/main" id="{7608F1F3-2180-5F13-7FFA-83A74EB34A0F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44" name="Rechteck 43">
              <a:extLst>
                <a:ext uri="{FF2B5EF4-FFF2-40B4-BE49-F238E27FC236}">
                  <a16:creationId xmlns:a16="http://schemas.microsoft.com/office/drawing/2014/main" id="{7AB24ABE-364B-F6B4-0452-33DF8DC753D4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45" name="Rechteck 44">
              <a:extLst>
                <a:ext uri="{FF2B5EF4-FFF2-40B4-BE49-F238E27FC236}">
                  <a16:creationId xmlns:a16="http://schemas.microsoft.com/office/drawing/2014/main" id="{527DA6FE-EEDD-B9E3-03DD-74D221727344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46" name="Rechteck 45">
              <a:extLst>
                <a:ext uri="{FF2B5EF4-FFF2-40B4-BE49-F238E27FC236}">
                  <a16:creationId xmlns:a16="http://schemas.microsoft.com/office/drawing/2014/main" id="{ABB2D503-B665-D77A-B86F-14E059956922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47" name="Rechteck 46">
              <a:extLst>
                <a:ext uri="{FF2B5EF4-FFF2-40B4-BE49-F238E27FC236}">
                  <a16:creationId xmlns:a16="http://schemas.microsoft.com/office/drawing/2014/main" id="{83CC7ED1-F16A-1896-62C7-D546E44B5B0B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48" name="Rechteck 47">
              <a:extLst>
                <a:ext uri="{FF2B5EF4-FFF2-40B4-BE49-F238E27FC236}">
                  <a16:creationId xmlns:a16="http://schemas.microsoft.com/office/drawing/2014/main" id="{13475550-2889-2F91-C960-D3DCA7DF8427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sp>
        <p:nvSpPr>
          <p:cNvPr id="49" name="Rechteck 48">
            <a:extLst>
              <a:ext uri="{FF2B5EF4-FFF2-40B4-BE49-F238E27FC236}">
                <a16:creationId xmlns:a16="http://schemas.microsoft.com/office/drawing/2014/main" id="{06710257-94F2-6744-5C46-384800311A00}"/>
              </a:ext>
            </a:extLst>
          </p:cNvPr>
          <p:cNvSpPr/>
          <p:nvPr/>
        </p:nvSpPr>
        <p:spPr>
          <a:xfrm>
            <a:off x="4557012" y="238125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RCM</a:t>
            </a:r>
          </a:p>
        </p:txBody>
      </p:sp>
      <p:grpSp>
        <p:nvGrpSpPr>
          <p:cNvPr id="50" name="Gruppieren 49">
            <a:extLst>
              <a:ext uri="{FF2B5EF4-FFF2-40B4-BE49-F238E27FC236}">
                <a16:creationId xmlns:a16="http://schemas.microsoft.com/office/drawing/2014/main" id="{3BECA846-CE12-388B-D0A3-7DCF9503D532}"/>
              </a:ext>
            </a:extLst>
          </p:cNvPr>
          <p:cNvGrpSpPr/>
          <p:nvPr/>
        </p:nvGrpSpPr>
        <p:grpSpPr>
          <a:xfrm rot="5400000">
            <a:off x="4810923" y="659768"/>
            <a:ext cx="1162049" cy="998176"/>
            <a:chOff x="7115461" y="1735493"/>
            <a:chExt cx="1162049" cy="998176"/>
          </a:xfrm>
        </p:grpSpPr>
        <p:sp>
          <p:nvSpPr>
            <p:cNvPr id="51" name="Rechteck 50">
              <a:extLst>
                <a:ext uri="{FF2B5EF4-FFF2-40B4-BE49-F238E27FC236}">
                  <a16:creationId xmlns:a16="http://schemas.microsoft.com/office/drawing/2014/main" id="{00C418EB-45BB-672B-9C17-4AA42BF9B100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2" name="Rechteck 51">
              <a:extLst>
                <a:ext uri="{FF2B5EF4-FFF2-40B4-BE49-F238E27FC236}">
                  <a16:creationId xmlns:a16="http://schemas.microsoft.com/office/drawing/2014/main" id="{44340858-3359-78BC-0881-DF3CF6C4CE35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53" name="Rechteck 52">
              <a:extLst>
                <a:ext uri="{FF2B5EF4-FFF2-40B4-BE49-F238E27FC236}">
                  <a16:creationId xmlns:a16="http://schemas.microsoft.com/office/drawing/2014/main" id="{9E2D812D-5420-32CE-48A0-1AE6BF2A7BF5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54" name="Rechteck 53">
              <a:extLst>
                <a:ext uri="{FF2B5EF4-FFF2-40B4-BE49-F238E27FC236}">
                  <a16:creationId xmlns:a16="http://schemas.microsoft.com/office/drawing/2014/main" id="{4E017906-1474-ACF0-D4F3-A464FE7CBFFF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55" name="Rechteck 54">
              <a:extLst>
                <a:ext uri="{FF2B5EF4-FFF2-40B4-BE49-F238E27FC236}">
                  <a16:creationId xmlns:a16="http://schemas.microsoft.com/office/drawing/2014/main" id="{956CD8D0-9882-9742-5B49-B264ABEE6072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56" name="Rechteck 55">
              <a:extLst>
                <a:ext uri="{FF2B5EF4-FFF2-40B4-BE49-F238E27FC236}">
                  <a16:creationId xmlns:a16="http://schemas.microsoft.com/office/drawing/2014/main" id="{63481912-FA6A-F7F7-3828-E9E8B8381C8B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grpSp>
        <p:nvGrpSpPr>
          <p:cNvPr id="57" name="Gruppieren 56">
            <a:extLst>
              <a:ext uri="{FF2B5EF4-FFF2-40B4-BE49-F238E27FC236}">
                <a16:creationId xmlns:a16="http://schemas.microsoft.com/office/drawing/2014/main" id="{4ACE194F-09C5-4337-ABFD-DFEF72FE57AD}"/>
              </a:ext>
            </a:extLst>
          </p:cNvPr>
          <p:cNvGrpSpPr/>
          <p:nvPr/>
        </p:nvGrpSpPr>
        <p:grpSpPr>
          <a:xfrm rot="5400000">
            <a:off x="5232206" y="2473198"/>
            <a:ext cx="338137" cy="998176"/>
            <a:chOff x="7267925" y="3123310"/>
            <a:chExt cx="338137" cy="998176"/>
          </a:xfrm>
        </p:grpSpPr>
        <p:sp>
          <p:nvSpPr>
            <p:cNvPr id="58" name="Rechteck 57">
              <a:extLst>
                <a:ext uri="{FF2B5EF4-FFF2-40B4-BE49-F238E27FC236}">
                  <a16:creationId xmlns:a16="http://schemas.microsoft.com/office/drawing/2014/main" id="{86CF74E5-92A2-B2B4-84F2-A08711CE4576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59" name="Rechteck 58">
              <a:extLst>
                <a:ext uri="{FF2B5EF4-FFF2-40B4-BE49-F238E27FC236}">
                  <a16:creationId xmlns:a16="http://schemas.microsoft.com/office/drawing/2014/main" id="{E723D154-0D75-5EA9-8CF6-4EE379C46676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60" name="Rechteck 59">
              <a:extLst>
                <a:ext uri="{FF2B5EF4-FFF2-40B4-BE49-F238E27FC236}">
                  <a16:creationId xmlns:a16="http://schemas.microsoft.com/office/drawing/2014/main" id="{E5206EBD-D24E-28B5-568B-CB2C238F2C77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3F94A723-31E5-282A-5981-B162DED911D4}"/>
              </a:ext>
            </a:extLst>
          </p:cNvPr>
          <p:cNvCxnSpPr>
            <a:cxnSpLocks/>
          </p:cNvCxnSpPr>
          <p:nvPr/>
        </p:nvCxnSpPr>
        <p:spPr>
          <a:xfrm>
            <a:off x="4566339" y="3297765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5346B5A3-4EA9-8FBD-0F76-B4EDA3A628C9}"/>
              </a:ext>
            </a:extLst>
          </p:cNvPr>
          <p:cNvCxnSpPr>
            <a:stCxn id="9" idx="3"/>
            <a:endCxn id="12" idx="1"/>
          </p:cNvCxnSpPr>
          <p:nvPr/>
        </p:nvCxnSpPr>
        <p:spPr>
          <a:xfrm>
            <a:off x="888578" y="3502674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3308A1E7-F373-EE81-70DD-D860FE975724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1712490" y="3502674"/>
            <a:ext cx="913211" cy="1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4" name="Gerader Verbinder 63">
            <a:extLst>
              <a:ext uri="{FF2B5EF4-FFF2-40B4-BE49-F238E27FC236}">
                <a16:creationId xmlns:a16="http://schemas.microsoft.com/office/drawing/2014/main" id="{143B4FB2-12F8-7173-BA6F-335B26BFEBB3}"/>
              </a:ext>
            </a:extLst>
          </p:cNvPr>
          <p:cNvCxnSpPr>
            <a:cxnSpLocks/>
            <a:stCxn id="15" idx="3"/>
            <a:endCxn id="18" idx="1"/>
          </p:cNvCxnSpPr>
          <p:nvPr/>
        </p:nvCxnSpPr>
        <p:spPr>
          <a:xfrm>
            <a:off x="2963838" y="3502674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5" name="Gerader Verbinder 64">
            <a:extLst>
              <a:ext uri="{FF2B5EF4-FFF2-40B4-BE49-F238E27FC236}">
                <a16:creationId xmlns:a16="http://schemas.microsoft.com/office/drawing/2014/main" id="{19F5DEDC-F153-BEBB-1F1E-00186D344CDB}"/>
              </a:ext>
            </a:extLst>
          </p:cNvPr>
          <p:cNvCxnSpPr>
            <a:cxnSpLocks/>
            <a:stCxn id="18" idx="3"/>
            <a:endCxn id="21" idx="1"/>
          </p:cNvCxnSpPr>
          <p:nvPr/>
        </p:nvCxnSpPr>
        <p:spPr>
          <a:xfrm>
            <a:off x="3787749" y="3502675"/>
            <a:ext cx="929292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6" name="Gerader Verbinder 65">
            <a:extLst>
              <a:ext uri="{FF2B5EF4-FFF2-40B4-BE49-F238E27FC236}">
                <a16:creationId xmlns:a16="http://schemas.microsoft.com/office/drawing/2014/main" id="{2D93BD7A-37AB-F0E8-43D9-8825215C9245}"/>
              </a:ext>
            </a:extLst>
          </p:cNvPr>
          <p:cNvCxnSpPr>
            <a:cxnSpLocks/>
            <a:stCxn id="23" idx="3"/>
            <a:endCxn id="25" idx="1"/>
          </p:cNvCxnSpPr>
          <p:nvPr/>
        </p:nvCxnSpPr>
        <p:spPr>
          <a:xfrm flipV="1">
            <a:off x="5879091" y="3915483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7" name="Gerader Verbinder 66">
            <a:extLst>
              <a:ext uri="{FF2B5EF4-FFF2-40B4-BE49-F238E27FC236}">
                <a16:creationId xmlns:a16="http://schemas.microsoft.com/office/drawing/2014/main" id="{A56D196D-AE0B-D035-092B-4260E960363F}"/>
              </a:ext>
            </a:extLst>
          </p:cNvPr>
          <p:cNvCxnSpPr>
            <a:cxnSpLocks/>
            <a:stCxn id="27" idx="1"/>
            <a:endCxn id="25" idx="3"/>
          </p:cNvCxnSpPr>
          <p:nvPr/>
        </p:nvCxnSpPr>
        <p:spPr>
          <a:xfrm flipH="1">
            <a:off x="8127151" y="3915482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8" name="Gerader Verbinder 67">
            <a:extLst>
              <a:ext uri="{FF2B5EF4-FFF2-40B4-BE49-F238E27FC236}">
                <a16:creationId xmlns:a16="http://schemas.microsoft.com/office/drawing/2014/main" id="{12924405-E882-9CBE-75FE-D41CF011EFBE}"/>
              </a:ext>
            </a:extLst>
          </p:cNvPr>
          <p:cNvCxnSpPr>
            <a:cxnSpLocks/>
            <a:stCxn id="29" idx="1"/>
            <a:endCxn id="27" idx="3"/>
          </p:cNvCxnSpPr>
          <p:nvPr/>
        </p:nvCxnSpPr>
        <p:spPr>
          <a:xfrm flipH="1">
            <a:off x="8951062" y="3904850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69" name="Gerader Verbinder 68">
            <a:extLst>
              <a:ext uri="{FF2B5EF4-FFF2-40B4-BE49-F238E27FC236}">
                <a16:creationId xmlns:a16="http://schemas.microsoft.com/office/drawing/2014/main" id="{8FCD2C10-717C-88E6-AFC8-560DB1181A3E}"/>
              </a:ext>
            </a:extLst>
          </p:cNvPr>
          <p:cNvCxnSpPr>
            <a:cxnSpLocks/>
            <a:stCxn id="53" idx="3"/>
            <a:endCxn id="56" idx="1"/>
          </p:cNvCxnSpPr>
          <p:nvPr/>
        </p:nvCxnSpPr>
        <p:spPr>
          <a:xfrm>
            <a:off x="5791998" y="915970"/>
            <a:ext cx="0" cy="485775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0" name="Gerader Verbinder 69">
            <a:extLst>
              <a:ext uri="{FF2B5EF4-FFF2-40B4-BE49-F238E27FC236}">
                <a16:creationId xmlns:a16="http://schemas.microsoft.com/office/drawing/2014/main" id="{62CC069B-5286-1DF7-37DC-08C2EE30445C}"/>
              </a:ext>
            </a:extLst>
          </p:cNvPr>
          <p:cNvCxnSpPr>
            <a:cxnSpLocks/>
            <a:stCxn id="56" idx="3"/>
            <a:endCxn id="60" idx="1"/>
          </p:cNvCxnSpPr>
          <p:nvPr/>
        </p:nvCxnSpPr>
        <p:spPr>
          <a:xfrm>
            <a:off x="5791999" y="1739882"/>
            <a:ext cx="9327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1" name="Gerader Verbinder 70">
            <a:extLst>
              <a:ext uri="{FF2B5EF4-FFF2-40B4-BE49-F238E27FC236}">
                <a16:creationId xmlns:a16="http://schemas.microsoft.com/office/drawing/2014/main" id="{BD8A7BEC-DB33-B090-03AB-F516A5AE0094}"/>
              </a:ext>
            </a:extLst>
          </p:cNvPr>
          <p:cNvCxnSpPr>
            <a:cxnSpLocks/>
            <a:stCxn id="45" idx="3"/>
          </p:cNvCxnSpPr>
          <p:nvPr/>
        </p:nvCxnSpPr>
        <p:spPr>
          <a:xfrm flipH="1">
            <a:off x="8857219" y="915969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72" name="Gerader Verbinder 71">
            <a:extLst>
              <a:ext uri="{FF2B5EF4-FFF2-40B4-BE49-F238E27FC236}">
                <a16:creationId xmlns:a16="http://schemas.microsoft.com/office/drawing/2014/main" id="{EFEA5A29-2F76-9B94-1657-646671B4A389}"/>
              </a:ext>
            </a:extLst>
          </p:cNvPr>
          <p:cNvCxnSpPr>
            <a:cxnSpLocks/>
            <a:stCxn id="48" idx="3"/>
            <a:endCxn id="39" idx="1"/>
          </p:cNvCxnSpPr>
          <p:nvPr/>
        </p:nvCxnSpPr>
        <p:spPr>
          <a:xfrm flipH="1">
            <a:off x="8857219" y="1739882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74" name="Rechteck 73">
            <a:extLst>
              <a:ext uri="{FF2B5EF4-FFF2-40B4-BE49-F238E27FC236}">
                <a16:creationId xmlns:a16="http://schemas.microsoft.com/office/drawing/2014/main" id="{141BEA37-B8B7-2E75-E808-6581631CC6D3}"/>
              </a:ext>
            </a:extLst>
          </p:cNvPr>
          <p:cNvSpPr/>
          <p:nvPr/>
        </p:nvSpPr>
        <p:spPr>
          <a:xfrm>
            <a:off x="4561273" y="8654863"/>
            <a:ext cx="1456660" cy="2078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Controller</a:t>
            </a:r>
          </a:p>
        </p:txBody>
      </p:sp>
      <p:sp>
        <p:nvSpPr>
          <p:cNvPr id="75" name="Rechteck 74">
            <a:extLst>
              <a:ext uri="{FF2B5EF4-FFF2-40B4-BE49-F238E27FC236}">
                <a16:creationId xmlns:a16="http://schemas.microsoft.com/office/drawing/2014/main" id="{6E4F015F-7EB0-1731-7016-76835118A137}"/>
              </a:ext>
            </a:extLst>
          </p:cNvPr>
          <p:cNvSpPr/>
          <p:nvPr/>
        </p:nvSpPr>
        <p:spPr>
          <a:xfrm>
            <a:off x="7628638" y="8654863"/>
            <a:ext cx="1458000" cy="2078664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MediatorInstanceManager</a:t>
            </a: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endParaRPr lang="de-DE" sz="800">
              <a:solidFill>
                <a:schemeClr val="accent6">
                  <a:lumMod val="75000"/>
                </a:schemeClr>
              </a:solidFill>
            </a:endParaRPr>
          </a:p>
          <a:p>
            <a:r>
              <a:rPr lang="de-DE" sz="800">
                <a:solidFill>
                  <a:schemeClr val="accent6">
                    <a:lumMod val="75000"/>
                  </a:schemeClr>
                </a:solidFill>
              </a:rPr>
              <a:t>mediatorProcesses</a:t>
            </a:r>
          </a:p>
        </p:txBody>
      </p:sp>
      <p:sp>
        <p:nvSpPr>
          <p:cNvPr id="76" name="Rechteck 75">
            <a:extLst>
              <a:ext uri="{FF2B5EF4-FFF2-40B4-BE49-F238E27FC236}">
                <a16:creationId xmlns:a16="http://schemas.microsoft.com/office/drawing/2014/main" id="{EFCEA3C8-B645-BF8C-2685-7FE19E5CE4FC}"/>
              </a:ext>
            </a:extLst>
          </p:cNvPr>
          <p:cNvSpPr/>
          <p:nvPr/>
        </p:nvSpPr>
        <p:spPr>
          <a:xfrm>
            <a:off x="9691868" y="9149275"/>
            <a:ext cx="1899264" cy="253068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Device</a:t>
            </a:r>
          </a:p>
        </p:txBody>
      </p:sp>
      <p:sp>
        <p:nvSpPr>
          <p:cNvPr id="93" name="Rechteck 92">
            <a:extLst>
              <a:ext uri="{FF2B5EF4-FFF2-40B4-BE49-F238E27FC236}">
                <a16:creationId xmlns:a16="http://schemas.microsoft.com/office/drawing/2014/main" id="{34F69CE8-ED93-F830-873A-7C13AB12A20A}"/>
              </a:ext>
            </a:extLst>
          </p:cNvPr>
          <p:cNvSpPr/>
          <p:nvPr/>
        </p:nvSpPr>
        <p:spPr>
          <a:xfrm>
            <a:off x="5540954" y="1041178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4" name="Rechteck 93">
            <a:extLst>
              <a:ext uri="{FF2B5EF4-FFF2-40B4-BE49-F238E27FC236}">
                <a16:creationId xmlns:a16="http://schemas.microsoft.com/office/drawing/2014/main" id="{6DD63BA9-847D-1A2D-1C9A-FCA0DCF233B5}"/>
              </a:ext>
            </a:extLst>
          </p:cNvPr>
          <p:cNvSpPr/>
          <p:nvPr/>
        </p:nvSpPr>
        <p:spPr>
          <a:xfrm>
            <a:off x="5540954" y="10016717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NetC</a:t>
            </a:r>
          </a:p>
        </p:txBody>
      </p:sp>
      <p:sp>
        <p:nvSpPr>
          <p:cNvPr id="95" name="Rechteck 94">
            <a:extLst>
              <a:ext uri="{FF2B5EF4-FFF2-40B4-BE49-F238E27FC236}">
                <a16:creationId xmlns:a16="http://schemas.microsoft.com/office/drawing/2014/main" id="{0D437FAF-B507-C6CF-3948-A29EC8AF3A7B}"/>
              </a:ext>
            </a:extLst>
          </p:cNvPr>
          <p:cNvSpPr/>
          <p:nvPr/>
        </p:nvSpPr>
        <p:spPr>
          <a:xfrm>
            <a:off x="7789014" y="1040892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96" name="Rechteck 95">
            <a:extLst>
              <a:ext uri="{FF2B5EF4-FFF2-40B4-BE49-F238E27FC236}">
                <a16:creationId xmlns:a16="http://schemas.microsoft.com/office/drawing/2014/main" id="{DC5A0C8A-D84F-A1BA-1C7B-F23ABA66D30B}"/>
              </a:ext>
            </a:extLst>
          </p:cNvPr>
          <p:cNvSpPr/>
          <p:nvPr/>
        </p:nvSpPr>
        <p:spPr>
          <a:xfrm>
            <a:off x="7789014" y="100138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NetS</a:t>
            </a:r>
          </a:p>
        </p:txBody>
      </p:sp>
      <p:sp>
        <p:nvSpPr>
          <p:cNvPr id="97" name="Rechteck 96">
            <a:extLst>
              <a:ext uri="{FF2B5EF4-FFF2-40B4-BE49-F238E27FC236}">
                <a16:creationId xmlns:a16="http://schemas.microsoft.com/office/drawing/2014/main" id="{C241DCC7-AAFF-3170-D434-F618D8A5DBD9}"/>
              </a:ext>
            </a:extLst>
          </p:cNvPr>
          <p:cNvSpPr/>
          <p:nvPr/>
        </p:nvSpPr>
        <p:spPr>
          <a:xfrm>
            <a:off x="8612926" y="10408926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TcpC</a:t>
            </a:r>
          </a:p>
        </p:txBody>
      </p:sp>
      <p:sp>
        <p:nvSpPr>
          <p:cNvPr id="98" name="Rechteck 97">
            <a:extLst>
              <a:ext uri="{FF2B5EF4-FFF2-40B4-BE49-F238E27FC236}">
                <a16:creationId xmlns:a16="http://schemas.microsoft.com/office/drawing/2014/main" id="{71ABFB95-8A94-31E5-3C83-3B14E2E5CDFD}"/>
              </a:ext>
            </a:extLst>
          </p:cNvPr>
          <p:cNvSpPr/>
          <p:nvPr/>
        </p:nvSpPr>
        <p:spPr>
          <a:xfrm>
            <a:off x="8612926" y="1001385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SnmpC</a:t>
            </a:r>
          </a:p>
        </p:txBody>
      </p:sp>
      <p:sp>
        <p:nvSpPr>
          <p:cNvPr id="99" name="Rechteck 98">
            <a:extLst>
              <a:ext uri="{FF2B5EF4-FFF2-40B4-BE49-F238E27FC236}">
                <a16:creationId xmlns:a16="http://schemas.microsoft.com/office/drawing/2014/main" id="{341C7B94-7B76-8229-4A2A-8134880B4926}"/>
              </a:ext>
            </a:extLst>
          </p:cNvPr>
          <p:cNvSpPr/>
          <p:nvPr/>
        </p:nvSpPr>
        <p:spPr>
          <a:xfrm>
            <a:off x="9868551" y="10398293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TcpS</a:t>
            </a:r>
          </a:p>
        </p:txBody>
      </p:sp>
      <p:sp>
        <p:nvSpPr>
          <p:cNvPr id="100" name="Rechteck 99">
            <a:extLst>
              <a:ext uri="{FF2B5EF4-FFF2-40B4-BE49-F238E27FC236}">
                <a16:creationId xmlns:a16="http://schemas.microsoft.com/office/drawing/2014/main" id="{0A6D84C4-1B1A-112F-0A67-A4735734FABF}"/>
              </a:ext>
            </a:extLst>
          </p:cNvPr>
          <p:cNvSpPr/>
          <p:nvPr/>
        </p:nvSpPr>
        <p:spPr>
          <a:xfrm>
            <a:off x="9868551" y="10003225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SnmpS</a:t>
            </a:r>
          </a:p>
        </p:txBody>
      </p:sp>
      <p:sp>
        <p:nvSpPr>
          <p:cNvPr id="101" name="Rechteck 100">
            <a:extLst>
              <a:ext uri="{FF2B5EF4-FFF2-40B4-BE49-F238E27FC236}">
                <a16:creationId xmlns:a16="http://schemas.microsoft.com/office/drawing/2014/main" id="{C1E45473-8297-A262-FFF9-E3B2B67A4F62}"/>
              </a:ext>
            </a:extLst>
          </p:cNvPr>
          <p:cNvSpPr/>
          <p:nvPr/>
        </p:nvSpPr>
        <p:spPr>
          <a:xfrm>
            <a:off x="11063711" y="11330812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AirI</a:t>
            </a:r>
          </a:p>
        </p:txBody>
      </p:sp>
      <p:sp>
        <p:nvSpPr>
          <p:cNvPr id="102" name="Rechteck 101">
            <a:extLst>
              <a:ext uri="{FF2B5EF4-FFF2-40B4-BE49-F238E27FC236}">
                <a16:creationId xmlns:a16="http://schemas.microsoft.com/office/drawing/2014/main" id="{87150E2D-EB67-7B24-E6A5-676B80CE5251}"/>
              </a:ext>
            </a:extLst>
          </p:cNvPr>
          <p:cNvSpPr/>
          <p:nvPr/>
        </p:nvSpPr>
        <p:spPr>
          <a:xfrm>
            <a:off x="11063711" y="10930761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PES</a:t>
            </a:r>
          </a:p>
        </p:txBody>
      </p:sp>
      <p:sp>
        <p:nvSpPr>
          <p:cNvPr id="103" name="Rechteck 102">
            <a:extLst>
              <a:ext uri="{FF2B5EF4-FFF2-40B4-BE49-F238E27FC236}">
                <a16:creationId xmlns:a16="http://schemas.microsoft.com/office/drawing/2014/main" id="{10AB6DFB-5CF2-D1E7-689E-3AA368C49408}"/>
              </a:ext>
            </a:extLst>
          </p:cNvPr>
          <p:cNvSpPr/>
          <p:nvPr/>
        </p:nvSpPr>
        <p:spPr>
          <a:xfrm>
            <a:off x="11063711" y="10530710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EC</a:t>
            </a:r>
          </a:p>
        </p:txBody>
      </p:sp>
      <p:sp>
        <p:nvSpPr>
          <p:cNvPr id="104" name="Rechteck 103">
            <a:extLst>
              <a:ext uri="{FF2B5EF4-FFF2-40B4-BE49-F238E27FC236}">
                <a16:creationId xmlns:a16="http://schemas.microsoft.com/office/drawing/2014/main" id="{0A3363A3-BA54-D35E-B388-C7321B9BE878}"/>
              </a:ext>
            </a:extLst>
          </p:cNvPr>
          <p:cNvSpPr/>
          <p:nvPr/>
        </p:nvSpPr>
        <p:spPr>
          <a:xfrm>
            <a:off x="11063710" y="9730608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VlanI</a:t>
            </a:r>
          </a:p>
        </p:txBody>
      </p:sp>
      <p:sp>
        <p:nvSpPr>
          <p:cNvPr id="105" name="Rechteck 104">
            <a:extLst>
              <a:ext uri="{FF2B5EF4-FFF2-40B4-BE49-F238E27FC236}">
                <a16:creationId xmlns:a16="http://schemas.microsoft.com/office/drawing/2014/main" id="{C6E9F742-DF08-789F-BC59-4FC946FC913F}"/>
              </a:ext>
            </a:extLst>
          </p:cNvPr>
          <p:cNvSpPr/>
          <p:nvPr/>
        </p:nvSpPr>
        <p:spPr>
          <a:xfrm>
            <a:off x="11063711" y="10130659"/>
            <a:ext cx="338137" cy="1980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00"/>
              <a:t>MacI</a:t>
            </a:r>
          </a:p>
        </p:txBody>
      </p:sp>
      <p:cxnSp>
        <p:nvCxnSpPr>
          <p:cNvPr id="106" name="Gerader Verbinder 105">
            <a:extLst>
              <a:ext uri="{FF2B5EF4-FFF2-40B4-BE49-F238E27FC236}">
                <a16:creationId xmlns:a16="http://schemas.microsoft.com/office/drawing/2014/main" id="{3BC68C30-1683-EA4C-845B-CB907CEC96F6}"/>
              </a:ext>
            </a:extLst>
          </p:cNvPr>
          <p:cNvCxnSpPr>
            <a:cxnSpLocks/>
          </p:cNvCxnSpPr>
          <p:nvPr/>
        </p:nvCxnSpPr>
        <p:spPr>
          <a:xfrm flipV="1">
            <a:off x="9691868" y="9159909"/>
            <a:ext cx="1629017" cy="234040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7" name="Gruppieren 106">
            <a:extLst>
              <a:ext uri="{FF2B5EF4-FFF2-40B4-BE49-F238E27FC236}">
                <a16:creationId xmlns:a16="http://schemas.microsoft.com/office/drawing/2014/main" id="{D6742ED2-F057-78A7-5150-A41844EF625C}"/>
              </a:ext>
            </a:extLst>
          </p:cNvPr>
          <p:cNvGrpSpPr/>
          <p:nvPr/>
        </p:nvGrpSpPr>
        <p:grpSpPr>
          <a:xfrm rot="5400000">
            <a:off x="8288099" y="8670611"/>
            <a:ext cx="338137" cy="998176"/>
            <a:chOff x="7267925" y="3123310"/>
            <a:chExt cx="338137" cy="998176"/>
          </a:xfrm>
        </p:grpSpPr>
        <p:sp>
          <p:nvSpPr>
            <p:cNvPr id="108" name="Rechteck 107">
              <a:extLst>
                <a:ext uri="{FF2B5EF4-FFF2-40B4-BE49-F238E27FC236}">
                  <a16:creationId xmlns:a16="http://schemas.microsoft.com/office/drawing/2014/main" id="{996873ED-9D66-B4CD-8D11-882288108F18}"/>
                </a:ext>
              </a:extLst>
            </p:cNvPr>
            <p:cNvSpPr/>
            <p:nvPr/>
          </p:nvSpPr>
          <p:spPr>
            <a:xfrm>
              <a:off x="7267925" y="3923412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09" name="Rechteck 108">
              <a:extLst>
                <a:ext uri="{FF2B5EF4-FFF2-40B4-BE49-F238E27FC236}">
                  <a16:creationId xmlns:a16="http://schemas.microsoft.com/office/drawing/2014/main" id="{E3161ECC-EE4D-308F-FC14-A34D5493E194}"/>
                </a:ext>
              </a:extLst>
            </p:cNvPr>
            <p:cNvSpPr/>
            <p:nvPr/>
          </p:nvSpPr>
          <p:spPr>
            <a:xfrm>
              <a:off x="7267925" y="3523361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0" name="Rechteck 109">
              <a:extLst>
                <a:ext uri="{FF2B5EF4-FFF2-40B4-BE49-F238E27FC236}">
                  <a16:creationId xmlns:a16="http://schemas.microsoft.com/office/drawing/2014/main" id="{5D5CBAFC-63CE-84E0-F817-9B8163E5A495}"/>
                </a:ext>
              </a:extLst>
            </p:cNvPr>
            <p:cNvSpPr/>
            <p:nvPr/>
          </p:nvSpPr>
          <p:spPr>
            <a:xfrm>
              <a:off x="7267925" y="3123310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</p:grpSp>
      <p:cxnSp>
        <p:nvCxnSpPr>
          <p:cNvPr id="111" name="Gerader Verbinder 110">
            <a:extLst>
              <a:ext uri="{FF2B5EF4-FFF2-40B4-BE49-F238E27FC236}">
                <a16:creationId xmlns:a16="http://schemas.microsoft.com/office/drawing/2014/main" id="{E3F88B35-4DF8-36B9-FA1E-AF410D60D677}"/>
              </a:ext>
            </a:extLst>
          </p:cNvPr>
          <p:cNvCxnSpPr>
            <a:cxnSpLocks/>
          </p:cNvCxnSpPr>
          <p:nvPr/>
        </p:nvCxnSpPr>
        <p:spPr>
          <a:xfrm>
            <a:off x="7622232" y="9495178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2" name="Rechteck 111">
            <a:extLst>
              <a:ext uri="{FF2B5EF4-FFF2-40B4-BE49-F238E27FC236}">
                <a16:creationId xmlns:a16="http://schemas.microsoft.com/office/drawing/2014/main" id="{047369EB-7578-A672-B628-5F3CF1FD0B7A}"/>
              </a:ext>
            </a:extLst>
          </p:cNvPr>
          <p:cNvSpPr/>
          <p:nvPr/>
        </p:nvSpPr>
        <p:spPr>
          <a:xfrm>
            <a:off x="7622233" y="6435538"/>
            <a:ext cx="1458000" cy="162000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100">
                <a:solidFill>
                  <a:schemeClr val="accent6">
                    <a:lumMod val="75000"/>
                  </a:schemeClr>
                </a:solidFill>
              </a:rPr>
              <a:t>MM / NCM</a:t>
            </a:r>
          </a:p>
        </p:txBody>
      </p:sp>
      <p:grpSp>
        <p:nvGrpSpPr>
          <p:cNvPr id="113" name="Gruppieren 112">
            <a:extLst>
              <a:ext uri="{FF2B5EF4-FFF2-40B4-BE49-F238E27FC236}">
                <a16:creationId xmlns:a16="http://schemas.microsoft.com/office/drawing/2014/main" id="{97D29417-7626-C176-8171-B76EE10710D0}"/>
              </a:ext>
            </a:extLst>
          </p:cNvPr>
          <p:cNvGrpSpPr/>
          <p:nvPr/>
        </p:nvGrpSpPr>
        <p:grpSpPr>
          <a:xfrm rot="5400000">
            <a:off x="7876144" y="6857181"/>
            <a:ext cx="1162049" cy="998176"/>
            <a:chOff x="7115461" y="1735493"/>
            <a:chExt cx="1162049" cy="998176"/>
          </a:xfrm>
        </p:grpSpPr>
        <p:sp>
          <p:nvSpPr>
            <p:cNvPr id="114" name="Rechteck 113">
              <a:extLst>
                <a:ext uri="{FF2B5EF4-FFF2-40B4-BE49-F238E27FC236}">
                  <a16:creationId xmlns:a16="http://schemas.microsoft.com/office/drawing/2014/main" id="{FB43D1F3-B681-6EEA-3F0F-B493E6861262}"/>
                </a:ext>
              </a:extLst>
            </p:cNvPr>
            <p:cNvSpPr/>
            <p:nvPr/>
          </p:nvSpPr>
          <p:spPr>
            <a:xfrm>
              <a:off x="7115461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TcpS</a:t>
              </a:r>
            </a:p>
          </p:txBody>
        </p:sp>
        <p:sp>
          <p:nvSpPr>
            <p:cNvPr id="115" name="Rechteck 114">
              <a:extLst>
                <a:ext uri="{FF2B5EF4-FFF2-40B4-BE49-F238E27FC236}">
                  <a16:creationId xmlns:a16="http://schemas.microsoft.com/office/drawing/2014/main" id="{6C7F02BA-C5AC-616E-DDBB-974C28E821DC}"/>
                </a:ext>
              </a:extLst>
            </p:cNvPr>
            <p:cNvSpPr/>
            <p:nvPr/>
          </p:nvSpPr>
          <p:spPr>
            <a:xfrm>
              <a:off x="7115461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HttpS</a:t>
              </a:r>
            </a:p>
          </p:txBody>
        </p:sp>
        <p:sp>
          <p:nvSpPr>
            <p:cNvPr id="116" name="Rechteck 115">
              <a:extLst>
                <a:ext uri="{FF2B5EF4-FFF2-40B4-BE49-F238E27FC236}">
                  <a16:creationId xmlns:a16="http://schemas.microsoft.com/office/drawing/2014/main" id="{F2B3208E-962F-47AF-2FC5-F5F0E8CE1D8F}"/>
                </a:ext>
              </a:extLst>
            </p:cNvPr>
            <p:cNvSpPr/>
            <p:nvPr/>
          </p:nvSpPr>
          <p:spPr>
            <a:xfrm>
              <a:off x="7115461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OpS</a:t>
              </a:r>
            </a:p>
          </p:txBody>
        </p:sp>
        <p:sp>
          <p:nvSpPr>
            <p:cNvPr id="117" name="Rechteck 116">
              <a:extLst>
                <a:ext uri="{FF2B5EF4-FFF2-40B4-BE49-F238E27FC236}">
                  <a16:creationId xmlns:a16="http://schemas.microsoft.com/office/drawing/2014/main" id="{36ED8D34-FAB2-ECDA-7F59-469C3F477458}"/>
                </a:ext>
              </a:extLst>
            </p:cNvPr>
            <p:cNvSpPr/>
            <p:nvPr/>
          </p:nvSpPr>
          <p:spPr>
            <a:xfrm>
              <a:off x="7939373" y="2535595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TcpC</a:t>
              </a:r>
            </a:p>
          </p:txBody>
        </p:sp>
        <p:sp>
          <p:nvSpPr>
            <p:cNvPr id="118" name="Rechteck 117">
              <a:extLst>
                <a:ext uri="{FF2B5EF4-FFF2-40B4-BE49-F238E27FC236}">
                  <a16:creationId xmlns:a16="http://schemas.microsoft.com/office/drawing/2014/main" id="{97D57EA9-EF20-AB09-6218-B2C9760CA197}"/>
                </a:ext>
              </a:extLst>
            </p:cNvPr>
            <p:cNvSpPr/>
            <p:nvPr/>
          </p:nvSpPr>
          <p:spPr>
            <a:xfrm>
              <a:off x="7939373" y="2135544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HttpC</a:t>
              </a:r>
            </a:p>
          </p:txBody>
        </p:sp>
        <p:sp>
          <p:nvSpPr>
            <p:cNvPr id="119" name="Rechteck 118">
              <a:extLst>
                <a:ext uri="{FF2B5EF4-FFF2-40B4-BE49-F238E27FC236}">
                  <a16:creationId xmlns:a16="http://schemas.microsoft.com/office/drawing/2014/main" id="{7FD10FC3-ABF9-7B9C-D27A-9AF3D0750CDF}"/>
                </a:ext>
              </a:extLst>
            </p:cNvPr>
            <p:cNvSpPr/>
            <p:nvPr/>
          </p:nvSpPr>
          <p:spPr>
            <a:xfrm>
              <a:off x="7939373" y="1735493"/>
              <a:ext cx="338137" cy="19807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de-DE" sz="600"/>
                <a:t>OpC</a:t>
              </a:r>
            </a:p>
          </p:txBody>
        </p:sp>
      </p:grpSp>
      <p:cxnSp>
        <p:nvCxnSpPr>
          <p:cNvPr id="132" name="Gerader Verbinder 131">
            <a:extLst>
              <a:ext uri="{FF2B5EF4-FFF2-40B4-BE49-F238E27FC236}">
                <a16:creationId xmlns:a16="http://schemas.microsoft.com/office/drawing/2014/main" id="{EE2E9144-2E50-61D5-6EF0-4D405BB2ED93}"/>
              </a:ext>
            </a:extLst>
          </p:cNvPr>
          <p:cNvCxnSpPr>
            <a:cxnSpLocks/>
          </p:cNvCxnSpPr>
          <p:nvPr/>
        </p:nvCxnSpPr>
        <p:spPr>
          <a:xfrm>
            <a:off x="4566339" y="9495178"/>
            <a:ext cx="145800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7" name="Gerader Verbinder 136">
            <a:extLst>
              <a:ext uri="{FF2B5EF4-FFF2-40B4-BE49-F238E27FC236}">
                <a16:creationId xmlns:a16="http://schemas.microsoft.com/office/drawing/2014/main" id="{FA120268-DBD1-31E3-D560-DFCE67F86135}"/>
              </a:ext>
            </a:extLst>
          </p:cNvPr>
          <p:cNvCxnSpPr>
            <a:cxnSpLocks/>
            <a:stCxn id="94" idx="3"/>
            <a:endCxn id="96" idx="1"/>
          </p:cNvCxnSpPr>
          <p:nvPr/>
        </p:nvCxnSpPr>
        <p:spPr>
          <a:xfrm flipV="1">
            <a:off x="5879091" y="10112896"/>
            <a:ext cx="1909923" cy="2859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8" name="Gerader Verbinder 137">
            <a:extLst>
              <a:ext uri="{FF2B5EF4-FFF2-40B4-BE49-F238E27FC236}">
                <a16:creationId xmlns:a16="http://schemas.microsoft.com/office/drawing/2014/main" id="{FF6D5A19-3A23-06BE-47EA-CFC2DA6CE54F}"/>
              </a:ext>
            </a:extLst>
          </p:cNvPr>
          <p:cNvCxnSpPr>
            <a:cxnSpLocks/>
            <a:stCxn id="98" idx="1"/>
            <a:endCxn id="96" idx="3"/>
          </p:cNvCxnSpPr>
          <p:nvPr/>
        </p:nvCxnSpPr>
        <p:spPr>
          <a:xfrm flipH="1">
            <a:off x="8127151" y="10112895"/>
            <a:ext cx="485775" cy="0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39" name="Gerader Verbinder 138">
            <a:extLst>
              <a:ext uri="{FF2B5EF4-FFF2-40B4-BE49-F238E27FC236}">
                <a16:creationId xmlns:a16="http://schemas.microsoft.com/office/drawing/2014/main" id="{9AF164CF-4371-1D84-FE7D-B883D938C666}"/>
              </a:ext>
            </a:extLst>
          </p:cNvPr>
          <p:cNvCxnSpPr>
            <a:cxnSpLocks/>
            <a:stCxn id="100" idx="1"/>
            <a:endCxn id="98" idx="3"/>
          </p:cNvCxnSpPr>
          <p:nvPr/>
        </p:nvCxnSpPr>
        <p:spPr>
          <a:xfrm flipH="1">
            <a:off x="8951062" y="10102263"/>
            <a:ext cx="917488" cy="10633"/>
          </a:xfrm>
          <a:prstGeom prst="line">
            <a:avLst/>
          </a:prstGeom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2" name="Gerader Verbinder 141">
            <a:extLst>
              <a:ext uri="{FF2B5EF4-FFF2-40B4-BE49-F238E27FC236}">
                <a16:creationId xmlns:a16="http://schemas.microsoft.com/office/drawing/2014/main" id="{D00B38C7-6860-5F20-0291-BDDAD5ADC652}"/>
              </a:ext>
            </a:extLst>
          </p:cNvPr>
          <p:cNvCxnSpPr>
            <a:cxnSpLocks/>
            <a:stCxn id="116" idx="3"/>
          </p:cNvCxnSpPr>
          <p:nvPr/>
        </p:nvCxnSpPr>
        <p:spPr>
          <a:xfrm flipH="1">
            <a:off x="8857219" y="7113382"/>
            <a:ext cx="1" cy="485774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143" name="Gerader Verbinder 142">
            <a:extLst>
              <a:ext uri="{FF2B5EF4-FFF2-40B4-BE49-F238E27FC236}">
                <a16:creationId xmlns:a16="http://schemas.microsoft.com/office/drawing/2014/main" id="{5024DC42-ED37-5014-2ACF-25AB816D582D}"/>
              </a:ext>
            </a:extLst>
          </p:cNvPr>
          <p:cNvCxnSpPr>
            <a:cxnSpLocks/>
            <a:stCxn id="119" idx="3"/>
            <a:endCxn id="110" idx="1"/>
          </p:cNvCxnSpPr>
          <p:nvPr/>
        </p:nvCxnSpPr>
        <p:spPr>
          <a:xfrm flipH="1">
            <a:off x="8857219" y="7937295"/>
            <a:ext cx="1" cy="1063337"/>
          </a:xfrm>
          <a:prstGeom prst="line">
            <a:avLst/>
          </a:prstGeom>
          <a:ln>
            <a:solidFill>
              <a:srgbClr val="FFC000"/>
            </a:solidFill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05563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1647834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1256181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4795724" y="4826000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5232957" y="863600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5372742" y="5432382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66253" y="863600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247625" y="622284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355206" y="12459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355206" y="64590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355206" y="77133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623856" y="169147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623856" y="690466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444672" y="771413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444672" y="843437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892505" y="7936140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892505" y="793614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1444672" y="1353406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606125" y="8657157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892505" y="146868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177863" y="8440391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177863" y="771351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606125" y="786956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0413396" y="771645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0413396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9861228" y="793595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9861228" y="7935951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1574849" y="8659475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2146587" y="8445309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7610310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7610310" y="771567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8771763" y="793595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8771763" y="7935951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5610876" y="843336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036708" y="864961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5610876" y="7426761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036708" y="761058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2146587" y="77158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1574849" y="7883870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9323929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9323929" y="64609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9323929" y="771316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9592579" y="169335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9592579" y="690655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7610309" y="303528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7610309" y="44773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7610309" y="37563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8771762" y="3979087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8771762" y="470010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8771762" y="325807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5610875" y="180285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5610875" y="215837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lifeCycleState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operation-key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5610875" y="3988218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description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localProtocol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036707" y="433015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5610875" y="2903699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applicationName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dataUpdatePer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iod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rel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easeList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036707" y="2510698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036707" y="196669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036707" y="3429441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0669915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015901" y="12522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9861228" y="1470569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1207214" y="147056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7223735" y="1267361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operationalState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8649567" y="143120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3107118" y="126347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StringProfile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2553200" y="147500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4843522" y="1287852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mediatorUserName</a:t>
            </a:r>
          </a:p>
          <a:p>
            <a:pPr defTabSz="914400"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4843522" y="20157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stringValue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4268571" y="1486265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4268571" y="148626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0669914" y="250204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9592579" y="1693355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0669914" y="57772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0938564" y="2947613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2146587" y="583591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1207213" y="600005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0669914" y="689176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0938564" y="622284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9861228" y="711455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5610875" y="7837998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Status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interfaceStatus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036707" y="7938458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8682092" y="52034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8682092" y="645774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8682092" y="771200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8950741" y="5649055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8950741" y="690331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6968472" y="84330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6968472" y="771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8129924" y="7934787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8129924" y="793478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4969038" y="842969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6394870" y="8646176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4969038" y="769949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6394870" y="793478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771558" y="5202844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externalLabel=deviceName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9219391" y="542563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4134734" y="92817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4134734" y="1053597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4403383" y="9727290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5224199" y="1052058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4672033" y="10743369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2422109" y="1052272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3583562" y="1074551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6957389" y="10521795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6385652" y="10737795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1398770" y="1052556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1830770" y="10742052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4539857" y="926379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4539857" y="1051804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4808506" y="970936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5629322" y="10502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077156" y="10725441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2827232" y="105047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3988685" y="1072758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7362512" y="10503867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6790775" y="10719867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1803893" y="1050764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2235893" y="10724124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018055" y="9312805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077156" y="9480842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5599271" y="9340049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72033" y="9504504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2561605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Rechteck 289">
            <a:extLst>
              <a:ext uri="{FF2B5EF4-FFF2-40B4-BE49-F238E27FC236}">
                <a16:creationId xmlns:a16="http://schemas.microsoft.com/office/drawing/2014/main" id="{AD55E515-56A7-41AB-80D9-5F2EEBA06909}"/>
              </a:ext>
            </a:extLst>
          </p:cNvPr>
          <p:cNvSpPr/>
          <p:nvPr/>
        </p:nvSpPr>
        <p:spPr>
          <a:xfrm>
            <a:off x="1647834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9" name="Rechteck 288">
            <a:extLst>
              <a:ext uri="{FF2B5EF4-FFF2-40B4-BE49-F238E27FC236}">
                <a16:creationId xmlns:a16="http://schemas.microsoft.com/office/drawing/2014/main" id="{F7F77AA1-771F-42F7-8FB9-D67AE4A16483}"/>
              </a:ext>
            </a:extLst>
          </p:cNvPr>
          <p:cNvSpPr/>
          <p:nvPr/>
        </p:nvSpPr>
        <p:spPr>
          <a:xfrm>
            <a:off x="11256181" y="9172012"/>
            <a:ext cx="6311488" cy="1952970"/>
          </a:xfrm>
          <a:prstGeom prst="rect">
            <a:avLst/>
          </a:prstGeom>
          <a:solidFill>
            <a:schemeClr val="accent5">
              <a:lumMod val="40000"/>
              <a:lumOff val="60000"/>
              <a:alpha val="50196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288" name="Rechteck 287">
            <a:extLst>
              <a:ext uri="{FF2B5EF4-FFF2-40B4-BE49-F238E27FC236}">
                <a16:creationId xmlns:a16="http://schemas.microsoft.com/office/drawing/2014/main" id="{3A9B4262-A48D-FB94-6E29-10CE9577508C}"/>
              </a:ext>
            </a:extLst>
          </p:cNvPr>
          <p:cNvSpPr/>
          <p:nvPr/>
        </p:nvSpPr>
        <p:spPr>
          <a:xfrm>
            <a:off x="14795724" y="4826000"/>
            <a:ext cx="6629959" cy="4343400"/>
          </a:xfrm>
          <a:prstGeom prst="rect">
            <a:avLst/>
          </a:prstGeom>
          <a:solidFill>
            <a:srgbClr val="00B0F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Device</a:t>
            </a:r>
          </a:p>
        </p:txBody>
      </p:sp>
      <p:grpSp>
        <p:nvGrpSpPr>
          <p:cNvPr id="287" name="Gruppieren 286">
            <a:extLst>
              <a:ext uri="{FF2B5EF4-FFF2-40B4-BE49-F238E27FC236}">
                <a16:creationId xmlns:a16="http://schemas.microsoft.com/office/drawing/2014/main" id="{F10524AF-7993-403E-9151-7990C002DAC3}"/>
              </a:ext>
            </a:extLst>
          </p:cNvPr>
          <p:cNvGrpSpPr/>
          <p:nvPr/>
        </p:nvGrpSpPr>
        <p:grpSpPr>
          <a:xfrm>
            <a:off x="5232957" y="863600"/>
            <a:ext cx="11204167" cy="8305800"/>
            <a:chOff x="5066703" y="863600"/>
            <a:chExt cx="11204167" cy="8305800"/>
          </a:xfrm>
        </p:grpSpPr>
        <p:sp>
          <p:nvSpPr>
            <p:cNvPr id="281" name="Rechteck 280">
              <a:extLst>
                <a:ext uri="{FF2B5EF4-FFF2-40B4-BE49-F238E27FC236}">
                  <a16:creationId xmlns:a16="http://schemas.microsoft.com/office/drawing/2014/main" id="{2D320F09-9AA6-A469-D6F0-BE4E94481CB3}"/>
                </a:ext>
              </a:extLst>
            </p:cNvPr>
            <p:cNvSpPr/>
            <p:nvPr/>
          </p:nvSpPr>
          <p:spPr>
            <a:xfrm>
              <a:off x="5066703" y="863600"/>
              <a:ext cx="8738197" cy="8305800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de-DE" sz="1400">
                  <a:solidFill>
                    <a:schemeClr val="tx1"/>
                  </a:solidFill>
                </a:rPr>
                <a:t>MediatorVM</a:t>
              </a:r>
            </a:p>
          </p:txBody>
        </p:sp>
        <p:sp>
          <p:nvSpPr>
            <p:cNvPr id="282" name="Rechteck 281">
              <a:extLst>
                <a:ext uri="{FF2B5EF4-FFF2-40B4-BE49-F238E27FC236}">
                  <a16:creationId xmlns:a16="http://schemas.microsoft.com/office/drawing/2014/main" id="{C9453577-A74B-CA25-645C-51DCBD053ABB}"/>
                </a:ext>
              </a:extLst>
            </p:cNvPr>
            <p:cNvSpPr/>
            <p:nvPr/>
          </p:nvSpPr>
          <p:spPr>
            <a:xfrm>
              <a:off x="13804900" y="863600"/>
              <a:ext cx="2465970" cy="2986805"/>
            </a:xfrm>
            <a:prstGeom prst="rect">
              <a:avLst/>
            </a:prstGeom>
            <a:solidFill>
              <a:srgbClr val="92D050">
                <a:alpha val="50196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r"/>
              <a:endParaRPr lang="de-DE" sz="1400">
                <a:solidFill>
                  <a:schemeClr val="tx1"/>
                </a:solidFill>
              </a:endParaRPr>
            </a:p>
          </p:txBody>
        </p:sp>
      </p:grpSp>
      <p:sp>
        <p:nvSpPr>
          <p:cNvPr id="286" name="Rechteck 285">
            <a:extLst>
              <a:ext uri="{FF2B5EF4-FFF2-40B4-BE49-F238E27FC236}">
                <a16:creationId xmlns:a16="http://schemas.microsoft.com/office/drawing/2014/main" id="{D8AE4052-8F1E-F4E2-B431-FFA8193EC50D}"/>
              </a:ext>
            </a:extLst>
          </p:cNvPr>
          <p:cNvSpPr/>
          <p:nvPr/>
        </p:nvSpPr>
        <p:spPr>
          <a:xfrm>
            <a:off x="5372742" y="5432382"/>
            <a:ext cx="8496789" cy="3638330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1400">
                <a:solidFill>
                  <a:schemeClr val="tx1"/>
                </a:solidFill>
              </a:rPr>
              <a:t>MediatorProcess [*]</a:t>
            </a:r>
          </a:p>
        </p:txBody>
      </p:sp>
      <p:sp>
        <p:nvSpPr>
          <p:cNvPr id="279" name="Rechteck 278">
            <a:extLst>
              <a:ext uri="{FF2B5EF4-FFF2-40B4-BE49-F238E27FC236}">
                <a16:creationId xmlns:a16="http://schemas.microsoft.com/office/drawing/2014/main" id="{C83F54BE-E7F0-D9AE-A1D5-FC225483FC63}"/>
              </a:ext>
            </a:extLst>
          </p:cNvPr>
          <p:cNvSpPr/>
          <p:nvPr/>
        </p:nvSpPr>
        <p:spPr>
          <a:xfrm>
            <a:off x="166253" y="863600"/>
            <a:ext cx="4283165" cy="8305800"/>
          </a:xfrm>
          <a:prstGeom prst="rect">
            <a:avLst/>
          </a:prstGeom>
          <a:solidFill>
            <a:srgbClr val="FFC000">
              <a:alpha val="50196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Controller</a:t>
            </a:r>
          </a:p>
        </p:txBody>
      </p:sp>
      <p:sp>
        <p:nvSpPr>
          <p:cNvPr id="280" name="Rechteck 279">
            <a:extLst>
              <a:ext uri="{FF2B5EF4-FFF2-40B4-BE49-F238E27FC236}">
                <a16:creationId xmlns:a16="http://schemas.microsoft.com/office/drawing/2014/main" id="{92D55D44-2758-C888-E7D3-17F8487BBFAA}"/>
              </a:ext>
            </a:extLst>
          </p:cNvPr>
          <p:cNvSpPr/>
          <p:nvPr/>
        </p:nvSpPr>
        <p:spPr>
          <a:xfrm>
            <a:off x="247625" y="6222840"/>
            <a:ext cx="4084142" cy="285294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de-DE" sz="1400">
                <a:solidFill>
                  <a:schemeClr val="tx1"/>
                </a:solidFill>
              </a:rPr>
              <a:t>MountPoint [*]</a:t>
            </a:r>
          </a:p>
        </p:txBody>
      </p:sp>
      <p:sp>
        <p:nvSpPr>
          <p:cNvPr id="56" name="Abgerundetes Rechteck 1">
            <a:extLst>
              <a:ext uri="{FF2B5EF4-FFF2-40B4-BE49-F238E27FC236}">
                <a16:creationId xmlns:a16="http://schemas.microsoft.com/office/drawing/2014/main" id="{5403E44F-74C3-C3A1-D91F-775BF540BEEE}"/>
              </a:ext>
            </a:extLst>
          </p:cNvPr>
          <p:cNvSpPr/>
          <p:nvPr/>
        </p:nvSpPr>
        <p:spPr>
          <a:xfrm>
            <a:off x="355206" y="124590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57" name="Abgerundetes Rechteck 2">
            <a:extLst>
              <a:ext uri="{FF2B5EF4-FFF2-40B4-BE49-F238E27FC236}">
                <a16:creationId xmlns:a16="http://schemas.microsoft.com/office/drawing/2014/main" id="{D8ECBA16-38C1-6E5C-4344-15952AA848A3}"/>
              </a:ext>
            </a:extLst>
          </p:cNvPr>
          <p:cNvSpPr/>
          <p:nvPr/>
        </p:nvSpPr>
        <p:spPr>
          <a:xfrm>
            <a:off x="355206" y="645909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58" name="Abgerundetes Rechteck 3">
            <a:extLst>
              <a:ext uri="{FF2B5EF4-FFF2-40B4-BE49-F238E27FC236}">
                <a16:creationId xmlns:a16="http://schemas.microsoft.com/office/drawing/2014/main" id="{42B12C50-5935-2305-7271-A9353E3F5DF4}"/>
              </a:ext>
            </a:extLst>
          </p:cNvPr>
          <p:cNvSpPr/>
          <p:nvPr/>
        </p:nvSpPr>
        <p:spPr>
          <a:xfrm>
            <a:off x="355206" y="7713354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59" name="Gerade Verbindung mit Pfeil 58">
            <a:extLst>
              <a:ext uri="{FF2B5EF4-FFF2-40B4-BE49-F238E27FC236}">
                <a16:creationId xmlns:a16="http://schemas.microsoft.com/office/drawing/2014/main" id="{F05705B2-207A-7473-B0D3-D0E210757D90}"/>
              </a:ext>
            </a:extLst>
          </p:cNvPr>
          <p:cNvCxnSpPr>
            <a:stCxn id="56" idx="2"/>
            <a:endCxn id="57" idx="0"/>
          </p:cNvCxnSpPr>
          <p:nvPr/>
        </p:nvCxnSpPr>
        <p:spPr>
          <a:xfrm>
            <a:off x="623856" y="1691472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60" name="Gerade Verbindung mit Pfeil 59">
            <a:extLst>
              <a:ext uri="{FF2B5EF4-FFF2-40B4-BE49-F238E27FC236}">
                <a16:creationId xmlns:a16="http://schemas.microsoft.com/office/drawing/2014/main" id="{31F39F20-E4F1-A8E9-AE0E-229810F32A73}"/>
              </a:ext>
            </a:extLst>
          </p:cNvPr>
          <p:cNvCxnSpPr>
            <a:stCxn id="57" idx="2"/>
            <a:endCxn id="58" idx="0"/>
          </p:cNvCxnSpPr>
          <p:nvPr/>
        </p:nvCxnSpPr>
        <p:spPr>
          <a:xfrm>
            <a:off x="623856" y="6904667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2" name="Abgerundetes Rechteck 8">
            <a:extLst>
              <a:ext uri="{FF2B5EF4-FFF2-40B4-BE49-F238E27FC236}">
                <a16:creationId xmlns:a16="http://schemas.microsoft.com/office/drawing/2014/main" id="{D931E7C7-2676-B390-3748-944ED677BBE8}"/>
              </a:ext>
            </a:extLst>
          </p:cNvPr>
          <p:cNvSpPr/>
          <p:nvPr/>
        </p:nvSpPr>
        <p:spPr>
          <a:xfrm>
            <a:off x="1444672" y="771413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sp>
        <p:nvSpPr>
          <p:cNvPr id="63" name="Abgerundetes Rechteck 9">
            <a:extLst>
              <a:ext uri="{FF2B5EF4-FFF2-40B4-BE49-F238E27FC236}">
                <a16:creationId xmlns:a16="http://schemas.microsoft.com/office/drawing/2014/main" id="{CD324EEE-7E30-AD7C-F620-BB3FA6A55BF3}"/>
              </a:ext>
            </a:extLst>
          </p:cNvPr>
          <p:cNvSpPr/>
          <p:nvPr/>
        </p:nvSpPr>
        <p:spPr>
          <a:xfrm>
            <a:off x="1444672" y="843437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65" name="Gerade Verbindung mit Pfeil 64">
            <a:extLst>
              <a:ext uri="{FF2B5EF4-FFF2-40B4-BE49-F238E27FC236}">
                <a16:creationId xmlns:a16="http://schemas.microsoft.com/office/drawing/2014/main" id="{6CAB819F-3E7C-B92D-18BD-47685B07CF72}"/>
              </a:ext>
            </a:extLst>
          </p:cNvPr>
          <p:cNvCxnSpPr>
            <a:stCxn id="62" idx="1"/>
            <a:endCxn id="58" idx="3"/>
          </p:cNvCxnSpPr>
          <p:nvPr/>
        </p:nvCxnSpPr>
        <p:spPr>
          <a:xfrm flipH="1" flipV="1">
            <a:off x="892505" y="7936140"/>
            <a:ext cx="552168" cy="77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EBC282F3-5516-9CD9-4A58-3B1D951F6FD4}"/>
              </a:ext>
            </a:extLst>
          </p:cNvPr>
          <p:cNvCxnSpPr>
            <a:stCxn id="63" idx="1"/>
            <a:endCxn id="58" idx="3"/>
          </p:cNvCxnSpPr>
          <p:nvPr/>
        </p:nvCxnSpPr>
        <p:spPr>
          <a:xfrm flipH="1" flipV="1">
            <a:off x="892505" y="7936140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67" name="Rechteck 66">
            <a:extLst>
              <a:ext uri="{FF2B5EF4-FFF2-40B4-BE49-F238E27FC236}">
                <a16:creationId xmlns:a16="http://schemas.microsoft.com/office/drawing/2014/main" id="{0E6B0DC9-48D2-9B58-0F1D-1EA4D398F1D3}"/>
              </a:ext>
            </a:extLst>
          </p:cNvPr>
          <p:cNvSpPr/>
          <p:nvPr/>
        </p:nvSpPr>
        <p:spPr>
          <a:xfrm>
            <a:off x="1444672" y="1353406"/>
            <a:ext cx="14711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externalLabel=controllerName</a:t>
            </a:r>
          </a:p>
        </p:txBody>
      </p:sp>
      <p:cxnSp>
        <p:nvCxnSpPr>
          <p:cNvPr id="69" name="Gerade Verbindung mit Pfeil 68">
            <a:extLst>
              <a:ext uri="{FF2B5EF4-FFF2-40B4-BE49-F238E27FC236}">
                <a16:creationId xmlns:a16="http://schemas.microsoft.com/office/drawing/2014/main" id="{61405C5D-4998-3705-F84F-AA9A6D7300F6}"/>
              </a:ext>
            </a:extLst>
          </p:cNvPr>
          <p:cNvCxnSpPr>
            <a:cxnSpLocks/>
            <a:stCxn id="63" idx="3"/>
            <a:endCxn id="73" idx="1"/>
          </p:cNvCxnSpPr>
          <p:nvPr/>
        </p:nvCxnSpPr>
        <p:spPr>
          <a:xfrm>
            <a:off x="2606125" y="8657157"/>
            <a:ext cx="571738" cy="3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1" name="Gerade Verbindung mit Pfeil 70">
            <a:extLst>
              <a:ext uri="{FF2B5EF4-FFF2-40B4-BE49-F238E27FC236}">
                <a16:creationId xmlns:a16="http://schemas.microsoft.com/office/drawing/2014/main" id="{25DCB85E-D87D-CC40-1FF0-DD6FDC0AF410}"/>
              </a:ext>
            </a:extLst>
          </p:cNvPr>
          <p:cNvCxnSpPr>
            <a:cxnSpLocks/>
            <a:stCxn id="56" idx="3"/>
            <a:endCxn id="67" idx="1"/>
          </p:cNvCxnSpPr>
          <p:nvPr/>
        </p:nvCxnSpPr>
        <p:spPr>
          <a:xfrm>
            <a:off x="892505" y="1468686"/>
            <a:ext cx="552167" cy="5275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3" name="Rechteck 72">
            <a:extLst>
              <a:ext uri="{FF2B5EF4-FFF2-40B4-BE49-F238E27FC236}">
                <a16:creationId xmlns:a16="http://schemas.microsoft.com/office/drawing/2014/main" id="{D4C53D9F-5A49-C19A-5474-E3DC89FF2AB8}"/>
              </a:ext>
            </a:extLst>
          </p:cNvPr>
          <p:cNvSpPr/>
          <p:nvPr/>
        </p:nvSpPr>
        <p:spPr>
          <a:xfrm>
            <a:off x="3177863" y="8440391"/>
            <a:ext cx="893641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0" name="Rechteck 89">
            <a:extLst>
              <a:ext uri="{FF2B5EF4-FFF2-40B4-BE49-F238E27FC236}">
                <a16:creationId xmlns:a16="http://schemas.microsoft.com/office/drawing/2014/main" id="{8E303147-0B25-3184-7D85-94E7D636036D}"/>
              </a:ext>
            </a:extLst>
          </p:cNvPr>
          <p:cNvSpPr/>
          <p:nvPr/>
        </p:nvSpPr>
        <p:spPr>
          <a:xfrm>
            <a:off x="3177863" y="7713514"/>
            <a:ext cx="893641" cy="31210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91" name="Gerade Verbindung mit Pfeil 90">
            <a:extLst>
              <a:ext uri="{FF2B5EF4-FFF2-40B4-BE49-F238E27FC236}">
                <a16:creationId xmlns:a16="http://schemas.microsoft.com/office/drawing/2014/main" id="{3065BECA-C0D8-DABC-4838-03A9DADBC8E4}"/>
              </a:ext>
            </a:extLst>
          </p:cNvPr>
          <p:cNvCxnSpPr>
            <a:cxnSpLocks/>
            <a:stCxn id="62" idx="3"/>
            <a:endCxn id="90" idx="1"/>
          </p:cNvCxnSpPr>
          <p:nvPr/>
        </p:nvCxnSpPr>
        <p:spPr>
          <a:xfrm flipV="1">
            <a:off x="2606125" y="7869569"/>
            <a:ext cx="571738" cy="673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" name="Abgerundetes Rechteck 8">
            <a:extLst>
              <a:ext uri="{FF2B5EF4-FFF2-40B4-BE49-F238E27FC236}">
                <a16:creationId xmlns:a16="http://schemas.microsoft.com/office/drawing/2014/main" id="{FA04FE7A-8C91-5969-0B4C-381A07F25EF4}"/>
              </a:ext>
            </a:extLst>
          </p:cNvPr>
          <p:cNvSpPr/>
          <p:nvPr/>
        </p:nvSpPr>
        <p:spPr>
          <a:xfrm>
            <a:off x="10413396" y="7716450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sp>
        <p:nvSpPr>
          <p:cNvPr id="17" name="Abgerundetes Rechteck 9">
            <a:extLst>
              <a:ext uri="{FF2B5EF4-FFF2-40B4-BE49-F238E27FC236}">
                <a16:creationId xmlns:a16="http://schemas.microsoft.com/office/drawing/2014/main" id="{DB15B1A3-8090-1C0B-973D-BF8F69FAEBA4}"/>
              </a:ext>
            </a:extLst>
          </p:cNvPr>
          <p:cNvSpPr/>
          <p:nvPr/>
        </p:nvSpPr>
        <p:spPr>
          <a:xfrm>
            <a:off x="10413396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TcpClient [1]</a:t>
            </a:r>
          </a:p>
        </p:txBody>
      </p: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BF281436-8991-1735-21B9-A5BE2EAAC435}"/>
              </a:ext>
            </a:extLst>
          </p:cNvPr>
          <p:cNvCxnSpPr>
            <a:cxnSpLocks/>
            <a:stCxn id="16" idx="1"/>
            <a:endCxn id="131" idx="3"/>
          </p:cNvCxnSpPr>
          <p:nvPr/>
        </p:nvCxnSpPr>
        <p:spPr>
          <a:xfrm flipH="1" flipV="1">
            <a:off x="9861228" y="7935951"/>
            <a:ext cx="552168" cy="328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0" name="Gerade Verbindung mit Pfeil 19">
            <a:extLst>
              <a:ext uri="{FF2B5EF4-FFF2-40B4-BE49-F238E27FC236}">
                <a16:creationId xmlns:a16="http://schemas.microsoft.com/office/drawing/2014/main" id="{AE011974-68D0-2B66-DFDD-EA1837A3A003}"/>
              </a:ext>
            </a:extLst>
          </p:cNvPr>
          <p:cNvCxnSpPr>
            <a:cxnSpLocks/>
            <a:stCxn id="17" idx="1"/>
            <a:endCxn id="131" idx="3"/>
          </p:cNvCxnSpPr>
          <p:nvPr/>
        </p:nvCxnSpPr>
        <p:spPr>
          <a:xfrm flipH="1" flipV="1">
            <a:off x="9861228" y="7935951"/>
            <a:ext cx="552168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3" name="Gerade Verbindung mit Pfeil 22">
            <a:extLst>
              <a:ext uri="{FF2B5EF4-FFF2-40B4-BE49-F238E27FC236}">
                <a16:creationId xmlns:a16="http://schemas.microsoft.com/office/drawing/2014/main" id="{70F4C1EE-BA58-27B6-3CEB-D51FD6F237BD}"/>
              </a:ext>
            </a:extLst>
          </p:cNvPr>
          <p:cNvCxnSpPr>
            <a:stCxn id="17" idx="3"/>
            <a:endCxn id="27" idx="1"/>
          </p:cNvCxnSpPr>
          <p:nvPr/>
        </p:nvCxnSpPr>
        <p:spPr>
          <a:xfrm>
            <a:off x="11574849" y="8659475"/>
            <a:ext cx="571738" cy="64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" name="Rechteck 26">
            <a:extLst>
              <a:ext uri="{FF2B5EF4-FFF2-40B4-BE49-F238E27FC236}">
                <a16:creationId xmlns:a16="http://schemas.microsoft.com/office/drawing/2014/main" id="{141A7E87-1BDC-31FA-FF1D-F3854B2C1EF8}"/>
              </a:ext>
            </a:extLst>
          </p:cNvPr>
          <p:cNvSpPr/>
          <p:nvPr/>
        </p:nvSpPr>
        <p:spPr>
          <a:xfrm>
            <a:off x="12146587" y="8445309"/>
            <a:ext cx="1425832" cy="44126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remotePort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Abgerundetes Rechteck 88">
            <a:extLst>
              <a:ext uri="{FF2B5EF4-FFF2-40B4-BE49-F238E27FC236}">
                <a16:creationId xmlns:a16="http://schemas.microsoft.com/office/drawing/2014/main" id="{E0866C50-0FC1-8A65-C2E4-AFEDC9C879A3}"/>
              </a:ext>
            </a:extLst>
          </p:cNvPr>
          <p:cNvSpPr/>
          <p:nvPr/>
        </p:nvSpPr>
        <p:spPr>
          <a:xfrm>
            <a:off x="7610310" y="843668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9" name="Abgerundetes Rechteck 89">
            <a:extLst>
              <a:ext uri="{FF2B5EF4-FFF2-40B4-BE49-F238E27FC236}">
                <a16:creationId xmlns:a16="http://schemas.microsoft.com/office/drawing/2014/main" id="{0CCFFAAB-77ED-5692-76E1-51970536581E}"/>
              </a:ext>
            </a:extLst>
          </p:cNvPr>
          <p:cNvSpPr/>
          <p:nvPr/>
        </p:nvSpPr>
        <p:spPr>
          <a:xfrm>
            <a:off x="7610310" y="7715672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54AFCF35-5CC9-CCE5-6728-1FEC39A555FE}"/>
              </a:ext>
            </a:extLst>
          </p:cNvPr>
          <p:cNvCxnSpPr>
            <a:cxnSpLocks/>
            <a:stCxn id="29" idx="3"/>
            <a:endCxn id="131" idx="1"/>
          </p:cNvCxnSpPr>
          <p:nvPr/>
        </p:nvCxnSpPr>
        <p:spPr>
          <a:xfrm flipV="1">
            <a:off x="8771763" y="7935951"/>
            <a:ext cx="552166" cy="250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31" name="Gerade Verbindung mit Pfeil 30">
            <a:extLst>
              <a:ext uri="{FF2B5EF4-FFF2-40B4-BE49-F238E27FC236}">
                <a16:creationId xmlns:a16="http://schemas.microsoft.com/office/drawing/2014/main" id="{C69A5856-7D4F-2BF7-2F35-56BB361F0DE2}"/>
              </a:ext>
            </a:extLst>
          </p:cNvPr>
          <p:cNvCxnSpPr>
            <a:cxnSpLocks/>
            <a:stCxn id="28" idx="3"/>
            <a:endCxn id="131" idx="1"/>
          </p:cNvCxnSpPr>
          <p:nvPr/>
        </p:nvCxnSpPr>
        <p:spPr>
          <a:xfrm flipV="1">
            <a:off x="8771763" y="7935951"/>
            <a:ext cx="552166" cy="72352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36" name="Rechteck 35">
            <a:extLst>
              <a:ext uri="{FF2B5EF4-FFF2-40B4-BE49-F238E27FC236}">
                <a16:creationId xmlns:a16="http://schemas.microsoft.com/office/drawing/2014/main" id="{7839F9AB-0E9E-3CD3-0688-75C82B3622F5}"/>
              </a:ext>
            </a:extLst>
          </p:cNvPr>
          <p:cNvSpPr/>
          <p:nvPr/>
        </p:nvSpPr>
        <p:spPr>
          <a:xfrm>
            <a:off x="5610876" y="8433364"/>
            <a:ext cx="1425832" cy="432491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7" name="Gerade Verbindung mit Pfeil 36">
            <a:extLst>
              <a:ext uri="{FF2B5EF4-FFF2-40B4-BE49-F238E27FC236}">
                <a16:creationId xmlns:a16="http://schemas.microsoft.com/office/drawing/2014/main" id="{6893C73A-48A8-6D1F-40D2-0A9F5851FE5C}"/>
              </a:ext>
            </a:extLst>
          </p:cNvPr>
          <p:cNvCxnSpPr>
            <a:cxnSpLocks/>
            <a:stCxn id="28" idx="1"/>
            <a:endCxn id="36" idx="3"/>
          </p:cNvCxnSpPr>
          <p:nvPr/>
        </p:nvCxnSpPr>
        <p:spPr>
          <a:xfrm flipH="1" flipV="1">
            <a:off x="7036708" y="8649610"/>
            <a:ext cx="573602" cy="986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8" name="Rechteck 37">
            <a:extLst>
              <a:ext uri="{FF2B5EF4-FFF2-40B4-BE49-F238E27FC236}">
                <a16:creationId xmlns:a16="http://schemas.microsoft.com/office/drawing/2014/main" id="{D6180C09-80DE-B8FB-D98B-2D79204A965B}"/>
              </a:ext>
            </a:extLst>
          </p:cNvPr>
          <p:cNvSpPr/>
          <p:nvPr/>
        </p:nvSpPr>
        <p:spPr>
          <a:xfrm>
            <a:off x="5610876" y="7426761"/>
            <a:ext cx="1425832" cy="36765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12D49DF6-85AB-4875-3211-DF09274DF36A}"/>
              </a:ext>
            </a:extLst>
          </p:cNvPr>
          <p:cNvCxnSpPr>
            <a:cxnSpLocks/>
            <a:stCxn id="29" idx="1"/>
            <a:endCxn id="38" idx="3"/>
          </p:cNvCxnSpPr>
          <p:nvPr/>
        </p:nvCxnSpPr>
        <p:spPr>
          <a:xfrm flipH="1" flipV="1">
            <a:off x="7036708" y="7610589"/>
            <a:ext cx="573602" cy="3278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44" name="Rechteck 43">
            <a:extLst>
              <a:ext uri="{FF2B5EF4-FFF2-40B4-BE49-F238E27FC236}">
                <a16:creationId xmlns:a16="http://schemas.microsoft.com/office/drawing/2014/main" id="{DDD580D5-0B17-FEDA-A7D7-84BCAB8DD12F}"/>
              </a:ext>
            </a:extLst>
          </p:cNvPr>
          <p:cNvSpPr/>
          <p:nvPr/>
        </p:nvSpPr>
        <p:spPr>
          <a:xfrm>
            <a:off x="12146587" y="77158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deviceName</a:t>
            </a:r>
          </a:p>
        </p:txBody>
      </p:sp>
      <p:cxnSp>
        <p:nvCxnSpPr>
          <p:cNvPr id="45" name="Gerade Verbindung mit Pfeil 44">
            <a:extLst>
              <a:ext uri="{FF2B5EF4-FFF2-40B4-BE49-F238E27FC236}">
                <a16:creationId xmlns:a16="http://schemas.microsoft.com/office/drawing/2014/main" id="{BA13D890-B8BA-7E5D-B4EB-3559460FEA0B}"/>
              </a:ext>
            </a:extLst>
          </p:cNvPr>
          <p:cNvCxnSpPr>
            <a:cxnSpLocks/>
            <a:stCxn id="16" idx="3"/>
            <a:endCxn id="44" idx="1"/>
          </p:cNvCxnSpPr>
          <p:nvPr/>
        </p:nvCxnSpPr>
        <p:spPr>
          <a:xfrm flipV="1">
            <a:off x="11574849" y="7883870"/>
            <a:ext cx="571738" cy="5536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29" name="Abgerundetes Rechteck 1">
            <a:extLst>
              <a:ext uri="{FF2B5EF4-FFF2-40B4-BE49-F238E27FC236}">
                <a16:creationId xmlns:a16="http://schemas.microsoft.com/office/drawing/2014/main" id="{0B3696B8-459B-81BC-F007-25C4FCAE7AF6}"/>
              </a:ext>
            </a:extLst>
          </p:cNvPr>
          <p:cNvSpPr/>
          <p:nvPr/>
        </p:nvSpPr>
        <p:spPr>
          <a:xfrm>
            <a:off x="9323929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130" name="Abgerundetes Rechteck 2">
            <a:extLst>
              <a:ext uri="{FF2B5EF4-FFF2-40B4-BE49-F238E27FC236}">
                <a16:creationId xmlns:a16="http://schemas.microsoft.com/office/drawing/2014/main" id="{44E9B2AD-2D82-4A80-07DA-1326EE5556DF}"/>
              </a:ext>
            </a:extLst>
          </p:cNvPr>
          <p:cNvSpPr/>
          <p:nvPr/>
        </p:nvSpPr>
        <p:spPr>
          <a:xfrm>
            <a:off x="9323929" y="646097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131" name="Abgerundetes Rechteck 3">
            <a:extLst>
              <a:ext uri="{FF2B5EF4-FFF2-40B4-BE49-F238E27FC236}">
                <a16:creationId xmlns:a16="http://schemas.microsoft.com/office/drawing/2014/main" id="{38AABEEE-D5A9-7960-91DE-A0715B1E1097}"/>
              </a:ext>
            </a:extLst>
          </p:cNvPr>
          <p:cNvSpPr/>
          <p:nvPr/>
        </p:nvSpPr>
        <p:spPr>
          <a:xfrm>
            <a:off x="9323929" y="7713165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132" name="Gerade Verbindung mit Pfeil 131">
            <a:extLst>
              <a:ext uri="{FF2B5EF4-FFF2-40B4-BE49-F238E27FC236}">
                <a16:creationId xmlns:a16="http://schemas.microsoft.com/office/drawing/2014/main" id="{24B8BA13-AD4E-5D96-4439-B969CB4D0F1B}"/>
              </a:ext>
            </a:extLst>
          </p:cNvPr>
          <p:cNvCxnSpPr>
            <a:stCxn id="129" idx="2"/>
            <a:endCxn id="130" idx="0"/>
          </p:cNvCxnSpPr>
          <p:nvPr/>
        </p:nvCxnSpPr>
        <p:spPr>
          <a:xfrm>
            <a:off x="9592579" y="1693355"/>
            <a:ext cx="0" cy="476762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33" name="Gerade Verbindung mit Pfeil 132">
            <a:extLst>
              <a:ext uri="{FF2B5EF4-FFF2-40B4-BE49-F238E27FC236}">
                <a16:creationId xmlns:a16="http://schemas.microsoft.com/office/drawing/2014/main" id="{F9346835-875D-6801-F071-4CB2B804900B}"/>
              </a:ext>
            </a:extLst>
          </p:cNvPr>
          <p:cNvCxnSpPr>
            <a:stCxn id="130" idx="2"/>
            <a:endCxn id="131" idx="0"/>
          </p:cNvCxnSpPr>
          <p:nvPr/>
        </p:nvCxnSpPr>
        <p:spPr>
          <a:xfrm>
            <a:off x="9592579" y="6906550"/>
            <a:ext cx="0" cy="80661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45" name="Abgerundetes Rechteck 74">
            <a:extLst>
              <a:ext uri="{FF2B5EF4-FFF2-40B4-BE49-F238E27FC236}">
                <a16:creationId xmlns:a16="http://schemas.microsoft.com/office/drawing/2014/main" id="{9F76D0E1-4E66-342A-E3B2-52119B669652}"/>
              </a:ext>
            </a:extLst>
          </p:cNvPr>
          <p:cNvSpPr/>
          <p:nvPr/>
        </p:nvSpPr>
        <p:spPr>
          <a:xfrm>
            <a:off x="7610309" y="303528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7" name="Abgerundetes Rechteck 88">
            <a:extLst>
              <a:ext uri="{FF2B5EF4-FFF2-40B4-BE49-F238E27FC236}">
                <a16:creationId xmlns:a16="http://schemas.microsoft.com/office/drawing/2014/main" id="{8BC9E276-53B6-5995-622D-0AC9EB9DE1B3}"/>
              </a:ext>
            </a:extLst>
          </p:cNvPr>
          <p:cNvSpPr/>
          <p:nvPr/>
        </p:nvSpPr>
        <p:spPr>
          <a:xfrm>
            <a:off x="7610309" y="44773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8" name="Abgerundetes Rechteck 89">
            <a:extLst>
              <a:ext uri="{FF2B5EF4-FFF2-40B4-BE49-F238E27FC236}">
                <a16:creationId xmlns:a16="http://schemas.microsoft.com/office/drawing/2014/main" id="{14E901DD-3FD2-DD78-E2D1-8BE2B4D09279}"/>
              </a:ext>
            </a:extLst>
          </p:cNvPr>
          <p:cNvSpPr/>
          <p:nvPr/>
        </p:nvSpPr>
        <p:spPr>
          <a:xfrm>
            <a:off x="7610309" y="37563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HttpServer</a:t>
            </a:r>
            <a:endParaRPr kumimoji="0" lang="de-DE" sz="105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49" name="Gerade Verbindung mit Pfeil 148">
            <a:extLst>
              <a:ext uri="{FF2B5EF4-FFF2-40B4-BE49-F238E27FC236}">
                <a16:creationId xmlns:a16="http://schemas.microsoft.com/office/drawing/2014/main" id="{77D0C046-112B-F61C-51ED-422966C3B7D4}"/>
              </a:ext>
            </a:extLst>
          </p:cNvPr>
          <p:cNvCxnSpPr>
            <a:stCxn id="148" idx="3"/>
            <a:endCxn id="131" idx="1"/>
          </p:cNvCxnSpPr>
          <p:nvPr/>
        </p:nvCxnSpPr>
        <p:spPr>
          <a:xfrm>
            <a:off x="8771762" y="3979087"/>
            <a:ext cx="552167" cy="395686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0" name="Gerade Verbindung mit Pfeil 149">
            <a:extLst>
              <a:ext uri="{FF2B5EF4-FFF2-40B4-BE49-F238E27FC236}">
                <a16:creationId xmlns:a16="http://schemas.microsoft.com/office/drawing/2014/main" id="{89E76792-F816-11E2-7AD6-F99179AC2EAF}"/>
              </a:ext>
            </a:extLst>
          </p:cNvPr>
          <p:cNvCxnSpPr>
            <a:stCxn id="147" idx="3"/>
            <a:endCxn id="131" idx="1"/>
          </p:cNvCxnSpPr>
          <p:nvPr/>
        </p:nvCxnSpPr>
        <p:spPr>
          <a:xfrm>
            <a:off x="8771762" y="4700104"/>
            <a:ext cx="552167" cy="323584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151" name="Gerade Verbindung mit Pfeil 150">
            <a:extLst>
              <a:ext uri="{FF2B5EF4-FFF2-40B4-BE49-F238E27FC236}">
                <a16:creationId xmlns:a16="http://schemas.microsoft.com/office/drawing/2014/main" id="{FB99CDA0-2D2C-C26F-89EE-72E2DAEA2188}"/>
              </a:ext>
            </a:extLst>
          </p:cNvPr>
          <p:cNvCxnSpPr>
            <a:stCxn id="145" idx="3"/>
            <a:endCxn id="131" idx="1"/>
          </p:cNvCxnSpPr>
          <p:nvPr/>
        </p:nvCxnSpPr>
        <p:spPr>
          <a:xfrm>
            <a:off x="8771762" y="3258070"/>
            <a:ext cx="552167" cy="4677881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52" name="Rechteck 151">
            <a:extLst>
              <a:ext uri="{FF2B5EF4-FFF2-40B4-BE49-F238E27FC236}">
                <a16:creationId xmlns:a16="http://schemas.microsoft.com/office/drawing/2014/main" id="{E3E04050-9C25-B09E-3C76-37E1DD41737D}"/>
              </a:ext>
            </a:extLst>
          </p:cNvPr>
          <p:cNvSpPr/>
          <p:nvPr/>
        </p:nvSpPr>
        <p:spPr>
          <a:xfrm>
            <a:off x="5610875" y="1802858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3" name="Rechteck 152">
            <a:extLst>
              <a:ext uri="{FF2B5EF4-FFF2-40B4-BE49-F238E27FC236}">
                <a16:creationId xmlns:a16="http://schemas.microsoft.com/office/drawing/2014/main" id="{4DFA1D3E-C6E5-809E-760C-5C9B254E07A8}"/>
              </a:ext>
            </a:extLst>
          </p:cNvPr>
          <p:cNvSpPr/>
          <p:nvPr/>
        </p:nvSpPr>
        <p:spPr>
          <a:xfrm>
            <a:off x="5610875" y="2158370"/>
            <a:ext cx="1425832" cy="70465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lifeCycleState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operation-key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4" name="Rechteck 153">
            <a:extLst>
              <a:ext uri="{FF2B5EF4-FFF2-40B4-BE49-F238E27FC236}">
                <a16:creationId xmlns:a16="http://schemas.microsoft.com/office/drawing/2014/main" id="{603038BB-B38F-04CB-CE97-EB1D3BC5A2ED}"/>
              </a:ext>
            </a:extLst>
          </p:cNvPr>
          <p:cNvSpPr/>
          <p:nvPr/>
        </p:nvSpPr>
        <p:spPr>
          <a:xfrm>
            <a:off x="5610875" y="3988218"/>
            <a:ext cx="1425832" cy="6838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description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localProtocol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5" name="Gerade Verbindung mit Pfeil 154">
            <a:extLst>
              <a:ext uri="{FF2B5EF4-FFF2-40B4-BE49-F238E27FC236}">
                <a16:creationId xmlns:a16="http://schemas.microsoft.com/office/drawing/2014/main" id="{AE72E1DE-8F09-CAEE-F70B-BD74C656E315}"/>
              </a:ext>
            </a:extLst>
          </p:cNvPr>
          <p:cNvCxnSpPr>
            <a:cxnSpLocks/>
            <a:stCxn id="147" idx="1"/>
            <a:endCxn id="154" idx="3"/>
          </p:cNvCxnSpPr>
          <p:nvPr/>
        </p:nvCxnSpPr>
        <p:spPr>
          <a:xfrm flipH="1" flipV="1">
            <a:off x="7036707" y="4330155"/>
            <a:ext cx="573602" cy="36994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56" name="Rechteck 155">
            <a:extLst>
              <a:ext uri="{FF2B5EF4-FFF2-40B4-BE49-F238E27FC236}">
                <a16:creationId xmlns:a16="http://schemas.microsoft.com/office/drawing/2014/main" id="{A2DD233B-D011-6931-E9B5-093D279C83E7}"/>
              </a:ext>
            </a:extLst>
          </p:cNvPr>
          <p:cNvSpPr/>
          <p:nvPr/>
        </p:nvSpPr>
        <p:spPr>
          <a:xfrm>
            <a:off x="5610875" y="2903699"/>
            <a:ext cx="1425832" cy="105148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applicationName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releaseNumber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applicationPurpose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dataUpdatePer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iod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ownerName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ownerEmailAddress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rel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easeList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7" name="Gerade Verbindung mit Pfeil 156">
            <a:extLst>
              <a:ext uri="{FF2B5EF4-FFF2-40B4-BE49-F238E27FC236}">
                <a16:creationId xmlns:a16="http://schemas.microsoft.com/office/drawing/2014/main" id="{016EC4D1-F635-FB0B-C4C9-8B3006B16E87}"/>
              </a:ext>
            </a:extLst>
          </p:cNvPr>
          <p:cNvCxnSpPr>
            <a:stCxn id="145" idx="1"/>
            <a:endCxn id="153" idx="3"/>
          </p:cNvCxnSpPr>
          <p:nvPr/>
        </p:nvCxnSpPr>
        <p:spPr>
          <a:xfrm flipH="1" flipV="1">
            <a:off x="7036707" y="2510698"/>
            <a:ext cx="573602" cy="74737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8" name="Gerade Verbindung mit Pfeil 157">
            <a:extLst>
              <a:ext uri="{FF2B5EF4-FFF2-40B4-BE49-F238E27FC236}">
                <a16:creationId xmlns:a16="http://schemas.microsoft.com/office/drawing/2014/main" id="{7F8AF69D-63A6-BB6A-B020-F4C20183069E}"/>
              </a:ext>
            </a:extLst>
          </p:cNvPr>
          <p:cNvCxnSpPr>
            <a:cxnSpLocks/>
            <a:stCxn id="145" idx="1"/>
            <a:endCxn id="152" idx="3"/>
          </p:cNvCxnSpPr>
          <p:nvPr/>
        </p:nvCxnSpPr>
        <p:spPr>
          <a:xfrm flipH="1" flipV="1">
            <a:off x="7036707" y="1966697"/>
            <a:ext cx="573602" cy="129137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59" name="Gerade Verbindung mit Pfeil 158">
            <a:extLst>
              <a:ext uri="{FF2B5EF4-FFF2-40B4-BE49-F238E27FC236}">
                <a16:creationId xmlns:a16="http://schemas.microsoft.com/office/drawing/2014/main" id="{E0072063-E071-5BFA-07F7-75E642B28E77}"/>
              </a:ext>
            </a:extLst>
          </p:cNvPr>
          <p:cNvCxnSpPr>
            <a:cxnSpLocks/>
            <a:stCxn id="148" idx="1"/>
            <a:endCxn id="156" idx="3"/>
          </p:cNvCxnSpPr>
          <p:nvPr/>
        </p:nvCxnSpPr>
        <p:spPr>
          <a:xfrm flipH="1" flipV="1">
            <a:off x="7036707" y="3429441"/>
            <a:ext cx="573602" cy="54964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4" name="Abgerundetes Rechteck 45">
            <a:extLst>
              <a:ext uri="{FF2B5EF4-FFF2-40B4-BE49-F238E27FC236}">
                <a16:creationId xmlns:a16="http://schemas.microsoft.com/office/drawing/2014/main" id="{6EC8F9F0-0814-58A0-1A03-1B7B7F229B7A}"/>
              </a:ext>
            </a:extLst>
          </p:cNvPr>
          <p:cNvSpPr/>
          <p:nvPr/>
        </p:nvSpPr>
        <p:spPr>
          <a:xfrm>
            <a:off x="10669915" y="12477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PC</a:t>
            </a:r>
          </a:p>
        </p:txBody>
      </p:sp>
      <p:sp>
        <p:nvSpPr>
          <p:cNvPr id="165" name="Abgerundetes Rechteck 46">
            <a:extLst>
              <a:ext uri="{FF2B5EF4-FFF2-40B4-BE49-F238E27FC236}">
                <a16:creationId xmlns:a16="http://schemas.microsoft.com/office/drawing/2014/main" id="{3A261E11-A8FF-8461-9D6C-DB4253244219}"/>
              </a:ext>
            </a:extLst>
          </p:cNvPr>
          <p:cNvSpPr/>
          <p:nvPr/>
        </p:nvSpPr>
        <p:spPr>
          <a:xfrm>
            <a:off x="12015901" y="125222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</a:t>
            </a:r>
          </a:p>
        </p:txBody>
      </p:sp>
      <p:cxnSp>
        <p:nvCxnSpPr>
          <p:cNvPr id="166" name="Gerade Verbindung mit Pfeil 165">
            <a:extLst>
              <a:ext uri="{FF2B5EF4-FFF2-40B4-BE49-F238E27FC236}">
                <a16:creationId xmlns:a16="http://schemas.microsoft.com/office/drawing/2014/main" id="{1D0C2E28-ECAC-7C41-C57C-93E87A3CDD27}"/>
              </a:ext>
            </a:extLst>
          </p:cNvPr>
          <p:cNvCxnSpPr>
            <a:stCxn id="129" idx="3"/>
            <a:endCxn id="164" idx="1"/>
          </p:cNvCxnSpPr>
          <p:nvPr/>
        </p:nvCxnSpPr>
        <p:spPr>
          <a:xfrm>
            <a:off x="9861228" y="1470569"/>
            <a:ext cx="808687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67" name="Gerade Verbindung mit Pfeil 166">
            <a:extLst>
              <a:ext uri="{FF2B5EF4-FFF2-40B4-BE49-F238E27FC236}">
                <a16:creationId xmlns:a16="http://schemas.microsoft.com/office/drawing/2014/main" id="{F54F4961-4CD8-1757-6D3E-4ED507AC3D06}"/>
              </a:ext>
            </a:extLst>
          </p:cNvPr>
          <p:cNvCxnSpPr>
            <a:stCxn id="164" idx="3"/>
            <a:endCxn id="165" idx="1"/>
          </p:cNvCxnSpPr>
          <p:nvPr/>
        </p:nvCxnSpPr>
        <p:spPr>
          <a:xfrm>
            <a:off x="11207214" y="1470569"/>
            <a:ext cx="808687" cy="443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68" name="Rechteck 167">
            <a:extLst>
              <a:ext uri="{FF2B5EF4-FFF2-40B4-BE49-F238E27FC236}">
                <a16:creationId xmlns:a16="http://schemas.microsoft.com/office/drawing/2014/main" id="{CF8AC0D9-3EBA-3573-B442-A8577BA331CA}"/>
              </a:ext>
            </a:extLst>
          </p:cNvPr>
          <p:cNvSpPr/>
          <p:nvPr/>
        </p:nvSpPr>
        <p:spPr>
          <a:xfrm>
            <a:off x="7223735" y="1267361"/>
            <a:ext cx="1425832" cy="32767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operationalState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lifecycleState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9" name="Gerade Verbindung mit Pfeil 168">
            <a:extLst>
              <a:ext uri="{FF2B5EF4-FFF2-40B4-BE49-F238E27FC236}">
                <a16:creationId xmlns:a16="http://schemas.microsoft.com/office/drawing/2014/main" id="{BA0DE7E0-3E00-4D1E-00E4-096475C7D555}"/>
              </a:ext>
            </a:extLst>
          </p:cNvPr>
          <p:cNvCxnSpPr>
            <a:cxnSpLocks/>
            <a:stCxn id="168" idx="3"/>
            <a:endCxn id="129" idx="1"/>
          </p:cNvCxnSpPr>
          <p:nvPr/>
        </p:nvCxnSpPr>
        <p:spPr>
          <a:xfrm>
            <a:off x="8649567" y="1431200"/>
            <a:ext cx="674362" cy="3936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0" name="Abgerundetes Rechteck 66">
            <a:extLst>
              <a:ext uri="{FF2B5EF4-FFF2-40B4-BE49-F238E27FC236}">
                <a16:creationId xmlns:a16="http://schemas.microsoft.com/office/drawing/2014/main" id="{E923FF91-857D-1980-0058-CEC6AE11A650}"/>
              </a:ext>
            </a:extLst>
          </p:cNvPr>
          <p:cNvSpPr/>
          <p:nvPr/>
        </p:nvSpPr>
        <p:spPr>
          <a:xfrm>
            <a:off x="13107118" y="1263479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StringProfile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1" name="Gerade Verbindung mit Pfeil 170">
            <a:extLst>
              <a:ext uri="{FF2B5EF4-FFF2-40B4-BE49-F238E27FC236}">
                <a16:creationId xmlns:a16="http://schemas.microsoft.com/office/drawing/2014/main" id="{57E5131C-F4A7-B1C2-99E2-BDAAC61E1664}"/>
              </a:ext>
            </a:extLst>
          </p:cNvPr>
          <p:cNvCxnSpPr>
            <a:cxnSpLocks/>
            <a:stCxn id="170" idx="1"/>
            <a:endCxn id="165" idx="3"/>
          </p:cNvCxnSpPr>
          <p:nvPr/>
        </p:nvCxnSpPr>
        <p:spPr>
          <a:xfrm flipH="1" flipV="1">
            <a:off x="12553200" y="1475006"/>
            <a:ext cx="553918" cy="1125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172" name="Rechteck 171">
            <a:extLst>
              <a:ext uri="{FF2B5EF4-FFF2-40B4-BE49-F238E27FC236}">
                <a16:creationId xmlns:a16="http://schemas.microsoft.com/office/drawing/2014/main" id="{EB4B0C19-05A4-9F67-7DF1-843375E09128}"/>
              </a:ext>
            </a:extLst>
          </p:cNvPr>
          <p:cNvSpPr/>
          <p:nvPr/>
        </p:nvSpPr>
        <p:spPr>
          <a:xfrm>
            <a:off x="14843522" y="1287852"/>
            <a:ext cx="1425832" cy="678846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- mediatorVmTemplateName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mediatorUserName</a:t>
            </a:r>
          </a:p>
          <a:p>
            <a:pPr defTabSz="914400"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mediatorUserPassword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3" name="Rechteck 172">
            <a:extLst>
              <a:ext uri="{FF2B5EF4-FFF2-40B4-BE49-F238E27FC236}">
                <a16:creationId xmlns:a16="http://schemas.microsoft.com/office/drawing/2014/main" id="{4CBD0BBA-3755-9310-47FE-8B5EF03DB68E}"/>
              </a:ext>
            </a:extLst>
          </p:cNvPr>
          <p:cNvSpPr/>
          <p:nvPr/>
        </p:nvSpPr>
        <p:spPr>
          <a:xfrm>
            <a:off x="14843522" y="2015733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stringValue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74" name="Gerade Verbindung mit Pfeil 173">
            <a:extLst>
              <a:ext uri="{FF2B5EF4-FFF2-40B4-BE49-F238E27FC236}">
                <a16:creationId xmlns:a16="http://schemas.microsoft.com/office/drawing/2014/main" id="{3E00DD38-E312-FDAE-E0CF-019349FE88A3}"/>
              </a:ext>
            </a:extLst>
          </p:cNvPr>
          <p:cNvCxnSpPr>
            <a:cxnSpLocks/>
            <a:stCxn id="170" idx="3"/>
            <a:endCxn id="172" idx="1"/>
          </p:cNvCxnSpPr>
          <p:nvPr/>
        </p:nvCxnSpPr>
        <p:spPr>
          <a:xfrm>
            <a:off x="14268571" y="1486265"/>
            <a:ext cx="574951" cy="14101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75" name="Gerade Verbindung mit Pfeil 174">
            <a:extLst>
              <a:ext uri="{FF2B5EF4-FFF2-40B4-BE49-F238E27FC236}">
                <a16:creationId xmlns:a16="http://schemas.microsoft.com/office/drawing/2014/main" id="{134A9A26-D904-FED7-A00D-A8B5BACBD1F1}"/>
              </a:ext>
            </a:extLst>
          </p:cNvPr>
          <p:cNvCxnSpPr>
            <a:stCxn id="170" idx="3"/>
            <a:endCxn id="173" idx="1"/>
          </p:cNvCxnSpPr>
          <p:nvPr/>
        </p:nvCxnSpPr>
        <p:spPr>
          <a:xfrm>
            <a:off x="14268571" y="1486265"/>
            <a:ext cx="574951" cy="69750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78" name="Abgerundetes Rechteck 2">
            <a:extLst>
              <a:ext uri="{FF2B5EF4-FFF2-40B4-BE49-F238E27FC236}">
                <a16:creationId xmlns:a16="http://schemas.microsoft.com/office/drawing/2014/main" id="{5D271881-6F30-DFD6-72F1-3F674E68933F}"/>
              </a:ext>
            </a:extLst>
          </p:cNvPr>
          <p:cNvSpPr/>
          <p:nvPr/>
        </p:nvSpPr>
        <p:spPr>
          <a:xfrm>
            <a:off x="10669914" y="250204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FD</a:t>
            </a:r>
          </a:p>
        </p:txBody>
      </p:sp>
      <p:cxnSp>
        <p:nvCxnSpPr>
          <p:cNvPr id="179" name="Gerade Verbindung mit Pfeil 178">
            <a:extLst>
              <a:ext uri="{FF2B5EF4-FFF2-40B4-BE49-F238E27FC236}">
                <a16:creationId xmlns:a16="http://schemas.microsoft.com/office/drawing/2014/main" id="{140A27B0-12E3-6EFB-FFEB-53372328F579}"/>
              </a:ext>
            </a:extLst>
          </p:cNvPr>
          <p:cNvCxnSpPr>
            <a:cxnSpLocks/>
            <a:stCxn id="129" idx="2"/>
            <a:endCxn id="178" idx="0"/>
          </p:cNvCxnSpPr>
          <p:nvPr/>
        </p:nvCxnSpPr>
        <p:spPr>
          <a:xfrm>
            <a:off x="9592579" y="1693355"/>
            <a:ext cx="1345985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83" name="Abgerundetes Rechteck 2">
            <a:extLst>
              <a:ext uri="{FF2B5EF4-FFF2-40B4-BE49-F238E27FC236}">
                <a16:creationId xmlns:a16="http://schemas.microsoft.com/office/drawing/2014/main" id="{081EC501-C2CA-9E15-39FF-56B5A787FDD0}"/>
              </a:ext>
            </a:extLst>
          </p:cNvPr>
          <p:cNvSpPr/>
          <p:nvPr/>
        </p:nvSpPr>
        <p:spPr>
          <a:xfrm>
            <a:off x="10669914" y="577726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</a:t>
            </a:r>
          </a:p>
        </p:txBody>
      </p:sp>
      <p:cxnSp>
        <p:nvCxnSpPr>
          <p:cNvPr id="190" name="Gerade Verbindung mit Pfeil 189">
            <a:extLst>
              <a:ext uri="{FF2B5EF4-FFF2-40B4-BE49-F238E27FC236}">
                <a16:creationId xmlns:a16="http://schemas.microsoft.com/office/drawing/2014/main" id="{296A82BB-6F95-7547-C6E1-A06AE5A97651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>
            <a:off x="10938564" y="2947613"/>
            <a:ext cx="0" cy="282965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3" name="Rechteck 192">
            <a:extLst>
              <a:ext uri="{FF2B5EF4-FFF2-40B4-BE49-F238E27FC236}">
                <a16:creationId xmlns:a16="http://schemas.microsoft.com/office/drawing/2014/main" id="{0EBFB0DE-9E6A-84BE-0CC5-FB4877E6209C}"/>
              </a:ext>
            </a:extLst>
          </p:cNvPr>
          <p:cNvSpPr/>
          <p:nvPr/>
        </p:nvSpPr>
        <p:spPr>
          <a:xfrm>
            <a:off x="12146587" y="5835917"/>
            <a:ext cx="1425832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94" name="Gerade Verbindung mit Pfeil 193">
            <a:extLst>
              <a:ext uri="{FF2B5EF4-FFF2-40B4-BE49-F238E27FC236}">
                <a16:creationId xmlns:a16="http://schemas.microsoft.com/office/drawing/2014/main" id="{30D22D7A-9AC9-DD60-5253-1BC73B206C29}"/>
              </a:ext>
            </a:extLst>
          </p:cNvPr>
          <p:cNvCxnSpPr>
            <a:cxnSpLocks/>
            <a:stCxn id="183" idx="3"/>
            <a:endCxn id="193" idx="1"/>
          </p:cNvCxnSpPr>
          <p:nvPr/>
        </p:nvCxnSpPr>
        <p:spPr>
          <a:xfrm>
            <a:off x="11207213" y="6000055"/>
            <a:ext cx="939374" cy="38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199" name="Abgerundetes Rechteck 2">
            <a:extLst>
              <a:ext uri="{FF2B5EF4-FFF2-40B4-BE49-F238E27FC236}">
                <a16:creationId xmlns:a16="http://schemas.microsoft.com/office/drawing/2014/main" id="{B08CDC80-9681-7C36-4CBD-B2099103EA1A}"/>
              </a:ext>
            </a:extLst>
          </p:cNvPr>
          <p:cNvSpPr/>
          <p:nvPr/>
        </p:nvSpPr>
        <p:spPr>
          <a:xfrm>
            <a:off x="10669914" y="6891766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FCP</a:t>
            </a:r>
          </a:p>
        </p:txBody>
      </p:sp>
      <p:cxnSp>
        <p:nvCxnSpPr>
          <p:cNvPr id="202" name="Gerade Verbindung mit Pfeil 201">
            <a:extLst>
              <a:ext uri="{FF2B5EF4-FFF2-40B4-BE49-F238E27FC236}">
                <a16:creationId xmlns:a16="http://schemas.microsoft.com/office/drawing/2014/main" id="{71E46005-C51C-4CCB-EF13-C0C55DA3B420}"/>
              </a:ext>
            </a:extLst>
          </p:cNvPr>
          <p:cNvCxnSpPr>
            <a:cxnSpLocks/>
            <a:stCxn id="183" idx="2"/>
            <a:endCxn id="199" idx="0"/>
          </p:cNvCxnSpPr>
          <p:nvPr/>
        </p:nvCxnSpPr>
        <p:spPr>
          <a:xfrm>
            <a:off x="10938564" y="6222841"/>
            <a:ext cx="0" cy="668925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05" name="Gerade Verbindung mit Pfeil 204">
            <a:extLst>
              <a:ext uri="{FF2B5EF4-FFF2-40B4-BE49-F238E27FC236}">
                <a16:creationId xmlns:a16="http://schemas.microsoft.com/office/drawing/2014/main" id="{6788FE90-8D70-D6A1-9340-2FB938146C10}"/>
              </a:ext>
            </a:extLst>
          </p:cNvPr>
          <p:cNvCxnSpPr>
            <a:cxnSpLocks/>
            <a:stCxn id="199" idx="1"/>
            <a:endCxn id="131" idx="3"/>
          </p:cNvCxnSpPr>
          <p:nvPr/>
        </p:nvCxnSpPr>
        <p:spPr>
          <a:xfrm flipH="1">
            <a:off x="9861228" y="7114552"/>
            <a:ext cx="808686" cy="82139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ysDash"/>
            <a:miter lim="800000"/>
            <a:tailEnd type="arrow"/>
          </a:ln>
          <a:effectLst/>
        </p:spPr>
      </p:cxnSp>
      <p:sp>
        <p:nvSpPr>
          <p:cNvPr id="210" name="Rechteck 209">
            <a:extLst>
              <a:ext uri="{FF2B5EF4-FFF2-40B4-BE49-F238E27FC236}">
                <a16:creationId xmlns:a16="http://schemas.microsoft.com/office/drawing/2014/main" id="{9BC48371-0AF2-465F-826E-D379F9BB6507}"/>
              </a:ext>
            </a:extLst>
          </p:cNvPr>
          <p:cNvSpPr/>
          <p:nvPr/>
        </p:nvSpPr>
        <p:spPr>
          <a:xfrm>
            <a:off x="5610875" y="7837998"/>
            <a:ext cx="1425832" cy="307488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Status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interfaceStatus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11" name="Gerade Verbindung mit Pfeil 210">
            <a:extLst>
              <a:ext uri="{FF2B5EF4-FFF2-40B4-BE49-F238E27FC236}">
                <a16:creationId xmlns:a16="http://schemas.microsoft.com/office/drawing/2014/main" id="{FD15BF2E-431D-FF86-B0A9-F508E3870F53}"/>
              </a:ext>
            </a:extLst>
          </p:cNvPr>
          <p:cNvCxnSpPr>
            <a:cxnSpLocks/>
            <a:stCxn id="29" idx="1"/>
            <a:endCxn id="210" idx="3"/>
          </p:cNvCxnSpPr>
          <p:nvPr/>
        </p:nvCxnSpPr>
        <p:spPr>
          <a:xfrm flipH="1">
            <a:off x="7036707" y="7938458"/>
            <a:ext cx="573603" cy="5328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16" name="Abgerundetes Rechteck 1">
            <a:extLst>
              <a:ext uri="{FF2B5EF4-FFF2-40B4-BE49-F238E27FC236}">
                <a16:creationId xmlns:a16="http://schemas.microsoft.com/office/drawing/2014/main" id="{E4A62BC8-924C-84E9-9ED3-A6A081AB7FE4}"/>
              </a:ext>
            </a:extLst>
          </p:cNvPr>
          <p:cNvSpPr/>
          <p:nvPr/>
        </p:nvSpPr>
        <p:spPr>
          <a:xfrm>
            <a:off x="18682092" y="5203483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CC</a:t>
            </a:r>
          </a:p>
        </p:txBody>
      </p:sp>
      <p:sp>
        <p:nvSpPr>
          <p:cNvPr id="217" name="Abgerundetes Rechteck 2">
            <a:extLst>
              <a:ext uri="{FF2B5EF4-FFF2-40B4-BE49-F238E27FC236}">
                <a16:creationId xmlns:a16="http://schemas.microsoft.com/office/drawing/2014/main" id="{99DFCE16-D31D-A2C4-AF66-C2D2E0DD8F69}"/>
              </a:ext>
            </a:extLst>
          </p:cNvPr>
          <p:cNvSpPr/>
          <p:nvPr/>
        </p:nvSpPr>
        <p:spPr>
          <a:xfrm>
            <a:off x="18682092" y="6457742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LTP</a:t>
            </a:r>
          </a:p>
        </p:txBody>
      </p:sp>
      <p:sp>
        <p:nvSpPr>
          <p:cNvPr id="218" name="Abgerundetes Rechteck 3">
            <a:extLst>
              <a:ext uri="{FF2B5EF4-FFF2-40B4-BE49-F238E27FC236}">
                <a16:creationId xmlns:a16="http://schemas.microsoft.com/office/drawing/2014/main" id="{D91288CE-E056-17B7-03D1-9F4B70721B71}"/>
              </a:ext>
            </a:extLst>
          </p:cNvPr>
          <p:cNvSpPr/>
          <p:nvPr/>
        </p:nvSpPr>
        <p:spPr>
          <a:xfrm>
            <a:off x="18682092" y="7712001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LP</a:t>
            </a:r>
          </a:p>
        </p:txBody>
      </p:sp>
      <p:cxnSp>
        <p:nvCxnSpPr>
          <p:cNvPr id="219" name="Gerade Verbindung mit Pfeil 218">
            <a:extLst>
              <a:ext uri="{FF2B5EF4-FFF2-40B4-BE49-F238E27FC236}">
                <a16:creationId xmlns:a16="http://schemas.microsoft.com/office/drawing/2014/main" id="{F3812ADC-C552-3888-AD96-B6C6C4A66D2D}"/>
              </a:ext>
            </a:extLst>
          </p:cNvPr>
          <p:cNvCxnSpPr>
            <a:stCxn id="216" idx="2"/>
            <a:endCxn id="217" idx="0"/>
          </p:cNvCxnSpPr>
          <p:nvPr/>
        </p:nvCxnSpPr>
        <p:spPr>
          <a:xfrm>
            <a:off x="18950741" y="5649055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220" name="Gerade Verbindung mit Pfeil 219">
            <a:extLst>
              <a:ext uri="{FF2B5EF4-FFF2-40B4-BE49-F238E27FC236}">
                <a16:creationId xmlns:a16="http://schemas.microsoft.com/office/drawing/2014/main" id="{58DA10C6-91F7-D5E5-C61D-C688A420AA08}"/>
              </a:ext>
            </a:extLst>
          </p:cNvPr>
          <p:cNvCxnSpPr>
            <a:stCxn id="217" idx="2"/>
            <a:endCxn id="218" idx="0"/>
          </p:cNvCxnSpPr>
          <p:nvPr/>
        </p:nvCxnSpPr>
        <p:spPr>
          <a:xfrm>
            <a:off x="18950741" y="6903314"/>
            <a:ext cx="0" cy="80868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22" name="Abgerundetes Rechteck 88">
            <a:extLst>
              <a:ext uri="{FF2B5EF4-FFF2-40B4-BE49-F238E27FC236}">
                <a16:creationId xmlns:a16="http://schemas.microsoft.com/office/drawing/2014/main" id="{CA0AEA30-500F-B7AD-AACA-E7D8EDE7AACC}"/>
              </a:ext>
            </a:extLst>
          </p:cNvPr>
          <p:cNvSpPr/>
          <p:nvPr/>
        </p:nvSpPr>
        <p:spPr>
          <a:xfrm>
            <a:off x="16968472" y="8433018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TcpServer [1]</a:t>
            </a:r>
          </a:p>
        </p:txBody>
      </p:sp>
      <p:sp>
        <p:nvSpPr>
          <p:cNvPr id="223" name="Abgerundetes Rechteck 89">
            <a:extLst>
              <a:ext uri="{FF2B5EF4-FFF2-40B4-BE49-F238E27FC236}">
                <a16:creationId xmlns:a16="http://schemas.microsoft.com/office/drawing/2014/main" id="{044D5B40-A091-29AF-E39A-C4A69555BAD1}"/>
              </a:ext>
            </a:extLst>
          </p:cNvPr>
          <p:cNvSpPr/>
          <p:nvPr/>
        </p:nvSpPr>
        <p:spPr>
          <a:xfrm>
            <a:off x="16968472" y="7712001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[*]</a:t>
            </a:r>
          </a:p>
        </p:txBody>
      </p:sp>
      <p:cxnSp>
        <p:nvCxnSpPr>
          <p:cNvPr id="224" name="Gerade Verbindung mit Pfeil 223">
            <a:extLst>
              <a:ext uri="{FF2B5EF4-FFF2-40B4-BE49-F238E27FC236}">
                <a16:creationId xmlns:a16="http://schemas.microsoft.com/office/drawing/2014/main" id="{C4923F46-6E35-ECDC-0AF1-6BAC283218B2}"/>
              </a:ext>
            </a:extLst>
          </p:cNvPr>
          <p:cNvCxnSpPr>
            <a:stCxn id="223" idx="3"/>
            <a:endCxn id="218" idx="1"/>
          </p:cNvCxnSpPr>
          <p:nvPr/>
        </p:nvCxnSpPr>
        <p:spPr>
          <a:xfrm>
            <a:off x="18129924" y="7934787"/>
            <a:ext cx="552168" cy="0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225" name="Gerade Verbindung mit Pfeil 224">
            <a:extLst>
              <a:ext uri="{FF2B5EF4-FFF2-40B4-BE49-F238E27FC236}">
                <a16:creationId xmlns:a16="http://schemas.microsoft.com/office/drawing/2014/main" id="{C9D65C52-F7D7-4E03-4D70-221077F95329}"/>
              </a:ext>
            </a:extLst>
          </p:cNvPr>
          <p:cNvCxnSpPr>
            <a:stCxn id="222" idx="3"/>
            <a:endCxn id="218" idx="1"/>
          </p:cNvCxnSpPr>
          <p:nvPr/>
        </p:nvCxnSpPr>
        <p:spPr>
          <a:xfrm flipV="1">
            <a:off x="18129924" y="7934787"/>
            <a:ext cx="552168" cy="721017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30" name="Rechteck 229">
            <a:extLst>
              <a:ext uri="{FF2B5EF4-FFF2-40B4-BE49-F238E27FC236}">
                <a16:creationId xmlns:a16="http://schemas.microsoft.com/office/drawing/2014/main" id="{3A0F905E-26BB-EADC-40B0-7140549F1DE4}"/>
              </a:ext>
            </a:extLst>
          </p:cNvPr>
          <p:cNvSpPr/>
          <p:nvPr/>
        </p:nvSpPr>
        <p:spPr>
          <a:xfrm>
            <a:off x="14969038" y="8429693"/>
            <a:ext cx="1425832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Configuration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localAddress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localPort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1" name="Gerade Verbindung mit Pfeil 230">
            <a:extLst>
              <a:ext uri="{FF2B5EF4-FFF2-40B4-BE49-F238E27FC236}">
                <a16:creationId xmlns:a16="http://schemas.microsoft.com/office/drawing/2014/main" id="{E2AA1378-2624-C82E-46F5-DAE3598C92F9}"/>
              </a:ext>
            </a:extLst>
          </p:cNvPr>
          <p:cNvCxnSpPr>
            <a:stCxn id="222" idx="1"/>
            <a:endCxn id="230" idx="3"/>
          </p:cNvCxnSpPr>
          <p:nvPr/>
        </p:nvCxnSpPr>
        <p:spPr>
          <a:xfrm flipH="1" flipV="1">
            <a:off x="16394870" y="8646176"/>
            <a:ext cx="573602" cy="962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32" name="Rechteck 231">
            <a:extLst>
              <a:ext uri="{FF2B5EF4-FFF2-40B4-BE49-F238E27FC236}">
                <a16:creationId xmlns:a16="http://schemas.microsoft.com/office/drawing/2014/main" id="{D24AFCEE-3415-2633-C02F-42F690432881}"/>
              </a:ext>
            </a:extLst>
          </p:cNvPr>
          <p:cNvSpPr/>
          <p:nvPr/>
        </p:nvSpPr>
        <p:spPr>
          <a:xfrm>
            <a:off x="14969038" y="7699495"/>
            <a:ext cx="1425832" cy="474769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Capability</a:t>
            </a:r>
            <a:endParaRPr kumimoji="0" lang="de-DE" sz="800" b="0" i="0" u="sng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mediatorUser</a:t>
            </a: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Password</a:t>
            </a: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35" name="Gerade Verbindung mit Pfeil 234">
            <a:extLst>
              <a:ext uri="{FF2B5EF4-FFF2-40B4-BE49-F238E27FC236}">
                <a16:creationId xmlns:a16="http://schemas.microsoft.com/office/drawing/2014/main" id="{4A5D1682-99D1-7876-EEFC-EA1180222379}"/>
              </a:ext>
            </a:extLst>
          </p:cNvPr>
          <p:cNvCxnSpPr>
            <a:cxnSpLocks/>
            <a:stCxn id="223" idx="1"/>
            <a:endCxn id="232" idx="3"/>
          </p:cNvCxnSpPr>
          <p:nvPr/>
        </p:nvCxnSpPr>
        <p:spPr>
          <a:xfrm flipH="1">
            <a:off x="16394870" y="7934787"/>
            <a:ext cx="573602" cy="209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41" name="Rechteck 240">
            <a:extLst>
              <a:ext uri="{FF2B5EF4-FFF2-40B4-BE49-F238E27FC236}">
                <a16:creationId xmlns:a16="http://schemas.microsoft.com/office/drawing/2014/main" id="{8AE67609-FF85-AA36-4EAC-A2C055DD14DD}"/>
              </a:ext>
            </a:extLst>
          </p:cNvPr>
          <p:cNvSpPr/>
          <p:nvPr/>
        </p:nvSpPr>
        <p:spPr>
          <a:xfrm>
            <a:off x="19771558" y="5202844"/>
            <a:ext cx="1471132" cy="445572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sng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ControlConstructPac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externalLabel=deviceName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deviceModelName</a:t>
            </a:r>
            <a:endParaRPr kumimoji="0" lang="de-DE" sz="8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42" name="Gerade Verbindung mit Pfeil 241">
            <a:extLst>
              <a:ext uri="{FF2B5EF4-FFF2-40B4-BE49-F238E27FC236}">
                <a16:creationId xmlns:a16="http://schemas.microsoft.com/office/drawing/2014/main" id="{D02907C9-C5BE-29CD-04AE-14DC78D81D7F}"/>
              </a:ext>
            </a:extLst>
          </p:cNvPr>
          <p:cNvCxnSpPr>
            <a:cxnSpLocks/>
            <a:stCxn id="216" idx="3"/>
            <a:endCxn id="241" idx="1"/>
          </p:cNvCxnSpPr>
          <p:nvPr/>
        </p:nvCxnSpPr>
        <p:spPr>
          <a:xfrm flipV="1">
            <a:off x="19219391" y="5425630"/>
            <a:ext cx="552167" cy="639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5" name="Abgerundetes Rechteck 1">
            <a:extLst>
              <a:ext uri="{FF2B5EF4-FFF2-40B4-BE49-F238E27FC236}">
                <a16:creationId xmlns:a16="http://schemas.microsoft.com/office/drawing/2014/main" id="{0624A5C3-D3B9-BB7E-0BD0-0012F0BB8FBE}"/>
              </a:ext>
            </a:extLst>
          </p:cNvPr>
          <p:cNvSpPr/>
          <p:nvPr/>
        </p:nvSpPr>
        <p:spPr>
          <a:xfrm>
            <a:off x="14134734" y="9281718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6" name="Abgerundetes Rechteck 2">
            <a:extLst>
              <a:ext uri="{FF2B5EF4-FFF2-40B4-BE49-F238E27FC236}">
                <a16:creationId xmlns:a16="http://schemas.microsoft.com/office/drawing/2014/main" id="{5FD1B592-B627-5A5A-AA41-A7B91547AE68}"/>
              </a:ext>
            </a:extLst>
          </p:cNvPr>
          <p:cNvSpPr/>
          <p:nvPr/>
        </p:nvSpPr>
        <p:spPr>
          <a:xfrm>
            <a:off x="14134734" y="10535977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57" name="Gerade Verbindung mit Pfeil 256">
            <a:extLst>
              <a:ext uri="{FF2B5EF4-FFF2-40B4-BE49-F238E27FC236}">
                <a16:creationId xmlns:a16="http://schemas.microsoft.com/office/drawing/2014/main" id="{B48E44D1-8330-80C7-3E84-A5EF43DBA4E1}"/>
              </a:ext>
            </a:extLst>
          </p:cNvPr>
          <p:cNvCxnSpPr>
            <a:stCxn id="255" idx="2"/>
            <a:endCxn id="256" idx="0"/>
          </p:cNvCxnSpPr>
          <p:nvPr/>
        </p:nvCxnSpPr>
        <p:spPr>
          <a:xfrm>
            <a:off x="14403383" y="9727290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58" name="Abgerundetes Rechteck 8">
            <a:extLst>
              <a:ext uri="{FF2B5EF4-FFF2-40B4-BE49-F238E27FC236}">
                <a16:creationId xmlns:a16="http://schemas.microsoft.com/office/drawing/2014/main" id="{1DB5ECCE-0529-9E73-AE92-2C49B712E8E7}"/>
              </a:ext>
            </a:extLst>
          </p:cNvPr>
          <p:cNvSpPr/>
          <p:nvPr/>
        </p:nvSpPr>
        <p:spPr>
          <a:xfrm>
            <a:off x="15224199" y="10520583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SnmpServer [1]</a:t>
            </a:r>
          </a:p>
        </p:txBody>
      </p:sp>
      <p:cxnSp>
        <p:nvCxnSpPr>
          <p:cNvPr id="259" name="Gerade Verbindung mit Pfeil 258">
            <a:extLst>
              <a:ext uri="{FF2B5EF4-FFF2-40B4-BE49-F238E27FC236}">
                <a16:creationId xmlns:a16="http://schemas.microsoft.com/office/drawing/2014/main" id="{48192E11-C1F9-7526-1DD7-BDA73B10C866}"/>
              </a:ext>
            </a:extLst>
          </p:cNvPr>
          <p:cNvCxnSpPr>
            <a:cxnSpLocks/>
            <a:stCxn id="258" idx="1"/>
            <a:endCxn id="256" idx="3"/>
          </p:cNvCxnSpPr>
          <p:nvPr/>
        </p:nvCxnSpPr>
        <p:spPr>
          <a:xfrm flipH="1">
            <a:off x="14672033" y="10743369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0" name="Abgerundetes Rechteck 89">
            <a:extLst>
              <a:ext uri="{FF2B5EF4-FFF2-40B4-BE49-F238E27FC236}">
                <a16:creationId xmlns:a16="http://schemas.microsoft.com/office/drawing/2014/main" id="{B422358F-0F33-890D-60EB-ADF8DB6F886F}"/>
              </a:ext>
            </a:extLst>
          </p:cNvPr>
          <p:cNvSpPr/>
          <p:nvPr/>
        </p:nvSpPr>
        <p:spPr>
          <a:xfrm>
            <a:off x="12422109" y="10522724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SnmpClient [1]</a:t>
            </a:r>
          </a:p>
        </p:txBody>
      </p:sp>
      <p:cxnSp>
        <p:nvCxnSpPr>
          <p:cNvPr id="261" name="Gerade Verbindung mit Pfeil 260">
            <a:extLst>
              <a:ext uri="{FF2B5EF4-FFF2-40B4-BE49-F238E27FC236}">
                <a16:creationId xmlns:a16="http://schemas.microsoft.com/office/drawing/2014/main" id="{135B6C77-E883-AABF-A35F-24D77B29B66F}"/>
              </a:ext>
            </a:extLst>
          </p:cNvPr>
          <p:cNvCxnSpPr>
            <a:cxnSpLocks/>
            <a:stCxn id="260" idx="3"/>
            <a:endCxn id="256" idx="1"/>
          </p:cNvCxnSpPr>
          <p:nvPr/>
        </p:nvCxnSpPr>
        <p:spPr>
          <a:xfrm>
            <a:off x="13583562" y="10745510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62" name="Rechteck 261">
            <a:extLst>
              <a:ext uri="{FF2B5EF4-FFF2-40B4-BE49-F238E27FC236}">
                <a16:creationId xmlns:a16="http://schemas.microsoft.com/office/drawing/2014/main" id="{87873D30-2BDD-9834-C7A7-EA52C14A631E}"/>
              </a:ext>
            </a:extLst>
          </p:cNvPr>
          <p:cNvSpPr/>
          <p:nvPr/>
        </p:nvSpPr>
        <p:spPr>
          <a:xfrm>
            <a:off x="16957389" y="10521795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63" name="Gerade Verbindung mit Pfeil 262">
            <a:extLst>
              <a:ext uri="{FF2B5EF4-FFF2-40B4-BE49-F238E27FC236}">
                <a16:creationId xmlns:a16="http://schemas.microsoft.com/office/drawing/2014/main" id="{94D7A550-857D-353A-FF4B-C684C85B73B7}"/>
              </a:ext>
            </a:extLst>
          </p:cNvPr>
          <p:cNvCxnSpPr>
            <a:cxnSpLocks/>
            <a:stCxn id="258" idx="3"/>
            <a:endCxn id="262" idx="1"/>
          </p:cNvCxnSpPr>
          <p:nvPr/>
        </p:nvCxnSpPr>
        <p:spPr>
          <a:xfrm flipV="1">
            <a:off x="16385652" y="10737795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4" name="Rechteck 263">
            <a:extLst>
              <a:ext uri="{FF2B5EF4-FFF2-40B4-BE49-F238E27FC236}">
                <a16:creationId xmlns:a16="http://schemas.microsoft.com/office/drawing/2014/main" id="{EBFEF96A-5427-2197-E648-918795AE37B3}"/>
              </a:ext>
            </a:extLst>
          </p:cNvPr>
          <p:cNvSpPr/>
          <p:nvPr/>
        </p:nvSpPr>
        <p:spPr>
          <a:xfrm>
            <a:off x="11398770" y="10525569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65" name="Gerade Verbindung mit Pfeil 264">
            <a:extLst>
              <a:ext uri="{FF2B5EF4-FFF2-40B4-BE49-F238E27FC236}">
                <a16:creationId xmlns:a16="http://schemas.microsoft.com/office/drawing/2014/main" id="{91102010-72C4-FF4E-77F7-A592036BAC6A}"/>
              </a:ext>
            </a:extLst>
          </p:cNvPr>
          <p:cNvCxnSpPr>
            <a:cxnSpLocks/>
            <a:stCxn id="260" idx="1"/>
            <a:endCxn id="264" idx="3"/>
          </p:cNvCxnSpPr>
          <p:nvPr/>
        </p:nvCxnSpPr>
        <p:spPr>
          <a:xfrm flipH="1" flipV="1">
            <a:off x="11830770" y="10742052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6" name="Abgerundetes Rechteck 1">
            <a:extLst>
              <a:ext uri="{FF2B5EF4-FFF2-40B4-BE49-F238E27FC236}">
                <a16:creationId xmlns:a16="http://schemas.microsoft.com/office/drawing/2014/main" id="{B5F6C23A-180F-DEDC-F09E-C8DCBAB3658B}"/>
              </a:ext>
            </a:extLst>
          </p:cNvPr>
          <p:cNvSpPr/>
          <p:nvPr/>
        </p:nvSpPr>
        <p:spPr>
          <a:xfrm>
            <a:off x="4539857" y="9263790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</a:t>
            </a:r>
            <a:endParaRPr kumimoji="0" lang="de-DE" sz="105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7" name="Abgerundetes Rechteck 2">
            <a:extLst>
              <a:ext uri="{FF2B5EF4-FFF2-40B4-BE49-F238E27FC236}">
                <a16:creationId xmlns:a16="http://schemas.microsoft.com/office/drawing/2014/main" id="{9985935D-8D52-01AF-312B-9F91D95BB509}"/>
              </a:ext>
            </a:extLst>
          </p:cNvPr>
          <p:cNvSpPr/>
          <p:nvPr/>
        </p:nvSpPr>
        <p:spPr>
          <a:xfrm>
            <a:off x="4539857" y="10518049"/>
            <a:ext cx="537299" cy="445572"/>
          </a:xfrm>
          <a:prstGeom prst="roundRect">
            <a:avLst/>
          </a:prstGeom>
          <a:solidFill>
            <a:sysClr val="window" lastClr="FFFFFF">
              <a:lumMod val="65000"/>
            </a:sysClr>
          </a:solidFill>
          <a:ln w="12700" cap="flat" cmpd="sng" algn="ctr">
            <a:solidFill>
              <a:sysClr val="window" lastClr="FFFFFF">
                <a:lumMod val="50000"/>
              </a:sys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EPL</a:t>
            </a:r>
          </a:p>
        </p:txBody>
      </p:sp>
      <p:cxnSp>
        <p:nvCxnSpPr>
          <p:cNvPr id="268" name="Gerade Verbindung mit Pfeil 267">
            <a:extLst>
              <a:ext uri="{FF2B5EF4-FFF2-40B4-BE49-F238E27FC236}">
                <a16:creationId xmlns:a16="http://schemas.microsoft.com/office/drawing/2014/main" id="{A2807A54-9F60-B09B-A668-827575138DB5}"/>
              </a:ext>
            </a:extLst>
          </p:cNvPr>
          <p:cNvCxnSpPr>
            <a:stCxn id="266" idx="2"/>
            <a:endCxn id="267" idx="0"/>
          </p:cNvCxnSpPr>
          <p:nvPr/>
        </p:nvCxnSpPr>
        <p:spPr>
          <a:xfrm>
            <a:off x="4808506" y="9709362"/>
            <a:ext cx="0" cy="808686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69" name="Abgerundetes Rechteck 8">
            <a:extLst>
              <a:ext uri="{FF2B5EF4-FFF2-40B4-BE49-F238E27FC236}">
                <a16:creationId xmlns:a16="http://schemas.microsoft.com/office/drawing/2014/main" id="{AD2F12B9-6272-42FF-221E-C3C61690E8DD}"/>
              </a:ext>
            </a:extLst>
          </p:cNvPr>
          <p:cNvSpPr/>
          <p:nvPr/>
        </p:nvSpPr>
        <p:spPr>
          <a:xfrm>
            <a:off x="5629322" y="10502655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NetconfServer[1]</a:t>
            </a:r>
          </a:p>
        </p:txBody>
      </p:sp>
      <p:cxnSp>
        <p:nvCxnSpPr>
          <p:cNvPr id="270" name="Gerade Verbindung mit Pfeil 269">
            <a:extLst>
              <a:ext uri="{FF2B5EF4-FFF2-40B4-BE49-F238E27FC236}">
                <a16:creationId xmlns:a16="http://schemas.microsoft.com/office/drawing/2014/main" id="{93A98F19-9A41-C011-58EF-3E80CE45C755}"/>
              </a:ext>
            </a:extLst>
          </p:cNvPr>
          <p:cNvCxnSpPr>
            <a:cxnSpLocks/>
            <a:stCxn id="269" idx="1"/>
            <a:endCxn id="267" idx="3"/>
          </p:cNvCxnSpPr>
          <p:nvPr/>
        </p:nvCxnSpPr>
        <p:spPr>
          <a:xfrm flipH="1">
            <a:off x="5077156" y="10725441"/>
            <a:ext cx="552166" cy="1539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1" name="Abgerundetes Rechteck 89">
            <a:extLst>
              <a:ext uri="{FF2B5EF4-FFF2-40B4-BE49-F238E27FC236}">
                <a16:creationId xmlns:a16="http://schemas.microsoft.com/office/drawing/2014/main" id="{D3682311-09F4-75FF-E492-B072762E8AE2}"/>
              </a:ext>
            </a:extLst>
          </p:cNvPr>
          <p:cNvSpPr/>
          <p:nvPr/>
        </p:nvSpPr>
        <p:spPr>
          <a:xfrm>
            <a:off x="2827232" y="10504796"/>
            <a:ext cx="1161453" cy="445572"/>
          </a:xfrm>
          <a:prstGeom prst="roundRect">
            <a:avLst/>
          </a:prstGeom>
          <a:solidFill>
            <a:srgbClr val="4472C4">
              <a:lumMod val="60000"/>
              <a:lumOff val="40000"/>
            </a:srgbClr>
          </a:solidFill>
          <a:ln w="12700" cap="flat" cmpd="sng" algn="ctr">
            <a:solidFill>
              <a:srgbClr val="4472C4">
                <a:lumMod val="75000"/>
              </a:srgbClr>
            </a:solidFill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tlCol="0" anchor="ctr"/>
          <a:lstStyle/>
          <a:p>
            <a:pPr algn="ctr" defTabSz="914400"/>
            <a:r>
              <a:rPr kumimoji="0" lang="de-DE" sz="1050" b="0" i="0" u="none" strike="noStrike" kern="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NetconfClient [1]</a:t>
            </a:r>
          </a:p>
        </p:txBody>
      </p:sp>
      <p:cxnSp>
        <p:nvCxnSpPr>
          <p:cNvPr id="272" name="Gerade Verbindung mit Pfeil 271">
            <a:extLst>
              <a:ext uri="{FF2B5EF4-FFF2-40B4-BE49-F238E27FC236}">
                <a16:creationId xmlns:a16="http://schemas.microsoft.com/office/drawing/2014/main" id="{F968136D-DA1C-FDD9-C94E-320407CB7B47}"/>
              </a:ext>
            </a:extLst>
          </p:cNvPr>
          <p:cNvCxnSpPr>
            <a:cxnSpLocks/>
            <a:stCxn id="271" idx="3"/>
            <a:endCxn id="267" idx="1"/>
          </p:cNvCxnSpPr>
          <p:nvPr/>
        </p:nvCxnSpPr>
        <p:spPr>
          <a:xfrm>
            <a:off x="3988685" y="10727582"/>
            <a:ext cx="551172" cy="13253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dash"/>
            <a:miter lim="800000"/>
            <a:tailEnd type="triangle"/>
          </a:ln>
          <a:effectLst/>
        </p:spPr>
      </p:cxnSp>
      <p:sp>
        <p:nvSpPr>
          <p:cNvPr id="273" name="Rechteck 272">
            <a:extLst>
              <a:ext uri="{FF2B5EF4-FFF2-40B4-BE49-F238E27FC236}">
                <a16:creationId xmlns:a16="http://schemas.microsoft.com/office/drawing/2014/main" id="{771A5464-1E30-00C6-4AFD-A73D41A929FC}"/>
              </a:ext>
            </a:extLst>
          </p:cNvPr>
          <p:cNvSpPr/>
          <p:nvPr/>
        </p:nvSpPr>
        <p:spPr>
          <a:xfrm>
            <a:off x="7362512" y="10503867"/>
            <a:ext cx="432000" cy="432000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de-DE" sz="8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274" name="Gerade Verbindung mit Pfeil 273">
            <a:extLst>
              <a:ext uri="{FF2B5EF4-FFF2-40B4-BE49-F238E27FC236}">
                <a16:creationId xmlns:a16="http://schemas.microsoft.com/office/drawing/2014/main" id="{EC7C8802-3E9D-E370-EA0D-2699CDEFB92A}"/>
              </a:ext>
            </a:extLst>
          </p:cNvPr>
          <p:cNvCxnSpPr>
            <a:cxnSpLocks/>
            <a:stCxn id="269" idx="3"/>
            <a:endCxn id="273" idx="1"/>
          </p:cNvCxnSpPr>
          <p:nvPr/>
        </p:nvCxnSpPr>
        <p:spPr>
          <a:xfrm flipV="1">
            <a:off x="6790775" y="10719867"/>
            <a:ext cx="571737" cy="557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75" name="Rechteck 274">
            <a:extLst>
              <a:ext uri="{FF2B5EF4-FFF2-40B4-BE49-F238E27FC236}">
                <a16:creationId xmlns:a16="http://schemas.microsoft.com/office/drawing/2014/main" id="{FF45B9B1-440A-4FCD-45D5-59915C7C53C8}"/>
              </a:ext>
            </a:extLst>
          </p:cNvPr>
          <p:cNvSpPr/>
          <p:nvPr/>
        </p:nvSpPr>
        <p:spPr>
          <a:xfrm>
            <a:off x="1803893" y="10507641"/>
            <a:ext cx="432000" cy="432965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_CC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0">
                <a:solidFill>
                  <a:prstClr val="black"/>
                </a:solidFill>
                <a:latin typeface="Calibri" panose="020F0502020204030204"/>
              </a:rPr>
              <a:t>_LTP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_LP</a:t>
            </a:r>
          </a:p>
        </p:txBody>
      </p:sp>
      <p:cxnSp>
        <p:nvCxnSpPr>
          <p:cNvPr id="276" name="Gerade Verbindung mit Pfeil 275">
            <a:extLst>
              <a:ext uri="{FF2B5EF4-FFF2-40B4-BE49-F238E27FC236}">
                <a16:creationId xmlns:a16="http://schemas.microsoft.com/office/drawing/2014/main" id="{5ADE99BC-C10A-7918-9434-FFD8A652FF10}"/>
              </a:ext>
            </a:extLst>
          </p:cNvPr>
          <p:cNvCxnSpPr>
            <a:cxnSpLocks/>
            <a:stCxn id="271" idx="1"/>
            <a:endCxn id="275" idx="3"/>
          </p:cNvCxnSpPr>
          <p:nvPr/>
        </p:nvCxnSpPr>
        <p:spPr>
          <a:xfrm flipH="1" flipV="1">
            <a:off x="2235893" y="10724124"/>
            <a:ext cx="591339" cy="3458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2" name="Rechteck 1">
            <a:extLst>
              <a:ext uri="{FF2B5EF4-FFF2-40B4-BE49-F238E27FC236}">
                <a16:creationId xmlns:a16="http://schemas.microsoft.com/office/drawing/2014/main" id="{646DBA9D-E880-728B-E6F0-CC597E215D41}"/>
              </a:ext>
            </a:extLst>
          </p:cNvPr>
          <p:cNvSpPr/>
          <p:nvPr/>
        </p:nvSpPr>
        <p:spPr>
          <a:xfrm>
            <a:off x="6018055" y="9312805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8" name="Gerade Verbindung mit Pfeil 7">
            <a:extLst>
              <a:ext uri="{FF2B5EF4-FFF2-40B4-BE49-F238E27FC236}">
                <a16:creationId xmlns:a16="http://schemas.microsoft.com/office/drawing/2014/main" id="{90995353-8E96-46F2-FD06-4585E41DE660}"/>
              </a:ext>
            </a:extLst>
          </p:cNvPr>
          <p:cNvCxnSpPr>
            <a:cxnSpLocks/>
            <a:endCxn id="2" idx="1"/>
          </p:cNvCxnSpPr>
          <p:nvPr/>
        </p:nvCxnSpPr>
        <p:spPr>
          <a:xfrm flipV="1">
            <a:off x="5077156" y="9480842"/>
            <a:ext cx="940899" cy="5734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9" name="Rechteck 8">
            <a:extLst>
              <a:ext uri="{FF2B5EF4-FFF2-40B4-BE49-F238E27FC236}">
                <a16:creationId xmlns:a16="http://schemas.microsoft.com/office/drawing/2014/main" id="{AC07F7C7-09C5-CE6A-BB5C-15DF3424A6DB}"/>
              </a:ext>
            </a:extLst>
          </p:cNvPr>
          <p:cNvSpPr/>
          <p:nvPr/>
        </p:nvSpPr>
        <p:spPr>
          <a:xfrm>
            <a:off x="15599271" y="9340049"/>
            <a:ext cx="817085" cy="336074"/>
          </a:xfrm>
          <a:prstGeom prst="rect">
            <a:avLst/>
          </a:prstGeom>
          <a:solidFill>
            <a:sysClr val="window" lastClr="FFFFFF"/>
          </a:solidFill>
          <a:ln w="12700" cap="flat" cmpd="sng" algn="ctr">
            <a:solidFill>
              <a:srgbClr val="A5A5A5"/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name</a:t>
            </a:r>
          </a:p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de-DE" sz="800" b="0" i="0" u="none" strike="noStrike" kern="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- deviceName</a:t>
            </a:r>
          </a:p>
        </p:txBody>
      </p:sp>
      <p:cxnSp>
        <p:nvCxnSpPr>
          <p:cNvPr id="10" name="Gerade Verbindung mit Pfeil 9">
            <a:extLst>
              <a:ext uri="{FF2B5EF4-FFF2-40B4-BE49-F238E27FC236}">
                <a16:creationId xmlns:a16="http://schemas.microsoft.com/office/drawing/2014/main" id="{E0C4C5C4-5CF3-C93C-84DF-AFA8E24F54EA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14672033" y="9504504"/>
            <a:ext cx="927238" cy="3582"/>
          </a:xfrm>
          <a:prstGeom prst="straightConnector1">
            <a:avLst/>
          </a:prstGeom>
          <a:noFill/>
          <a:ln w="6350" cap="flat" cmpd="sng" algn="ctr">
            <a:solidFill>
              <a:srgbClr val="5B9BD5"/>
            </a:solidFill>
            <a:prstDash val="solid"/>
            <a:miter lim="800000"/>
            <a:tailEnd type="triangle"/>
          </a:ln>
          <a:effectLst/>
        </p:spPr>
      </p:cxnSp>
      <p:sp>
        <p:nvSpPr>
          <p:cNvPr id="3" name="Textfeld 2">
            <a:extLst>
              <a:ext uri="{FF2B5EF4-FFF2-40B4-BE49-F238E27FC236}">
                <a16:creationId xmlns:a16="http://schemas.microsoft.com/office/drawing/2014/main" id="{5109D698-528E-8C16-FDD2-EFF5529DF8F6}"/>
              </a:ext>
            </a:extLst>
          </p:cNvPr>
          <p:cNvSpPr txBox="1"/>
          <p:nvPr/>
        </p:nvSpPr>
        <p:spPr>
          <a:xfrm>
            <a:off x="1438334" y="3885312"/>
            <a:ext cx="3755514" cy="1923604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{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"network-topology:node": [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{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"node-id": "&lt;&lt;nodename&gt;&gt;",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"netconf-node-topology:sleep-factor": "1",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"netconf-node-topology:max-connection-attempts": 8,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"netconf-node-topology:username": "&lt;&lt;username&gt;&gt;",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"netconf-node-topology:password": "&lt;&lt;password&gt;&gt;",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"netconf-node-topology:port": &lt;&lt;netconf_port&gt;&gt;,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"netconf-node-topology:host": "&lt;&lt;mediatror_IP&gt;&gt;",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"netconf-node-optional:notification": {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    "subscribe": true,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    "stream-name": "NETCONF"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    }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    }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    ]</a:t>
            </a:r>
            <a:br>
              <a:rPr lang="de-DE" sz="700"/>
            </a:br>
            <a:r>
              <a:rPr lang="de-DE" sz="700" b="0" i="0">
                <a:solidFill>
                  <a:srgbClr val="242424"/>
                </a:solidFill>
                <a:effectLst/>
                <a:latin typeface="Cascadia Mono" panose="020B0609020000020004" pitchFamily="49" charset="0"/>
              </a:rPr>
              <a:t>}</a:t>
            </a:r>
            <a:endParaRPr lang="de-DE" sz="700"/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6D070BBD-EEC8-9487-4EAA-3C8B3EA833EC}"/>
              </a:ext>
            </a:extLst>
          </p:cNvPr>
          <p:cNvSpPr/>
          <p:nvPr/>
        </p:nvSpPr>
        <p:spPr>
          <a:xfrm>
            <a:off x="13204100" y="2863025"/>
            <a:ext cx="774699" cy="389868"/>
          </a:xfrm>
          <a:prstGeom prst="rect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800">
                <a:solidFill>
                  <a:schemeClr val="tx1"/>
                </a:solidFill>
              </a:rPr>
              <a:t>mediatorPro.</a:t>
            </a:r>
          </a:p>
        </p:txBody>
      </p:sp>
      <p:sp>
        <p:nvSpPr>
          <p:cNvPr id="5" name="Pfeil: nach rechts 4">
            <a:extLst>
              <a:ext uri="{FF2B5EF4-FFF2-40B4-BE49-F238E27FC236}">
                <a16:creationId xmlns:a16="http://schemas.microsoft.com/office/drawing/2014/main" id="{5B0F67CA-A739-2B99-AFB2-A1728196BFF5}"/>
              </a:ext>
            </a:extLst>
          </p:cNvPr>
          <p:cNvSpPr/>
          <p:nvPr/>
        </p:nvSpPr>
        <p:spPr>
          <a:xfrm>
            <a:off x="14077951" y="2947613"/>
            <a:ext cx="889000" cy="177816"/>
          </a:xfrm>
          <a:prstGeom prst="rightArrow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6" name="Pfeil: nach rechts 5">
            <a:extLst>
              <a:ext uri="{FF2B5EF4-FFF2-40B4-BE49-F238E27FC236}">
                <a16:creationId xmlns:a16="http://schemas.microsoft.com/office/drawing/2014/main" id="{D00725B0-9E0A-8A72-ACE0-ECE86F9A3354}"/>
              </a:ext>
            </a:extLst>
          </p:cNvPr>
          <p:cNvSpPr/>
          <p:nvPr/>
        </p:nvSpPr>
        <p:spPr>
          <a:xfrm>
            <a:off x="12218118" y="2973255"/>
            <a:ext cx="889000" cy="177816"/>
          </a:xfrm>
          <a:prstGeom prst="rightArrow">
            <a:avLst/>
          </a:prstGeom>
          <a:solidFill>
            <a:srgbClr val="FFFF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00">
              <a:solidFill>
                <a:schemeClr val="tx1"/>
              </a:solidFill>
            </a:endParaRPr>
          </a:p>
        </p:txBody>
      </p:sp>
      <p:sp>
        <p:nvSpPr>
          <p:cNvPr id="11" name="Textfeld 10">
            <a:extLst>
              <a:ext uri="{FF2B5EF4-FFF2-40B4-BE49-F238E27FC236}">
                <a16:creationId xmlns:a16="http://schemas.microsoft.com/office/drawing/2014/main" id="{671960F0-87FE-CE9E-E331-11A52423DF4A}"/>
              </a:ext>
            </a:extLst>
          </p:cNvPr>
          <p:cNvSpPr txBox="1"/>
          <p:nvPr/>
        </p:nvSpPr>
        <p:spPr>
          <a:xfrm>
            <a:off x="14158719" y="2795977"/>
            <a:ext cx="684803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800"/>
              <a:t>deviceUser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= sdn</a:t>
            </a:r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B3D98611-7D1F-A60C-987A-C86ED92738DD}"/>
              </a:ext>
            </a:extLst>
          </p:cNvPr>
          <p:cNvSpPr txBox="1"/>
          <p:nvPr/>
        </p:nvSpPr>
        <p:spPr>
          <a:xfrm>
            <a:off x="11475863" y="2814663"/>
            <a:ext cx="149815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800"/>
              <a:t>netconfUser</a:t>
            </a:r>
          </a:p>
          <a:p>
            <a:endParaRPr lang="de-DE" sz="800"/>
          </a:p>
          <a:p>
            <a:endParaRPr lang="de-DE" sz="800"/>
          </a:p>
          <a:p>
            <a:r>
              <a:rPr lang="de-DE" sz="800"/>
              <a:t>= admin</a:t>
            </a:r>
          </a:p>
        </p:txBody>
      </p:sp>
    </p:spTree>
    <p:extLst>
      <p:ext uri="{BB962C8B-B14F-4D97-AF65-F5344CB8AC3E}">
        <p14:creationId xmlns:p14="http://schemas.microsoft.com/office/powerpoint/2010/main" val="41966178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rgbClr val="FFFF00"/>
        </a:solidFill>
        <a:ln>
          <a:noFill/>
        </a:ln>
      </a:spPr>
      <a:bodyPr rtlCol="0" anchor="ctr"/>
      <a:lstStyle>
        <a:defPPr algn="ctr">
          <a:defRPr sz="800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9744600e-3e04-492e-baa1-25ec245c6f10}" enabled="0" method="" siteId="{9744600e-3e04-492e-baa1-25ec245c6f10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1820</Words>
  <Application>Microsoft Office PowerPoint</Application>
  <PresentationFormat>Benutzerdefiniert</PresentationFormat>
  <Paragraphs>726</Paragraphs>
  <Slides>8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8</vt:i4>
      </vt:variant>
    </vt:vector>
  </HeadingPairs>
  <TitlesOfParts>
    <vt:vector size="14" baseType="lpstr">
      <vt:lpstr>Aptos</vt:lpstr>
      <vt:lpstr>Aptos Display</vt:lpstr>
      <vt:lpstr>Arial</vt:lpstr>
      <vt:lpstr>Calibri</vt:lpstr>
      <vt:lpstr>Cascadia Mono</vt:lpstr>
      <vt:lpstr>Office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Telefónica Germany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Thorsten Heinze</dc:creator>
  <cp:lastModifiedBy>Thorsten Heinze</cp:lastModifiedBy>
  <cp:revision>37</cp:revision>
  <dcterms:created xsi:type="dcterms:W3CDTF">2025-01-24T13:53:29Z</dcterms:created>
  <dcterms:modified xsi:type="dcterms:W3CDTF">2025-03-27T20:49:17Z</dcterms:modified>
</cp:coreProperties>
</file>